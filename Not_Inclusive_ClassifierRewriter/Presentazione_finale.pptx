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36"/>
  </p:notesMasterIdLst>
  <p:handoutMasterIdLst>
    <p:handoutMasterId r:id="rId37"/>
  </p:handoutMasterIdLst>
  <p:sldIdLst>
    <p:sldId id="410" r:id="rId5"/>
    <p:sldId id="391" r:id="rId6"/>
    <p:sldId id="422" r:id="rId7"/>
    <p:sldId id="428" r:id="rId8"/>
    <p:sldId id="421" r:id="rId9"/>
    <p:sldId id="411" r:id="rId10"/>
    <p:sldId id="408" r:id="rId11"/>
    <p:sldId id="420" r:id="rId12"/>
    <p:sldId id="431" r:id="rId13"/>
    <p:sldId id="397" r:id="rId14"/>
    <p:sldId id="432" r:id="rId15"/>
    <p:sldId id="430" r:id="rId16"/>
    <p:sldId id="407" r:id="rId17"/>
    <p:sldId id="429" r:id="rId18"/>
    <p:sldId id="404" r:id="rId19"/>
    <p:sldId id="412" r:id="rId20"/>
    <p:sldId id="435" r:id="rId21"/>
    <p:sldId id="413" r:id="rId22"/>
    <p:sldId id="414" r:id="rId23"/>
    <p:sldId id="434" r:id="rId24"/>
    <p:sldId id="415" r:id="rId25"/>
    <p:sldId id="416" r:id="rId26"/>
    <p:sldId id="436" r:id="rId27"/>
    <p:sldId id="405" r:id="rId28"/>
    <p:sldId id="417" r:id="rId29"/>
    <p:sldId id="406" r:id="rId30"/>
    <p:sldId id="419" r:id="rId31"/>
    <p:sldId id="424" r:id="rId32"/>
    <p:sldId id="398" r:id="rId33"/>
    <p:sldId id="425" r:id="rId34"/>
    <p:sldId id="426" r:id="rId35"/>
  </p:sldIdLst>
  <p:sldSz cx="12192000" cy="6858000"/>
  <p:notesSz cx="6858000" cy="9144000"/>
  <p:defaultTextStyle>
    <a:defPPr rtl="0">
      <a:defRPr lang="it-IT"/>
    </a:defPPr>
    <a:lvl1pPr marL="0" algn="l" defTabSz="914400" rtl="0" eaLnBrk="1" latinLnBrk="0" hangingPunct="1">
      <a:defRPr lang="it-IT" sz="1800" kern="1200">
        <a:solidFill>
          <a:schemeClr val="tx1"/>
        </a:solidFill>
        <a:latin typeface="+mn-lt"/>
        <a:ea typeface="+mn-ea"/>
        <a:cs typeface="+mn-cs"/>
      </a:defRPr>
    </a:lvl1pPr>
    <a:lvl2pPr marL="457200" algn="l" defTabSz="914400" rtl="0" eaLnBrk="1" latinLnBrk="0" hangingPunct="1">
      <a:defRPr lang="it-IT" sz="1800" kern="1200">
        <a:solidFill>
          <a:schemeClr val="tx1"/>
        </a:solidFill>
        <a:latin typeface="+mn-lt"/>
        <a:ea typeface="+mn-ea"/>
        <a:cs typeface="+mn-cs"/>
      </a:defRPr>
    </a:lvl2pPr>
    <a:lvl3pPr marL="914400" algn="l" defTabSz="914400" rtl="0" eaLnBrk="1" latinLnBrk="0" hangingPunct="1">
      <a:defRPr lang="it-IT" sz="1800" kern="1200">
        <a:solidFill>
          <a:schemeClr val="tx1"/>
        </a:solidFill>
        <a:latin typeface="+mn-lt"/>
        <a:ea typeface="+mn-ea"/>
        <a:cs typeface="+mn-cs"/>
      </a:defRPr>
    </a:lvl3pPr>
    <a:lvl4pPr marL="1371600" algn="l" defTabSz="914400" rtl="0" eaLnBrk="1" latinLnBrk="0" hangingPunct="1">
      <a:defRPr lang="it-IT" sz="1800" kern="1200">
        <a:solidFill>
          <a:schemeClr val="tx1"/>
        </a:solidFill>
        <a:latin typeface="+mn-lt"/>
        <a:ea typeface="+mn-ea"/>
        <a:cs typeface="+mn-cs"/>
      </a:defRPr>
    </a:lvl4pPr>
    <a:lvl5pPr marL="1828800" algn="l" defTabSz="914400" rtl="0" eaLnBrk="1" latinLnBrk="0" hangingPunct="1">
      <a:defRPr lang="it-IT" sz="1800" kern="1200">
        <a:solidFill>
          <a:schemeClr val="tx1"/>
        </a:solidFill>
        <a:latin typeface="+mn-lt"/>
        <a:ea typeface="+mn-ea"/>
        <a:cs typeface="+mn-cs"/>
      </a:defRPr>
    </a:lvl5pPr>
    <a:lvl6pPr marL="2286000" algn="l" defTabSz="914400" rtl="0" eaLnBrk="1" latinLnBrk="0" hangingPunct="1">
      <a:defRPr lang="it-IT" sz="1800" kern="1200">
        <a:solidFill>
          <a:schemeClr val="tx1"/>
        </a:solidFill>
        <a:latin typeface="+mn-lt"/>
        <a:ea typeface="+mn-ea"/>
        <a:cs typeface="+mn-cs"/>
      </a:defRPr>
    </a:lvl6pPr>
    <a:lvl7pPr marL="2743200" algn="l" defTabSz="914400" rtl="0" eaLnBrk="1" latinLnBrk="0" hangingPunct="1">
      <a:defRPr lang="it-IT" sz="1800" kern="1200">
        <a:solidFill>
          <a:schemeClr val="tx1"/>
        </a:solidFill>
        <a:latin typeface="+mn-lt"/>
        <a:ea typeface="+mn-ea"/>
        <a:cs typeface="+mn-cs"/>
      </a:defRPr>
    </a:lvl7pPr>
    <a:lvl8pPr marL="3200400" algn="l" defTabSz="914400" rtl="0" eaLnBrk="1" latinLnBrk="0" hangingPunct="1">
      <a:defRPr lang="it-IT" sz="1800" kern="1200">
        <a:solidFill>
          <a:schemeClr val="tx1"/>
        </a:solidFill>
        <a:latin typeface="+mn-lt"/>
        <a:ea typeface="+mn-ea"/>
        <a:cs typeface="+mn-cs"/>
      </a:defRPr>
    </a:lvl8pPr>
    <a:lvl9pPr marL="3657600" algn="l" defTabSz="914400" rtl="0" eaLnBrk="1" latinLnBrk="0" hangingPunct="1">
      <a:defRPr lang="it-IT"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ore"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A7A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B8626E-45E5-7BEF-2FEB-DFD68B79ECA7}" v="11" dt="2026-01-29T09:02:41.968"/>
    <p1510:client id="{36DDC671-D270-1279-F8C1-CCA8DC974B7B}" v="460" dt="2026-01-29T12:50:18.559"/>
    <p1510:client id="{8486D52D-180B-8946-77EB-CF746C18B5C8}" v="11" dt="2026-01-28T16:37:56.566"/>
    <p1510:client id="{C228707E-80B8-4443-15D7-13667051507C}" v="877" dt="2026-01-28T17:28:18.871"/>
    <p1510:client id="{DA93B04F-78DE-B74C-7AE4-48530736836E}" v="470" dt="2026-01-29T12:58:45.357"/>
    <p1510:client id="{FF774029-D685-8EE0-273F-76045740CEDF}" v="9" dt="2026-01-29T13:35:48.526"/>
  </p1510:revLst>
</p1510:revInfo>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Segnaposto data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it-IT" sz="1200"/>
            </a:lvl1pPr>
          </a:lstStyle>
          <a:p>
            <a:pPr rtl="0"/>
            <a:fld id="{F43FFF67-0A66-4BA5-8D01-D7436A93C5DC}" type="datetime1">
              <a:rPr lang="it-IT" smtClean="0"/>
              <a:t>29/01/2026</a:t>
            </a:fld>
            <a:endParaRPr lang="it-IT"/>
          </a:p>
        </p:txBody>
      </p:sp>
      <p:sp>
        <p:nvSpPr>
          <p:cNvPr id="6" name="Segnaposto numero diapositiva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it-IT" sz="1200"/>
            </a:lvl1pPr>
          </a:lstStyle>
          <a:p>
            <a:pPr rtl="0"/>
            <a:fld id="{E2C230DF-5933-439D-898F-38E9AC9BA688}" type="slidenum">
              <a:rPr lang="it-IT" smtClean="0"/>
              <a:t>‹N›</a:t>
            </a:fld>
            <a:endParaRPr lang="it-IT"/>
          </a:p>
        </p:txBody>
      </p:sp>
      <p:sp>
        <p:nvSpPr>
          <p:cNvPr id="7" name="Segnaposto piè di pagina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it-IT" sz="1200"/>
            </a:lvl1pPr>
          </a:lstStyle>
          <a:p>
            <a:pPr rtl="0"/>
            <a:endParaRPr lang="it-IT"/>
          </a:p>
        </p:txBody>
      </p:sp>
      <p:sp>
        <p:nvSpPr>
          <p:cNvPr id="8" name="Segnaposto intestazione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it-IT" sz="1200"/>
            </a:lvl1pPr>
          </a:lstStyle>
          <a:p>
            <a:pPr rtl="0"/>
            <a:endParaRPr lang="it-IT"/>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it-IT" sz="1200"/>
            </a:lvl1pPr>
          </a:lstStyle>
          <a:p>
            <a:pPr rtl="0"/>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it-IT" sz="1200"/>
            </a:lvl1pPr>
          </a:lstStyle>
          <a:p>
            <a:fld id="{CCC7B77D-D2C2-452D-80DB-AB1E949B0C69}" type="datetime1">
              <a:rPr lang="it-IT" smtClean="0"/>
              <a:pPr/>
              <a:t>29/01/2026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it-IT"/>
            </a:defPPr>
          </a:lstStyle>
          <a:p>
            <a:pPr rtl="0"/>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it-IT"/>
            </a:defPPr>
          </a:lstStyle>
          <a:p>
            <a:pPr lvl="0" rtl="0"/>
            <a:r>
              <a:rPr lang="it-IT"/>
              <a:t>Fare clic per modificare lo stile del titolo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it-IT" sz="1200"/>
            </a:lvl1pPr>
          </a:lstStyle>
          <a:p>
            <a:pPr rtl="0"/>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it-IT" sz="1200"/>
            </a:lvl1pPr>
          </a:lstStyle>
          <a:p>
            <a:pPr rtl="0"/>
            <a:fld id="{A89C7E07-3C67-C64C-8DA0-0404F6303970}" type="slidenum">
              <a:rPr lang="it-IT" smtClean="0"/>
              <a:t>‹N›</a:t>
            </a:fld>
            <a:endParaRPr lang="it-IT"/>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lang="it-IT" sz="1200" kern="1200">
        <a:solidFill>
          <a:schemeClr val="tx1"/>
        </a:solidFill>
        <a:latin typeface="+mn-lt"/>
        <a:ea typeface="+mn-ea"/>
        <a:cs typeface="+mn-cs"/>
      </a:defRPr>
    </a:lvl1pPr>
    <a:lvl2pPr marL="457200" algn="l" defTabSz="914400" rtl="0" eaLnBrk="1" latinLnBrk="0" hangingPunct="1">
      <a:defRPr lang="it-IT" sz="1200" kern="1200">
        <a:solidFill>
          <a:schemeClr val="tx1"/>
        </a:solidFill>
        <a:latin typeface="+mn-lt"/>
        <a:ea typeface="+mn-ea"/>
        <a:cs typeface="+mn-cs"/>
      </a:defRPr>
    </a:lvl2pPr>
    <a:lvl3pPr marL="914400" algn="l" defTabSz="914400" rtl="0" eaLnBrk="1" latinLnBrk="0" hangingPunct="1">
      <a:defRPr lang="it-IT" sz="1200" kern="1200">
        <a:solidFill>
          <a:schemeClr val="tx1"/>
        </a:solidFill>
        <a:latin typeface="+mn-lt"/>
        <a:ea typeface="+mn-ea"/>
        <a:cs typeface="+mn-cs"/>
      </a:defRPr>
    </a:lvl3pPr>
    <a:lvl4pPr marL="1371600" algn="l" defTabSz="914400" rtl="0" eaLnBrk="1" latinLnBrk="0" hangingPunct="1">
      <a:defRPr lang="it-IT" sz="1200" kern="1200">
        <a:solidFill>
          <a:schemeClr val="tx1"/>
        </a:solidFill>
        <a:latin typeface="+mn-lt"/>
        <a:ea typeface="+mn-ea"/>
        <a:cs typeface="+mn-cs"/>
      </a:defRPr>
    </a:lvl4pPr>
    <a:lvl5pPr marL="1828800" algn="l" defTabSz="914400" rtl="0" eaLnBrk="1" latinLnBrk="0" hangingPunct="1">
      <a:defRPr lang="it-IT" sz="1200" kern="1200">
        <a:solidFill>
          <a:schemeClr val="tx1"/>
        </a:solidFill>
        <a:latin typeface="+mn-lt"/>
        <a:ea typeface="+mn-ea"/>
        <a:cs typeface="+mn-cs"/>
      </a:defRPr>
    </a:lvl5pPr>
    <a:lvl6pPr marL="2286000" algn="l" defTabSz="914400" rtl="0" eaLnBrk="1" latinLnBrk="0" hangingPunct="1">
      <a:defRPr lang="it-IT" sz="1200" kern="1200">
        <a:solidFill>
          <a:schemeClr val="tx1"/>
        </a:solidFill>
        <a:latin typeface="+mn-lt"/>
        <a:ea typeface="+mn-ea"/>
        <a:cs typeface="+mn-cs"/>
      </a:defRPr>
    </a:lvl6pPr>
    <a:lvl7pPr marL="2743200" algn="l" defTabSz="914400" rtl="0" eaLnBrk="1" latinLnBrk="0" hangingPunct="1">
      <a:defRPr lang="it-IT" sz="1200" kern="1200">
        <a:solidFill>
          <a:schemeClr val="tx1"/>
        </a:solidFill>
        <a:latin typeface="+mn-lt"/>
        <a:ea typeface="+mn-ea"/>
        <a:cs typeface="+mn-cs"/>
      </a:defRPr>
    </a:lvl7pPr>
    <a:lvl8pPr marL="3200400" algn="l" defTabSz="914400" rtl="0" eaLnBrk="1" latinLnBrk="0" hangingPunct="1">
      <a:defRPr lang="it-IT" sz="1200" kern="1200">
        <a:solidFill>
          <a:schemeClr val="tx1"/>
        </a:solidFill>
        <a:latin typeface="+mn-lt"/>
        <a:ea typeface="+mn-ea"/>
        <a:cs typeface="+mn-cs"/>
      </a:defRPr>
    </a:lvl8pPr>
    <a:lvl9pPr marL="3657600" algn="l" defTabSz="914400" rtl="0" eaLnBrk="1" latinLnBrk="0" hangingPunct="1">
      <a:defRPr lang="it-IT"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r>
              <a:rPr lang="it-IT" dirty="0"/>
              <a:t>M: Oggi presentiamo </a:t>
            </a:r>
            <a:r>
              <a:rPr lang="it-IT" b="1" dirty="0"/>
              <a:t>FAIR ISLE</a:t>
            </a:r>
            <a:r>
              <a:rPr lang="it-IT" dirty="0"/>
              <a:t>, un sistema che </a:t>
            </a:r>
            <a:r>
              <a:rPr lang="it-IT" b="1" dirty="0"/>
              <a:t>rileva</a:t>
            </a:r>
            <a:r>
              <a:rPr lang="it-IT" dirty="0"/>
              <a:t> linguaggio non inclusivo e propone </a:t>
            </a:r>
            <a:r>
              <a:rPr lang="it-IT" b="1" dirty="0"/>
              <a:t>riscritture inclusive</a:t>
            </a:r>
            <a:r>
              <a:rPr lang="it-IT" dirty="0"/>
              <a:t>. La soluzione è pensata come </a:t>
            </a:r>
            <a:r>
              <a:rPr lang="it-IT" b="1" dirty="0"/>
              <a:t>pipeline modulare</a:t>
            </a:r>
            <a:r>
              <a:rPr lang="it-IT" dirty="0"/>
              <a:t> che funziona in </a:t>
            </a:r>
            <a:r>
              <a:rPr lang="it-IT" b="1" dirty="0"/>
              <a:t>italiano</a:t>
            </a:r>
            <a:r>
              <a:rPr lang="it-IT" dirty="0"/>
              <a:t>, </a:t>
            </a:r>
            <a:r>
              <a:rPr lang="it-IT" b="1" dirty="0"/>
              <a:t>inglese</a:t>
            </a:r>
            <a:r>
              <a:rPr lang="it-IT" dirty="0"/>
              <a:t> e in modalità </a:t>
            </a:r>
            <a:r>
              <a:rPr lang="it-IT" b="1" dirty="0"/>
              <a:t>multilingua</a:t>
            </a:r>
            <a:r>
              <a:rPr lang="it-IT" dirty="0"/>
              <a:t>.</a:t>
            </a:r>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1</a:t>
            </a:fld>
            <a:endParaRPr lang="it-IT"/>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r>
              <a:rPr lang="it-IT"/>
              <a:t>L’idea di base è che il linguaggio </a:t>
            </a:r>
            <a:r>
              <a:rPr lang="it-IT" b="1"/>
              <a:t>influenza percezioni e norme sociali</a:t>
            </a:r>
            <a:r>
              <a:rPr lang="it-IT"/>
              <a:t>: pattern ricorrenti come stereotipi o maschile generico possono rinforzare esclusione nel tempo. FAIR ISLE traduce queste esigenze in un </a:t>
            </a:r>
            <a:r>
              <a:rPr lang="it-IT" b="1"/>
              <a:t>workflow automatico</a:t>
            </a:r>
            <a:r>
              <a:rPr lang="it-IT"/>
              <a:t>, per applicare principi di comunicazione inclusiva in modo più consistente.</a:t>
            </a:r>
            <a:endParaRPr lang="it-IT">
              <a:ea typeface="Calibri"/>
              <a:cs typeface="Calibri"/>
            </a:endParaRPr>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2</a:t>
            </a:fld>
            <a:endParaRPr lang="it-IT"/>
          </a:p>
        </p:txBody>
      </p:sp>
    </p:spTree>
    <p:extLst>
      <p:ext uri="{BB962C8B-B14F-4D97-AF65-F5344CB8AC3E}">
        <p14:creationId xmlns:p14="http://schemas.microsoft.com/office/powerpoint/2010/main" val="3908276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lvl="0"/>
            <a:r>
              <a:rPr lang="en-US"/>
              <a:t>FAIR ISLE è </a:t>
            </a:r>
            <a:r>
              <a:rPr lang="en-US" err="1"/>
              <a:t>una</a:t>
            </a:r>
            <a:r>
              <a:rPr lang="en-US"/>
              <a:t> </a:t>
            </a:r>
            <a:r>
              <a:rPr lang="en-US" b="1"/>
              <a:t>web application </a:t>
            </a:r>
            <a:r>
              <a:rPr lang="en-US" b="1" err="1"/>
              <a:t>basata</a:t>
            </a:r>
            <a:r>
              <a:rPr lang="en-US" b="1"/>
              <a:t> </a:t>
            </a:r>
            <a:r>
              <a:rPr lang="en-US" b="1" err="1"/>
              <a:t>su</a:t>
            </a:r>
            <a:r>
              <a:rPr lang="en-US" b="1"/>
              <a:t> AI</a:t>
            </a:r>
            <a:r>
              <a:rPr lang="en-US"/>
              <a:t> </a:t>
            </a:r>
            <a:r>
              <a:rPr lang="en-US" err="1"/>
              <a:t>che</a:t>
            </a:r>
            <a:r>
              <a:rPr lang="en-US"/>
              <a:t> </a:t>
            </a:r>
            <a:r>
              <a:rPr lang="en-US" err="1"/>
              <a:t>lavora</a:t>
            </a:r>
            <a:r>
              <a:rPr lang="en-US"/>
              <a:t> </a:t>
            </a:r>
            <a:r>
              <a:rPr lang="en-US" err="1"/>
              <a:t>su</a:t>
            </a:r>
            <a:r>
              <a:rPr lang="en-US"/>
              <a:t> due </a:t>
            </a:r>
            <a:r>
              <a:rPr lang="en-US" err="1"/>
              <a:t>azioni</a:t>
            </a:r>
            <a:r>
              <a:rPr lang="en-US"/>
              <a:t>: prima </a:t>
            </a:r>
            <a:r>
              <a:rPr lang="en-US" b="1" err="1"/>
              <a:t>identifica</a:t>
            </a:r>
            <a:r>
              <a:rPr lang="en-US"/>
              <a:t> se </a:t>
            </a:r>
            <a:r>
              <a:rPr lang="en-US" err="1"/>
              <a:t>una</a:t>
            </a:r>
            <a:r>
              <a:rPr lang="en-US"/>
              <a:t> </a:t>
            </a:r>
            <a:r>
              <a:rPr lang="en-US" err="1"/>
              <a:t>frase</a:t>
            </a:r>
            <a:r>
              <a:rPr lang="en-US"/>
              <a:t> </a:t>
            </a:r>
            <a:r>
              <a:rPr lang="en-US" err="1"/>
              <a:t>contiene</a:t>
            </a:r>
            <a:r>
              <a:rPr lang="en-US"/>
              <a:t> </a:t>
            </a:r>
            <a:r>
              <a:rPr lang="en-US" err="1"/>
              <a:t>criticità</a:t>
            </a:r>
            <a:r>
              <a:rPr lang="en-US"/>
              <a:t> di </a:t>
            </a:r>
            <a:r>
              <a:rPr lang="en-US" err="1"/>
              <a:t>inclusività</a:t>
            </a:r>
            <a:r>
              <a:rPr lang="en-US"/>
              <a:t>, poi </a:t>
            </a:r>
            <a:r>
              <a:rPr lang="en-US" b="1"/>
              <a:t>genera </a:t>
            </a:r>
            <a:r>
              <a:rPr lang="en-US" b="1" err="1"/>
              <a:t>una</a:t>
            </a:r>
            <a:r>
              <a:rPr lang="en-US" b="1"/>
              <a:t> </a:t>
            </a:r>
            <a:r>
              <a:rPr lang="en-US" b="1" err="1"/>
              <a:t>riscrittura</a:t>
            </a:r>
            <a:r>
              <a:rPr lang="en-US"/>
              <a:t> </a:t>
            </a:r>
            <a:r>
              <a:rPr lang="en-US" err="1"/>
              <a:t>più</a:t>
            </a:r>
            <a:r>
              <a:rPr lang="en-US"/>
              <a:t> </a:t>
            </a:r>
            <a:r>
              <a:rPr lang="en-US" err="1"/>
              <a:t>inclusiva</a:t>
            </a:r>
            <a:r>
              <a:rPr lang="en-US"/>
              <a:t>. È </a:t>
            </a:r>
            <a:r>
              <a:rPr lang="en-US" err="1"/>
              <a:t>importante</a:t>
            </a:r>
            <a:r>
              <a:rPr lang="en-US"/>
              <a:t> </a:t>
            </a:r>
            <a:r>
              <a:rPr lang="en-US" err="1"/>
              <a:t>sottolineare</a:t>
            </a:r>
            <a:r>
              <a:rPr lang="en-US"/>
              <a:t> </a:t>
            </a:r>
            <a:r>
              <a:rPr lang="en-US" err="1"/>
              <a:t>che</a:t>
            </a:r>
            <a:r>
              <a:rPr lang="en-US"/>
              <a:t> </a:t>
            </a:r>
            <a:r>
              <a:rPr lang="en-US" err="1"/>
              <a:t>va</a:t>
            </a:r>
            <a:r>
              <a:rPr lang="en-US"/>
              <a:t> </a:t>
            </a:r>
            <a:r>
              <a:rPr lang="en-US" err="1"/>
              <a:t>oltre</a:t>
            </a:r>
            <a:r>
              <a:rPr lang="en-US"/>
              <a:t> il </a:t>
            </a:r>
            <a:r>
              <a:rPr lang="en-US" err="1"/>
              <a:t>livello</a:t>
            </a:r>
            <a:r>
              <a:rPr lang="en-US"/>
              <a:t> </a:t>
            </a:r>
            <a:r>
              <a:rPr lang="en-US" err="1"/>
              <a:t>grammaticale</a:t>
            </a:r>
            <a:r>
              <a:rPr lang="en-US"/>
              <a:t>: </a:t>
            </a:r>
            <a:r>
              <a:rPr lang="en-US" err="1"/>
              <a:t>prova</a:t>
            </a:r>
            <a:r>
              <a:rPr lang="en-US"/>
              <a:t> a </a:t>
            </a:r>
            <a:r>
              <a:rPr lang="en-US" err="1"/>
              <a:t>riconoscere</a:t>
            </a:r>
            <a:r>
              <a:rPr lang="en-US"/>
              <a:t> </a:t>
            </a:r>
            <a:r>
              <a:rPr lang="en-US" b="1"/>
              <a:t>bias </a:t>
            </a:r>
            <a:r>
              <a:rPr lang="en-US" b="1" err="1"/>
              <a:t>sociali</a:t>
            </a:r>
            <a:r>
              <a:rPr lang="en-US"/>
              <a:t> e </a:t>
            </a:r>
            <a:r>
              <a:rPr lang="en-US" err="1"/>
              <a:t>schemi</a:t>
            </a:r>
            <a:r>
              <a:rPr lang="en-US"/>
              <a:t> </a:t>
            </a:r>
            <a:r>
              <a:rPr lang="en-US" err="1"/>
              <a:t>ricorrenti</a:t>
            </a:r>
            <a:r>
              <a:rPr lang="en-US"/>
              <a:t>, e a </a:t>
            </a:r>
            <a:r>
              <a:rPr lang="en-US" err="1"/>
              <a:t>proporre</a:t>
            </a:r>
            <a:r>
              <a:rPr lang="en-US"/>
              <a:t> </a:t>
            </a:r>
            <a:r>
              <a:rPr lang="en-US" err="1"/>
              <a:t>una</a:t>
            </a:r>
            <a:r>
              <a:rPr lang="en-US"/>
              <a:t> </a:t>
            </a:r>
            <a:r>
              <a:rPr lang="en-US" err="1"/>
              <a:t>riformulazione</a:t>
            </a:r>
            <a:r>
              <a:rPr lang="en-US"/>
              <a:t> </a:t>
            </a:r>
            <a:r>
              <a:rPr lang="en-US" err="1"/>
              <a:t>che</a:t>
            </a:r>
            <a:r>
              <a:rPr lang="en-US"/>
              <a:t> </a:t>
            </a:r>
            <a:r>
              <a:rPr lang="en-US" err="1"/>
              <a:t>resti</a:t>
            </a:r>
            <a:r>
              <a:rPr lang="en-US"/>
              <a:t> </a:t>
            </a:r>
            <a:r>
              <a:rPr lang="en-US" err="1"/>
              <a:t>fedele</a:t>
            </a:r>
            <a:r>
              <a:rPr lang="en-US"/>
              <a:t> a </a:t>
            </a:r>
            <a:r>
              <a:rPr lang="en-US" b="1" err="1"/>
              <a:t>tono</a:t>
            </a:r>
            <a:r>
              <a:rPr lang="en-US" b="1"/>
              <a:t> e </a:t>
            </a:r>
            <a:r>
              <a:rPr lang="en-US" b="1" err="1"/>
              <a:t>significato</a:t>
            </a:r>
            <a:r>
              <a:rPr lang="en-US"/>
              <a:t>. In </a:t>
            </a:r>
            <a:r>
              <a:rPr lang="en-US" err="1"/>
              <a:t>questo</a:t>
            </a:r>
            <a:r>
              <a:rPr lang="en-US"/>
              <a:t> senso il </a:t>
            </a:r>
            <a:r>
              <a:rPr lang="en-US" err="1"/>
              <a:t>sistema</a:t>
            </a:r>
            <a:r>
              <a:rPr lang="en-US"/>
              <a:t> è </a:t>
            </a:r>
            <a:r>
              <a:rPr lang="en-US" err="1"/>
              <a:t>pensato</a:t>
            </a:r>
            <a:r>
              <a:rPr lang="en-US"/>
              <a:t> come </a:t>
            </a:r>
            <a:r>
              <a:rPr lang="en-US" err="1"/>
              <a:t>supporto</a:t>
            </a:r>
            <a:r>
              <a:rPr lang="en-US"/>
              <a:t> </a:t>
            </a:r>
            <a:r>
              <a:rPr lang="en-US" err="1"/>
              <a:t>pratico</a:t>
            </a:r>
            <a:r>
              <a:rPr lang="en-US"/>
              <a:t> alla </a:t>
            </a:r>
            <a:r>
              <a:rPr lang="en-US" err="1"/>
              <a:t>redazione</a:t>
            </a:r>
            <a:r>
              <a:rPr lang="en-US"/>
              <a:t>, non come semplice </a:t>
            </a:r>
            <a:r>
              <a:rPr lang="en-US" err="1"/>
              <a:t>filtro</a:t>
            </a:r>
            <a:r>
              <a:rPr lang="en-US"/>
              <a:t> o </a:t>
            </a:r>
            <a:r>
              <a:rPr lang="en-US" err="1"/>
              <a:t>censura</a:t>
            </a:r>
            <a:r>
              <a:rPr lang="en-US"/>
              <a:t>.</a:t>
            </a:r>
            <a:endParaRPr lang="it-IT"/>
          </a:p>
        </p:txBody>
      </p:sp>
      <p:sp>
        <p:nvSpPr>
          <p:cNvPr id="4" name="Segnaposto numero diapositiva 3"/>
          <p:cNvSpPr>
            <a:spLocks noGrp="1"/>
          </p:cNvSpPr>
          <p:nvPr>
            <p:ph type="sldNum" sz="quarter" idx="5"/>
          </p:nvPr>
        </p:nvSpPr>
        <p:spPr/>
        <p:txBody>
          <a:bodyPr/>
          <a:lstStyle/>
          <a:p>
            <a:pPr rtl="0"/>
            <a:fld id="{A89C7E07-3C67-C64C-8DA0-0404F6303970}" type="slidenum">
              <a:rPr lang="it-IT" smtClean="0"/>
              <a:t>3</a:t>
            </a:fld>
            <a:endParaRPr lang="it-IT"/>
          </a:p>
        </p:txBody>
      </p:sp>
    </p:spTree>
    <p:extLst>
      <p:ext uri="{BB962C8B-B14F-4D97-AF65-F5344CB8AC3E}">
        <p14:creationId xmlns:p14="http://schemas.microsoft.com/office/powerpoint/2010/main" val="3717810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2CB3B-4F7F-EA12-1A1D-D9D493D1AE3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6E1A3D6-1D2D-D6DE-DFB4-866003C1AB9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6BEA6E6-0FE1-51D7-27A6-62E873654895}"/>
              </a:ext>
            </a:extLst>
          </p:cNvPr>
          <p:cNvSpPr>
            <a:spLocks noGrp="1"/>
          </p:cNvSpPr>
          <p:nvPr>
            <p:ph type="body" idx="1"/>
          </p:nvPr>
        </p:nvSpPr>
        <p:spPr/>
        <p:txBody>
          <a:bodyPr/>
          <a:lstStyle/>
          <a:p>
            <a:r>
              <a:rPr lang="en-US"/>
              <a:t>La prima </a:t>
            </a:r>
            <a:r>
              <a:rPr lang="en-US" err="1"/>
              <a:t>strategia</a:t>
            </a:r>
            <a:r>
              <a:rPr lang="en-US"/>
              <a:t> è la </a:t>
            </a:r>
            <a:r>
              <a:rPr lang="en-US" b="1"/>
              <a:t>double inflection</a:t>
            </a:r>
            <a:r>
              <a:rPr lang="en-US"/>
              <a:t>, </a:t>
            </a:r>
            <a:r>
              <a:rPr lang="en-US" err="1"/>
              <a:t>cioè</a:t>
            </a:r>
            <a:r>
              <a:rPr lang="en-US"/>
              <a:t> </a:t>
            </a:r>
            <a:r>
              <a:rPr lang="en-US" err="1"/>
              <a:t>rendere</a:t>
            </a:r>
            <a:r>
              <a:rPr lang="en-US"/>
              <a:t> </a:t>
            </a:r>
            <a:r>
              <a:rPr lang="en-US" err="1"/>
              <a:t>espliciti</a:t>
            </a:r>
            <a:r>
              <a:rPr lang="en-US"/>
              <a:t> </a:t>
            </a:r>
            <a:r>
              <a:rPr lang="en-US" err="1"/>
              <a:t>entrambi</a:t>
            </a:r>
            <a:r>
              <a:rPr lang="en-US"/>
              <a:t> </a:t>
            </a:r>
            <a:r>
              <a:rPr lang="en-US" err="1"/>
              <a:t>i</a:t>
            </a:r>
            <a:r>
              <a:rPr lang="en-US"/>
              <a:t> </a:t>
            </a:r>
            <a:r>
              <a:rPr lang="en-US" err="1"/>
              <a:t>generi</a:t>
            </a:r>
            <a:r>
              <a:rPr lang="en-US"/>
              <a:t> </a:t>
            </a:r>
            <a:r>
              <a:rPr lang="en-US" err="1"/>
              <a:t>quando</a:t>
            </a:r>
            <a:r>
              <a:rPr lang="en-US"/>
              <a:t> è </a:t>
            </a:r>
            <a:r>
              <a:rPr lang="en-US" err="1"/>
              <a:t>appropriato</a:t>
            </a:r>
            <a:r>
              <a:rPr lang="en-US"/>
              <a:t>, ad </a:t>
            </a:r>
            <a:r>
              <a:rPr lang="en-US" err="1"/>
              <a:t>esempio</a:t>
            </a:r>
            <a:r>
              <a:rPr lang="en-US"/>
              <a:t> con </a:t>
            </a:r>
            <a:r>
              <a:rPr lang="en-US" err="1"/>
              <a:t>formule</a:t>
            </a:r>
            <a:r>
              <a:rPr lang="en-US"/>
              <a:t> come </a:t>
            </a:r>
            <a:r>
              <a:rPr lang="en-US" i="1"/>
              <a:t>“tutte e tutti”</a:t>
            </a:r>
            <a:r>
              <a:rPr lang="en-US"/>
              <a:t>.</a:t>
            </a:r>
            <a:endParaRPr lang="it-IT"/>
          </a:p>
          <a:p>
            <a:r>
              <a:rPr lang="en-US"/>
              <a:t>La </a:t>
            </a:r>
            <a:r>
              <a:rPr lang="en-US" err="1"/>
              <a:t>seconda</a:t>
            </a:r>
            <a:r>
              <a:rPr lang="en-US"/>
              <a:t> è la </a:t>
            </a:r>
            <a:r>
              <a:rPr lang="en-US" b="1"/>
              <a:t>paraphrasing</a:t>
            </a:r>
            <a:r>
              <a:rPr lang="en-US"/>
              <a:t>: </a:t>
            </a:r>
            <a:r>
              <a:rPr lang="en-US" err="1"/>
              <a:t>invece</a:t>
            </a:r>
            <a:r>
              <a:rPr lang="en-US"/>
              <a:t> di </a:t>
            </a:r>
            <a:r>
              <a:rPr lang="en-US" err="1"/>
              <a:t>usare</a:t>
            </a:r>
            <a:r>
              <a:rPr lang="en-US"/>
              <a:t> un </a:t>
            </a:r>
            <a:r>
              <a:rPr lang="en-US" err="1"/>
              <a:t>maschile</a:t>
            </a:r>
            <a:r>
              <a:rPr lang="en-US"/>
              <a:t> </a:t>
            </a:r>
            <a:r>
              <a:rPr lang="en-US" err="1"/>
              <a:t>sovraesteso</a:t>
            </a:r>
            <a:r>
              <a:rPr lang="en-US"/>
              <a:t>, il </a:t>
            </a:r>
            <a:r>
              <a:rPr lang="en-US" err="1"/>
              <a:t>sistema</a:t>
            </a:r>
            <a:r>
              <a:rPr lang="en-US"/>
              <a:t> </a:t>
            </a:r>
            <a:r>
              <a:rPr lang="en-US" err="1"/>
              <a:t>può</a:t>
            </a:r>
            <a:r>
              <a:rPr lang="en-US"/>
              <a:t> </a:t>
            </a:r>
            <a:r>
              <a:rPr lang="en-US" err="1"/>
              <a:t>scegliere</a:t>
            </a:r>
            <a:r>
              <a:rPr lang="en-US"/>
              <a:t> </a:t>
            </a:r>
            <a:r>
              <a:rPr lang="en-US" err="1"/>
              <a:t>formulazioni</a:t>
            </a:r>
            <a:r>
              <a:rPr lang="en-US"/>
              <a:t> </a:t>
            </a:r>
            <a:r>
              <a:rPr lang="en-US" b="1" err="1"/>
              <a:t>neutre</a:t>
            </a:r>
            <a:r>
              <a:rPr lang="en-US"/>
              <a:t> o </a:t>
            </a:r>
            <a:r>
              <a:rPr lang="en-US" err="1"/>
              <a:t>collettive</a:t>
            </a:r>
            <a:r>
              <a:rPr lang="en-US"/>
              <a:t>, per </a:t>
            </a:r>
            <a:r>
              <a:rPr lang="en-US" err="1"/>
              <a:t>esempio</a:t>
            </a:r>
            <a:r>
              <a:rPr lang="en-US"/>
              <a:t> </a:t>
            </a:r>
            <a:r>
              <a:rPr lang="en-US" i="1"/>
              <a:t>“staff”</a:t>
            </a:r>
            <a:r>
              <a:rPr lang="en-US"/>
              <a:t> </a:t>
            </a:r>
            <a:r>
              <a:rPr lang="en-US" err="1"/>
              <a:t>oppure</a:t>
            </a:r>
            <a:r>
              <a:rPr lang="en-US"/>
              <a:t> </a:t>
            </a:r>
            <a:r>
              <a:rPr lang="en-US" i="1"/>
              <a:t>“people who…”</a:t>
            </a:r>
            <a:r>
              <a:rPr lang="en-US"/>
              <a:t>.</a:t>
            </a:r>
            <a:endParaRPr lang="en-US">
              <a:ea typeface="Calibri"/>
              <a:cs typeface="Calibri"/>
            </a:endParaRPr>
          </a:p>
          <a:p>
            <a:r>
              <a:rPr lang="en-US" err="1"/>
              <a:t>Infine</a:t>
            </a:r>
            <a:r>
              <a:rPr lang="en-US"/>
              <a:t>, </a:t>
            </a:r>
            <a:r>
              <a:rPr lang="en-US" err="1"/>
              <a:t>quando</a:t>
            </a:r>
            <a:r>
              <a:rPr lang="en-US"/>
              <a:t> serve, </a:t>
            </a:r>
            <a:r>
              <a:rPr lang="en-US" err="1"/>
              <a:t>usa</a:t>
            </a:r>
            <a:r>
              <a:rPr lang="en-US"/>
              <a:t> </a:t>
            </a:r>
            <a:r>
              <a:rPr lang="en-US" err="1"/>
              <a:t>forme</a:t>
            </a:r>
            <a:r>
              <a:rPr lang="en-US"/>
              <a:t> </a:t>
            </a:r>
            <a:r>
              <a:rPr lang="en-US" b="1" err="1"/>
              <a:t>impersonali</a:t>
            </a:r>
            <a:r>
              <a:rPr lang="en-US" b="1"/>
              <a:t> o passive</a:t>
            </a:r>
            <a:r>
              <a:rPr lang="en-US"/>
              <a:t>, </a:t>
            </a:r>
            <a:r>
              <a:rPr lang="en-US" err="1"/>
              <a:t>spostando</a:t>
            </a:r>
            <a:r>
              <a:rPr lang="en-US"/>
              <a:t> </a:t>
            </a:r>
            <a:r>
              <a:rPr lang="en-US" err="1"/>
              <a:t>l’attenzione</a:t>
            </a:r>
            <a:r>
              <a:rPr lang="en-US"/>
              <a:t> </a:t>
            </a:r>
            <a:r>
              <a:rPr lang="en-US" err="1"/>
              <a:t>su</a:t>
            </a:r>
            <a:r>
              <a:rPr lang="en-US"/>
              <a:t> </a:t>
            </a:r>
            <a:r>
              <a:rPr lang="en-US" err="1"/>
              <a:t>azioni</a:t>
            </a:r>
            <a:r>
              <a:rPr lang="en-US"/>
              <a:t> o </a:t>
            </a:r>
            <a:r>
              <a:rPr lang="en-US" err="1"/>
              <a:t>oggetti</a:t>
            </a:r>
            <a:r>
              <a:rPr lang="en-US"/>
              <a:t> </a:t>
            </a:r>
            <a:r>
              <a:rPr lang="en-US" err="1"/>
              <a:t>così</a:t>
            </a:r>
            <a:r>
              <a:rPr lang="en-US"/>
              <a:t> da </a:t>
            </a:r>
            <a:r>
              <a:rPr lang="en-US" err="1"/>
              <a:t>rimuovere</a:t>
            </a:r>
            <a:r>
              <a:rPr lang="en-US"/>
              <a:t> </a:t>
            </a:r>
            <a:r>
              <a:rPr lang="en-US" err="1"/>
              <a:t>riferimenti</a:t>
            </a:r>
            <a:r>
              <a:rPr lang="en-US"/>
              <a:t> </a:t>
            </a:r>
            <a:r>
              <a:rPr lang="en-US" err="1"/>
              <a:t>marcati</a:t>
            </a:r>
            <a:r>
              <a:rPr lang="en-US"/>
              <a:t> al </a:t>
            </a:r>
            <a:r>
              <a:rPr lang="en-US" err="1"/>
              <a:t>genere</a:t>
            </a:r>
            <a:r>
              <a:rPr lang="en-US"/>
              <a:t>.</a:t>
            </a:r>
            <a:endParaRPr lang="en-US">
              <a:ea typeface="Calibri"/>
              <a:cs typeface="Calibri"/>
            </a:endParaRPr>
          </a:p>
          <a:p>
            <a:r>
              <a:rPr lang="en-US" err="1"/>
              <a:t>L’idea</a:t>
            </a:r>
            <a:r>
              <a:rPr lang="en-US"/>
              <a:t> </a:t>
            </a:r>
            <a:r>
              <a:rPr lang="en-US" err="1"/>
              <a:t>complessiva</a:t>
            </a:r>
            <a:r>
              <a:rPr lang="en-US"/>
              <a:t> è </a:t>
            </a:r>
            <a:r>
              <a:rPr lang="en-US" err="1"/>
              <a:t>quindi</a:t>
            </a:r>
            <a:r>
              <a:rPr lang="en-US"/>
              <a:t> </a:t>
            </a:r>
            <a:r>
              <a:rPr lang="en-US" err="1"/>
              <a:t>intervenire</a:t>
            </a:r>
            <a:r>
              <a:rPr lang="en-US"/>
              <a:t> </a:t>
            </a:r>
            <a:r>
              <a:rPr lang="en-US" err="1"/>
              <a:t>sul</a:t>
            </a:r>
            <a:r>
              <a:rPr lang="en-US"/>
              <a:t> </a:t>
            </a:r>
            <a:r>
              <a:rPr lang="en-US" err="1"/>
              <a:t>linguaggio</a:t>
            </a:r>
            <a:r>
              <a:rPr lang="en-US"/>
              <a:t> in modo </a:t>
            </a:r>
            <a:r>
              <a:rPr lang="en-US" err="1"/>
              <a:t>mirato</a:t>
            </a:r>
            <a:r>
              <a:rPr lang="en-US"/>
              <a:t>, non per “</a:t>
            </a:r>
            <a:r>
              <a:rPr lang="en-US" err="1"/>
              <a:t>abbellire</a:t>
            </a:r>
            <a:r>
              <a:rPr lang="en-US"/>
              <a:t>” la </a:t>
            </a:r>
            <a:r>
              <a:rPr lang="en-US" err="1"/>
              <a:t>frase</a:t>
            </a:r>
            <a:r>
              <a:rPr lang="en-US"/>
              <a:t>, ma per </a:t>
            </a:r>
            <a:r>
              <a:rPr lang="en-US" err="1"/>
              <a:t>renderla</a:t>
            </a:r>
            <a:r>
              <a:rPr lang="en-US"/>
              <a:t> </a:t>
            </a:r>
            <a:r>
              <a:rPr lang="en-US" err="1"/>
              <a:t>più</a:t>
            </a:r>
            <a:r>
              <a:rPr lang="en-US"/>
              <a:t> </a:t>
            </a:r>
            <a:r>
              <a:rPr lang="en-US" err="1"/>
              <a:t>inclusiva</a:t>
            </a:r>
            <a:r>
              <a:rPr lang="en-US"/>
              <a:t> senza </a:t>
            </a:r>
            <a:r>
              <a:rPr lang="en-US" err="1"/>
              <a:t>compromettere</a:t>
            </a:r>
            <a:r>
              <a:rPr lang="en-US"/>
              <a:t> </a:t>
            </a:r>
            <a:r>
              <a:rPr lang="en-US" err="1"/>
              <a:t>chiarezza</a:t>
            </a:r>
            <a:r>
              <a:rPr lang="en-US"/>
              <a:t> e </a:t>
            </a:r>
            <a:r>
              <a:rPr lang="en-US" err="1"/>
              <a:t>scorrevolezza</a:t>
            </a:r>
            <a:r>
              <a:rPr lang="en-US"/>
              <a:t>.</a:t>
            </a:r>
            <a:endParaRPr lang="en-US">
              <a:ea typeface="Calibri"/>
              <a:cs typeface="Calibri"/>
            </a:endParaRPr>
          </a:p>
          <a:p>
            <a:endParaRPr lang="en-US">
              <a:ea typeface="Calibri"/>
              <a:cs typeface="Calibri"/>
            </a:endParaRPr>
          </a:p>
        </p:txBody>
      </p:sp>
      <p:sp>
        <p:nvSpPr>
          <p:cNvPr id="4" name="Segnaposto numero diapositiva 3">
            <a:extLst>
              <a:ext uri="{FF2B5EF4-FFF2-40B4-BE49-F238E27FC236}">
                <a16:creationId xmlns:a16="http://schemas.microsoft.com/office/drawing/2014/main" id="{84852B76-5AA8-A516-D543-53AC9F3836E3}"/>
              </a:ext>
            </a:extLst>
          </p:cNvPr>
          <p:cNvSpPr>
            <a:spLocks noGrp="1"/>
          </p:cNvSpPr>
          <p:nvPr>
            <p:ph type="sldNum" sz="quarter" idx="5"/>
          </p:nvPr>
        </p:nvSpPr>
        <p:spPr/>
        <p:txBody>
          <a:bodyPr/>
          <a:lstStyle/>
          <a:p>
            <a:pPr rtl="0"/>
            <a:fld id="{A89C7E07-3C67-C64C-8DA0-0404F6303970}" type="slidenum">
              <a:rPr lang="it-IT" smtClean="0"/>
              <a:t>4</a:t>
            </a:fld>
            <a:endParaRPr lang="it-IT"/>
          </a:p>
        </p:txBody>
      </p:sp>
    </p:spTree>
    <p:extLst>
      <p:ext uri="{BB962C8B-B14F-4D97-AF65-F5344CB8AC3E}">
        <p14:creationId xmlns:p14="http://schemas.microsoft.com/office/powerpoint/2010/main" val="226175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D1247-9383-2D87-4044-E5D906FE293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59866E0-4921-AC2F-F23F-FB8A5F23EC6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65FDA98-F774-2863-D984-825324F8E8CB}"/>
              </a:ext>
            </a:extLst>
          </p:cNvPr>
          <p:cNvSpPr>
            <a:spLocks noGrp="1"/>
          </p:cNvSpPr>
          <p:nvPr>
            <p:ph type="body" idx="1"/>
          </p:nvPr>
        </p:nvSpPr>
        <p:spPr/>
        <p:txBody>
          <a:bodyPr rtlCol="0"/>
          <a:lstStyle>
            <a:defPPr>
              <a:defRPr lang="it-IT"/>
            </a:defPPr>
          </a:lstStyle>
          <a:p>
            <a:r>
              <a:rPr lang="it-IT" dirty="0"/>
              <a:t>R: per evitare un approccio arbitrario ci allineiamo a </a:t>
            </a:r>
            <a:r>
              <a:rPr lang="it-IT" dirty="0" err="1"/>
              <a:t>guideline</a:t>
            </a:r>
            <a:r>
              <a:rPr lang="it-IT" dirty="0"/>
              <a:t> riconosciute: </a:t>
            </a:r>
            <a:r>
              <a:rPr lang="it-IT" b="1" dirty="0"/>
              <a:t>UN Women</a:t>
            </a:r>
            <a:r>
              <a:rPr lang="it-IT" dirty="0"/>
              <a:t>, indicazioni </a:t>
            </a:r>
            <a:r>
              <a:rPr lang="it-IT" b="1" dirty="0"/>
              <a:t>UE</a:t>
            </a:r>
            <a:r>
              <a:rPr lang="it-IT" dirty="0"/>
              <a:t>, e le </a:t>
            </a:r>
            <a:r>
              <a:rPr lang="it-IT" b="1" dirty="0"/>
              <a:t>APA </a:t>
            </a:r>
            <a:r>
              <a:rPr lang="it-IT" b="1" dirty="0" err="1"/>
              <a:t>Bias</a:t>
            </a:r>
            <a:r>
              <a:rPr lang="it-IT" b="1" dirty="0"/>
              <a:t>-Free Language </a:t>
            </a:r>
            <a:r>
              <a:rPr lang="it-IT" b="1" dirty="0" err="1"/>
              <a:t>Guidelines</a:t>
            </a:r>
            <a:r>
              <a:rPr lang="it-IT" dirty="0"/>
              <a:t>. Per il contesto italiano consideriamo anche </a:t>
            </a:r>
            <a:r>
              <a:rPr lang="it-IT" b="1" dirty="0"/>
              <a:t>MIUR (2018)</a:t>
            </a:r>
            <a:r>
              <a:rPr lang="it-IT" dirty="0"/>
              <a:t> e </a:t>
            </a:r>
            <a:r>
              <a:rPr lang="it-IT" b="1" dirty="0"/>
              <a:t>standard UNI</a:t>
            </a:r>
            <a:r>
              <a:rPr lang="it-IT" dirty="0"/>
              <a:t>, così da avere un perimetro chiaro per definire cosa consideriamo “inclusivo”.</a:t>
            </a:r>
          </a:p>
        </p:txBody>
      </p:sp>
      <p:sp>
        <p:nvSpPr>
          <p:cNvPr id="4" name="Segnaposto numero diapositiva 3">
            <a:extLst>
              <a:ext uri="{FF2B5EF4-FFF2-40B4-BE49-F238E27FC236}">
                <a16:creationId xmlns:a16="http://schemas.microsoft.com/office/drawing/2014/main" id="{2B11DD81-F26C-56BE-28AB-4FD9C76D37F3}"/>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5</a:t>
            </a:fld>
            <a:endParaRPr lang="it-IT"/>
          </a:p>
        </p:txBody>
      </p:sp>
    </p:spTree>
    <p:extLst>
      <p:ext uri="{BB962C8B-B14F-4D97-AF65-F5344CB8AC3E}">
        <p14:creationId xmlns:p14="http://schemas.microsoft.com/office/powerpoint/2010/main" val="3833835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74705-1D60-8B07-0BBC-F1810B4E28C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CB5A972-984B-4A00-277A-D0CA4813FD6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F277D3B-954B-93F9-F62B-F83D9DE64BD2}"/>
              </a:ext>
            </a:extLst>
          </p:cNvPr>
          <p:cNvSpPr>
            <a:spLocks noGrp="1"/>
          </p:cNvSpPr>
          <p:nvPr>
            <p:ph type="body" idx="1"/>
          </p:nvPr>
        </p:nvSpPr>
        <p:spPr/>
        <p:txBody>
          <a:bodyPr rtlCol="0"/>
          <a:lstStyle>
            <a:defPPr>
              <a:defRPr lang="it-IT"/>
            </a:defPPr>
          </a:lstStyle>
          <a:p>
            <a:r>
              <a:rPr lang="it-IT"/>
              <a:t>Gli obiettivi del progetto sono pragmatici: FAIR ISLE deve essere </a:t>
            </a:r>
            <a:r>
              <a:rPr lang="it-IT" b="1"/>
              <a:t>accurato</a:t>
            </a:r>
            <a:r>
              <a:rPr lang="it-IT"/>
              <a:t>, </a:t>
            </a:r>
            <a:r>
              <a:rPr lang="it-IT" b="1"/>
              <a:t>veloce</a:t>
            </a:r>
            <a:r>
              <a:rPr lang="it-IT"/>
              <a:t> e realmente </a:t>
            </a:r>
            <a:r>
              <a:rPr lang="it-IT" b="1"/>
              <a:t>utilizzabile</a:t>
            </a:r>
            <a:r>
              <a:rPr lang="it-IT"/>
              <a:t>. Quindi: riconoscere espressioni non inclusive sia in testi brevi che lunghi; generare riscritture che preservino </a:t>
            </a:r>
            <a:r>
              <a:rPr lang="it-IT" b="1"/>
              <a:t>tono e significato</a:t>
            </a:r>
            <a:r>
              <a:rPr lang="it-IT"/>
              <a:t>; supportare </a:t>
            </a:r>
            <a:r>
              <a:rPr lang="it-IT" b="1"/>
              <a:t>italiano e inglese</a:t>
            </a:r>
            <a:r>
              <a:rPr lang="it-IT"/>
              <a:t> e sperimentare un’estensione </a:t>
            </a:r>
            <a:r>
              <a:rPr lang="it-IT" b="1"/>
              <a:t>multilingua</a:t>
            </a:r>
            <a:r>
              <a:rPr lang="it-IT"/>
              <a:t>; mantenere una latenza compatibile con una web app interattiva; e introdurre un </a:t>
            </a:r>
            <a:r>
              <a:rPr lang="it-IT" b="1"/>
              <a:t>feedback loop</a:t>
            </a:r>
            <a:r>
              <a:rPr lang="it-IT"/>
              <a:t> per migliorare progressivamente il sistema. </a:t>
            </a:r>
          </a:p>
        </p:txBody>
      </p:sp>
      <p:sp>
        <p:nvSpPr>
          <p:cNvPr id="4" name="Segnaposto numero diapositiva 3">
            <a:extLst>
              <a:ext uri="{FF2B5EF4-FFF2-40B4-BE49-F238E27FC236}">
                <a16:creationId xmlns:a16="http://schemas.microsoft.com/office/drawing/2014/main" id="{4B63C40A-E158-DD19-D8D4-AF12366603AC}"/>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6</a:t>
            </a:fld>
            <a:endParaRPr lang="it-IT"/>
          </a:p>
        </p:txBody>
      </p:sp>
    </p:spTree>
    <p:extLst>
      <p:ext uri="{BB962C8B-B14F-4D97-AF65-F5344CB8AC3E}">
        <p14:creationId xmlns:p14="http://schemas.microsoft.com/office/powerpoint/2010/main" val="2044682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r>
              <a:rPr lang="it-IT"/>
              <a:t>Un punto critico è la qualità dei dati: modelli buoni richiedono dataset buoni. Il lavoro è partito da un nucleo piccolo ma validato (</a:t>
            </a:r>
            <a:r>
              <a:rPr lang="it-IT" b="1"/>
              <a:t>449 esempi</a:t>
            </a:r>
            <a:r>
              <a:rPr lang="it-IT"/>
              <a:t>), poi è stato sottoposto a una fase di </a:t>
            </a:r>
            <a:r>
              <a:rPr lang="it-IT" b="1" err="1"/>
              <a:t>cleaning</a:t>
            </a:r>
            <a:r>
              <a:rPr lang="it-IT"/>
              <a:t> (filtri, deduplicazione, rimozione di campioni problematici). La parte più delicata è la validazione delle frasi fatta da uno psicologo: nel progetto è stato previsto un controllo con un </a:t>
            </a:r>
            <a:r>
              <a:rPr lang="it-IT" b="1"/>
              <a:t>supervisione </a:t>
            </a:r>
            <a:r>
              <a:rPr lang="it-IT"/>
              <a:t>esperto, per evitare riscritture che risultino offensive, paternalistiche o che sostituiscano un </a:t>
            </a:r>
            <a:r>
              <a:rPr lang="it-IT" err="1"/>
              <a:t>bias</a:t>
            </a:r>
            <a:r>
              <a:rPr lang="it-IT"/>
              <a:t> con un altro. Solo dopo questa base è stata avviata la </a:t>
            </a:r>
            <a:r>
              <a:rPr lang="it-IT" b="1"/>
              <a:t>data </a:t>
            </a:r>
            <a:r>
              <a:rPr lang="it-IT" b="1" err="1"/>
              <a:t>augmentation</a:t>
            </a:r>
            <a:r>
              <a:rPr lang="it-IT"/>
              <a:t>, mantenendo come vincolo la sicurezza e l’aderenza alle </a:t>
            </a:r>
            <a:r>
              <a:rPr lang="it-IT" err="1"/>
              <a:t>guideline</a:t>
            </a:r>
            <a:r>
              <a:rPr lang="it-IT"/>
              <a:t>.</a:t>
            </a:r>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7</a:t>
            </a:fld>
            <a:endParaRPr lang="it-IT"/>
          </a:p>
        </p:txBody>
      </p:sp>
    </p:spTree>
    <p:extLst>
      <p:ext uri="{BB962C8B-B14F-4D97-AF65-F5344CB8AC3E}">
        <p14:creationId xmlns:p14="http://schemas.microsoft.com/office/powerpoint/2010/main" val="2386183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M: </a:t>
            </a:r>
            <a:r>
              <a:rPr lang="en-US" dirty="0" err="1"/>
              <a:t>Abbiamo</a:t>
            </a:r>
            <a:r>
              <a:rPr lang="en-US" dirty="0"/>
              <a:t> </a:t>
            </a:r>
            <a:r>
              <a:rPr lang="en-US" dirty="0" err="1"/>
              <a:t>fatto</a:t>
            </a:r>
            <a:r>
              <a:rPr lang="en-US" dirty="0"/>
              <a:t> </a:t>
            </a:r>
            <a:r>
              <a:rPr lang="en-US" dirty="0" err="1"/>
              <a:t>evolvere</a:t>
            </a:r>
            <a:r>
              <a:rPr lang="en-US" dirty="0"/>
              <a:t> </a:t>
            </a:r>
            <a:r>
              <a:rPr lang="en-US" dirty="0" err="1"/>
              <a:t>i</a:t>
            </a:r>
            <a:r>
              <a:rPr lang="en-US" dirty="0"/>
              <a:t> dataset </a:t>
            </a:r>
            <a:r>
              <a:rPr lang="en-US" dirty="0" err="1"/>
              <a:t>tramite</a:t>
            </a:r>
            <a:r>
              <a:rPr lang="en-US" dirty="0"/>
              <a:t> </a:t>
            </a:r>
            <a:r>
              <a:rPr lang="en-US" b="1" dirty="0"/>
              <a:t>controlled augmentation</a:t>
            </a:r>
            <a:r>
              <a:rPr lang="en-US" dirty="0"/>
              <a:t> con Google Gemini, per </a:t>
            </a:r>
            <a:r>
              <a:rPr lang="en-US" dirty="0" err="1"/>
              <a:t>aumentare</a:t>
            </a:r>
            <a:r>
              <a:rPr lang="en-US" dirty="0"/>
              <a:t> </a:t>
            </a:r>
            <a:r>
              <a:rPr lang="en-US" dirty="0" err="1"/>
              <a:t>varietà</a:t>
            </a:r>
            <a:r>
              <a:rPr lang="en-US" dirty="0"/>
              <a:t> </a:t>
            </a:r>
            <a:r>
              <a:rPr lang="en-US" dirty="0" err="1"/>
              <a:t>linguistica</a:t>
            </a:r>
            <a:r>
              <a:rPr lang="en-US" dirty="0"/>
              <a:t> e </a:t>
            </a:r>
            <a:r>
              <a:rPr lang="en-US" dirty="0" err="1"/>
              <a:t>copertura</a:t>
            </a:r>
            <a:r>
              <a:rPr lang="en-US" dirty="0"/>
              <a:t> </a:t>
            </a:r>
            <a:r>
              <a:rPr lang="en-US" dirty="0" err="1"/>
              <a:t>dei</a:t>
            </a:r>
            <a:r>
              <a:rPr lang="en-US" dirty="0"/>
              <a:t> tipi di bias. Il dataset </a:t>
            </a:r>
            <a:r>
              <a:rPr lang="en-US" dirty="0" err="1"/>
              <a:t>italiano</a:t>
            </a:r>
            <a:r>
              <a:rPr lang="en-US" dirty="0"/>
              <a:t> è </a:t>
            </a:r>
            <a:r>
              <a:rPr lang="en-US" dirty="0" err="1"/>
              <a:t>cresciuto</a:t>
            </a:r>
            <a:r>
              <a:rPr lang="en-US" dirty="0"/>
              <a:t> da </a:t>
            </a:r>
            <a:r>
              <a:rPr lang="en-US" b="1" dirty="0"/>
              <a:t>5.367</a:t>
            </a:r>
            <a:r>
              <a:rPr lang="en-US" dirty="0"/>
              <a:t> </a:t>
            </a:r>
            <a:r>
              <a:rPr lang="en-US" dirty="0" err="1"/>
              <a:t>coppie</a:t>
            </a:r>
            <a:r>
              <a:rPr lang="en-US" dirty="0"/>
              <a:t> </a:t>
            </a:r>
            <a:r>
              <a:rPr lang="en-US" dirty="0" err="1"/>
              <a:t>fino</a:t>
            </a:r>
            <a:r>
              <a:rPr lang="en-US" dirty="0"/>
              <a:t> a </a:t>
            </a:r>
            <a:r>
              <a:rPr lang="en-US" b="1" dirty="0"/>
              <a:t>16.672</a:t>
            </a:r>
            <a:r>
              <a:rPr lang="en-US" dirty="0"/>
              <a:t>, </a:t>
            </a:r>
            <a:r>
              <a:rPr lang="en-US" dirty="0" err="1"/>
              <a:t>usate</a:t>
            </a:r>
            <a:r>
              <a:rPr lang="en-US" dirty="0"/>
              <a:t> per il fine-tuning del rewriter </a:t>
            </a:r>
            <a:r>
              <a:rPr lang="en-US" dirty="0" err="1"/>
              <a:t>italiano</a:t>
            </a:r>
            <a:r>
              <a:rPr lang="en-US" dirty="0"/>
              <a:t>. In </a:t>
            </a:r>
            <a:r>
              <a:rPr lang="en-US" dirty="0" err="1"/>
              <a:t>parallelo</a:t>
            </a:r>
            <a:r>
              <a:rPr lang="en-US" dirty="0"/>
              <a:t> </a:t>
            </a:r>
            <a:r>
              <a:rPr lang="en-US" dirty="0" err="1"/>
              <a:t>abbiamo</a:t>
            </a:r>
            <a:r>
              <a:rPr lang="en-US" dirty="0"/>
              <a:t> </a:t>
            </a:r>
            <a:r>
              <a:rPr lang="en-US" dirty="0" err="1"/>
              <a:t>costruito</a:t>
            </a:r>
            <a:r>
              <a:rPr lang="en-US" dirty="0"/>
              <a:t> un dataset inglese da </a:t>
            </a:r>
            <a:r>
              <a:rPr lang="en-US" b="1" dirty="0"/>
              <a:t>4.980</a:t>
            </a:r>
            <a:r>
              <a:rPr lang="en-US" dirty="0"/>
              <a:t> </a:t>
            </a:r>
            <a:r>
              <a:rPr lang="en-US" dirty="0" err="1"/>
              <a:t>coppie</a:t>
            </a:r>
            <a:r>
              <a:rPr lang="en-US" dirty="0"/>
              <a:t>, </a:t>
            </a:r>
            <a:r>
              <a:rPr lang="en-US" dirty="0" err="1"/>
              <a:t>evitando</a:t>
            </a:r>
            <a:r>
              <a:rPr lang="en-US" dirty="0"/>
              <a:t> </a:t>
            </a:r>
            <a:r>
              <a:rPr lang="en-US" dirty="0" err="1"/>
              <a:t>traduzioni</a:t>
            </a:r>
            <a:r>
              <a:rPr lang="en-US" dirty="0"/>
              <a:t> </a:t>
            </a:r>
            <a:r>
              <a:rPr lang="en-US" dirty="0" err="1"/>
              <a:t>letterali</a:t>
            </a:r>
            <a:r>
              <a:rPr lang="en-US" dirty="0"/>
              <a:t> e </a:t>
            </a:r>
            <a:r>
              <a:rPr lang="en-US" dirty="0" err="1"/>
              <a:t>puntando</a:t>
            </a:r>
            <a:r>
              <a:rPr lang="en-US" dirty="0"/>
              <a:t> </a:t>
            </a:r>
            <a:r>
              <a:rPr lang="en-US" dirty="0" err="1"/>
              <a:t>su</a:t>
            </a:r>
            <a:r>
              <a:rPr lang="en-US" dirty="0"/>
              <a:t> </a:t>
            </a:r>
            <a:r>
              <a:rPr lang="en-US" dirty="0" err="1"/>
              <a:t>strategie</a:t>
            </a:r>
            <a:r>
              <a:rPr lang="en-US" dirty="0"/>
              <a:t> inclusive </a:t>
            </a:r>
            <a:r>
              <a:rPr lang="en-US" dirty="0" err="1"/>
              <a:t>tipiche</a:t>
            </a:r>
            <a:r>
              <a:rPr lang="en-US" dirty="0"/>
              <a:t> </a:t>
            </a:r>
            <a:r>
              <a:rPr lang="en-US" dirty="0" err="1"/>
              <a:t>dell’inglese</a:t>
            </a:r>
            <a:r>
              <a:rPr lang="en-US" dirty="0"/>
              <a:t>, come il </a:t>
            </a:r>
            <a:r>
              <a:rPr lang="en-US" b="1" dirty="0"/>
              <a:t>singular “they”</a:t>
            </a:r>
            <a:r>
              <a:rPr lang="en-US" dirty="0"/>
              <a:t>. </a:t>
            </a:r>
            <a:r>
              <a:rPr lang="en-US" dirty="0" err="1"/>
              <a:t>Infine</a:t>
            </a:r>
            <a:r>
              <a:rPr lang="en-US" dirty="0"/>
              <a:t>, </a:t>
            </a:r>
            <a:r>
              <a:rPr lang="en-US" dirty="0" err="1"/>
              <a:t>unendo</a:t>
            </a:r>
            <a:r>
              <a:rPr lang="en-US" dirty="0"/>
              <a:t> </a:t>
            </a:r>
            <a:r>
              <a:rPr lang="en-US" dirty="0" err="1"/>
              <a:t>i</a:t>
            </a:r>
            <a:r>
              <a:rPr lang="en-US" dirty="0"/>
              <a:t> due, </a:t>
            </a:r>
            <a:r>
              <a:rPr lang="en-US" dirty="0" err="1"/>
              <a:t>abbiamo</a:t>
            </a:r>
            <a:r>
              <a:rPr lang="en-US" dirty="0"/>
              <a:t> </a:t>
            </a:r>
            <a:r>
              <a:rPr lang="en-US" dirty="0" err="1"/>
              <a:t>ottenuto</a:t>
            </a:r>
            <a:r>
              <a:rPr lang="en-US" dirty="0"/>
              <a:t> un dataset </a:t>
            </a:r>
            <a:r>
              <a:rPr lang="en-US" b="1" dirty="0" err="1"/>
              <a:t>multilingua</a:t>
            </a:r>
            <a:r>
              <a:rPr lang="en-US" dirty="0"/>
              <a:t> da </a:t>
            </a:r>
            <a:r>
              <a:rPr lang="en-US" b="1" dirty="0"/>
              <a:t>21.653</a:t>
            </a:r>
            <a:r>
              <a:rPr lang="en-US" dirty="0"/>
              <a:t> </a:t>
            </a:r>
            <a:r>
              <a:rPr lang="en-US" dirty="0" err="1"/>
              <a:t>coppie</a:t>
            </a:r>
            <a:r>
              <a:rPr lang="en-US" dirty="0"/>
              <a:t>.</a:t>
            </a:r>
            <a:endParaRPr lang="it-IT" dirty="0"/>
          </a:p>
        </p:txBody>
      </p:sp>
      <p:sp>
        <p:nvSpPr>
          <p:cNvPr id="4" name="Segnaposto numero diapositiva 3"/>
          <p:cNvSpPr>
            <a:spLocks noGrp="1"/>
          </p:cNvSpPr>
          <p:nvPr>
            <p:ph type="sldNum" sz="quarter" idx="5"/>
          </p:nvPr>
        </p:nvSpPr>
        <p:spPr/>
        <p:txBody>
          <a:bodyPr/>
          <a:lstStyle/>
          <a:p>
            <a:pPr rtl="0"/>
            <a:fld id="{A89C7E07-3C67-C64C-8DA0-0404F6303970}" type="slidenum">
              <a:rPr lang="it-IT" smtClean="0"/>
              <a:t>8</a:t>
            </a:fld>
            <a:endParaRPr lang="it-IT"/>
          </a:p>
        </p:txBody>
      </p:sp>
    </p:spTree>
    <p:extLst>
      <p:ext uri="{BB962C8B-B14F-4D97-AF65-F5344CB8AC3E}">
        <p14:creationId xmlns:p14="http://schemas.microsoft.com/office/powerpoint/2010/main" val="35321141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8B6E2-0136-4EE8-21C2-2A341F93516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01BBB0D-49D1-950A-D9C3-F3BE7278CB7E}"/>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5C054436-F9FB-DCAE-AB80-F50252C398E5}"/>
              </a:ext>
            </a:extLst>
          </p:cNvPr>
          <p:cNvSpPr>
            <a:spLocks noGrp="1"/>
          </p:cNvSpPr>
          <p:nvPr>
            <p:ph type="body" idx="1"/>
          </p:nvPr>
        </p:nvSpPr>
        <p:spPr/>
        <p:txBody>
          <a:bodyPr rtlCol="0"/>
          <a:lstStyle>
            <a:defPPr>
              <a:defRPr lang="it-IT"/>
            </a:defPPr>
          </a:lstStyle>
          <a:p>
            <a:pPr lvl="0"/>
            <a:r>
              <a:rPr lang="it-IT"/>
              <a:t>Qui mostriamo com’è fatto il dataset: coppie </a:t>
            </a:r>
            <a:r>
              <a:rPr lang="it-IT" b="1" err="1"/>
              <a:t>non_inclusive</a:t>
            </a:r>
            <a:r>
              <a:rPr lang="it-IT" b="1"/>
              <a:t> → inclusive</a:t>
            </a:r>
            <a:r>
              <a:rPr lang="it-IT"/>
              <a:t> in JSON, separate per inglese e italiano. Gli esempi fanno vedere bene l’obiettivo: non “abbellire” la frase, ma </a:t>
            </a:r>
            <a:r>
              <a:rPr lang="it-IT" b="1"/>
              <a:t>rimuovere lo stereotipo</a:t>
            </a:r>
            <a:r>
              <a:rPr lang="it-IT"/>
              <a:t> e mantenere il significato in modo neutro e generalizzabile.</a:t>
            </a:r>
          </a:p>
        </p:txBody>
      </p:sp>
      <p:sp>
        <p:nvSpPr>
          <p:cNvPr id="4" name="Segnaposto numero diapositiva 3">
            <a:extLst>
              <a:ext uri="{FF2B5EF4-FFF2-40B4-BE49-F238E27FC236}">
                <a16:creationId xmlns:a16="http://schemas.microsoft.com/office/drawing/2014/main" id="{708F4873-B89F-5546-1414-241776F81E3B}"/>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9</a:t>
            </a:fld>
            <a:endParaRPr lang="it-IT"/>
          </a:p>
        </p:txBody>
      </p:sp>
    </p:spTree>
    <p:extLst>
      <p:ext uri="{BB962C8B-B14F-4D97-AF65-F5344CB8AC3E}">
        <p14:creationId xmlns:p14="http://schemas.microsoft.com/office/powerpoint/2010/main" val="30026346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F639921-CFBB-DE6F-31EB-81B758CA0268}"/>
              </a:ext>
            </a:extLst>
          </p:cNvPr>
          <p:cNvSpPr>
            <a:spLocks noGrp="1"/>
          </p:cNvSpPr>
          <p:nvPr>
            <p:ph type="body" idx="1"/>
          </p:nvPr>
        </p:nvSpPr>
        <p:spPr/>
        <p:txBody>
          <a:bodyPr rtlCol="0"/>
          <a:lstStyle>
            <a:defPPr>
              <a:defRPr lang="it-IT"/>
            </a:defPPr>
          </a:lstStyle>
          <a:p>
            <a:r>
              <a:rPr lang="it-IT" dirty="0"/>
              <a:t>R: FAIR ISLE segue una pipeline molto chiara. Prima di tutto prende il testo in input e lo </a:t>
            </a:r>
            <a:r>
              <a:rPr lang="it-IT" b="1" dirty="0"/>
              <a:t>divide in frasi</a:t>
            </a:r>
            <a:r>
              <a:rPr lang="it-IT" dirty="0"/>
              <a:t>, così da analizzarle una per una. Poi entra in gioco il </a:t>
            </a:r>
            <a:r>
              <a:rPr lang="it-IT" b="1" dirty="0" err="1"/>
              <a:t>Bias</a:t>
            </a:r>
            <a:r>
              <a:rPr lang="it-IT" b="1" dirty="0"/>
              <a:t> </a:t>
            </a:r>
            <a:r>
              <a:rPr lang="it-IT" b="1" dirty="0" err="1"/>
              <a:t>Classifier</a:t>
            </a:r>
            <a:r>
              <a:rPr lang="it-IT" dirty="0"/>
              <a:t>, che per ogni frase decide se è </a:t>
            </a:r>
            <a:r>
              <a:rPr lang="it-IT" b="1" dirty="0"/>
              <a:t>inclusiva o non inclusiva</a:t>
            </a:r>
            <a:r>
              <a:rPr lang="it-IT" dirty="0"/>
              <a:t> e assegna anche un </a:t>
            </a:r>
            <a:r>
              <a:rPr lang="it-IT" b="1" dirty="0"/>
              <a:t>confidence score</a:t>
            </a:r>
            <a:r>
              <a:rPr lang="it-IT" dirty="0"/>
              <a:t>. Se una frase risulta non inclusiva con una confidenza sufficiente, si attiva </a:t>
            </a:r>
            <a:r>
              <a:rPr lang="it-IT" dirty="0" err="1"/>
              <a:t>l’</a:t>
            </a:r>
            <a:r>
              <a:rPr lang="it-IT" b="1" dirty="0" err="1"/>
              <a:t>Inclusive</a:t>
            </a:r>
            <a:r>
              <a:rPr lang="it-IT" b="1" dirty="0"/>
              <a:t> Rewriter</a:t>
            </a:r>
            <a:r>
              <a:rPr lang="it-IT" dirty="0"/>
              <a:t>, che genera una proposta di riscrittura più inclusiva. Infine il sistema restituisce all’interfaccia il risultato completo: </a:t>
            </a:r>
            <a:r>
              <a:rPr lang="it-IT" b="1" dirty="0"/>
              <a:t>label</a:t>
            </a:r>
            <a:r>
              <a:rPr lang="it-IT" dirty="0"/>
              <a:t>, </a:t>
            </a:r>
            <a:r>
              <a:rPr lang="it-IT" b="1" dirty="0"/>
              <a:t>punteggio di confidenza</a:t>
            </a:r>
            <a:r>
              <a:rPr lang="it-IT" dirty="0"/>
              <a:t> e, quando viene generata, anche la </a:t>
            </a:r>
            <a:r>
              <a:rPr lang="it-IT" b="1" dirty="0" err="1"/>
              <a:t>rewrite</a:t>
            </a:r>
            <a:r>
              <a:rPr lang="it-IT" b="1" dirty="0"/>
              <a:t> </a:t>
            </a:r>
            <a:r>
              <a:rPr lang="it-IT" b="1" dirty="0" err="1"/>
              <a:t>suggestion</a:t>
            </a:r>
            <a:r>
              <a:rPr lang="it-IT" dirty="0"/>
              <a:t>.</a:t>
            </a:r>
          </a:p>
        </p:txBody>
      </p:sp>
      <p:sp>
        <p:nvSpPr>
          <p:cNvPr id="4" name="Segnaposto numero diapositiva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10</a:t>
            </a:fld>
            <a:endParaRPr lang="it-IT"/>
          </a:p>
        </p:txBody>
      </p:sp>
    </p:spTree>
    <p:extLst>
      <p:ext uri="{BB962C8B-B14F-4D97-AF65-F5344CB8AC3E}">
        <p14:creationId xmlns:p14="http://schemas.microsoft.com/office/powerpoint/2010/main" val="3727777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377B4-DE6F-B62C-6271-2AEAEBD5E30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8D145F1-A1BA-18E2-904A-D4B5FDDAE8ED}"/>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19D61D5-FD6D-5EFB-61C8-D5388AD29B2F}"/>
              </a:ext>
            </a:extLst>
          </p:cNvPr>
          <p:cNvSpPr>
            <a:spLocks noGrp="1"/>
          </p:cNvSpPr>
          <p:nvPr>
            <p:ph type="body" idx="1"/>
          </p:nvPr>
        </p:nvSpPr>
        <p:spPr/>
        <p:txBody>
          <a:bodyPr rtlCol="0"/>
          <a:lstStyle>
            <a:defPPr>
              <a:defRPr lang="it-IT"/>
            </a:defPPr>
          </a:lstStyle>
          <a:p>
            <a:pPr lvl="0"/>
            <a:r>
              <a:rPr lang="it-IT"/>
              <a:t>Questa è la rappresentazione grafica dello stesso flusso: </a:t>
            </a:r>
            <a:r>
              <a:rPr lang="it-IT" b="1"/>
              <a:t>input → segmentazione → classificatore binario + confidenza</a:t>
            </a:r>
            <a:r>
              <a:rPr lang="it-IT"/>
              <a:t>. Se la frase è non inclusiva, passa al </a:t>
            </a:r>
            <a:r>
              <a:rPr lang="it-IT" b="1"/>
              <a:t>seq2seq rewriter</a:t>
            </a:r>
            <a:r>
              <a:rPr lang="it-IT"/>
              <a:t>, altrimenti no. In output restituiamo le frasi originali e le riscritture </a:t>
            </a:r>
            <a:r>
              <a:rPr lang="it-IT" b="1"/>
              <a:t>solo quando servono</a:t>
            </a:r>
            <a:r>
              <a:rPr lang="it-IT"/>
              <a:t>.</a:t>
            </a:r>
          </a:p>
        </p:txBody>
      </p:sp>
      <p:sp>
        <p:nvSpPr>
          <p:cNvPr id="4" name="Segnaposto numero diapositiva 3">
            <a:extLst>
              <a:ext uri="{FF2B5EF4-FFF2-40B4-BE49-F238E27FC236}">
                <a16:creationId xmlns:a16="http://schemas.microsoft.com/office/drawing/2014/main" id="{AF24569D-47AC-A468-F1C4-98582C174EE7}"/>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11</a:t>
            </a:fld>
            <a:endParaRPr lang="it-IT"/>
          </a:p>
        </p:txBody>
      </p:sp>
    </p:spTree>
    <p:extLst>
      <p:ext uri="{BB962C8B-B14F-4D97-AF65-F5344CB8AC3E}">
        <p14:creationId xmlns:p14="http://schemas.microsoft.com/office/powerpoint/2010/main" val="875748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1CA96-1C2F-34E3-77B2-4172541C8ED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73A0B92-1A1A-D168-65B0-F1FD29E9305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D65A141-F918-1C43-3FA9-271B3C8B40F7}"/>
              </a:ext>
            </a:extLst>
          </p:cNvPr>
          <p:cNvSpPr>
            <a:spLocks noGrp="1"/>
          </p:cNvSpPr>
          <p:nvPr>
            <p:ph type="body" idx="1"/>
          </p:nvPr>
        </p:nvSpPr>
        <p:spPr/>
        <p:txBody>
          <a:bodyPr/>
          <a:lstStyle/>
          <a:p>
            <a:r>
              <a:rPr lang="it-IT" dirty="0"/>
              <a:t>M: Il dataset di partenza è a coppie: frase </a:t>
            </a:r>
            <a:r>
              <a:rPr lang="it-IT" dirty="0" err="1"/>
              <a:t>biased</a:t>
            </a:r>
            <a:r>
              <a:rPr lang="it-IT" dirty="0"/>
              <a:t> e frase corretta. Per il classificatore binario trasformiamo ogni coppia in due esempi: </a:t>
            </a:r>
            <a:r>
              <a:rPr lang="it-IT" b="1" dirty="0"/>
              <a:t>label=1</a:t>
            </a:r>
            <a:r>
              <a:rPr lang="it-IT" dirty="0"/>
              <a:t> usando la frase non inclusiva e </a:t>
            </a:r>
            <a:r>
              <a:rPr lang="it-IT" b="1" dirty="0"/>
              <a:t>label=0</a:t>
            </a:r>
            <a:r>
              <a:rPr lang="it-IT" dirty="0"/>
              <a:t> usando la riscrittura inclusiva. Così otteniamo supervisione coerente e bilanciata, come nell’esempio mostrato.</a:t>
            </a:r>
          </a:p>
          <a:p>
            <a:pPr lvl="0"/>
            <a:endParaRPr lang="it-IT"/>
          </a:p>
        </p:txBody>
      </p:sp>
      <p:sp>
        <p:nvSpPr>
          <p:cNvPr id="4" name="Segnaposto numero diapositiva 3">
            <a:extLst>
              <a:ext uri="{FF2B5EF4-FFF2-40B4-BE49-F238E27FC236}">
                <a16:creationId xmlns:a16="http://schemas.microsoft.com/office/drawing/2014/main" id="{98053FCD-7938-C0A1-6471-3ECEA6230E1B}"/>
              </a:ext>
            </a:extLst>
          </p:cNvPr>
          <p:cNvSpPr>
            <a:spLocks noGrp="1"/>
          </p:cNvSpPr>
          <p:nvPr>
            <p:ph type="sldNum" sz="quarter" idx="5"/>
          </p:nvPr>
        </p:nvSpPr>
        <p:spPr/>
        <p:txBody>
          <a:bodyPr/>
          <a:lstStyle/>
          <a:p>
            <a:pPr rtl="0"/>
            <a:fld id="{A89C7E07-3C67-C64C-8DA0-0404F6303970}" type="slidenum">
              <a:rPr lang="it-IT" smtClean="0"/>
              <a:t>12</a:t>
            </a:fld>
            <a:endParaRPr lang="it-IT"/>
          </a:p>
        </p:txBody>
      </p:sp>
    </p:spTree>
    <p:extLst>
      <p:ext uri="{BB962C8B-B14F-4D97-AF65-F5344CB8AC3E}">
        <p14:creationId xmlns:p14="http://schemas.microsoft.com/office/powerpoint/2010/main" val="15879338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r>
              <a:rPr lang="it-IT"/>
              <a:t>Lo sviluppo è stato fatto su notebook cloud per garantire riproducibilità e accesso alle GPU. I </a:t>
            </a:r>
            <a:r>
              <a:rPr lang="it-IT" b="1"/>
              <a:t>classificatori</a:t>
            </a:r>
            <a:r>
              <a:rPr lang="it-IT"/>
              <a:t> sono stati fine-</a:t>
            </a:r>
            <a:r>
              <a:rPr lang="it-IT" err="1"/>
              <a:t>tuned</a:t>
            </a:r>
            <a:r>
              <a:rPr lang="it-IT"/>
              <a:t> su </a:t>
            </a:r>
            <a:r>
              <a:rPr lang="it-IT" b="1"/>
              <a:t>Google </a:t>
            </a:r>
            <a:r>
              <a:rPr lang="it-IT" b="1" err="1"/>
              <a:t>Colab</a:t>
            </a:r>
            <a:r>
              <a:rPr lang="it-IT" b="1"/>
              <a:t> (T4)</a:t>
            </a:r>
            <a:r>
              <a:rPr lang="it-IT"/>
              <a:t>, mentre i </a:t>
            </a:r>
            <a:r>
              <a:rPr lang="it-IT" b="1"/>
              <a:t>rewriter seq2seq</a:t>
            </a:r>
            <a:r>
              <a:rPr lang="it-IT"/>
              <a:t> più pesanti sono stati addestrati su </a:t>
            </a:r>
            <a:r>
              <a:rPr lang="it-IT" b="1" err="1"/>
              <a:t>Kaggle</a:t>
            </a:r>
            <a:r>
              <a:rPr lang="it-IT" b="1"/>
              <a:t> (P100)</a:t>
            </a:r>
            <a:r>
              <a:rPr lang="it-IT"/>
              <a:t>, più adatta a carichi di memoria. Questa divisione ci ha permesso di allenare modelli più grandi senza rallentare le iterazioni sui classificatori.</a:t>
            </a:r>
          </a:p>
          <a:p>
            <a:endParaRPr lang="it-IT">
              <a:ea typeface="Calibri"/>
              <a:cs typeface="Calibri"/>
            </a:endParaRPr>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13</a:t>
            </a:fld>
            <a:endParaRPr lang="it-IT"/>
          </a:p>
        </p:txBody>
      </p:sp>
    </p:spTree>
    <p:extLst>
      <p:ext uri="{BB962C8B-B14F-4D97-AF65-F5344CB8AC3E}">
        <p14:creationId xmlns:p14="http://schemas.microsoft.com/office/powerpoint/2010/main" val="5011604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A3038-7484-8698-E020-5D53768FD51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07E9D99-32A4-5726-93EC-23A8BD5488D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6B5E477-876F-6373-8E20-A1A6774715E8}"/>
              </a:ext>
            </a:extLst>
          </p:cNvPr>
          <p:cNvSpPr>
            <a:spLocks noGrp="1"/>
          </p:cNvSpPr>
          <p:nvPr>
            <p:ph type="body" idx="1"/>
          </p:nvPr>
        </p:nvSpPr>
        <p:spPr/>
        <p:txBody>
          <a:bodyPr/>
          <a:lstStyle/>
          <a:p>
            <a:r>
              <a:rPr lang="en-US" dirty="0"/>
              <a:t>R: La </a:t>
            </a:r>
            <a:r>
              <a:rPr lang="en-US" dirty="0" err="1"/>
              <a:t>qualità</a:t>
            </a:r>
            <a:r>
              <a:rPr lang="en-US" dirty="0"/>
              <a:t> di </a:t>
            </a:r>
            <a:r>
              <a:rPr lang="en-US" dirty="0" err="1"/>
              <a:t>una</a:t>
            </a:r>
            <a:r>
              <a:rPr lang="en-US" dirty="0"/>
              <a:t> </a:t>
            </a:r>
            <a:r>
              <a:rPr lang="en-US" dirty="0" err="1"/>
              <a:t>riscrittura</a:t>
            </a:r>
            <a:r>
              <a:rPr lang="en-US" dirty="0"/>
              <a:t> non </a:t>
            </a:r>
            <a:r>
              <a:rPr lang="en-US" dirty="0" err="1"/>
              <a:t>si</a:t>
            </a:r>
            <a:r>
              <a:rPr lang="en-US" dirty="0"/>
              <a:t> </a:t>
            </a:r>
            <a:r>
              <a:rPr lang="en-US" dirty="0" err="1"/>
              <a:t>può</a:t>
            </a:r>
            <a:r>
              <a:rPr lang="en-US" dirty="0"/>
              <a:t> </a:t>
            </a:r>
            <a:r>
              <a:rPr lang="en-US" dirty="0" err="1"/>
              <a:t>valutare</a:t>
            </a:r>
            <a:r>
              <a:rPr lang="en-US" dirty="0"/>
              <a:t> con un </a:t>
            </a:r>
            <a:r>
              <a:rPr lang="en-US" dirty="0" err="1"/>
              <a:t>unico</a:t>
            </a:r>
            <a:r>
              <a:rPr lang="en-US" dirty="0"/>
              <a:t> “giusto/</a:t>
            </a:r>
            <a:r>
              <a:rPr lang="en-US" dirty="0" err="1"/>
              <a:t>sbagliato</a:t>
            </a:r>
            <a:r>
              <a:rPr lang="en-US" dirty="0"/>
              <a:t>”, </a:t>
            </a:r>
            <a:r>
              <a:rPr lang="en-US" dirty="0" err="1"/>
              <a:t>perché</a:t>
            </a:r>
            <a:r>
              <a:rPr lang="en-US" dirty="0"/>
              <a:t> </a:t>
            </a:r>
            <a:r>
              <a:rPr lang="en-US" dirty="0" err="1"/>
              <a:t>possono</a:t>
            </a:r>
            <a:r>
              <a:rPr lang="en-US" dirty="0"/>
              <a:t> </a:t>
            </a:r>
            <a:r>
              <a:rPr lang="en-US" dirty="0" err="1"/>
              <a:t>esistere</a:t>
            </a:r>
            <a:r>
              <a:rPr lang="en-US" dirty="0"/>
              <a:t> </a:t>
            </a:r>
            <a:r>
              <a:rPr lang="en-US" b="1" dirty="0" err="1"/>
              <a:t>più</a:t>
            </a:r>
            <a:r>
              <a:rPr lang="en-US" b="1" dirty="0"/>
              <a:t> </a:t>
            </a:r>
            <a:r>
              <a:rPr lang="en-US" b="1" dirty="0" err="1"/>
              <a:t>riscritture</a:t>
            </a:r>
            <a:r>
              <a:rPr lang="en-US" b="1" dirty="0"/>
              <a:t> inclusive </a:t>
            </a:r>
            <a:r>
              <a:rPr lang="en-US" b="1" dirty="0" err="1"/>
              <a:t>corrette</a:t>
            </a:r>
            <a:r>
              <a:rPr lang="en-US" dirty="0"/>
              <a:t>. Per </a:t>
            </a:r>
            <a:r>
              <a:rPr lang="en-US" dirty="0" err="1"/>
              <a:t>questo</a:t>
            </a:r>
            <a:r>
              <a:rPr lang="en-US" dirty="0"/>
              <a:t> </a:t>
            </a:r>
            <a:r>
              <a:rPr lang="en-US" dirty="0" err="1"/>
              <a:t>usiamo</a:t>
            </a:r>
            <a:r>
              <a:rPr lang="en-US" dirty="0"/>
              <a:t> </a:t>
            </a:r>
            <a:r>
              <a:rPr lang="en-US" dirty="0" err="1"/>
              <a:t>metriche</a:t>
            </a:r>
            <a:r>
              <a:rPr lang="en-US" dirty="0"/>
              <a:t> </a:t>
            </a:r>
            <a:r>
              <a:rPr lang="en-US" dirty="0" err="1"/>
              <a:t>complementari</a:t>
            </a:r>
            <a:r>
              <a:rPr lang="en-US" dirty="0"/>
              <a:t>: </a:t>
            </a:r>
            <a:r>
              <a:rPr lang="en-US" b="1" dirty="0"/>
              <a:t>ROUGE</a:t>
            </a:r>
            <a:r>
              <a:rPr lang="en-US" dirty="0"/>
              <a:t> </a:t>
            </a:r>
            <a:r>
              <a:rPr lang="en-US" dirty="0" err="1"/>
              <a:t>misura</a:t>
            </a:r>
            <a:r>
              <a:rPr lang="en-US" dirty="0"/>
              <a:t> </a:t>
            </a:r>
            <a:r>
              <a:rPr lang="en-US" dirty="0" err="1"/>
              <a:t>l’overlap</a:t>
            </a:r>
            <a:r>
              <a:rPr lang="en-US" dirty="0"/>
              <a:t> di </a:t>
            </a:r>
            <a:r>
              <a:rPr lang="en-US" dirty="0" err="1"/>
              <a:t>contenuto</a:t>
            </a:r>
            <a:r>
              <a:rPr lang="en-US" dirty="0"/>
              <a:t> con la reference, </a:t>
            </a:r>
            <a:r>
              <a:rPr lang="en-US" b="1" dirty="0"/>
              <a:t>BLEU</a:t>
            </a:r>
            <a:r>
              <a:rPr lang="en-US" dirty="0"/>
              <a:t> </a:t>
            </a:r>
            <a:r>
              <a:rPr lang="en-US" dirty="0" err="1"/>
              <a:t>misura</a:t>
            </a:r>
            <a:r>
              <a:rPr lang="en-US" dirty="0"/>
              <a:t> la </a:t>
            </a:r>
            <a:r>
              <a:rPr lang="en-US" dirty="0" err="1"/>
              <a:t>precisione</a:t>
            </a:r>
            <a:r>
              <a:rPr lang="en-US" dirty="0"/>
              <a:t> e </a:t>
            </a:r>
            <a:r>
              <a:rPr lang="en-US" dirty="0" err="1"/>
              <a:t>penalizza</a:t>
            </a:r>
            <a:r>
              <a:rPr lang="en-US" dirty="0"/>
              <a:t> </a:t>
            </a:r>
            <a:r>
              <a:rPr lang="en-US" dirty="0" err="1"/>
              <a:t>aggiunte</a:t>
            </a:r>
            <a:r>
              <a:rPr lang="en-US" dirty="0"/>
              <a:t> </a:t>
            </a:r>
            <a:r>
              <a:rPr lang="en-US" dirty="0" err="1"/>
              <a:t>inutili</a:t>
            </a:r>
            <a:r>
              <a:rPr lang="en-US" dirty="0"/>
              <a:t>, e </a:t>
            </a:r>
            <a:r>
              <a:rPr lang="en-US" b="1" dirty="0" err="1"/>
              <a:t>BERTScore</a:t>
            </a:r>
            <a:r>
              <a:rPr lang="en-US" dirty="0"/>
              <a:t> valuta la </a:t>
            </a:r>
            <a:r>
              <a:rPr lang="en-US" dirty="0" err="1"/>
              <a:t>somiglianza</a:t>
            </a:r>
            <a:r>
              <a:rPr lang="en-US" dirty="0"/>
              <a:t> di </a:t>
            </a:r>
            <a:r>
              <a:rPr lang="en-US" dirty="0" err="1"/>
              <a:t>significato</a:t>
            </a:r>
            <a:r>
              <a:rPr lang="en-US" dirty="0"/>
              <a:t> </a:t>
            </a:r>
            <a:r>
              <a:rPr lang="en-US" dirty="0" err="1"/>
              <a:t>tramite</a:t>
            </a:r>
            <a:r>
              <a:rPr lang="en-US" dirty="0"/>
              <a:t> embedding, </a:t>
            </a:r>
            <a:r>
              <a:rPr lang="en-US" dirty="0" err="1"/>
              <a:t>premiando</a:t>
            </a:r>
            <a:r>
              <a:rPr lang="en-US" dirty="0"/>
              <a:t> </a:t>
            </a:r>
            <a:r>
              <a:rPr lang="en-US" dirty="0" err="1"/>
              <a:t>anche</a:t>
            </a:r>
            <a:r>
              <a:rPr lang="en-US" dirty="0"/>
              <a:t> </a:t>
            </a:r>
            <a:r>
              <a:rPr lang="en-US" dirty="0" err="1"/>
              <a:t>sinonimi</a:t>
            </a:r>
            <a:r>
              <a:rPr lang="en-US" dirty="0"/>
              <a:t> e </a:t>
            </a:r>
            <a:r>
              <a:rPr lang="en-US" dirty="0" err="1"/>
              <a:t>parafrasi</a:t>
            </a:r>
            <a:r>
              <a:rPr lang="en-US" dirty="0"/>
              <a:t>. </a:t>
            </a:r>
            <a:r>
              <a:rPr lang="en-US" dirty="0" err="1"/>
              <a:t>Così</a:t>
            </a:r>
            <a:r>
              <a:rPr lang="en-US" dirty="0"/>
              <a:t> </a:t>
            </a:r>
            <a:r>
              <a:rPr lang="en-US" dirty="0" err="1"/>
              <a:t>catturiamo</a:t>
            </a:r>
            <a:r>
              <a:rPr lang="en-US" dirty="0"/>
              <a:t> </a:t>
            </a:r>
            <a:r>
              <a:rPr lang="en-US" dirty="0" err="1"/>
              <a:t>sia</a:t>
            </a:r>
            <a:r>
              <a:rPr lang="en-US" dirty="0"/>
              <a:t> la </a:t>
            </a:r>
            <a:r>
              <a:rPr lang="en-US" dirty="0" err="1"/>
              <a:t>similarità</a:t>
            </a:r>
            <a:r>
              <a:rPr lang="en-US" dirty="0"/>
              <a:t> “di </a:t>
            </a:r>
            <a:r>
              <a:rPr lang="en-US" dirty="0" err="1"/>
              <a:t>superficie</a:t>
            </a:r>
            <a:r>
              <a:rPr lang="en-US" dirty="0"/>
              <a:t>” </a:t>
            </a:r>
            <a:r>
              <a:rPr lang="en-US" dirty="0" err="1"/>
              <a:t>sia</a:t>
            </a:r>
            <a:r>
              <a:rPr lang="en-US" dirty="0"/>
              <a:t>, </a:t>
            </a:r>
            <a:r>
              <a:rPr lang="en-US" dirty="0" err="1"/>
              <a:t>soprattutto</a:t>
            </a:r>
            <a:r>
              <a:rPr lang="en-US" dirty="0"/>
              <a:t>, la </a:t>
            </a:r>
            <a:r>
              <a:rPr lang="en-US" b="1" dirty="0" err="1"/>
              <a:t>preservazione</a:t>
            </a:r>
            <a:r>
              <a:rPr lang="en-US" b="1" dirty="0"/>
              <a:t> del meaning</a:t>
            </a:r>
            <a:r>
              <a:rPr lang="en-US" dirty="0"/>
              <a:t>.</a:t>
            </a:r>
            <a:endParaRPr lang="it-IT" dirty="0"/>
          </a:p>
          <a:p>
            <a:endParaRPr lang="en-US">
              <a:ea typeface="Calibri"/>
              <a:cs typeface="Calibri"/>
            </a:endParaRPr>
          </a:p>
        </p:txBody>
      </p:sp>
      <p:sp>
        <p:nvSpPr>
          <p:cNvPr id="4" name="Segnaposto numero diapositiva 3">
            <a:extLst>
              <a:ext uri="{FF2B5EF4-FFF2-40B4-BE49-F238E27FC236}">
                <a16:creationId xmlns:a16="http://schemas.microsoft.com/office/drawing/2014/main" id="{3346D5C7-AE68-B118-EA23-C5D77394F611}"/>
              </a:ext>
            </a:extLst>
          </p:cNvPr>
          <p:cNvSpPr>
            <a:spLocks noGrp="1"/>
          </p:cNvSpPr>
          <p:nvPr>
            <p:ph type="sldNum" sz="quarter" idx="5"/>
          </p:nvPr>
        </p:nvSpPr>
        <p:spPr/>
        <p:txBody>
          <a:bodyPr/>
          <a:lstStyle/>
          <a:p>
            <a:pPr rtl="0"/>
            <a:fld id="{A89C7E07-3C67-C64C-8DA0-0404F6303970}" type="slidenum">
              <a:rPr lang="it-IT" smtClean="0"/>
              <a:t>14</a:t>
            </a:fld>
            <a:endParaRPr lang="it-IT"/>
          </a:p>
        </p:txBody>
      </p:sp>
    </p:spTree>
    <p:extLst>
      <p:ext uri="{BB962C8B-B14F-4D97-AF65-F5344CB8AC3E}">
        <p14:creationId xmlns:p14="http://schemas.microsoft.com/office/powerpoint/2010/main" val="58306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r>
              <a:rPr lang="it-IT" dirty="0"/>
              <a:t>M: Per il modulo inglese, il </a:t>
            </a:r>
            <a:r>
              <a:rPr lang="it-IT" b="1" dirty="0" err="1"/>
              <a:t>Bias</a:t>
            </a:r>
            <a:r>
              <a:rPr lang="it-IT" b="1" dirty="0"/>
              <a:t> </a:t>
            </a:r>
            <a:r>
              <a:rPr lang="it-IT" b="1" dirty="0" err="1"/>
              <a:t>Classifier</a:t>
            </a:r>
            <a:r>
              <a:rPr lang="it-IT" dirty="0"/>
              <a:t> è basato su </a:t>
            </a:r>
            <a:r>
              <a:rPr lang="it-IT" b="1" dirty="0" err="1"/>
              <a:t>DistilBERT</a:t>
            </a:r>
            <a:r>
              <a:rPr lang="it-IT" b="1" dirty="0"/>
              <a:t>-base-</a:t>
            </a:r>
            <a:r>
              <a:rPr lang="it-IT" b="1" dirty="0" err="1"/>
              <a:t>uncased</a:t>
            </a:r>
            <a:r>
              <a:rPr lang="it-IT" dirty="0"/>
              <a:t>, scelto per bilanciare </a:t>
            </a:r>
            <a:r>
              <a:rPr lang="it-IT" b="1" dirty="0"/>
              <a:t>accuratezza e velocità</a:t>
            </a:r>
            <a:r>
              <a:rPr lang="it-IT" dirty="0"/>
              <a:t>, dato che in una web app la latenza di inferenza conta. Il task è una </a:t>
            </a:r>
            <a:r>
              <a:rPr lang="it-IT" b="1" dirty="0"/>
              <a:t>classificazione binaria</a:t>
            </a:r>
            <a:r>
              <a:rPr lang="it-IT" dirty="0"/>
              <a:t>: distinguere frasi inclusive da non inclusive. L’addestramento è stato fatto con fine-tuning standard in </a:t>
            </a:r>
            <a:r>
              <a:rPr lang="it-IT" b="1" dirty="0" err="1"/>
              <a:t>Hugging</a:t>
            </a:r>
            <a:r>
              <a:rPr lang="it-IT" b="1" dirty="0"/>
              <a:t> Face</a:t>
            </a:r>
            <a:r>
              <a:rPr lang="it-IT" dirty="0"/>
              <a:t>: </a:t>
            </a:r>
            <a:r>
              <a:rPr lang="it-IT" b="1" dirty="0"/>
              <a:t>3 epoche</a:t>
            </a:r>
            <a:r>
              <a:rPr lang="it-IT" dirty="0"/>
              <a:t>, </a:t>
            </a:r>
            <a:r>
              <a:rPr lang="it-IT" b="1" dirty="0"/>
              <a:t>learning rate 2e-5</a:t>
            </a:r>
            <a:r>
              <a:rPr lang="it-IT" dirty="0"/>
              <a:t>, batch size adattato ai limiti GPU, e selezione del </a:t>
            </a:r>
            <a:r>
              <a:rPr lang="it-IT" b="1" dirty="0"/>
              <a:t>miglior checkpoint</a:t>
            </a:r>
            <a:r>
              <a:rPr lang="it-IT" dirty="0"/>
              <a:t> usando </a:t>
            </a:r>
            <a:r>
              <a:rPr lang="it-IT" b="1" dirty="0"/>
              <a:t>F1-score</a:t>
            </a:r>
            <a:r>
              <a:rPr lang="it-IT" dirty="0"/>
              <a:t>, così da restare robusti anche in caso di class </a:t>
            </a:r>
            <a:r>
              <a:rPr lang="it-IT" dirty="0" err="1"/>
              <a:t>imbalance</a:t>
            </a:r>
            <a:endParaRPr lang="it-IT" dirty="0" err="1">
              <a:ea typeface="Calibri"/>
              <a:cs typeface="Calibri"/>
            </a:endParaRPr>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15</a:t>
            </a:fld>
            <a:endParaRPr lang="it-IT"/>
          </a:p>
        </p:txBody>
      </p:sp>
    </p:spTree>
    <p:extLst>
      <p:ext uri="{BB962C8B-B14F-4D97-AF65-F5344CB8AC3E}">
        <p14:creationId xmlns:p14="http://schemas.microsoft.com/office/powerpoint/2010/main" val="6345968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A5C57-0E84-5ACD-1745-98B0BD64610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A237197-7011-77C9-32A5-346464E3E90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00CA35A-0D4F-7EC2-114D-814F803A56C7}"/>
              </a:ext>
            </a:extLst>
          </p:cNvPr>
          <p:cNvSpPr>
            <a:spLocks noGrp="1"/>
          </p:cNvSpPr>
          <p:nvPr>
            <p:ph type="body" idx="1"/>
          </p:nvPr>
        </p:nvSpPr>
        <p:spPr/>
        <p:txBody>
          <a:bodyPr rtlCol="0"/>
          <a:lstStyle>
            <a:defPPr>
              <a:defRPr lang="it-IT"/>
            </a:defPPr>
          </a:lstStyle>
          <a:p>
            <a:r>
              <a:rPr lang="it-IT"/>
              <a:t>Per la riscrittura in inglese abbiamo usato </a:t>
            </a:r>
            <a:r>
              <a:rPr lang="it-IT" b="1" err="1"/>
              <a:t>google</a:t>
            </a:r>
            <a:r>
              <a:rPr lang="it-IT" b="1"/>
              <a:t>/flan-t5-base</a:t>
            </a:r>
            <a:r>
              <a:rPr lang="it-IT"/>
              <a:t>, un modello </a:t>
            </a:r>
            <a:r>
              <a:rPr lang="it-IT" b="1"/>
              <a:t>text-to-text</a:t>
            </a:r>
            <a:r>
              <a:rPr lang="it-IT"/>
              <a:t> ottimizzato per seguire istruzioni. Per guidare la generazione, ogni frase viene preceduta da un prefisso del tipo </a:t>
            </a:r>
            <a:r>
              <a:rPr lang="it-IT" i="1"/>
              <a:t>“</a:t>
            </a:r>
            <a:r>
              <a:rPr lang="it-IT" i="1" err="1"/>
              <a:t>Rewrite</a:t>
            </a:r>
            <a:r>
              <a:rPr lang="it-IT" i="1"/>
              <a:t> the </a:t>
            </a:r>
            <a:r>
              <a:rPr lang="it-IT" i="1" err="1"/>
              <a:t>sentence</a:t>
            </a:r>
            <a:r>
              <a:rPr lang="it-IT" i="1"/>
              <a:t> </a:t>
            </a:r>
            <a:r>
              <a:rPr lang="it-IT" i="1" err="1"/>
              <a:t>using</a:t>
            </a:r>
            <a:r>
              <a:rPr lang="it-IT" i="1"/>
              <a:t> inclusive </a:t>
            </a:r>
            <a:r>
              <a:rPr lang="it-IT" i="1" err="1"/>
              <a:t>language</a:t>
            </a:r>
            <a:r>
              <a:rPr lang="it-IT" i="1"/>
              <a:t>: …”</a:t>
            </a:r>
            <a:r>
              <a:rPr lang="it-IT"/>
              <a:t>. L’addestramento segue un setup </a:t>
            </a:r>
            <a:r>
              <a:rPr lang="it-IT" b="1"/>
              <a:t>seq2seq</a:t>
            </a:r>
            <a:r>
              <a:rPr lang="it-IT"/>
              <a:t>, con </a:t>
            </a:r>
            <a:r>
              <a:rPr lang="it-IT" err="1"/>
              <a:t>batching</a:t>
            </a:r>
            <a:r>
              <a:rPr lang="it-IT"/>
              <a:t> ed </a:t>
            </a:r>
            <a:r>
              <a:rPr lang="it-IT" err="1"/>
              <a:t>evaluation</a:t>
            </a:r>
            <a:r>
              <a:rPr lang="it-IT"/>
              <a:t> curate. In valutazione non cerchiamo la copia parola per parola: l’obiettivo è </a:t>
            </a:r>
            <a:r>
              <a:rPr lang="it-IT" b="1"/>
              <a:t>preservare il significato</a:t>
            </a:r>
            <a:r>
              <a:rPr lang="it-IT"/>
              <a:t>, rimuovere il </a:t>
            </a:r>
            <a:r>
              <a:rPr lang="it-IT" err="1"/>
              <a:t>bias</a:t>
            </a:r>
            <a:r>
              <a:rPr lang="it-IT"/>
              <a:t> e ottenere un output in inglese </a:t>
            </a:r>
            <a:r>
              <a:rPr lang="it-IT" b="1"/>
              <a:t>naturale e leggibile</a:t>
            </a:r>
            <a:r>
              <a:rPr lang="it-IT"/>
              <a:t>.</a:t>
            </a:r>
          </a:p>
        </p:txBody>
      </p:sp>
      <p:sp>
        <p:nvSpPr>
          <p:cNvPr id="4" name="Segnaposto numero diapositiva 3">
            <a:extLst>
              <a:ext uri="{FF2B5EF4-FFF2-40B4-BE49-F238E27FC236}">
                <a16:creationId xmlns:a16="http://schemas.microsoft.com/office/drawing/2014/main" id="{AF510FCF-5B48-1457-C1B7-D2014C51C1D3}"/>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16</a:t>
            </a:fld>
            <a:endParaRPr lang="it-IT"/>
          </a:p>
        </p:txBody>
      </p:sp>
    </p:spTree>
    <p:extLst>
      <p:ext uri="{BB962C8B-B14F-4D97-AF65-F5344CB8AC3E}">
        <p14:creationId xmlns:p14="http://schemas.microsoft.com/office/powerpoint/2010/main" val="15443636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53EA3-1B7F-2DBA-C39D-9788AE8DAEE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334AB85-1CDD-7A5F-ABA4-F264CDEFD23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CC52332-CDBB-3F5D-A596-D082C336B26B}"/>
              </a:ext>
            </a:extLst>
          </p:cNvPr>
          <p:cNvSpPr>
            <a:spLocks noGrp="1"/>
          </p:cNvSpPr>
          <p:nvPr>
            <p:ph type="body" idx="1"/>
          </p:nvPr>
        </p:nvSpPr>
        <p:spPr/>
        <p:txBody>
          <a:bodyPr rtlCol="0"/>
          <a:lstStyle>
            <a:defPPr>
              <a:defRPr lang="it-IT"/>
            </a:defPPr>
          </a:lstStyle>
          <a:p>
            <a:r>
              <a:rPr lang="it-IT"/>
              <a:t>Il </a:t>
            </a:r>
            <a:r>
              <a:rPr lang="it-IT" b="1"/>
              <a:t>classificatore</a:t>
            </a:r>
            <a:r>
              <a:rPr lang="it-IT"/>
              <a:t> mostra pochissimi errori nella </a:t>
            </a:r>
            <a:r>
              <a:rPr lang="it-IT" err="1"/>
              <a:t>confusion</a:t>
            </a:r>
            <a:r>
              <a:rPr lang="it-IT"/>
              <a:t> </a:t>
            </a:r>
            <a:r>
              <a:rPr lang="it-IT" err="1"/>
              <a:t>matrix</a:t>
            </a:r>
            <a:r>
              <a:rPr lang="it-IT"/>
              <a:t> e metriche molto alte: </a:t>
            </a:r>
            <a:r>
              <a:rPr lang="it-IT" b="1" err="1"/>
              <a:t>Accuracy</a:t>
            </a:r>
            <a:r>
              <a:rPr lang="it-IT" b="1"/>
              <a:t> ~0,997</a:t>
            </a:r>
            <a:r>
              <a:rPr lang="it-IT"/>
              <a:t>, </a:t>
            </a:r>
            <a:r>
              <a:rPr lang="it-IT" b="1"/>
              <a:t>F1 (macro/</a:t>
            </a:r>
            <a:r>
              <a:rPr lang="it-IT" b="1" err="1"/>
              <a:t>weighted</a:t>
            </a:r>
            <a:r>
              <a:rPr lang="it-IT" b="1"/>
              <a:t>) ~0,997</a:t>
            </a:r>
            <a:r>
              <a:rPr lang="it-IT"/>
              <a:t>, con </a:t>
            </a:r>
            <a:r>
              <a:rPr lang="it-IT" b="1"/>
              <a:t>ROC-AUC</a:t>
            </a:r>
            <a:r>
              <a:rPr lang="it-IT"/>
              <a:t> e </a:t>
            </a:r>
            <a:r>
              <a:rPr lang="it-IT" b="1"/>
              <a:t>PR-AUC</a:t>
            </a:r>
            <a:r>
              <a:rPr lang="it-IT"/>
              <a:t> vicinissimi a 1, quindi distingue in modo molto affidabile </a:t>
            </a:r>
            <a:r>
              <a:rPr lang="it-IT" i="1"/>
              <a:t>inclusive</a:t>
            </a:r>
            <a:r>
              <a:rPr lang="it-IT"/>
              <a:t> vs </a:t>
            </a:r>
            <a:r>
              <a:rPr lang="it-IT" i="1" err="1"/>
              <a:t>not_inclusive</a:t>
            </a:r>
            <a:r>
              <a:rPr lang="it-IT"/>
              <a:t>.</a:t>
            </a:r>
            <a:br>
              <a:rPr lang="it-IT">
                <a:cs typeface="+mn-lt"/>
              </a:rPr>
            </a:br>
            <a:r>
              <a:rPr lang="it-IT"/>
              <a:t> Per il </a:t>
            </a:r>
            <a:r>
              <a:rPr lang="it-IT" b="1"/>
              <a:t>rewriter</a:t>
            </a:r>
            <a:r>
              <a:rPr lang="it-IT"/>
              <a:t>, riportiamo </a:t>
            </a:r>
            <a:r>
              <a:rPr lang="it-IT" b="1"/>
              <a:t>ROUGE</a:t>
            </a:r>
            <a:r>
              <a:rPr lang="it-IT"/>
              <a:t> e </a:t>
            </a:r>
            <a:r>
              <a:rPr lang="it-IT" b="1"/>
              <a:t>BLEU</a:t>
            </a:r>
            <a:r>
              <a:rPr lang="it-IT"/>
              <a:t> per misurare la somiglianza lessicale e la precisione rispetto alla </a:t>
            </a:r>
            <a:r>
              <a:rPr lang="it-IT" err="1"/>
              <a:t>reference</a:t>
            </a:r>
            <a:r>
              <a:rPr lang="it-IT"/>
              <a:t>, e </a:t>
            </a:r>
            <a:r>
              <a:rPr lang="it-IT" b="1" err="1"/>
              <a:t>BERTScore</a:t>
            </a:r>
            <a:r>
              <a:rPr lang="it-IT"/>
              <a:t> per verificare la </a:t>
            </a:r>
            <a:r>
              <a:rPr lang="it-IT" b="1"/>
              <a:t>preservazione del significato</a:t>
            </a:r>
            <a:r>
              <a:rPr lang="it-IT"/>
              <a:t> anche quando la frase viene parafrasata. In inglese i punteggi “</a:t>
            </a:r>
            <a:r>
              <a:rPr lang="it-IT" err="1"/>
              <a:t>surface</a:t>
            </a:r>
            <a:r>
              <a:rPr lang="it-IT"/>
              <a:t>” risultano più alti perché la lingua è più semplice per metriche </a:t>
            </a:r>
            <a:r>
              <a:rPr lang="it-IT" err="1"/>
              <a:t>exact</a:t>
            </a:r>
            <a:r>
              <a:rPr lang="it-IT"/>
              <a:t>-match, mentre il </a:t>
            </a:r>
            <a:r>
              <a:rPr lang="it-IT" err="1"/>
              <a:t>BERTScore</a:t>
            </a:r>
            <a:r>
              <a:rPr lang="it-IT"/>
              <a:t> conferma che il </a:t>
            </a:r>
            <a:r>
              <a:rPr lang="it-IT" err="1"/>
              <a:t>meaning</a:t>
            </a:r>
            <a:r>
              <a:rPr lang="it-IT"/>
              <a:t> viene mantenuto.</a:t>
            </a:r>
          </a:p>
        </p:txBody>
      </p:sp>
      <p:sp>
        <p:nvSpPr>
          <p:cNvPr id="4" name="Segnaposto numero diapositiva 3">
            <a:extLst>
              <a:ext uri="{FF2B5EF4-FFF2-40B4-BE49-F238E27FC236}">
                <a16:creationId xmlns:a16="http://schemas.microsoft.com/office/drawing/2014/main" id="{B658F4BE-7600-B0C8-ED11-28F4ACEFBEF2}"/>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17</a:t>
            </a:fld>
            <a:endParaRPr lang="it-IT"/>
          </a:p>
        </p:txBody>
      </p:sp>
    </p:spTree>
    <p:extLst>
      <p:ext uri="{BB962C8B-B14F-4D97-AF65-F5344CB8AC3E}">
        <p14:creationId xmlns:p14="http://schemas.microsoft.com/office/powerpoint/2010/main" val="674005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780B8-B39D-90C5-7474-4E6D8412076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52B5B56-0265-879A-721A-27B8448ED21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09DE9C2-A9F0-1B61-18DB-223DF015FD66}"/>
              </a:ext>
            </a:extLst>
          </p:cNvPr>
          <p:cNvSpPr>
            <a:spLocks noGrp="1"/>
          </p:cNvSpPr>
          <p:nvPr>
            <p:ph type="body" idx="1"/>
          </p:nvPr>
        </p:nvSpPr>
        <p:spPr/>
        <p:txBody>
          <a:bodyPr rtlCol="0"/>
          <a:lstStyle>
            <a:defPPr>
              <a:defRPr lang="it-IT"/>
            </a:defPPr>
          </a:lstStyle>
          <a:p>
            <a:r>
              <a:rPr lang="it-IT" dirty="0"/>
              <a:t>R: Per l’italiano abbiamo scelto </a:t>
            </a:r>
            <a:r>
              <a:rPr lang="it-IT" b="1" dirty="0"/>
              <a:t>indigo-ai/</a:t>
            </a:r>
            <a:r>
              <a:rPr lang="it-IT" b="1" dirty="0" err="1"/>
              <a:t>BERTino</a:t>
            </a:r>
            <a:r>
              <a:rPr lang="it-IT" dirty="0"/>
              <a:t>, perché la lingua richiede scelte specifiche legate a </a:t>
            </a:r>
            <a:r>
              <a:rPr lang="it-IT" b="1" dirty="0"/>
              <a:t>morfologia</a:t>
            </a:r>
            <a:r>
              <a:rPr lang="it-IT" dirty="0"/>
              <a:t> e </a:t>
            </a:r>
            <a:r>
              <a:rPr lang="it-IT" b="1" dirty="0"/>
              <a:t>vincoli stilistici</a:t>
            </a:r>
            <a:r>
              <a:rPr lang="it-IT" dirty="0"/>
              <a:t>. La strategia è usare un modello </a:t>
            </a:r>
            <a:r>
              <a:rPr lang="it-IT" b="1" dirty="0"/>
              <a:t>nativo italiano</a:t>
            </a:r>
            <a:r>
              <a:rPr lang="it-IT" dirty="0"/>
              <a:t>, </a:t>
            </a:r>
            <a:r>
              <a:rPr lang="it-IT" dirty="0" err="1"/>
              <a:t>pre</a:t>
            </a:r>
            <a:r>
              <a:rPr lang="it-IT" dirty="0"/>
              <a:t>-addestrato perché i modelli multilingua generici spesso faticano con sfumature culturali e linguistiche dell’italiano. Il training è stato fatto su </a:t>
            </a:r>
            <a:r>
              <a:rPr lang="it-IT" b="1" dirty="0" err="1"/>
              <a:t>Colab</a:t>
            </a:r>
            <a:r>
              <a:rPr lang="it-IT" b="1" dirty="0"/>
              <a:t> (T4)</a:t>
            </a:r>
            <a:r>
              <a:rPr lang="it-IT" dirty="0"/>
              <a:t> con fine-tuning standard: </a:t>
            </a:r>
            <a:r>
              <a:rPr lang="it-IT" b="1" dirty="0"/>
              <a:t>3 epoche</a:t>
            </a:r>
            <a:r>
              <a:rPr lang="it-IT" dirty="0"/>
              <a:t>, </a:t>
            </a:r>
            <a:r>
              <a:rPr lang="it-IT" b="1" dirty="0"/>
              <a:t>LR 2e-5</a:t>
            </a:r>
            <a:r>
              <a:rPr lang="it-IT" dirty="0"/>
              <a:t>, weight </a:t>
            </a:r>
            <a:r>
              <a:rPr lang="it-IT" dirty="0" err="1"/>
              <a:t>decay</a:t>
            </a:r>
            <a:r>
              <a:rPr lang="it-IT" dirty="0"/>
              <a:t>, selezione del best checkpoint con </a:t>
            </a:r>
            <a:r>
              <a:rPr lang="it-IT" b="1" dirty="0"/>
              <a:t>F1-score</a:t>
            </a:r>
            <a:r>
              <a:rPr lang="it-IT" dirty="0"/>
              <a:t> e </a:t>
            </a:r>
            <a:r>
              <a:rPr lang="it-IT" b="1" dirty="0"/>
              <a:t>mixed </a:t>
            </a:r>
            <a:r>
              <a:rPr lang="it-IT" b="1" dirty="0" err="1"/>
              <a:t>precision</a:t>
            </a:r>
            <a:r>
              <a:rPr lang="it-IT" b="1" dirty="0"/>
              <a:t> FP16</a:t>
            </a:r>
            <a:r>
              <a:rPr lang="it-IT" dirty="0"/>
              <a:t>. Il risultato è molto solido nel rilevare </a:t>
            </a:r>
            <a:r>
              <a:rPr lang="it-IT" b="1" dirty="0"/>
              <a:t>maschile sovraesteso</a:t>
            </a:r>
            <a:r>
              <a:rPr lang="it-IT" dirty="0"/>
              <a:t> e costruzioni grammaticali escludenti.</a:t>
            </a:r>
          </a:p>
        </p:txBody>
      </p:sp>
      <p:sp>
        <p:nvSpPr>
          <p:cNvPr id="4" name="Segnaposto numero diapositiva 3">
            <a:extLst>
              <a:ext uri="{FF2B5EF4-FFF2-40B4-BE49-F238E27FC236}">
                <a16:creationId xmlns:a16="http://schemas.microsoft.com/office/drawing/2014/main" id="{4797BAB1-61CE-2311-C2EE-6EE40D0C09B3}"/>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18</a:t>
            </a:fld>
            <a:endParaRPr lang="it-IT"/>
          </a:p>
        </p:txBody>
      </p:sp>
    </p:spTree>
    <p:extLst>
      <p:ext uri="{BB962C8B-B14F-4D97-AF65-F5344CB8AC3E}">
        <p14:creationId xmlns:p14="http://schemas.microsoft.com/office/powerpoint/2010/main" val="3362227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4E049-AECB-9589-149F-90264ED8F63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F6BF9EE-125F-B2FD-B82F-DB56C07F116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A902DF7-0E8A-65D7-68C9-158CB6F5046C}"/>
              </a:ext>
            </a:extLst>
          </p:cNvPr>
          <p:cNvSpPr>
            <a:spLocks noGrp="1"/>
          </p:cNvSpPr>
          <p:nvPr>
            <p:ph type="body" idx="1"/>
          </p:nvPr>
        </p:nvSpPr>
        <p:spPr/>
        <p:txBody>
          <a:bodyPr rtlCol="0"/>
          <a:lstStyle>
            <a:defPPr>
              <a:defRPr lang="it-IT"/>
            </a:defPPr>
          </a:lstStyle>
          <a:p>
            <a:pPr lvl="0"/>
            <a:r>
              <a:rPr lang="it-IT"/>
              <a:t>Nei primi test, l’uso di modelli non specifici per l’italiano (es. FLAN-T5 in setting multilingua) produceva ridondanze e output meno naturali. Per questo si è passati a </a:t>
            </a:r>
            <a:r>
              <a:rPr lang="it-IT" b="1"/>
              <a:t>IT5</a:t>
            </a:r>
            <a:r>
              <a:rPr lang="it-IT"/>
              <a:t>, un modello text-to-text addestrato per l’italiano, che garantisce più </a:t>
            </a:r>
            <a:r>
              <a:rPr lang="it-IT" b="1"/>
              <a:t>fluenza</a:t>
            </a:r>
            <a:r>
              <a:rPr lang="it-IT"/>
              <a:t> e meno ripetizioni, soprattutto grazie al dataset italiano esteso. Il training usa un prompt/prefisso dedicato (es. “[INCLUSIVE] </a:t>
            </a:r>
            <a:r>
              <a:rPr lang="it-IT" err="1"/>
              <a:t>Rephrase</a:t>
            </a:r>
            <a:r>
              <a:rPr lang="it-IT"/>
              <a:t>…”) e tecniche come </a:t>
            </a:r>
            <a:r>
              <a:rPr lang="it-IT" err="1"/>
              <a:t>gradient</a:t>
            </a:r>
            <a:r>
              <a:rPr lang="it-IT"/>
              <a:t> </a:t>
            </a:r>
            <a:r>
              <a:rPr lang="it-IT" err="1"/>
              <a:t>accumulation</a:t>
            </a:r>
            <a:r>
              <a:rPr lang="it-IT"/>
              <a:t> per gestire batch ridotti. L’obiettivo è ottenere riscritture grammaticalmente corrette e stilisticamente credibili, non “meccaniche”.</a:t>
            </a:r>
          </a:p>
          <a:p>
            <a:r>
              <a:rPr lang="it-IT"/>
              <a:t>Durante l’addestramento, siccome il modello è pesante e la GPU ha limiti, usiamo un trucco tecnico (</a:t>
            </a:r>
            <a:r>
              <a:rPr lang="it-IT" b="1" err="1"/>
              <a:t>gradient</a:t>
            </a:r>
            <a:r>
              <a:rPr lang="it-IT" b="1"/>
              <a:t> </a:t>
            </a:r>
            <a:r>
              <a:rPr lang="it-IT" b="1" err="1"/>
              <a:t>accumulation</a:t>
            </a:r>
            <a:r>
              <a:rPr lang="it-IT"/>
              <a:t>) che permette di allenarlo bene anche con batch piccoli.</a:t>
            </a:r>
          </a:p>
        </p:txBody>
      </p:sp>
      <p:sp>
        <p:nvSpPr>
          <p:cNvPr id="4" name="Segnaposto numero diapositiva 3">
            <a:extLst>
              <a:ext uri="{FF2B5EF4-FFF2-40B4-BE49-F238E27FC236}">
                <a16:creationId xmlns:a16="http://schemas.microsoft.com/office/drawing/2014/main" id="{E631090C-C24B-E8CC-CF7F-D30F83AF0685}"/>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19</a:t>
            </a:fld>
            <a:endParaRPr lang="it-IT"/>
          </a:p>
        </p:txBody>
      </p:sp>
    </p:spTree>
    <p:extLst>
      <p:ext uri="{BB962C8B-B14F-4D97-AF65-F5344CB8AC3E}">
        <p14:creationId xmlns:p14="http://schemas.microsoft.com/office/powerpoint/2010/main" val="940193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E575C-53AB-0BE6-91BB-6F164E4B844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E17B697-E324-1614-89B0-5EDDCE98B16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3587833-311F-9051-6A80-5AE3A8A647B0}"/>
              </a:ext>
            </a:extLst>
          </p:cNvPr>
          <p:cNvSpPr>
            <a:spLocks noGrp="1"/>
          </p:cNvSpPr>
          <p:nvPr>
            <p:ph type="body" idx="1"/>
          </p:nvPr>
        </p:nvSpPr>
        <p:spPr/>
        <p:txBody>
          <a:bodyPr rtlCol="0"/>
          <a:lstStyle>
            <a:defPPr>
              <a:defRPr lang="it-IT"/>
            </a:defPPr>
          </a:lstStyle>
          <a:p>
            <a:r>
              <a:rPr lang="it-IT"/>
              <a:t>Il </a:t>
            </a:r>
            <a:r>
              <a:rPr lang="it-IT" b="1"/>
              <a:t>classificatore</a:t>
            </a:r>
            <a:r>
              <a:rPr lang="it-IT"/>
              <a:t> ha pochissimi errori nella </a:t>
            </a:r>
            <a:r>
              <a:rPr lang="it-IT" err="1"/>
              <a:t>confusion</a:t>
            </a:r>
            <a:r>
              <a:rPr lang="it-IT"/>
              <a:t> </a:t>
            </a:r>
            <a:r>
              <a:rPr lang="it-IT" err="1"/>
              <a:t>matrix</a:t>
            </a:r>
            <a:r>
              <a:rPr lang="it-IT"/>
              <a:t> e metriche molto alte: </a:t>
            </a:r>
            <a:r>
              <a:rPr lang="it-IT" b="1" err="1"/>
              <a:t>Accuracy</a:t>
            </a:r>
            <a:r>
              <a:rPr lang="it-IT" b="1"/>
              <a:t> ~0,992</a:t>
            </a:r>
            <a:r>
              <a:rPr lang="it-IT"/>
              <a:t>, </a:t>
            </a:r>
            <a:r>
              <a:rPr lang="it-IT" b="1"/>
              <a:t>F1 (macro/</a:t>
            </a:r>
            <a:r>
              <a:rPr lang="it-IT" b="1" err="1"/>
              <a:t>weighted</a:t>
            </a:r>
            <a:r>
              <a:rPr lang="it-IT" b="1"/>
              <a:t>) ~0,992</a:t>
            </a:r>
            <a:r>
              <a:rPr lang="it-IT"/>
              <a:t>, con </a:t>
            </a:r>
            <a:r>
              <a:rPr lang="it-IT" b="1"/>
              <a:t>ROC-AUC</a:t>
            </a:r>
            <a:r>
              <a:rPr lang="it-IT"/>
              <a:t> e </a:t>
            </a:r>
            <a:r>
              <a:rPr lang="it-IT" b="1"/>
              <a:t>PR-AUC</a:t>
            </a:r>
            <a:r>
              <a:rPr lang="it-IT"/>
              <a:t> quasi a 1, quindi separa molto bene </a:t>
            </a:r>
            <a:r>
              <a:rPr lang="it-IT" i="1"/>
              <a:t>inclusiva</a:t>
            </a:r>
            <a:r>
              <a:rPr lang="it-IT"/>
              <a:t> vs </a:t>
            </a:r>
            <a:r>
              <a:rPr lang="it-IT" i="1"/>
              <a:t>non inclusiva</a:t>
            </a:r>
            <a:r>
              <a:rPr lang="it-IT"/>
              <a:t>.</a:t>
            </a:r>
            <a:br>
              <a:rPr lang="it-IT">
                <a:cs typeface="+mn-lt"/>
              </a:rPr>
            </a:br>
            <a:r>
              <a:rPr lang="it-IT"/>
              <a:t> Per il </a:t>
            </a:r>
            <a:r>
              <a:rPr lang="it-IT" b="1"/>
              <a:t>rewriter</a:t>
            </a:r>
            <a:r>
              <a:rPr lang="it-IT"/>
              <a:t>, la valutazione usa più metriche: </a:t>
            </a:r>
            <a:r>
              <a:rPr lang="it-IT" b="1"/>
              <a:t>ROUGE</a:t>
            </a:r>
            <a:r>
              <a:rPr lang="it-IT"/>
              <a:t> e </a:t>
            </a:r>
            <a:r>
              <a:rPr lang="it-IT" b="1"/>
              <a:t>BLEU</a:t>
            </a:r>
            <a:r>
              <a:rPr lang="it-IT"/>
              <a:t> misurano la somiglianza “di superficie”, mentre il </a:t>
            </a:r>
            <a:r>
              <a:rPr lang="it-IT" b="1" err="1"/>
              <a:t>BERTScore</a:t>
            </a:r>
            <a:r>
              <a:rPr lang="it-IT"/>
              <a:t> misura la </a:t>
            </a:r>
            <a:r>
              <a:rPr lang="it-IT" b="1"/>
              <a:t>preservazione del significato</a:t>
            </a:r>
            <a:r>
              <a:rPr lang="it-IT"/>
              <a:t> anche quando cambia il </a:t>
            </a:r>
            <a:r>
              <a:rPr lang="it-IT" err="1"/>
              <a:t>wording</a:t>
            </a:r>
            <a:r>
              <a:rPr lang="it-IT"/>
              <a:t>. Qui il </a:t>
            </a:r>
            <a:r>
              <a:rPr lang="it-IT" err="1"/>
              <a:t>BERTScore</a:t>
            </a:r>
            <a:r>
              <a:rPr lang="it-IT"/>
              <a:t> resta alto, indicando che la riscrittura mantiene il </a:t>
            </a:r>
            <a:r>
              <a:rPr lang="it-IT" err="1"/>
              <a:t>meaning</a:t>
            </a:r>
            <a:r>
              <a:rPr lang="it-IT"/>
              <a:t> pur con variazioni lessicali tipiche dell’italiano.</a:t>
            </a:r>
          </a:p>
        </p:txBody>
      </p:sp>
      <p:sp>
        <p:nvSpPr>
          <p:cNvPr id="4" name="Segnaposto numero diapositiva 3">
            <a:extLst>
              <a:ext uri="{FF2B5EF4-FFF2-40B4-BE49-F238E27FC236}">
                <a16:creationId xmlns:a16="http://schemas.microsoft.com/office/drawing/2014/main" id="{564F7493-EFA6-6097-28D7-98D9C6C5CF9A}"/>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20</a:t>
            </a:fld>
            <a:endParaRPr lang="it-IT"/>
          </a:p>
        </p:txBody>
      </p:sp>
    </p:spTree>
    <p:extLst>
      <p:ext uri="{BB962C8B-B14F-4D97-AF65-F5344CB8AC3E}">
        <p14:creationId xmlns:p14="http://schemas.microsoft.com/office/powerpoint/2010/main" val="33583040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A7881-63B3-282A-19CF-69364A45AAB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3CA8905-FB60-D28A-E3EF-825B3900C5C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5E8603C-CD94-33DC-C1F4-75BD41E98ED5}"/>
              </a:ext>
            </a:extLst>
          </p:cNvPr>
          <p:cNvSpPr>
            <a:spLocks noGrp="1"/>
          </p:cNvSpPr>
          <p:nvPr>
            <p:ph type="body" idx="1"/>
          </p:nvPr>
        </p:nvSpPr>
        <p:spPr/>
        <p:txBody>
          <a:bodyPr rtlCol="0"/>
          <a:lstStyle>
            <a:defPPr>
              <a:defRPr lang="it-IT"/>
            </a:defPPr>
          </a:lstStyle>
          <a:p>
            <a:r>
              <a:rPr lang="it-IT" dirty="0"/>
              <a:t>M: Il classificatore multilingua usa </a:t>
            </a:r>
            <a:r>
              <a:rPr lang="it-IT" b="1" dirty="0"/>
              <a:t>XLM-</a:t>
            </a:r>
            <a:r>
              <a:rPr lang="it-IT" b="1" dirty="0" err="1"/>
              <a:t>RoBERTa</a:t>
            </a:r>
            <a:r>
              <a:rPr lang="it-IT" dirty="0"/>
              <a:t>, che allinea i concetti tra lingue in uno </a:t>
            </a:r>
            <a:r>
              <a:rPr lang="it-IT" b="1" dirty="0"/>
              <a:t>spazio di </a:t>
            </a:r>
            <a:r>
              <a:rPr lang="it-IT" b="1" dirty="0" err="1"/>
              <a:t>embedding</a:t>
            </a:r>
            <a:r>
              <a:rPr lang="it-IT" b="1" dirty="0"/>
              <a:t> condiviso</a:t>
            </a:r>
            <a:r>
              <a:rPr lang="it-IT" dirty="0"/>
              <a:t>, abilitando la cross-</a:t>
            </a:r>
            <a:r>
              <a:rPr lang="it-IT" dirty="0" err="1"/>
              <a:t>lingual</a:t>
            </a:r>
            <a:r>
              <a:rPr lang="it-IT" dirty="0"/>
              <a:t> </a:t>
            </a:r>
            <a:r>
              <a:rPr lang="it-IT" dirty="0" err="1"/>
              <a:t>bias</a:t>
            </a:r>
            <a:r>
              <a:rPr lang="it-IT" dirty="0"/>
              <a:t> </a:t>
            </a:r>
            <a:r>
              <a:rPr lang="it-IT" dirty="0" err="1"/>
              <a:t>detection</a:t>
            </a:r>
            <a:r>
              <a:rPr lang="it-IT" dirty="0"/>
              <a:t>. Il dataset </a:t>
            </a:r>
            <a:r>
              <a:rPr lang="it-IT" b="1" dirty="0" err="1"/>
              <a:t>dataset_multi.json</a:t>
            </a:r>
            <a:r>
              <a:rPr lang="it-IT" dirty="0"/>
              <a:t> unisce italiano e inglese per un totale di </a:t>
            </a:r>
            <a:r>
              <a:rPr lang="it-IT" b="1" dirty="0"/>
              <a:t>21.653 </a:t>
            </a:r>
            <a:r>
              <a:rPr lang="it-IT" b="1" dirty="0" err="1"/>
              <a:t>sentence</a:t>
            </a:r>
            <a:r>
              <a:rPr lang="it-IT" b="1" dirty="0"/>
              <a:t> </a:t>
            </a:r>
            <a:r>
              <a:rPr lang="it-IT" b="1" dirty="0" err="1"/>
              <a:t>pairs</a:t>
            </a:r>
            <a:r>
              <a:rPr lang="it-IT" dirty="0"/>
              <a:t>. L’addestramento su </a:t>
            </a:r>
            <a:r>
              <a:rPr lang="it-IT" b="1" dirty="0"/>
              <a:t>batch IT/EN mescolati (</a:t>
            </a:r>
            <a:r>
              <a:rPr lang="it-IT" b="1" dirty="0" err="1"/>
              <a:t>shuffled</a:t>
            </a:r>
            <a:r>
              <a:rPr lang="it-IT" b="1" dirty="0"/>
              <a:t>)</a:t>
            </a:r>
            <a:r>
              <a:rPr lang="it-IT" dirty="0"/>
              <a:t> serve a far apprendere il </a:t>
            </a:r>
            <a:r>
              <a:rPr lang="it-IT" dirty="0" err="1"/>
              <a:t>bias</a:t>
            </a:r>
            <a:r>
              <a:rPr lang="it-IT" dirty="0"/>
              <a:t> come fenomeno </a:t>
            </a:r>
            <a:r>
              <a:rPr lang="it-IT" b="1" dirty="0"/>
              <a:t>semantico</a:t>
            </a:r>
            <a:r>
              <a:rPr lang="it-IT" dirty="0"/>
              <a:t>, non legato a una singola lingua: frasi semanticamente simili vengono proiettate vicine nello spazio vettoriale, migliorando la generalizzazione. Il risultato è che il modello riesce a rilevare </a:t>
            </a:r>
            <a:r>
              <a:rPr lang="it-IT" dirty="0" err="1"/>
              <a:t>bias</a:t>
            </a:r>
            <a:r>
              <a:rPr lang="it-IT" dirty="0"/>
              <a:t> </a:t>
            </a:r>
            <a:r>
              <a:rPr lang="it-IT" b="1" dirty="0"/>
              <a:t>indipendentemente dalla lingua di input</a:t>
            </a:r>
            <a:r>
              <a:rPr lang="it-IT" dirty="0"/>
              <a:t>.</a:t>
            </a:r>
          </a:p>
        </p:txBody>
      </p:sp>
      <p:sp>
        <p:nvSpPr>
          <p:cNvPr id="4" name="Segnaposto numero diapositiva 3">
            <a:extLst>
              <a:ext uri="{FF2B5EF4-FFF2-40B4-BE49-F238E27FC236}">
                <a16:creationId xmlns:a16="http://schemas.microsoft.com/office/drawing/2014/main" id="{0429C5E4-DB0E-E9D4-D4E0-98F6EF89D0DD}"/>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21</a:t>
            </a:fld>
            <a:endParaRPr lang="it-IT"/>
          </a:p>
        </p:txBody>
      </p:sp>
    </p:spTree>
    <p:extLst>
      <p:ext uri="{BB962C8B-B14F-4D97-AF65-F5344CB8AC3E}">
        <p14:creationId xmlns:p14="http://schemas.microsoft.com/office/powerpoint/2010/main" val="24628929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30FB7-9EE0-30D2-224A-D691BFCEE67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F67D519-5392-DBE8-DF22-5D269BDEA27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15F701F-C55E-5038-C8DE-FF2DE3879E50}"/>
              </a:ext>
            </a:extLst>
          </p:cNvPr>
          <p:cNvSpPr>
            <a:spLocks noGrp="1"/>
          </p:cNvSpPr>
          <p:nvPr>
            <p:ph type="body" idx="1"/>
          </p:nvPr>
        </p:nvSpPr>
        <p:spPr/>
        <p:txBody>
          <a:bodyPr rtlCol="0"/>
          <a:lstStyle>
            <a:defPPr>
              <a:defRPr lang="it-IT"/>
            </a:defPPr>
          </a:lstStyle>
          <a:p>
            <a:r>
              <a:rPr lang="it-IT"/>
              <a:t>Per la riscrittura multilingua viene usato </a:t>
            </a:r>
            <a:r>
              <a:rPr lang="it-IT" b="1" err="1"/>
              <a:t>google</a:t>
            </a:r>
            <a:r>
              <a:rPr lang="it-IT" b="1"/>
              <a:t>/mt5-base</a:t>
            </a:r>
            <a:r>
              <a:rPr lang="it-IT"/>
              <a:t>, che supporta generazione text-to-text su molte lingue. Le difficoltà principali sono computazionali: vocabolario enorme (circa 250k token) e costi di memoria. Per questo il training è stato fatto su </a:t>
            </a:r>
            <a:r>
              <a:rPr lang="it-IT" err="1"/>
              <a:t>Kaggle</a:t>
            </a:r>
            <a:r>
              <a:rPr lang="it-IT"/>
              <a:t> usando </a:t>
            </a:r>
            <a:r>
              <a:rPr lang="it-IT" b="1" err="1"/>
              <a:t>Adafactor</a:t>
            </a:r>
            <a:r>
              <a:rPr lang="it-IT"/>
              <a:t> (meno costoso di </a:t>
            </a:r>
            <a:r>
              <a:rPr lang="it-IT" err="1"/>
              <a:t>AdamW</a:t>
            </a:r>
            <a:r>
              <a:rPr lang="it-IT"/>
              <a:t>) e </a:t>
            </a:r>
            <a:r>
              <a:rPr lang="it-IT" b="1" err="1"/>
              <a:t>gradient</a:t>
            </a:r>
            <a:r>
              <a:rPr lang="it-IT" b="1"/>
              <a:t> </a:t>
            </a:r>
            <a:r>
              <a:rPr lang="it-IT" b="1" err="1"/>
              <a:t>checkpointing</a:t>
            </a:r>
            <a:r>
              <a:rPr lang="it-IT"/>
              <a:t>. È stato usato anche il </a:t>
            </a:r>
            <a:r>
              <a:rPr lang="it-IT" err="1"/>
              <a:t>tokenizer</a:t>
            </a:r>
            <a:r>
              <a:rPr lang="it-IT"/>
              <a:t> “slow” per evitare bug su caratteri speciali. Il risultato è una buona generalizzazione cross-</a:t>
            </a:r>
            <a:r>
              <a:rPr lang="it-IT" err="1"/>
              <a:t>language</a:t>
            </a:r>
            <a:r>
              <a:rPr lang="it-IT"/>
              <a:t>, con una qualità sintattica leggermente inferiore rispetto ai modelli monolingua: un compromesso coerente con l’obiettivo di scalabilità.</a:t>
            </a:r>
          </a:p>
        </p:txBody>
      </p:sp>
      <p:sp>
        <p:nvSpPr>
          <p:cNvPr id="4" name="Segnaposto numero diapositiva 3">
            <a:extLst>
              <a:ext uri="{FF2B5EF4-FFF2-40B4-BE49-F238E27FC236}">
                <a16:creationId xmlns:a16="http://schemas.microsoft.com/office/drawing/2014/main" id="{6D75B930-2858-4A8A-C0B0-E10998A798B2}"/>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22</a:t>
            </a:fld>
            <a:endParaRPr lang="it-IT"/>
          </a:p>
        </p:txBody>
      </p:sp>
    </p:spTree>
    <p:extLst>
      <p:ext uri="{BB962C8B-B14F-4D97-AF65-F5344CB8AC3E}">
        <p14:creationId xmlns:p14="http://schemas.microsoft.com/office/powerpoint/2010/main" val="22273709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A8C69-C9FB-29E9-061D-B095087E8DD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5CD057C-4098-9540-C1EE-0322AA55945D}"/>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5A8B221-ED0D-9B54-7FF2-A9CB5E85664C}"/>
              </a:ext>
            </a:extLst>
          </p:cNvPr>
          <p:cNvSpPr>
            <a:spLocks noGrp="1"/>
          </p:cNvSpPr>
          <p:nvPr>
            <p:ph type="body" idx="1"/>
          </p:nvPr>
        </p:nvSpPr>
        <p:spPr/>
        <p:txBody>
          <a:bodyPr rtlCol="0"/>
          <a:lstStyle>
            <a:defPPr>
              <a:defRPr lang="it-IT"/>
            </a:defPPr>
          </a:lstStyle>
          <a:p>
            <a:r>
              <a:rPr lang="it-IT"/>
              <a:t>Nel </a:t>
            </a:r>
            <a:r>
              <a:rPr lang="it-IT" b="1"/>
              <a:t>modulo multilingua</a:t>
            </a:r>
            <a:r>
              <a:rPr lang="it-IT"/>
              <a:t> vediamo sia classificazione che riscrittura. Il </a:t>
            </a:r>
            <a:r>
              <a:rPr lang="it-IT" b="1"/>
              <a:t>classificatore</a:t>
            </a:r>
            <a:r>
              <a:rPr lang="it-IT"/>
              <a:t> ottiene </a:t>
            </a:r>
            <a:r>
              <a:rPr lang="it-IT" b="1" err="1"/>
              <a:t>accuracy</a:t>
            </a:r>
            <a:r>
              <a:rPr lang="it-IT" b="1"/>
              <a:t> ~0,88</a:t>
            </a:r>
            <a:r>
              <a:rPr lang="it-IT"/>
              <a:t> e F1 simile: dalla </a:t>
            </a:r>
            <a:r>
              <a:rPr lang="it-IT" err="1"/>
              <a:t>confusion</a:t>
            </a:r>
            <a:r>
              <a:rPr lang="it-IT"/>
              <a:t> </a:t>
            </a:r>
            <a:r>
              <a:rPr lang="it-IT" err="1"/>
              <a:t>matrix</a:t>
            </a:r>
            <a:r>
              <a:rPr lang="it-IT"/>
              <a:t> si nota che riconosce molto bene </a:t>
            </a:r>
            <a:r>
              <a:rPr lang="it-IT" b="1" err="1"/>
              <a:t>not_inclusive</a:t>
            </a:r>
            <a:r>
              <a:rPr lang="it-IT"/>
              <a:t>, mentre sbaglia più spesso le frasi </a:t>
            </a:r>
            <a:r>
              <a:rPr lang="it-IT" b="1"/>
              <a:t>inclusive</a:t>
            </a:r>
            <a:r>
              <a:rPr lang="it-IT"/>
              <a:t>, che a volte vengono classificate come non inclusive. È il compromesso tipico quando usiamo un unico modello su lingue e pattern più vari.</a:t>
            </a:r>
          </a:p>
          <a:p>
            <a:r>
              <a:rPr lang="it-IT"/>
              <a:t>Per il </a:t>
            </a:r>
            <a:r>
              <a:rPr lang="it-IT" b="1"/>
              <a:t>rewriter</a:t>
            </a:r>
            <a:r>
              <a:rPr lang="it-IT"/>
              <a:t>, ROUGE e BLEU sono più bassi rispetto ai monolingua perché il modello deve gestire più lingue, però il </a:t>
            </a:r>
            <a:r>
              <a:rPr lang="it-IT" b="1" err="1"/>
              <a:t>BERTScore</a:t>
            </a:r>
            <a:r>
              <a:rPr lang="it-IT" b="1"/>
              <a:t> resta alto (~0,886)</a:t>
            </a:r>
            <a:r>
              <a:rPr lang="it-IT"/>
              <a:t>: questo indica che, anche quando cambia parecchio il </a:t>
            </a:r>
            <a:r>
              <a:rPr lang="it-IT" err="1"/>
              <a:t>wording</a:t>
            </a:r>
            <a:r>
              <a:rPr lang="it-IT"/>
              <a:t>, la riscrittura </a:t>
            </a:r>
            <a:r>
              <a:rPr lang="it-IT" b="1"/>
              <a:t>preserva bene il significato</a:t>
            </a:r>
            <a:r>
              <a:rPr lang="it-IT"/>
              <a:t>.</a:t>
            </a:r>
            <a:endParaRPr lang="it-IT">
              <a:ea typeface="Calibri"/>
              <a:cs typeface="Calibri"/>
            </a:endParaRPr>
          </a:p>
          <a:p>
            <a:pPr lvl="0"/>
            <a:endParaRPr lang="it-IT">
              <a:ea typeface="Calibri"/>
              <a:cs typeface="Calibri"/>
            </a:endParaRPr>
          </a:p>
        </p:txBody>
      </p:sp>
      <p:sp>
        <p:nvSpPr>
          <p:cNvPr id="4" name="Segnaposto numero diapositiva 3">
            <a:extLst>
              <a:ext uri="{FF2B5EF4-FFF2-40B4-BE49-F238E27FC236}">
                <a16:creationId xmlns:a16="http://schemas.microsoft.com/office/drawing/2014/main" id="{BE5BA403-5DBA-80BF-80BB-8688F7B0F520}"/>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23</a:t>
            </a:fld>
            <a:endParaRPr lang="it-IT"/>
          </a:p>
        </p:txBody>
      </p:sp>
    </p:spTree>
    <p:extLst>
      <p:ext uri="{BB962C8B-B14F-4D97-AF65-F5344CB8AC3E}">
        <p14:creationId xmlns:p14="http://schemas.microsoft.com/office/powerpoint/2010/main" val="16595538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a:lnSpc>
                <a:spcPct val="90000"/>
              </a:lnSpc>
              <a:spcBef>
                <a:spcPts val="1800"/>
              </a:spcBef>
            </a:pPr>
            <a:r>
              <a:rPr lang="en-US" dirty="0"/>
              <a:t>R: </a:t>
            </a:r>
            <a:r>
              <a:rPr lang="en-US" dirty="0" err="1"/>
              <a:t>Questo</a:t>
            </a:r>
            <a:r>
              <a:rPr lang="en-US" dirty="0"/>
              <a:t> indica </a:t>
            </a:r>
            <a:r>
              <a:rPr lang="en-US" dirty="0" err="1"/>
              <a:t>che</a:t>
            </a:r>
            <a:r>
              <a:rPr lang="en-US" dirty="0"/>
              <a:t>, </a:t>
            </a:r>
            <a:r>
              <a:rPr lang="en-US" dirty="0" err="1"/>
              <a:t>quando</a:t>
            </a:r>
            <a:r>
              <a:rPr lang="en-US" dirty="0"/>
              <a:t> il </a:t>
            </a:r>
            <a:r>
              <a:rPr lang="en-US" dirty="0" err="1"/>
              <a:t>modello</a:t>
            </a:r>
            <a:r>
              <a:rPr lang="en-US" dirty="0"/>
              <a:t> </a:t>
            </a:r>
            <a:r>
              <a:rPr lang="en-US" dirty="0" err="1"/>
              <a:t>èspecializzato</a:t>
            </a:r>
            <a:r>
              <a:rPr lang="en-US" dirty="0"/>
              <a:t> </a:t>
            </a:r>
            <a:r>
              <a:rPr lang="en-US" dirty="0" err="1"/>
              <a:t>su</a:t>
            </a:r>
            <a:r>
              <a:rPr lang="en-US" dirty="0"/>
              <a:t> </a:t>
            </a:r>
            <a:r>
              <a:rPr lang="en-US" dirty="0" err="1"/>
              <a:t>una</a:t>
            </a:r>
            <a:r>
              <a:rPr lang="en-US" dirty="0"/>
              <a:t> lingua e il dataset </a:t>
            </a:r>
            <a:r>
              <a:rPr lang="en-US" dirty="0" err="1"/>
              <a:t>èben</a:t>
            </a:r>
            <a:r>
              <a:rPr lang="en-US" dirty="0"/>
              <a:t> </a:t>
            </a:r>
            <a:r>
              <a:rPr lang="en-US" dirty="0" err="1"/>
              <a:t>curato</a:t>
            </a:r>
            <a:r>
              <a:rPr lang="en-US" dirty="0"/>
              <a:t>, </a:t>
            </a:r>
            <a:r>
              <a:rPr lang="en-US" dirty="0" err="1"/>
              <a:t>i</a:t>
            </a:r>
            <a:r>
              <a:rPr lang="en-US" dirty="0"/>
              <a:t> pattern di bias </a:t>
            </a:r>
            <a:r>
              <a:rPr lang="en-US" dirty="0" err="1"/>
              <a:t>vengonoriconosciuti</a:t>
            </a:r>
            <a:r>
              <a:rPr lang="en-US" dirty="0"/>
              <a:t> con </a:t>
            </a:r>
            <a:r>
              <a:rPr lang="en-US" dirty="0" err="1"/>
              <a:t>migliore</a:t>
            </a:r>
            <a:r>
              <a:rPr lang="en-US" dirty="0"/>
              <a:t> </a:t>
            </a:r>
            <a:r>
              <a:rPr lang="en-US" dirty="0" err="1"/>
              <a:t>affidabilità</a:t>
            </a:r>
            <a:r>
              <a:rPr lang="en-US" dirty="0"/>
              <a:t>.</a:t>
            </a:r>
            <a:endParaRPr lang="it-IT" dirty="0"/>
          </a:p>
          <a:p>
            <a:pPr>
              <a:lnSpc>
                <a:spcPct val="90000"/>
              </a:lnSpc>
              <a:spcBef>
                <a:spcPts val="1800"/>
              </a:spcBef>
            </a:pPr>
            <a:r>
              <a:rPr lang="en-US" dirty="0"/>
              <a:t>Il </a:t>
            </a:r>
            <a:r>
              <a:rPr lang="en-US" dirty="0" err="1"/>
              <a:t>modello</a:t>
            </a:r>
            <a:r>
              <a:rPr lang="en-US" dirty="0"/>
              <a:t> </a:t>
            </a:r>
            <a:r>
              <a:rPr lang="en-US" b="1" dirty="0" err="1"/>
              <a:t>multilingua</a:t>
            </a:r>
            <a:r>
              <a:rPr lang="en-US" dirty="0"/>
              <a:t>, </a:t>
            </a:r>
            <a:r>
              <a:rPr lang="en-US" b="1" dirty="0"/>
              <a:t>XLM-</a:t>
            </a:r>
            <a:r>
              <a:rPr lang="en-US" b="1" dirty="0" err="1"/>
              <a:t>RoBERTa</a:t>
            </a:r>
            <a:r>
              <a:rPr lang="en-US" dirty="0"/>
              <a:t>, </a:t>
            </a:r>
            <a:r>
              <a:rPr lang="en-US" dirty="0" err="1"/>
              <a:t>invece</a:t>
            </a:r>
            <a:r>
              <a:rPr lang="en-US" dirty="0"/>
              <a:t>, </a:t>
            </a:r>
            <a:r>
              <a:rPr lang="en-US" dirty="0" err="1"/>
              <a:t>scende</a:t>
            </a:r>
            <a:r>
              <a:rPr lang="en-US" dirty="0"/>
              <a:t> a </a:t>
            </a:r>
            <a:r>
              <a:rPr lang="en-US" b="1" dirty="0"/>
              <a:t>87,80%</a:t>
            </a:r>
            <a:r>
              <a:rPr lang="en-US" dirty="0"/>
              <a:t> di accuracy e </a:t>
            </a:r>
            <a:r>
              <a:rPr lang="en-US" b="1" dirty="0"/>
              <a:t>F1 = 0,880</a:t>
            </a:r>
            <a:r>
              <a:rPr lang="en-US" dirty="0"/>
              <a:t>: è un </a:t>
            </a:r>
            <a:r>
              <a:rPr lang="en-US" dirty="0" err="1"/>
              <a:t>risultato</a:t>
            </a:r>
            <a:r>
              <a:rPr lang="en-US" dirty="0"/>
              <a:t> </a:t>
            </a:r>
            <a:r>
              <a:rPr lang="en-US" dirty="0" err="1"/>
              <a:t>più</a:t>
            </a:r>
            <a:r>
              <a:rPr lang="en-US" dirty="0"/>
              <a:t> basso </a:t>
            </a:r>
            <a:r>
              <a:rPr lang="en-US" dirty="0" err="1"/>
              <a:t>perché</a:t>
            </a:r>
            <a:r>
              <a:rPr lang="en-US" dirty="0"/>
              <a:t> </a:t>
            </a:r>
            <a:r>
              <a:rPr lang="en-US" dirty="0" err="1"/>
              <a:t>deve</a:t>
            </a:r>
            <a:r>
              <a:rPr lang="en-US" dirty="0"/>
              <a:t> </a:t>
            </a:r>
            <a:r>
              <a:rPr lang="en-US" dirty="0" err="1"/>
              <a:t>generalizzare</a:t>
            </a:r>
            <a:r>
              <a:rPr lang="en-US" dirty="0"/>
              <a:t> </a:t>
            </a:r>
            <a:r>
              <a:rPr lang="en-US" dirty="0" err="1"/>
              <a:t>su</a:t>
            </a:r>
            <a:r>
              <a:rPr lang="en-US" dirty="0"/>
              <a:t> input </a:t>
            </a:r>
            <a:r>
              <a:rPr lang="en-US" dirty="0" err="1"/>
              <a:t>più</a:t>
            </a:r>
            <a:r>
              <a:rPr lang="en-US" dirty="0"/>
              <a:t> </a:t>
            </a:r>
            <a:r>
              <a:rPr lang="en-US" dirty="0" err="1"/>
              <a:t>eterogenei</a:t>
            </a:r>
            <a:r>
              <a:rPr lang="en-US" dirty="0"/>
              <a:t> e </a:t>
            </a:r>
            <a:r>
              <a:rPr lang="en-US" dirty="0" err="1"/>
              <a:t>gestire</a:t>
            </a:r>
            <a:r>
              <a:rPr lang="en-US" dirty="0"/>
              <a:t> </a:t>
            </a:r>
            <a:r>
              <a:rPr lang="en-US" dirty="0" err="1"/>
              <a:t>variazioni</a:t>
            </a:r>
            <a:r>
              <a:rPr lang="en-US" dirty="0"/>
              <a:t> </a:t>
            </a:r>
            <a:r>
              <a:rPr lang="en-US" dirty="0" err="1"/>
              <a:t>linguistiche</a:t>
            </a:r>
            <a:r>
              <a:rPr lang="en-US" dirty="0"/>
              <a:t> diverse con un </a:t>
            </a:r>
            <a:r>
              <a:rPr lang="en-US" dirty="0" err="1"/>
              <a:t>singolo</a:t>
            </a:r>
            <a:r>
              <a:rPr lang="en-US" dirty="0"/>
              <a:t> </a:t>
            </a:r>
            <a:r>
              <a:rPr lang="en-US" dirty="0" err="1"/>
              <a:t>modello</a:t>
            </a:r>
            <a:r>
              <a:rPr lang="en-US" dirty="0"/>
              <a:t>. </a:t>
            </a:r>
            <a:endParaRPr lang="it-IT">
              <a:solidFill>
                <a:srgbClr val="FFFFFF"/>
              </a:solidFill>
              <a:ea typeface="Calibri"/>
              <a:cs typeface="Calibri"/>
            </a:endParaRPr>
          </a:p>
          <a:p>
            <a:pPr>
              <a:lnSpc>
                <a:spcPct val="90000"/>
              </a:lnSpc>
              <a:spcBef>
                <a:spcPts val="1800"/>
              </a:spcBef>
            </a:pPr>
            <a:r>
              <a:rPr lang="en-US" dirty="0"/>
              <a:t>In </a:t>
            </a:r>
            <a:r>
              <a:rPr lang="en-US" dirty="0" err="1"/>
              <a:t>pratica</a:t>
            </a:r>
            <a:r>
              <a:rPr lang="en-US" dirty="0"/>
              <a:t>, il </a:t>
            </a:r>
            <a:r>
              <a:rPr lang="en-US" dirty="0" err="1"/>
              <a:t>multilingua</a:t>
            </a:r>
            <a:r>
              <a:rPr lang="en-US" dirty="0"/>
              <a:t> </a:t>
            </a:r>
            <a:r>
              <a:rPr lang="en-US" dirty="0" err="1"/>
              <a:t>offre</a:t>
            </a:r>
            <a:r>
              <a:rPr lang="en-US" dirty="0"/>
              <a:t> </a:t>
            </a:r>
            <a:r>
              <a:rPr lang="en-US" b="1" dirty="0" err="1"/>
              <a:t>scalabilità</a:t>
            </a:r>
            <a:r>
              <a:rPr lang="en-US" dirty="0"/>
              <a:t> e </a:t>
            </a:r>
            <a:r>
              <a:rPr lang="en-US" dirty="0" err="1"/>
              <a:t>copertura</a:t>
            </a:r>
            <a:r>
              <a:rPr lang="en-US" dirty="0"/>
              <a:t> cross-language, ma </a:t>
            </a:r>
            <a:r>
              <a:rPr lang="en-US" dirty="0" err="1"/>
              <a:t>paga</a:t>
            </a:r>
            <a:r>
              <a:rPr lang="en-US" dirty="0"/>
              <a:t> un </a:t>
            </a:r>
            <a:r>
              <a:rPr lang="en-US" dirty="0" err="1"/>
              <a:t>costo</a:t>
            </a:r>
            <a:r>
              <a:rPr lang="en-US" dirty="0"/>
              <a:t> in </a:t>
            </a:r>
            <a:r>
              <a:rPr lang="en-US" dirty="0" err="1"/>
              <a:t>precisione</a:t>
            </a:r>
            <a:r>
              <a:rPr lang="en-US" dirty="0"/>
              <a:t> rispetto ai </a:t>
            </a:r>
            <a:r>
              <a:rPr lang="en-US" dirty="0" err="1"/>
              <a:t>modelli</a:t>
            </a:r>
            <a:r>
              <a:rPr lang="en-US" dirty="0"/>
              <a:t> </a:t>
            </a:r>
            <a:r>
              <a:rPr lang="en-US" dirty="0" err="1"/>
              <a:t>dedicati</a:t>
            </a:r>
            <a:r>
              <a:rPr lang="en-US" dirty="0"/>
              <a:t>.</a:t>
            </a:r>
            <a:endParaRPr lang="en-US">
              <a:ea typeface="Calibri"/>
              <a:cs typeface="Calibri"/>
            </a:endParaRPr>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24</a:t>
            </a:fld>
            <a:endParaRPr lang="it-IT"/>
          </a:p>
        </p:txBody>
      </p:sp>
    </p:spTree>
    <p:extLst>
      <p:ext uri="{BB962C8B-B14F-4D97-AF65-F5344CB8AC3E}">
        <p14:creationId xmlns:p14="http://schemas.microsoft.com/office/powerpoint/2010/main" val="40502331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74412-1163-7C72-9AE4-2C535B9541A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C7251FE-E409-0244-00EB-290AFDD8A24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E334FF8-1668-234A-DE66-767C3A2AE792}"/>
              </a:ext>
            </a:extLst>
          </p:cNvPr>
          <p:cNvSpPr>
            <a:spLocks noGrp="1"/>
          </p:cNvSpPr>
          <p:nvPr>
            <p:ph type="body" idx="1"/>
          </p:nvPr>
        </p:nvSpPr>
        <p:spPr/>
        <p:txBody>
          <a:bodyPr rtlCol="0"/>
          <a:lstStyle>
            <a:defPPr>
              <a:defRPr lang="it-IT"/>
            </a:defPPr>
          </a:lstStyle>
          <a:p>
            <a:r>
              <a:rPr lang="it-IT"/>
              <a:t>Qui confrontiamo i tre </a:t>
            </a:r>
            <a:r>
              <a:rPr lang="it-IT" b="1"/>
              <a:t>rewriter</a:t>
            </a:r>
            <a:r>
              <a:rPr lang="it-IT"/>
              <a:t> con </a:t>
            </a:r>
            <a:r>
              <a:rPr lang="it-IT" b="1"/>
              <a:t>ROUGE</a:t>
            </a:r>
            <a:r>
              <a:rPr lang="it-IT"/>
              <a:t> e </a:t>
            </a:r>
            <a:r>
              <a:rPr lang="it-IT" b="1"/>
              <a:t>BLEU</a:t>
            </a:r>
            <a:r>
              <a:rPr lang="it-IT"/>
              <a:t> per la somiglianza “di superficie” e </a:t>
            </a:r>
            <a:r>
              <a:rPr lang="it-IT" b="1" err="1"/>
              <a:t>BERTScore</a:t>
            </a:r>
            <a:r>
              <a:rPr lang="it-IT"/>
              <a:t> per la </a:t>
            </a:r>
            <a:r>
              <a:rPr lang="it-IT" b="1"/>
              <a:t>semantica</a:t>
            </a:r>
            <a:r>
              <a:rPr lang="it-IT"/>
              <a:t>. </a:t>
            </a:r>
            <a:r>
              <a:rPr lang="it-IT" b="1"/>
              <a:t>FLAN-T5</a:t>
            </a:r>
            <a:r>
              <a:rPr lang="it-IT"/>
              <a:t> in inglese è il migliore in generale, perché l’inglese è più semplice per metriche </a:t>
            </a:r>
            <a:r>
              <a:rPr lang="it-IT" err="1"/>
              <a:t>exact</a:t>
            </a:r>
            <a:r>
              <a:rPr lang="it-IT"/>
              <a:t>-match e richiede meno variazioni morfologiche. In italiano </a:t>
            </a:r>
            <a:r>
              <a:rPr lang="it-IT" b="1"/>
              <a:t>IT5</a:t>
            </a:r>
            <a:r>
              <a:rPr lang="it-IT"/>
              <a:t> ha ROUGE/BLEU più bassi, ma il </a:t>
            </a:r>
            <a:r>
              <a:rPr lang="it-IT" b="1" err="1"/>
              <a:t>BERTScore</a:t>
            </a:r>
            <a:r>
              <a:rPr lang="it-IT" b="1"/>
              <a:t> resta alto</a:t>
            </a:r>
            <a:r>
              <a:rPr lang="it-IT"/>
              <a:t>, quindi il significato viene preservato anche quando cambia il </a:t>
            </a:r>
            <a:r>
              <a:rPr lang="it-IT" err="1"/>
              <a:t>wording</a:t>
            </a:r>
            <a:r>
              <a:rPr lang="it-IT"/>
              <a:t>, cosa normale in italiano. </a:t>
            </a:r>
            <a:r>
              <a:rPr lang="it-IT" b="1"/>
              <a:t>mT5</a:t>
            </a:r>
            <a:r>
              <a:rPr lang="it-IT"/>
              <a:t> è un buon compromesso multilingua: leggermente sotto i monolingua, ma utile quando la lingua è mista; per questo task la metrica più importante è </a:t>
            </a:r>
            <a:r>
              <a:rPr lang="it-IT" b="1" err="1"/>
              <a:t>BERTScore</a:t>
            </a:r>
            <a:r>
              <a:rPr lang="it-IT"/>
              <a:t>.</a:t>
            </a:r>
          </a:p>
        </p:txBody>
      </p:sp>
      <p:sp>
        <p:nvSpPr>
          <p:cNvPr id="4" name="Segnaposto numero diapositiva 3">
            <a:extLst>
              <a:ext uri="{FF2B5EF4-FFF2-40B4-BE49-F238E27FC236}">
                <a16:creationId xmlns:a16="http://schemas.microsoft.com/office/drawing/2014/main" id="{C32F5BCF-C04F-1543-74DB-0A0774B9CB6D}"/>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25</a:t>
            </a:fld>
            <a:endParaRPr lang="it-IT"/>
          </a:p>
        </p:txBody>
      </p:sp>
    </p:spTree>
    <p:extLst>
      <p:ext uri="{BB962C8B-B14F-4D97-AF65-F5344CB8AC3E}">
        <p14:creationId xmlns:p14="http://schemas.microsoft.com/office/powerpoint/2010/main" val="41920951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r>
              <a:rPr lang="it-IT" dirty="0"/>
              <a:t>M: Nel primo scenario, la priorità è l’esperienza utente: il testo generato deve sembrare </a:t>
            </a:r>
            <a:r>
              <a:rPr lang="it-IT" b="1" dirty="0"/>
              <a:t>umano</a:t>
            </a:r>
            <a:r>
              <a:rPr lang="it-IT" dirty="0"/>
              <a:t>, fluido e stilisticamente impeccabile. Qui la raccomandazione è usare modelli </a:t>
            </a:r>
            <a:r>
              <a:rPr lang="it-IT" b="1" dirty="0"/>
              <a:t>monolingua</a:t>
            </a:r>
            <a:r>
              <a:rPr lang="it-IT" dirty="0"/>
              <a:t> (IT5 per l’italiano, FLAN-T5 per l’inglese), perché anche piccoli miglioramenti nelle metriche semantiche si traducono in una percezione molto più alta di qualità. In pratica, se il contesto è comunicazione esterna o contenuto “sensibile” (dove la forma conta), conviene privilegiare la massima naturalezza e precisione linguistica, anche a costo di avere più modelli separati da mantenere.</a:t>
            </a:r>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26</a:t>
            </a:fld>
            <a:endParaRPr lang="it-IT"/>
          </a:p>
        </p:txBody>
      </p:sp>
    </p:spTree>
    <p:extLst>
      <p:ext uri="{BB962C8B-B14F-4D97-AF65-F5344CB8AC3E}">
        <p14:creationId xmlns:p14="http://schemas.microsoft.com/office/powerpoint/2010/main" val="29947593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0B4A9-233A-88EF-234E-41BD4CFD11C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CD689BB-F979-0BBF-9283-F29F19D9B0C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C4AF0AAA-1CD4-FC35-FFC2-A0EFA99B1A85}"/>
              </a:ext>
            </a:extLst>
          </p:cNvPr>
          <p:cNvSpPr>
            <a:spLocks noGrp="1"/>
          </p:cNvSpPr>
          <p:nvPr>
            <p:ph type="body" idx="1"/>
          </p:nvPr>
        </p:nvSpPr>
        <p:spPr/>
        <p:txBody>
          <a:bodyPr rtlCol="0"/>
          <a:lstStyle>
            <a:defPPr>
              <a:defRPr lang="it-IT"/>
            </a:defPPr>
          </a:lstStyle>
          <a:p>
            <a:r>
              <a:rPr lang="it-IT"/>
              <a:t>Nel secondo scenario, la priorità è l’efficienza: gestire grandi volumi e molte lingue con hardware limitato e manutenzione semplificata. Qui la scelta consigliata è la soluzione </a:t>
            </a:r>
            <a:r>
              <a:rPr lang="it-IT" b="1"/>
              <a:t>multilingua</a:t>
            </a:r>
            <a:r>
              <a:rPr lang="it-IT"/>
              <a:t> (mT5 / XLM-R), perché consente un’architettura più leggera: meno modelli in memoria, meno pipeline da orchestrare, più facilità di scalare su documenti e commenti multilingue. Gli esempi applicativi citati sono moderazione automatica, assistenza globale o analisi interna di documenti. In questo caso si accetta una leggera rigidità sintattica come compromesso per ottenere robustezza operativa e riduzione della complessità.</a:t>
            </a:r>
          </a:p>
        </p:txBody>
      </p:sp>
      <p:sp>
        <p:nvSpPr>
          <p:cNvPr id="4" name="Segnaposto numero diapositiva 3">
            <a:extLst>
              <a:ext uri="{FF2B5EF4-FFF2-40B4-BE49-F238E27FC236}">
                <a16:creationId xmlns:a16="http://schemas.microsoft.com/office/drawing/2014/main" id="{D9F57A56-E0E7-AD03-09E8-F3C835C93C7A}"/>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27</a:t>
            </a:fld>
            <a:endParaRPr lang="it-IT"/>
          </a:p>
        </p:txBody>
      </p:sp>
    </p:spTree>
    <p:extLst>
      <p:ext uri="{BB962C8B-B14F-4D97-AF65-F5344CB8AC3E}">
        <p14:creationId xmlns:p14="http://schemas.microsoft.com/office/powerpoint/2010/main" val="2901460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R: In </a:t>
            </a:r>
            <a:r>
              <a:rPr lang="en-US" dirty="0" err="1"/>
              <a:t>conclusione</a:t>
            </a:r>
            <a:r>
              <a:rPr lang="en-US" dirty="0"/>
              <a:t>, FAIR ISLE </a:t>
            </a:r>
            <a:r>
              <a:rPr lang="en-US" dirty="0" err="1"/>
              <a:t>dimostra</a:t>
            </a:r>
            <a:r>
              <a:rPr lang="en-US" dirty="0"/>
              <a:t> </a:t>
            </a:r>
            <a:r>
              <a:rPr lang="en-US" dirty="0" err="1"/>
              <a:t>che</a:t>
            </a:r>
            <a:r>
              <a:rPr lang="en-US" dirty="0"/>
              <a:t> </a:t>
            </a:r>
            <a:r>
              <a:rPr lang="en-US" dirty="0" err="1"/>
              <a:t>una</a:t>
            </a:r>
            <a:r>
              <a:rPr lang="en-US" dirty="0"/>
              <a:t> pipeline </a:t>
            </a:r>
            <a:r>
              <a:rPr lang="en-US" dirty="0" err="1"/>
              <a:t>modulare</a:t>
            </a:r>
            <a:r>
              <a:rPr lang="en-US" dirty="0"/>
              <a:t> “</a:t>
            </a:r>
            <a:r>
              <a:rPr lang="en-US" b="1" dirty="0"/>
              <a:t>detection + rewriting</a:t>
            </a:r>
            <a:r>
              <a:rPr lang="en-US" dirty="0"/>
              <a:t>” </a:t>
            </a:r>
            <a:r>
              <a:rPr lang="en-US" dirty="0" err="1"/>
              <a:t>può</a:t>
            </a:r>
            <a:r>
              <a:rPr lang="en-US" dirty="0"/>
              <a:t> </a:t>
            </a:r>
            <a:r>
              <a:rPr lang="en-US" dirty="0" err="1"/>
              <a:t>ottenere</a:t>
            </a:r>
            <a:r>
              <a:rPr lang="en-US" dirty="0"/>
              <a:t> </a:t>
            </a:r>
            <a:r>
              <a:rPr lang="en-US" b="1" dirty="0" err="1"/>
              <a:t>accuratezze</a:t>
            </a:r>
            <a:r>
              <a:rPr lang="en-US" b="1" dirty="0"/>
              <a:t> </a:t>
            </a:r>
            <a:r>
              <a:rPr lang="en-US" b="1" dirty="0" err="1"/>
              <a:t>eccellenti</a:t>
            </a:r>
            <a:r>
              <a:rPr lang="en-US" dirty="0"/>
              <a:t> </a:t>
            </a:r>
            <a:r>
              <a:rPr lang="en-US" dirty="0" err="1"/>
              <a:t>nella</a:t>
            </a:r>
            <a:r>
              <a:rPr lang="en-US" dirty="0"/>
              <a:t> </a:t>
            </a:r>
            <a:r>
              <a:rPr lang="en-US" dirty="0" err="1"/>
              <a:t>classificazione</a:t>
            </a:r>
            <a:r>
              <a:rPr lang="en-US" dirty="0"/>
              <a:t> e </a:t>
            </a:r>
            <a:r>
              <a:rPr lang="en-US" dirty="0" err="1"/>
              <a:t>una</a:t>
            </a:r>
            <a:r>
              <a:rPr lang="en-US" dirty="0"/>
              <a:t> </a:t>
            </a:r>
            <a:r>
              <a:rPr lang="en-US" b="1" dirty="0" err="1"/>
              <a:t>qualità</a:t>
            </a:r>
            <a:r>
              <a:rPr lang="en-US" b="1" dirty="0"/>
              <a:t> di </a:t>
            </a:r>
            <a:r>
              <a:rPr lang="en-US" b="1" dirty="0" err="1"/>
              <a:t>riscrittura</a:t>
            </a:r>
            <a:r>
              <a:rPr lang="en-US" b="1" dirty="0"/>
              <a:t> forte</a:t>
            </a:r>
            <a:r>
              <a:rPr lang="en-US" dirty="0"/>
              <a:t> </a:t>
            </a:r>
            <a:r>
              <a:rPr lang="en-US" dirty="0" err="1"/>
              <a:t>sia</a:t>
            </a:r>
            <a:r>
              <a:rPr lang="en-US" dirty="0"/>
              <a:t> in </a:t>
            </a:r>
            <a:r>
              <a:rPr lang="en-US" dirty="0" err="1"/>
              <a:t>italiano</a:t>
            </a:r>
            <a:r>
              <a:rPr lang="en-US" dirty="0"/>
              <a:t> </a:t>
            </a:r>
            <a:r>
              <a:rPr lang="en-US" dirty="0" err="1"/>
              <a:t>che</a:t>
            </a:r>
            <a:r>
              <a:rPr lang="en-US" dirty="0"/>
              <a:t> in inglese. </a:t>
            </a:r>
            <a:r>
              <a:rPr lang="en-US" dirty="0" err="1"/>
              <a:t>L’estensione</a:t>
            </a:r>
            <a:r>
              <a:rPr lang="en-US" dirty="0"/>
              <a:t> </a:t>
            </a:r>
            <a:r>
              <a:rPr lang="en-US" dirty="0" err="1"/>
              <a:t>multilingua</a:t>
            </a:r>
            <a:r>
              <a:rPr lang="en-US" dirty="0"/>
              <a:t> è </a:t>
            </a:r>
            <a:r>
              <a:rPr lang="en-US" dirty="0" err="1"/>
              <a:t>particolarmente</a:t>
            </a:r>
            <a:r>
              <a:rPr lang="en-US" dirty="0"/>
              <a:t> </a:t>
            </a:r>
            <a:r>
              <a:rPr lang="en-US" dirty="0" err="1"/>
              <a:t>interessante</a:t>
            </a:r>
            <a:r>
              <a:rPr lang="en-US" dirty="0"/>
              <a:t> </a:t>
            </a:r>
            <a:r>
              <a:rPr lang="en-US" dirty="0" err="1"/>
              <a:t>perché</a:t>
            </a:r>
            <a:r>
              <a:rPr lang="en-US" dirty="0"/>
              <a:t> </a:t>
            </a:r>
            <a:r>
              <a:rPr lang="en-US" dirty="0" err="1"/>
              <a:t>offre</a:t>
            </a:r>
            <a:r>
              <a:rPr lang="en-US" dirty="0"/>
              <a:t> un </a:t>
            </a:r>
            <a:r>
              <a:rPr lang="en-US" dirty="0" err="1"/>
              <a:t>equilibrio</a:t>
            </a:r>
            <a:r>
              <a:rPr lang="en-US" dirty="0"/>
              <a:t> </a:t>
            </a:r>
            <a:r>
              <a:rPr lang="en-US" dirty="0" err="1"/>
              <a:t>pratico</a:t>
            </a:r>
            <a:r>
              <a:rPr lang="en-US" dirty="0"/>
              <a:t> </a:t>
            </a:r>
            <a:r>
              <a:rPr lang="en-US" dirty="0" err="1"/>
              <a:t>tra</a:t>
            </a:r>
            <a:r>
              <a:rPr lang="en-US" dirty="0"/>
              <a:t> </a:t>
            </a:r>
            <a:r>
              <a:rPr lang="en-US" dirty="0" err="1"/>
              <a:t>qualità</a:t>
            </a:r>
            <a:r>
              <a:rPr lang="en-US" dirty="0"/>
              <a:t> e </a:t>
            </a:r>
            <a:r>
              <a:rPr lang="en-US" dirty="0" err="1"/>
              <a:t>scalabilità</a:t>
            </a:r>
            <a:r>
              <a:rPr lang="en-US" dirty="0"/>
              <a:t>: se il </a:t>
            </a:r>
            <a:r>
              <a:rPr lang="en-US" dirty="0" err="1"/>
              <a:t>contesto</a:t>
            </a:r>
            <a:r>
              <a:rPr lang="en-US" dirty="0"/>
              <a:t> </a:t>
            </a:r>
            <a:r>
              <a:rPr lang="en-US" dirty="0" err="1"/>
              <a:t>richiede</a:t>
            </a:r>
            <a:r>
              <a:rPr lang="en-US" dirty="0"/>
              <a:t> </a:t>
            </a:r>
            <a:r>
              <a:rPr lang="en-US" dirty="0" err="1"/>
              <a:t>copertura</a:t>
            </a:r>
            <a:r>
              <a:rPr lang="en-US" dirty="0"/>
              <a:t> </a:t>
            </a:r>
            <a:r>
              <a:rPr lang="en-US" dirty="0" err="1"/>
              <a:t>ampia</a:t>
            </a:r>
            <a:r>
              <a:rPr lang="en-US" dirty="0"/>
              <a:t> e input </a:t>
            </a:r>
            <a:r>
              <a:rPr lang="en-US" dirty="0" err="1"/>
              <a:t>misti</a:t>
            </a:r>
            <a:r>
              <a:rPr lang="en-US" dirty="0"/>
              <a:t>, il </a:t>
            </a:r>
            <a:r>
              <a:rPr lang="en-US" dirty="0" err="1"/>
              <a:t>multilingua</a:t>
            </a:r>
            <a:r>
              <a:rPr lang="en-US" dirty="0"/>
              <a:t> </a:t>
            </a:r>
            <a:r>
              <a:rPr lang="en-US" dirty="0" err="1"/>
              <a:t>diventa</a:t>
            </a:r>
            <a:r>
              <a:rPr lang="en-US" dirty="0"/>
              <a:t> </a:t>
            </a:r>
            <a:r>
              <a:rPr lang="en-US" dirty="0" err="1"/>
              <a:t>una</a:t>
            </a:r>
            <a:r>
              <a:rPr lang="en-US" dirty="0"/>
              <a:t> </a:t>
            </a:r>
            <a:r>
              <a:rPr lang="en-US" dirty="0" err="1"/>
              <a:t>scelta</a:t>
            </a:r>
            <a:r>
              <a:rPr lang="en-US" dirty="0"/>
              <a:t> </a:t>
            </a:r>
            <a:r>
              <a:rPr lang="en-US" dirty="0" err="1"/>
              <a:t>solida</a:t>
            </a:r>
            <a:r>
              <a:rPr lang="en-US" dirty="0"/>
              <a:t>. In generale, il </a:t>
            </a:r>
            <a:r>
              <a:rPr lang="en-US" dirty="0" err="1"/>
              <a:t>progetto</a:t>
            </a:r>
            <a:r>
              <a:rPr lang="en-US" dirty="0"/>
              <a:t> </a:t>
            </a:r>
            <a:r>
              <a:rPr lang="en-US" dirty="0" err="1"/>
              <a:t>mostra</a:t>
            </a:r>
            <a:r>
              <a:rPr lang="en-US" dirty="0"/>
              <a:t> </a:t>
            </a:r>
            <a:r>
              <a:rPr lang="en-US" dirty="0" err="1"/>
              <a:t>che</a:t>
            </a:r>
            <a:r>
              <a:rPr lang="en-US" dirty="0"/>
              <a:t> non </a:t>
            </a:r>
            <a:r>
              <a:rPr lang="en-US" dirty="0" err="1"/>
              <a:t>esiste</a:t>
            </a:r>
            <a:r>
              <a:rPr lang="en-US" dirty="0"/>
              <a:t> </a:t>
            </a:r>
            <a:r>
              <a:rPr lang="en-US" dirty="0" err="1"/>
              <a:t>una</a:t>
            </a:r>
            <a:r>
              <a:rPr lang="en-US" dirty="0"/>
              <a:t> </a:t>
            </a:r>
            <a:r>
              <a:rPr lang="en-US" dirty="0" err="1"/>
              <a:t>soluzione</a:t>
            </a:r>
            <a:r>
              <a:rPr lang="en-US" dirty="0"/>
              <a:t> unica “</a:t>
            </a:r>
            <a:r>
              <a:rPr lang="en-US" dirty="0" err="1"/>
              <a:t>perfetta</a:t>
            </a:r>
            <a:r>
              <a:rPr lang="en-US" dirty="0"/>
              <a:t>”: la </a:t>
            </a:r>
            <a:r>
              <a:rPr lang="en-US" dirty="0" err="1"/>
              <a:t>scelta</a:t>
            </a:r>
            <a:r>
              <a:rPr lang="en-US" dirty="0"/>
              <a:t> </a:t>
            </a:r>
            <a:r>
              <a:rPr lang="en-US" dirty="0" err="1"/>
              <a:t>tra</a:t>
            </a:r>
            <a:r>
              <a:rPr lang="en-US" dirty="0"/>
              <a:t> </a:t>
            </a:r>
            <a:r>
              <a:rPr lang="en-US" dirty="0" err="1"/>
              <a:t>monolingua</a:t>
            </a:r>
            <a:r>
              <a:rPr lang="en-US" dirty="0"/>
              <a:t> e </a:t>
            </a:r>
            <a:r>
              <a:rPr lang="en-US" dirty="0" err="1"/>
              <a:t>multilingua</a:t>
            </a:r>
            <a:r>
              <a:rPr lang="en-US" dirty="0"/>
              <a:t> </a:t>
            </a:r>
            <a:r>
              <a:rPr lang="en-US" dirty="0" err="1"/>
              <a:t>dipende</a:t>
            </a:r>
            <a:r>
              <a:rPr lang="en-US" dirty="0"/>
              <a:t> </a:t>
            </a:r>
            <a:r>
              <a:rPr lang="en-US" dirty="0" err="1"/>
              <a:t>dai</a:t>
            </a:r>
            <a:r>
              <a:rPr lang="en-US" dirty="0"/>
              <a:t> </a:t>
            </a:r>
            <a:r>
              <a:rPr lang="en-US" dirty="0" err="1"/>
              <a:t>requisiti</a:t>
            </a:r>
            <a:r>
              <a:rPr lang="en-US" dirty="0"/>
              <a:t> di </a:t>
            </a:r>
            <a:r>
              <a:rPr lang="en-US" dirty="0" err="1"/>
              <a:t>prodotto</a:t>
            </a:r>
            <a:r>
              <a:rPr lang="en-US" dirty="0"/>
              <a:t> (UX vs </a:t>
            </a:r>
            <a:r>
              <a:rPr lang="en-US" dirty="0" err="1"/>
              <a:t>efficienza</a:t>
            </a:r>
            <a:r>
              <a:rPr lang="en-US" dirty="0"/>
              <a:t>) e dal </a:t>
            </a:r>
            <a:r>
              <a:rPr lang="en-US" dirty="0" err="1"/>
              <a:t>contesto</a:t>
            </a:r>
            <a:r>
              <a:rPr lang="en-US" dirty="0"/>
              <a:t> </a:t>
            </a:r>
            <a:r>
              <a:rPr lang="en-US" dirty="0" err="1"/>
              <a:t>d’uso</a:t>
            </a:r>
            <a:r>
              <a:rPr lang="en-US" dirty="0"/>
              <a:t>.</a:t>
            </a:r>
            <a:endParaRPr lang="it-IT" dirty="0"/>
          </a:p>
        </p:txBody>
      </p:sp>
      <p:sp>
        <p:nvSpPr>
          <p:cNvPr id="4" name="Segnaposto numero diapositiva 3"/>
          <p:cNvSpPr>
            <a:spLocks noGrp="1"/>
          </p:cNvSpPr>
          <p:nvPr>
            <p:ph type="sldNum" sz="quarter" idx="5"/>
          </p:nvPr>
        </p:nvSpPr>
        <p:spPr/>
        <p:txBody>
          <a:bodyPr/>
          <a:lstStyle/>
          <a:p>
            <a:pPr rtl="0"/>
            <a:fld id="{A89C7E07-3C67-C64C-8DA0-0404F6303970}" type="slidenum">
              <a:rPr lang="it-IT" smtClean="0"/>
              <a:t>28</a:t>
            </a:fld>
            <a:endParaRPr lang="it-IT"/>
          </a:p>
        </p:txBody>
      </p:sp>
    </p:spTree>
    <p:extLst>
      <p:ext uri="{BB962C8B-B14F-4D97-AF65-F5344CB8AC3E}">
        <p14:creationId xmlns:p14="http://schemas.microsoft.com/office/powerpoint/2010/main" val="359363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r>
              <a:rPr lang="it-IT"/>
              <a:t>FAIR ISLE viene rilasciato come </a:t>
            </a:r>
            <a:r>
              <a:rPr lang="it-IT" b="1"/>
              <a:t>web app</a:t>
            </a:r>
            <a:r>
              <a:rPr lang="it-IT"/>
              <a:t> che analizza i testi </a:t>
            </a:r>
            <a:r>
              <a:rPr lang="it-IT" b="1"/>
              <a:t>frase per frase</a:t>
            </a:r>
            <a:r>
              <a:rPr lang="it-IT"/>
              <a:t>. L’output mostrato all’utente è strutturato: </a:t>
            </a:r>
            <a:r>
              <a:rPr lang="it-IT" b="1"/>
              <a:t>label</a:t>
            </a:r>
            <a:r>
              <a:rPr lang="it-IT"/>
              <a:t> (inclusive / </a:t>
            </a:r>
            <a:r>
              <a:rPr lang="it-IT" err="1"/>
              <a:t>not</a:t>
            </a:r>
            <a:r>
              <a:rPr lang="it-IT"/>
              <a:t> inclusive / </a:t>
            </a:r>
            <a:r>
              <a:rPr lang="it-IT" err="1"/>
              <a:t>not</a:t>
            </a:r>
            <a:r>
              <a:rPr lang="it-IT"/>
              <a:t> </a:t>
            </a:r>
            <a:r>
              <a:rPr lang="it-IT" err="1"/>
              <a:t>pertinent</a:t>
            </a:r>
            <a:r>
              <a:rPr lang="it-IT"/>
              <a:t>), </a:t>
            </a:r>
            <a:r>
              <a:rPr lang="it-IT" b="1"/>
              <a:t>confidence score</a:t>
            </a:r>
            <a:r>
              <a:rPr lang="it-IT"/>
              <a:t> e </a:t>
            </a:r>
            <a:r>
              <a:rPr lang="it-IT" b="1" err="1"/>
              <a:t>rewrite</a:t>
            </a:r>
            <a:r>
              <a:rPr lang="it-IT" b="1"/>
              <a:t> </a:t>
            </a:r>
            <a:r>
              <a:rPr lang="it-IT" b="1" err="1"/>
              <a:t>suggestion</a:t>
            </a:r>
            <a:r>
              <a:rPr lang="it-IT"/>
              <a:t> solo quando necessario. Un elemento centrale è il </a:t>
            </a:r>
            <a:r>
              <a:rPr lang="it-IT" b="1"/>
              <a:t>feedback loop</a:t>
            </a:r>
            <a:r>
              <a:rPr lang="it-IT"/>
              <a:t>: l’utente può confermare o rifiutare la classificazione e può valutare la riscrittura, anche proponendo alternative. Questi feedback vengono salvati (in JSON) per essere riutilizzati in futuro come dati di miglioramento: nel report questo aspetto è trattato come un meccanismo </a:t>
            </a:r>
            <a:r>
              <a:rPr lang="it-IT" b="1"/>
              <a:t>human-in-the-loop</a:t>
            </a:r>
            <a:r>
              <a:rPr lang="it-IT"/>
              <a:t> che trasforma l’uso reale in un dataset di alta qualità per il </a:t>
            </a:r>
            <a:r>
              <a:rPr lang="it-IT" err="1"/>
              <a:t>retraining</a:t>
            </a:r>
            <a:r>
              <a:rPr lang="it-IT"/>
              <a:t>.</a:t>
            </a:r>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29</a:t>
            </a:fld>
            <a:endParaRPr lang="it-IT"/>
          </a:p>
        </p:txBody>
      </p:sp>
    </p:spTree>
    <p:extLst>
      <p:ext uri="{BB962C8B-B14F-4D97-AF65-F5344CB8AC3E}">
        <p14:creationId xmlns:p14="http://schemas.microsoft.com/office/powerpoint/2010/main" val="17659231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E17D9-AB4F-C125-0C10-6A13CB3B07E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1F6A3BA-7FEF-BE9E-72C1-859AFF39B89D}"/>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CDA6A53C-49C0-C473-E3F4-D8B8859AD689}"/>
              </a:ext>
            </a:extLst>
          </p:cNvPr>
          <p:cNvSpPr>
            <a:spLocks noGrp="1"/>
          </p:cNvSpPr>
          <p:nvPr>
            <p:ph type="body" idx="1"/>
          </p:nvPr>
        </p:nvSpPr>
        <p:spPr/>
        <p:txBody>
          <a:bodyPr rtlCol="0"/>
          <a:lstStyle>
            <a:defPPr>
              <a:defRPr lang="it-IT"/>
            </a:defPPr>
          </a:lstStyle>
          <a:p>
            <a:r>
              <a:rPr lang="it-IT"/>
              <a:t>In questa schermata si vede la UI in italiano: l’utente inserisce un testo, il sistema lo segmenta e restituisce per ciascuna frase l’esito dell’analisi con </a:t>
            </a:r>
            <a:r>
              <a:rPr lang="it-IT" b="1"/>
              <a:t>etichetta</a:t>
            </a:r>
            <a:r>
              <a:rPr lang="it-IT"/>
              <a:t> e </a:t>
            </a:r>
            <a:r>
              <a:rPr lang="it-IT" b="1"/>
              <a:t>confidenza</a:t>
            </a:r>
            <a:r>
              <a:rPr lang="it-IT"/>
              <a:t>. Quando una frase è ritenuta non inclusiva, viene proposta una </a:t>
            </a:r>
            <a:r>
              <a:rPr lang="it-IT" b="1"/>
              <a:t>riformulazione</a:t>
            </a:r>
            <a:r>
              <a:rPr lang="it-IT"/>
              <a:t> direttamente nell’interfaccia, così l’utente può confrontare originale e suggerimento. La parte importante è la sezione di feedback: l’utente può indicare se la diagnosi è corretta e se la riscrittura è soddisfacente, oppure segnalare casi in cui il modello ha cambiato troppo il senso. In questo modo l’interfaccia non è solo “vetrina”, ma uno strumento che abilita miglioramento continuo.</a:t>
            </a:r>
          </a:p>
        </p:txBody>
      </p:sp>
      <p:sp>
        <p:nvSpPr>
          <p:cNvPr id="4" name="Segnaposto numero diapositiva 3">
            <a:extLst>
              <a:ext uri="{FF2B5EF4-FFF2-40B4-BE49-F238E27FC236}">
                <a16:creationId xmlns:a16="http://schemas.microsoft.com/office/drawing/2014/main" id="{4951EF42-E968-A7B6-5287-49BF5BD92AA0}"/>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30</a:t>
            </a:fld>
            <a:endParaRPr lang="it-IT"/>
          </a:p>
        </p:txBody>
      </p:sp>
    </p:spTree>
    <p:extLst>
      <p:ext uri="{BB962C8B-B14F-4D97-AF65-F5344CB8AC3E}">
        <p14:creationId xmlns:p14="http://schemas.microsoft.com/office/powerpoint/2010/main" val="8216496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1F1B9-2C69-1B48-E660-AE19A459788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23F2990-CEDD-7483-0191-9F96753AE2D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83137FD-84CD-0F6E-0170-49C405A977DF}"/>
              </a:ext>
            </a:extLst>
          </p:cNvPr>
          <p:cNvSpPr>
            <a:spLocks noGrp="1"/>
          </p:cNvSpPr>
          <p:nvPr>
            <p:ph type="body" idx="1"/>
          </p:nvPr>
        </p:nvSpPr>
        <p:spPr/>
        <p:txBody>
          <a:bodyPr rtlCol="0"/>
          <a:lstStyle>
            <a:defPPr>
              <a:defRPr lang="it-IT"/>
            </a:defPPr>
          </a:lstStyle>
          <a:p>
            <a:r>
              <a:rPr lang="it-IT"/>
              <a:t>Questa schermata mostra lo stesso flusso in inglese: input, analisi per frasi, label e confidence score, e riscrittura quando necessaria. Il valore qui è la consistenza dell’esperienza: a prescindere dalla lingua, l’utente riceve una spiegazione operativa del risultato (cosa è stato rilevato e con quanta sicurezza) e una proposta di testo più inclusivo. Anche qui il feedback diventa parte del sistema: confermare o correggere i risultati aiuta a raccogliere esempi “difficili” e a costruire un dataset più realistico per iterazioni successive. È l’ultima parte che rende FAIR ISLE non solo un modello, ma un prodotto che può evolvere con l’uso.</a:t>
            </a:r>
          </a:p>
        </p:txBody>
      </p:sp>
      <p:sp>
        <p:nvSpPr>
          <p:cNvPr id="4" name="Segnaposto numero diapositiva 3">
            <a:extLst>
              <a:ext uri="{FF2B5EF4-FFF2-40B4-BE49-F238E27FC236}">
                <a16:creationId xmlns:a16="http://schemas.microsoft.com/office/drawing/2014/main" id="{0E0D1042-B0A1-3E94-427C-752ABC8DD959}"/>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31</a:t>
            </a:fld>
            <a:endParaRPr lang="it-IT"/>
          </a:p>
        </p:txBody>
      </p:sp>
    </p:spTree>
    <p:extLst>
      <p:ext uri="{BB962C8B-B14F-4D97-AF65-F5344CB8AC3E}">
        <p14:creationId xmlns:p14="http://schemas.microsoft.com/office/powerpoint/2010/main" val="2627687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olo 1">
    <p:bg>
      <p:bgPr>
        <a:solidFill>
          <a:schemeClr val="tx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it-IT" sz="6000" b="1" i="0" spc="100" baseline="0">
                <a:solidFill>
                  <a:schemeClr val="bg1"/>
                </a:solidFill>
                <a:latin typeface="+mj-lt"/>
              </a:defRPr>
            </a:lvl1pPr>
          </a:lstStyle>
          <a:p>
            <a:pPr rtl="0"/>
            <a:r>
              <a:rPr lang="it-IT"/>
              <a:t>Fare clic per inserire il titolo </a:t>
            </a:r>
          </a:p>
        </p:txBody>
      </p:sp>
      <p:grpSp>
        <p:nvGrpSpPr>
          <p:cNvPr id="9" name="Grup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igura a mano libera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1" name="Figura a mano libera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2" name="Figura a mano libera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grpSp>
      <p:cxnSp>
        <p:nvCxnSpPr>
          <p:cNvPr id="13" name="Connettore diritto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uppo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8" name="Figura a mano libera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9" name="Figura a mano libera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0" name="Figura a mano libera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it-IT"/>
              </a:defPPr>
            </a:lstStyle>
            <a:p>
              <a:pPr rtl="0"/>
              <a:endParaRPr lang="it-IT"/>
            </a:p>
          </p:txBody>
        </p:sp>
        <p:sp>
          <p:nvSpPr>
            <p:cNvPr id="11" name="Figura a mano libera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grpSp>
      <p:sp>
        <p:nvSpPr>
          <p:cNvPr id="12" name="Titolo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rtlCol="0" anchor="b" anchorCtr="0">
            <a:noAutofit/>
          </a:bodyPr>
          <a:lstStyle>
            <a:lvl1pPr>
              <a:defRPr lang="it-IT" sz="4400" b="1" i="0" spc="50" baseline="0">
                <a:latin typeface="+mj-lt"/>
              </a:defRPr>
            </a:lvl1pPr>
          </a:lstStyle>
          <a:p>
            <a:pPr rtl="0"/>
            <a:r>
              <a:rPr lang="it-IT"/>
              <a:t>Fare clic per inserire il titolo </a:t>
            </a:r>
          </a:p>
        </p:txBody>
      </p:sp>
      <p:sp>
        <p:nvSpPr>
          <p:cNvPr id="2" name="Segnaposto contenuto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rtlCol="0">
            <a:normAutofit/>
          </a:bodyPr>
          <a:lstStyle>
            <a:lvl1pPr marL="283464" indent="-283464">
              <a:lnSpc>
                <a:spcPct val="80000"/>
              </a:lnSpc>
              <a:spcBef>
                <a:spcPts val="2200"/>
              </a:spcBef>
              <a:buFont typeface="Arial" panose="020B0604020202020204" pitchFamily="34" charset="0"/>
              <a:buChar char="•"/>
              <a:defRPr lang="it-IT" sz="2400" b="1" i="0" kern="1200" dirty="0">
                <a:solidFill>
                  <a:schemeClr val="tx2">
                    <a:lumMod val="75000"/>
                  </a:schemeClr>
                </a:solidFill>
                <a:latin typeface="+mn-lt"/>
                <a:ea typeface="+mn-ea"/>
                <a:cs typeface="+mn-cs"/>
              </a:defRPr>
            </a:lvl1pPr>
            <a:lvl2pPr indent="-283464">
              <a:spcBef>
                <a:spcPts val="600"/>
              </a:spcBef>
              <a:defRPr lang="it-IT" sz="2000"/>
            </a:lvl2pPr>
            <a:lvl3pPr indent="-283464">
              <a:spcBef>
                <a:spcPts val="1800"/>
              </a:spcBef>
              <a:defRPr lang="it-IT" sz="2000"/>
            </a:lvl3pPr>
            <a:lvl4pPr indent="-283464">
              <a:spcBef>
                <a:spcPts val="1800"/>
              </a:spcBef>
              <a:defRPr lang="it-IT" sz="2000"/>
            </a:lvl4pPr>
            <a:lvl5pPr indent="-283464">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43" name="Segnaposto numero diapositiva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rtlCol="0"/>
          <a:lstStyle>
            <a:defPPr>
              <a:defRPr lang="it-IT"/>
            </a:defPPr>
          </a:lstStyle>
          <a:p>
            <a:pPr rtl="0"/>
            <a:fld id="{294A09A9-5501-47C1-A89A-A340965A2BE2}" type="slidenum">
              <a:rPr lang="it-IT" smtClean="0"/>
              <a:pPr rtl="0"/>
              <a:t>‹N›</a:t>
            </a:fld>
            <a:endParaRPr lang="it-IT">
              <a:latin typeface="+mn-lt"/>
            </a:endParaRPr>
          </a:p>
        </p:txBody>
      </p:sp>
      <p:sp>
        <p:nvSpPr>
          <p:cNvPr id="42" name="Segnaposto data 41">
            <a:extLst>
              <a:ext uri="{FF2B5EF4-FFF2-40B4-BE49-F238E27FC236}">
                <a16:creationId xmlns:a16="http://schemas.microsoft.com/office/drawing/2014/main" id="{29CE2856-DB8F-5603-C085-74C70560FAC8}"/>
              </a:ext>
            </a:extLst>
          </p:cNvPr>
          <p:cNvSpPr>
            <a:spLocks noGrp="1"/>
          </p:cNvSpPr>
          <p:nvPr>
            <p:ph type="dt" sz="half" idx="25"/>
          </p:nvPr>
        </p:nvSpPr>
        <p:spPr/>
        <p:txBody>
          <a:bodyPr rtlCol="0"/>
          <a:lstStyle>
            <a:defPPr>
              <a:defRPr lang="it-IT"/>
            </a:defPPr>
          </a:lstStyle>
          <a:p>
            <a:pPr rtl="0"/>
            <a:endParaRPr lang="it-IT">
              <a:latin typeface="+mn-lt"/>
            </a:endParaRPr>
          </a:p>
        </p:txBody>
      </p:sp>
      <p:cxnSp>
        <p:nvCxnSpPr>
          <p:cNvPr id="4" name="Connettore diritto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olo sezione">
    <p:bg>
      <p:bgPr>
        <a:solidFill>
          <a:schemeClr val="accent3"/>
        </a:solidFill>
        <a:effectLst/>
      </p:bgPr>
    </p:bg>
    <p:spTree>
      <p:nvGrpSpPr>
        <p:cNvPr id="1" name=""/>
        <p:cNvGrpSpPr/>
        <p:nvPr/>
      </p:nvGrpSpPr>
      <p:grpSpPr>
        <a:xfrm>
          <a:off x="0" y="0"/>
          <a:ext cx="0" cy="0"/>
          <a:chOff x="0" y="0"/>
          <a:chExt cx="0" cy="0"/>
        </a:xfrm>
      </p:grpSpPr>
      <p:sp>
        <p:nvSpPr>
          <p:cNvPr id="4" name="Segnaposto immagine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rtlCol="0">
            <a:noAutofit/>
          </a:bodyPr>
          <a:lstStyle>
            <a:lvl1pPr marL="0" indent="0" algn="ctr">
              <a:buNone/>
              <a:defRPr lang="it-IT" sz="2000">
                <a:solidFill>
                  <a:schemeClr val="tx1"/>
                </a:solidFill>
              </a:defRPr>
            </a:lvl1pPr>
          </a:lstStyle>
          <a:p>
            <a:pPr rtl="0"/>
            <a:r>
              <a:rPr lang="it-IT"/>
              <a:t>Fare clic sull'icona per inserire un'immagine</a:t>
            </a:r>
          </a:p>
        </p:txBody>
      </p:sp>
      <p:sp>
        <p:nvSpPr>
          <p:cNvPr id="18" name="Titolo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rtlCol="0" anchor="b" anchorCtr="0">
            <a:noAutofit/>
          </a:bodyPr>
          <a:lstStyle>
            <a:lvl1pPr>
              <a:defRPr lang="it-IT" sz="6000" b="1" i="0" baseline="0">
                <a:solidFill>
                  <a:schemeClr val="tx1"/>
                </a:solidFill>
                <a:latin typeface="+mj-lt"/>
              </a:defRPr>
            </a:lvl1pPr>
          </a:lstStyle>
          <a:p>
            <a:pPr rtl="0"/>
            <a:r>
              <a:rPr lang="it-IT"/>
              <a:t>Fare clic per inserire il titolo </a:t>
            </a:r>
          </a:p>
        </p:txBody>
      </p:sp>
      <p:sp>
        <p:nvSpPr>
          <p:cNvPr id="7" name="Rettangolo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olo 2">
    <p:bg>
      <p:bgPr>
        <a:solidFill>
          <a:schemeClr val="tx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rtlCol="0" anchor="b">
            <a:noAutofit/>
          </a:bodyPr>
          <a:lstStyle>
            <a:lvl1pPr algn="l">
              <a:lnSpc>
                <a:spcPct val="80000"/>
              </a:lnSpc>
              <a:defRPr lang="it-IT" sz="6000" b="1" i="0" spc="100" baseline="0">
                <a:solidFill>
                  <a:schemeClr val="bg1"/>
                </a:solidFill>
                <a:latin typeface="+mj-lt"/>
              </a:defRPr>
            </a:lvl1pPr>
          </a:lstStyle>
          <a:p>
            <a:pPr rtl="0"/>
            <a:r>
              <a:rPr lang="it-IT"/>
              <a:t>Fare clic per inserire il titolo </a:t>
            </a:r>
          </a:p>
        </p:txBody>
      </p:sp>
      <p:sp>
        <p:nvSpPr>
          <p:cNvPr id="6" name="Segnaposto immagine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rtlCol="0">
            <a:normAutofit/>
          </a:bodyPr>
          <a:lstStyle>
            <a:lvl1pPr marL="0" indent="0" algn="ctr">
              <a:buNone/>
              <a:defRPr lang="it-IT" sz="2000"/>
            </a:lvl1pPr>
          </a:lstStyle>
          <a:p>
            <a:pPr rtl="0"/>
            <a:r>
              <a:rPr lang="it-IT"/>
              <a:t>Fare clic sull'icona per inserire un'immagine</a:t>
            </a:r>
          </a:p>
        </p:txBody>
      </p:sp>
      <p:sp>
        <p:nvSpPr>
          <p:cNvPr id="18" name="Segnaposto tes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rtlCol="0">
            <a:noAutofit/>
          </a:bodyPr>
          <a:lstStyle>
            <a:lvl1pPr marL="0" indent="0">
              <a:buNone/>
              <a:defRPr lang="it-IT" sz="2400" b="1" i="0">
                <a:solidFill>
                  <a:schemeClr val="tx2">
                    <a:lumMod val="75000"/>
                  </a:schemeClr>
                </a:solidFill>
                <a:latin typeface="+mn-lt"/>
              </a:defRPr>
            </a:lvl1pPr>
            <a:lvl2pPr>
              <a:defRPr lang="it-IT" sz="4000"/>
            </a:lvl2pPr>
            <a:lvl3pPr>
              <a:defRPr lang="it-IT" sz="4000"/>
            </a:lvl3pPr>
            <a:lvl4pPr>
              <a:defRPr lang="it-IT" sz="4000"/>
            </a:lvl4pPr>
            <a:lvl5pPr>
              <a:defRPr lang="it-IT" sz="4000"/>
            </a:lvl5pPr>
          </a:lstStyle>
          <a:p>
            <a:pPr lvl="0" rtl="0"/>
            <a:r>
              <a:rPr lang="it-IT"/>
              <a:t>Fare clic per inserire il testo</a:t>
            </a:r>
          </a:p>
        </p:txBody>
      </p:sp>
      <p:cxnSp>
        <p:nvCxnSpPr>
          <p:cNvPr id="7" name="Connettore diritto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iepilogo 2">
    <p:bg>
      <p:bgPr>
        <a:solidFill>
          <a:schemeClr val="tx1"/>
        </a:solidFill>
        <a:effectLst/>
      </p:bgPr>
    </p:bg>
    <p:spTree>
      <p:nvGrpSpPr>
        <p:cNvPr id="1" name=""/>
        <p:cNvGrpSpPr/>
        <p:nvPr/>
      </p:nvGrpSpPr>
      <p:grpSpPr>
        <a:xfrm>
          <a:off x="0" y="0"/>
          <a:ext cx="0" cy="0"/>
          <a:chOff x="0" y="0"/>
          <a:chExt cx="0" cy="0"/>
        </a:xfrm>
      </p:grpSpPr>
      <p:cxnSp>
        <p:nvCxnSpPr>
          <p:cNvPr id="9" name="Connettore diritto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uppo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igura a mano libera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2" name="Figura a mano libera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3" name="Figura a mano libera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grpSp>
      <p:sp>
        <p:nvSpPr>
          <p:cNvPr id="32" name="Titolo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rtlCol="0" anchor="b" anchorCtr="0">
            <a:noAutofit/>
          </a:bodyPr>
          <a:lstStyle>
            <a:lvl1pPr>
              <a:defRPr lang="it-IT" sz="4400" b="1" i="0">
                <a:latin typeface="+mj-lt"/>
              </a:defRPr>
            </a:lvl1pPr>
          </a:lstStyle>
          <a:p>
            <a:pPr rtl="0"/>
            <a:r>
              <a:rPr lang="it-IT"/>
              <a:t>Fare clic per inserire il titolo </a:t>
            </a:r>
          </a:p>
        </p:txBody>
      </p:sp>
      <p:sp>
        <p:nvSpPr>
          <p:cNvPr id="2" name="Segnaposto contenuto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rtlCol="0">
            <a:normAutofit/>
          </a:bodyPr>
          <a:lstStyle>
            <a:lvl1pPr marL="283464" indent="-283464">
              <a:spcBef>
                <a:spcPts val="1800"/>
              </a:spcBef>
              <a:buFont typeface="Arial" panose="020B0604020202020204" pitchFamily="34" charset="0"/>
              <a:buChar char="•"/>
              <a:defRPr lang="it-IT" sz="2000"/>
            </a:lvl1pPr>
            <a:lvl2pPr indent="-283464">
              <a:spcBef>
                <a:spcPts val="1800"/>
              </a:spcBef>
              <a:defRPr lang="it-IT" sz="2000"/>
            </a:lvl2pPr>
            <a:lvl3pPr indent="-283464">
              <a:spcBef>
                <a:spcPts val="1800"/>
              </a:spcBef>
              <a:defRPr lang="it-IT" sz="2000"/>
            </a:lvl3pPr>
            <a:lvl4pPr indent="-283464">
              <a:spcBef>
                <a:spcPts val="1800"/>
              </a:spcBef>
              <a:defRPr lang="it-IT" sz="2000"/>
            </a:lvl4pPr>
            <a:lvl5pPr indent="-283464">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8" name="Segnaposto numero diapositiva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rtlCol="0"/>
          <a:lstStyle>
            <a:defPPr>
              <a:defRPr lang="it-IT"/>
            </a:defPPr>
          </a:lstStyle>
          <a:p>
            <a:pPr rtl="0"/>
            <a:fld id="{294A09A9-5501-47C1-A89A-A340965A2BE2}" type="slidenum">
              <a:rPr lang="it-IT" smtClean="0"/>
              <a:pPr rtl="0"/>
              <a:t>‹N›</a:t>
            </a:fld>
            <a:endParaRPr lang="it-IT">
              <a:latin typeface="+mn-lt"/>
            </a:endParaRPr>
          </a:p>
        </p:txBody>
      </p:sp>
      <p:sp>
        <p:nvSpPr>
          <p:cNvPr id="5" name="Segnaposto data 4">
            <a:extLst>
              <a:ext uri="{FF2B5EF4-FFF2-40B4-BE49-F238E27FC236}">
                <a16:creationId xmlns:a16="http://schemas.microsoft.com/office/drawing/2014/main" id="{E9272B8D-F380-9F1A-C8E6-BDD2352B1763}"/>
              </a:ext>
            </a:extLst>
          </p:cNvPr>
          <p:cNvSpPr>
            <a:spLocks noGrp="1"/>
          </p:cNvSpPr>
          <p:nvPr>
            <p:ph type="dt" sz="half" idx="21"/>
          </p:nvPr>
        </p:nvSpPr>
        <p:spPr/>
        <p:txBody>
          <a:bodyPr rtlCol="0"/>
          <a:lstStyle>
            <a:defPPr>
              <a:defRPr lang="it-IT"/>
            </a:defPPr>
          </a:lstStyle>
          <a:p>
            <a:pPr rtl="0"/>
            <a:endParaRPr lang="it-IT">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olo">
    <p:bg>
      <p:bgPr>
        <a:solidFill>
          <a:schemeClr val="tx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it-IT" sz="6000" b="1" i="0" spc="100" baseline="0">
                <a:solidFill>
                  <a:schemeClr val="bg1"/>
                </a:solidFill>
                <a:latin typeface="+mj-lt"/>
              </a:defRPr>
            </a:lvl1pPr>
          </a:lstStyle>
          <a:p>
            <a:pPr rtl="0"/>
            <a:r>
              <a:rPr lang="it-IT"/>
              <a:t>Fare clic per inserire il titolo </a:t>
            </a:r>
          </a:p>
        </p:txBody>
      </p:sp>
      <p:grpSp>
        <p:nvGrpSpPr>
          <p:cNvPr id="9" name="Grup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igura a mano libera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1" name="Figura a mano libera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2" name="Figura a mano libera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grpSp>
      <p:cxnSp>
        <p:nvCxnSpPr>
          <p:cNvPr id="13" name="Connettore diritto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Segnaposto tes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rtlCol="0">
            <a:noAutofit/>
          </a:bodyPr>
          <a:lstStyle>
            <a:lvl1pPr marL="0" indent="0">
              <a:buNone/>
              <a:defRPr lang="it-IT" sz="2400" b="1" i="0">
                <a:solidFill>
                  <a:schemeClr val="tx2">
                    <a:lumMod val="75000"/>
                  </a:schemeClr>
                </a:solidFill>
                <a:latin typeface="+mn-lt"/>
              </a:defRPr>
            </a:lvl1pPr>
            <a:lvl2pPr>
              <a:defRPr lang="it-IT" sz="4000"/>
            </a:lvl2pPr>
            <a:lvl3pPr>
              <a:defRPr lang="it-IT" sz="4000"/>
            </a:lvl3pPr>
            <a:lvl4pPr>
              <a:defRPr lang="it-IT" sz="4000"/>
            </a:lvl4pPr>
            <a:lvl5pPr>
              <a:defRPr lang="it-IT" sz="4000"/>
            </a:lvl5pPr>
          </a:lstStyle>
          <a:p>
            <a:pPr lvl="0" rtl="0"/>
            <a:r>
              <a:rPr lang="it-IT"/>
              <a:t>Fare clic per inserire il testo</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olo e due contenuti 2">
    <p:bg>
      <p:bgPr>
        <a:solidFill>
          <a:schemeClr val="tx1"/>
        </a:solidFill>
        <a:effectLst/>
      </p:bgPr>
    </p:bg>
    <p:spTree>
      <p:nvGrpSpPr>
        <p:cNvPr id="1" name=""/>
        <p:cNvGrpSpPr/>
        <p:nvPr/>
      </p:nvGrpSpPr>
      <p:grpSpPr>
        <a:xfrm>
          <a:off x="0" y="0"/>
          <a:ext cx="0" cy="0"/>
          <a:chOff x="0" y="0"/>
          <a:chExt cx="0" cy="0"/>
        </a:xfrm>
      </p:grpSpPr>
      <p:grpSp>
        <p:nvGrpSpPr>
          <p:cNvPr id="11" name="Gruppo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igura a mano libera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3" name="Figura a mano libera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4" name="Figura a mano libera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grpSp>
      <p:sp>
        <p:nvSpPr>
          <p:cNvPr id="16" name="Tito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rtlCol="0" anchor="b" anchorCtr="0">
            <a:noAutofit/>
          </a:bodyPr>
          <a:lstStyle>
            <a:lvl1pPr>
              <a:defRPr lang="it-IT" sz="4400" b="1" i="0">
                <a:solidFill>
                  <a:schemeClr val="bg1"/>
                </a:solidFill>
                <a:latin typeface="+mj-lt"/>
              </a:defRPr>
            </a:lvl1pPr>
          </a:lstStyle>
          <a:p>
            <a:pPr rtl="0"/>
            <a:r>
              <a:rPr lang="it-IT"/>
              <a:t>Fare clic per inserire il titolo </a:t>
            </a:r>
          </a:p>
        </p:txBody>
      </p:sp>
      <p:sp>
        <p:nvSpPr>
          <p:cNvPr id="2" name="Segnaposto contenuto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rtlCol="0">
            <a:normAutofit/>
          </a:bodyPr>
          <a:lstStyle>
            <a:lvl1pPr marL="0" indent="0">
              <a:spcBef>
                <a:spcPts val="1800"/>
              </a:spcBef>
              <a:buFont typeface="Arial" panose="020B0604020202020204" pitchFamily="34" charset="0"/>
              <a:buNone/>
              <a:defRPr lang="it-IT" sz="2000"/>
            </a:lvl1pPr>
            <a:lvl2pPr marL="283464" indent="-283464">
              <a:spcBef>
                <a:spcPts val="1800"/>
              </a:spcBef>
              <a:defRPr lang="it-IT" sz="2000"/>
            </a:lvl2pPr>
            <a:lvl3pPr marL="594360" indent="-283464">
              <a:spcBef>
                <a:spcPts val="1800"/>
              </a:spcBef>
              <a:defRPr lang="it-IT" sz="2000"/>
            </a:lvl3pPr>
            <a:lvl4pPr marL="822960" indent="-283464">
              <a:spcBef>
                <a:spcPts val="1800"/>
              </a:spcBef>
              <a:defRPr lang="it-IT" sz="2000"/>
            </a:lvl4pPr>
            <a:lvl5pPr marL="1005840" indent="-283464">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3" name="Segnaposto contenuto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rtlCol="0">
            <a:normAutofit/>
          </a:bodyPr>
          <a:lstStyle>
            <a:lvl1pPr marL="0" indent="0">
              <a:spcBef>
                <a:spcPts val="1800"/>
              </a:spcBef>
              <a:buFont typeface="Arial" panose="020B0604020202020204" pitchFamily="34" charset="0"/>
              <a:buNone/>
              <a:defRPr lang="it-IT" sz="2000"/>
            </a:lvl1pPr>
            <a:lvl2pPr marL="283464" indent="-283464">
              <a:spcBef>
                <a:spcPts val="1800"/>
              </a:spcBef>
              <a:defRPr lang="it-IT" sz="2000"/>
            </a:lvl2pPr>
            <a:lvl3pPr marL="548640" indent="-283464">
              <a:spcBef>
                <a:spcPts val="1800"/>
              </a:spcBef>
              <a:defRPr lang="it-IT" sz="2000"/>
            </a:lvl3pPr>
            <a:lvl4pPr marL="822960" indent="-283464">
              <a:spcBef>
                <a:spcPts val="1800"/>
              </a:spcBef>
              <a:defRPr lang="it-IT" sz="2000"/>
            </a:lvl4pPr>
            <a:lvl5pPr marL="1005840" indent="-283464">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0" name="Segnaposto numero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it-IT"/>
            </a:defPPr>
          </a:lstStyle>
          <a:p>
            <a:pPr rtl="0"/>
            <a:fld id="{294A09A9-5501-47C1-A89A-A340965A2BE2}" type="slidenum">
              <a:rPr lang="it-IT" smtClean="0"/>
              <a:pPr rtl="0"/>
              <a:t>‹N›</a:t>
            </a:fld>
            <a:endParaRPr lang="it-IT">
              <a:latin typeface="+mn-lt"/>
            </a:endParaRPr>
          </a:p>
        </p:txBody>
      </p:sp>
      <p:sp>
        <p:nvSpPr>
          <p:cNvPr id="8" name="Segnaposto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it-IT"/>
            </a:defPPr>
          </a:lstStyle>
          <a:p>
            <a:pPr rtl="0"/>
            <a:endParaRPr lang="it-IT">
              <a:latin typeface="+mn-lt"/>
            </a:endParaRPr>
          </a:p>
        </p:txBody>
      </p:sp>
      <p:cxnSp>
        <p:nvCxnSpPr>
          <p:cNvPr id="4" name="Connettore dirit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olo e contenuto ">
    <p:bg>
      <p:bgPr>
        <a:solidFill>
          <a:schemeClr val="tx1"/>
        </a:solidFill>
        <a:effectLst/>
      </p:bgPr>
    </p:bg>
    <p:spTree>
      <p:nvGrpSpPr>
        <p:cNvPr id="1" name=""/>
        <p:cNvGrpSpPr/>
        <p:nvPr/>
      </p:nvGrpSpPr>
      <p:grpSpPr>
        <a:xfrm>
          <a:off x="0" y="0"/>
          <a:ext cx="0" cy="0"/>
          <a:chOff x="0" y="0"/>
          <a:chExt cx="0" cy="0"/>
        </a:xfrm>
      </p:grpSpPr>
      <p:grpSp>
        <p:nvGrpSpPr>
          <p:cNvPr id="11" name="Gruppo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Forma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3" name="Figura a mano libera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4" name="Figura a mano libera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8" name="Figura a mano libera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it-IT"/>
              </a:defPPr>
            </a:lstStyle>
            <a:p>
              <a:pPr rtl="0"/>
              <a:endParaRPr lang="it-IT"/>
            </a:p>
          </p:txBody>
        </p:sp>
        <p:sp>
          <p:nvSpPr>
            <p:cNvPr id="19" name="Figura a mano libera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grpSp>
      <p:sp>
        <p:nvSpPr>
          <p:cNvPr id="16" name="Titolo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rtlCol="0" anchor="b" anchorCtr="0">
            <a:noAutofit/>
          </a:bodyPr>
          <a:lstStyle>
            <a:lvl1pPr>
              <a:defRPr lang="it-IT" sz="4400" b="1" i="0">
                <a:solidFill>
                  <a:schemeClr val="bg1"/>
                </a:solidFill>
                <a:latin typeface="+mj-lt"/>
              </a:defRPr>
            </a:lvl1pPr>
          </a:lstStyle>
          <a:p>
            <a:pPr rtl="0"/>
            <a:r>
              <a:rPr lang="it-IT"/>
              <a:t>Fare clic per inserire il titolo </a:t>
            </a:r>
          </a:p>
        </p:txBody>
      </p:sp>
      <p:cxnSp>
        <p:nvCxnSpPr>
          <p:cNvPr id="4" name="Connettore dirit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Segnaposto contenut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rtlCol="0">
            <a:normAutofit/>
          </a:bodyPr>
          <a:lstStyle>
            <a:lvl1pPr marL="457200" indent="-457200">
              <a:spcBef>
                <a:spcPts val="1800"/>
              </a:spcBef>
              <a:buFont typeface="+mj-lt"/>
              <a:buAutoNum type="arabicPeriod"/>
              <a:defRPr lang="it-IT" sz="2000"/>
            </a:lvl1pPr>
            <a:lvl2pPr marL="914400" indent="-457200">
              <a:spcBef>
                <a:spcPts val="1800"/>
              </a:spcBef>
              <a:buFont typeface="+mj-lt"/>
              <a:buAutoNum type="alphaLcPeriod"/>
              <a:defRPr lang="it-IT" sz="2000"/>
            </a:lvl2pPr>
            <a:lvl3pPr marL="1371600" indent="-457200">
              <a:spcBef>
                <a:spcPts val="1800"/>
              </a:spcBef>
              <a:buFont typeface="+mj-lt"/>
              <a:buAutoNum type="arabicParenR"/>
              <a:defRPr lang="it-IT" sz="2000"/>
            </a:lvl3pPr>
            <a:lvl4pPr marL="1371600" indent="0">
              <a:spcBef>
                <a:spcPts val="1800"/>
              </a:spcBef>
              <a:buFont typeface="+mj-lt"/>
              <a:buNone/>
              <a:defRPr lang="it-IT" sz="2000"/>
            </a:lvl4pPr>
            <a:lvl5pPr marL="2286000" indent="-457200">
              <a:spcBef>
                <a:spcPts val="1800"/>
              </a:spcBef>
              <a:buFont typeface="+mj-lt"/>
              <a:buAutoNum type="arabicPeriod"/>
              <a:defRPr lang="it-IT" sz="2000"/>
            </a:lvl5pPr>
          </a:lstStyle>
          <a:p>
            <a:pPr lvl="0" rtl="0"/>
            <a:r>
              <a:rPr lang="it-IT"/>
              <a:t>Fai clic per aggiungere contenuto</a:t>
            </a:r>
          </a:p>
          <a:p>
            <a:pPr lvl="1" rtl="0"/>
            <a:r>
              <a:rPr lang="it-IT"/>
              <a:t>Secondo livello</a:t>
            </a:r>
          </a:p>
          <a:p>
            <a:pPr lvl="2" rtl="0"/>
            <a:r>
              <a:rPr lang="it-IT"/>
              <a:t>Terzo livello</a:t>
            </a:r>
          </a:p>
          <a:p>
            <a:pPr lvl="3" rtl="0"/>
            <a:endParaRPr lang="it-IT"/>
          </a:p>
        </p:txBody>
      </p:sp>
      <p:sp>
        <p:nvSpPr>
          <p:cNvPr id="2" name="Segnaposto contenuto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rtlCol="0">
            <a:normAutofit/>
          </a:bodyPr>
          <a:lstStyle>
            <a:lvl1pPr marL="0" indent="0">
              <a:spcBef>
                <a:spcPts val="1800"/>
              </a:spcBef>
              <a:buFont typeface="Arial" panose="020B0604020202020204" pitchFamily="34" charset="0"/>
              <a:buNone/>
              <a:defRPr lang="it-IT" sz="2000"/>
            </a:lvl1pPr>
            <a:lvl2pPr marL="283464" indent="-283464">
              <a:spcBef>
                <a:spcPts val="1800"/>
              </a:spcBef>
              <a:defRPr lang="it-IT" sz="2000"/>
            </a:lvl2pPr>
            <a:lvl3pPr marL="548640" indent="-283464">
              <a:spcBef>
                <a:spcPts val="1800"/>
              </a:spcBef>
              <a:defRPr lang="it-IT" sz="2000"/>
            </a:lvl3pPr>
            <a:lvl4pPr marL="822960" indent="-283464">
              <a:spcBef>
                <a:spcPts val="1800"/>
              </a:spcBef>
              <a:defRPr lang="it-IT" sz="2000"/>
            </a:lvl4pPr>
            <a:lvl5pPr marL="1005840" indent="-283464">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0" name="Segnaposto numero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it-IT"/>
            </a:defPPr>
          </a:lstStyle>
          <a:p>
            <a:pPr rtl="0"/>
            <a:fld id="{294A09A9-5501-47C1-A89A-A340965A2BE2}" type="slidenum">
              <a:rPr lang="it-IT" smtClean="0"/>
              <a:pPr rtl="0"/>
              <a:t>‹N›</a:t>
            </a:fld>
            <a:endParaRPr lang="it-IT">
              <a:latin typeface="+mn-lt"/>
            </a:endParaRPr>
          </a:p>
        </p:txBody>
      </p:sp>
      <p:sp>
        <p:nvSpPr>
          <p:cNvPr id="8" name="Segnaposto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it-IT"/>
            </a:defPPr>
          </a:lstStyle>
          <a:p>
            <a:pPr rtl="0"/>
            <a:endParaRPr lang="it-IT">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uto titolo e immagine">
    <p:bg>
      <p:bgPr>
        <a:solidFill>
          <a:schemeClr val="tx1"/>
        </a:solidFill>
        <a:effectLst/>
      </p:bgPr>
    </p:bg>
    <p:spTree>
      <p:nvGrpSpPr>
        <p:cNvPr id="1" name=""/>
        <p:cNvGrpSpPr/>
        <p:nvPr/>
      </p:nvGrpSpPr>
      <p:grpSpPr>
        <a:xfrm>
          <a:off x="0" y="0"/>
          <a:ext cx="0" cy="0"/>
          <a:chOff x="0" y="0"/>
          <a:chExt cx="0" cy="0"/>
        </a:xfrm>
      </p:grpSpPr>
      <p:sp>
        <p:nvSpPr>
          <p:cNvPr id="16" name="Tito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rtlCol="0" anchor="b" anchorCtr="0">
            <a:noAutofit/>
          </a:bodyPr>
          <a:lstStyle>
            <a:lvl1pPr>
              <a:defRPr lang="it-IT" sz="4400" b="1" i="0">
                <a:solidFill>
                  <a:schemeClr val="bg1"/>
                </a:solidFill>
                <a:latin typeface="+mj-lt"/>
              </a:defRPr>
            </a:lvl1pPr>
          </a:lstStyle>
          <a:p>
            <a:pPr rtl="0"/>
            <a:r>
              <a:rPr lang="it-IT"/>
              <a:t>Fare clic per inserire il titolo </a:t>
            </a:r>
          </a:p>
        </p:txBody>
      </p:sp>
      <p:sp>
        <p:nvSpPr>
          <p:cNvPr id="3" name="Segnaposto contenuto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rtlCol="0">
            <a:normAutofit/>
          </a:bodyPr>
          <a:lstStyle>
            <a:lvl1pPr marL="0" indent="0">
              <a:spcBef>
                <a:spcPts val="1800"/>
              </a:spcBef>
              <a:buFont typeface="Arial" panose="020B0604020202020204" pitchFamily="34" charset="0"/>
              <a:buNone/>
              <a:defRPr lang="it-IT" sz="2000"/>
            </a:lvl1pPr>
            <a:lvl2pPr indent="-283464">
              <a:spcBef>
                <a:spcPts val="1800"/>
              </a:spcBef>
              <a:defRPr lang="it-IT" sz="2000"/>
            </a:lvl2pPr>
            <a:lvl3pPr indent="-283464">
              <a:spcBef>
                <a:spcPts val="1800"/>
              </a:spcBef>
              <a:defRPr lang="it-IT" sz="2000"/>
            </a:lvl3pPr>
            <a:lvl4pPr indent="-283464">
              <a:spcBef>
                <a:spcPts val="1800"/>
              </a:spcBef>
              <a:defRPr lang="it-IT" sz="2000"/>
            </a:lvl4pPr>
            <a:lvl5pPr indent="-283464">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cxnSp>
        <p:nvCxnSpPr>
          <p:cNvPr id="4" name="Connettore dirit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Segnaposto immagine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rtlCol="0">
            <a:normAutofit/>
          </a:bodyPr>
          <a:lstStyle>
            <a:lvl1pPr marL="0" indent="0" algn="ctr">
              <a:buNone/>
              <a:defRPr lang="it-IT" sz="2000">
                <a:solidFill>
                  <a:schemeClr val="bg1"/>
                </a:solidFill>
              </a:defRPr>
            </a:lvl1pPr>
          </a:lstStyle>
          <a:p>
            <a:pPr rtl="0"/>
            <a:r>
              <a:rPr lang="it-IT"/>
              <a:t>Fare clic sull'icona per inserire un'immagine</a:t>
            </a:r>
          </a:p>
        </p:txBody>
      </p:sp>
      <p:sp>
        <p:nvSpPr>
          <p:cNvPr id="10" name="Segnaposto numero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it-IT"/>
            </a:defPPr>
          </a:lstStyle>
          <a:p>
            <a:pPr rtl="0"/>
            <a:fld id="{294A09A9-5501-47C1-A89A-A340965A2BE2}" type="slidenum">
              <a:rPr lang="it-IT" smtClean="0"/>
              <a:pPr rtl="0"/>
              <a:t>‹N›</a:t>
            </a:fld>
            <a:endParaRPr lang="it-IT">
              <a:latin typeface="+mn-lt"/>
            </a:endParaRPr>
          </a:p>
        </p:txBody>
      </p:sp>
      <p:sp>
        <p:nvSpPr>
          <p:cNvPr id="8" name="Segnaposto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it-IT"/>
            </a:defPPr>
          </a:lstStyle>
          <a:p>
            <a:pPr rtl="0"/>
            <a:endParaRPr lang="it-IT">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uto del titolo e tabella">
    <p:bg>
      <p:bgPr>
        <a:solidFill>
          <a:schemeClr val="tx1"/>
        </a:solidFill>
        <a:effectLst/>
      </p:bgPr>
    </p:bg>
    <p:spTree>
      <p:nvGrpSpPr>
        <p:cNvPr id="1" name=""/>
        <p:cNvGrpSpPr/>
        <p:nvPr/>
      </p:nvGrpSpPr>
      <p:grpSpPr>
        <a:xfrm>
          <a:off x="0" y="0"/>
          <a:ext cx="0" cy="0"/>
          <a:chOff x="0" y="0"/>
          <a:chExt cx="0" cy="0"/>
        </a:xfrm>
      </p:grpSpPr>
      <p:grpSp>
        <p:nvGrpSpPr>
          <p:cNvPr id="5" name="Gruppo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igura a mano libera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5" name="Figura a mano libera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7" name="Figura a mano libera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grpSp>
      <p:sp>
        <p:nvSpPr>
          <p:cNvPr id="16" name="Titolo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rtlCol="0" anchor="b" anchorCtr="0">
            <a:noAutofit/>
          </a:bodyPr>
          <a:lstStyle>
            <a:lvl1pPr>
              <a:defRPr lang="it-IT" sz="4400" b="1" i="0">
                <a:solidFill>
                  <a:schemeClr val="bg1"/>
                </a:solidFill>
                <a:latin typeface="+mj-lt"/>
              </a:defRPr>
            </a:lvl1pPr>
          </a:lstStyle>
          <a:p>
            <a:pPr rtl="0"/>
            <a:r>
              <a:rPr lang="it-IT"/>
              <a:t>Fare clic per inserire il titolo </a:t>
            </a:r>
          </a:p>
        </p:txBody>
      </p:sp>
      <p:cxnSp>
        <p:nvCxnSpPr>
          <p:cNvPr id="4" name="Connettore dirit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Segnaposto contenut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rtlCol="0">
            <a:normAutofit/>
          </a:bodyPr>
          <a:lstStyle>
            <a:lvl1pPr marL="0" indent="0">
              <a:spcBef>
                <a:spcPts val="1800"/>
              </a:spcBef>
              <a:buFont typeface="Arial" panose="020B0604020202020204" pitchFamily="34" charset="0"/>
              <a:buNone/>
              <a:defRPr lang="it-IT" sz="2000"/>
            </a:lvl1pPr>
            <a:lvl2pPr marL="457200" indent="0">
              <a:spcBef>
                <a:spcPts val="1800"/>
              </a:spcBef>
              <a:buNone/>
              <a:defRPr lang="it-IT" sz="2000"/>
            </a:lvl2pPr>
            <a:lvl3pPr marL="914400" indent="0">
              <a:spcBef>
                <a:spcPts val="1800"/>
              </a:spcBef>
              <a:buNone/>
              <a:defRPr lang="it-IT" sz="2000"/>
            </a:lvl3pPr>
            <a:lvl4pPr marL="1371600" indent="0">
              <a:spcBef>
                <a:spcPts val="1800"/>
              </a:spcBef>
              <a:buNone/>
              <a:defRPr lang="it-IT" sz="2000"/>
            </a:lvl4pPr>
            <a:lvl5pPr marL="1828800" indent="0">
              <a:spcBef>
                <a:spcPts val="1800"/>
              </a:spcBef>
              <a:buNone/>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6" name="Segnaposto contenuto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rtlCol="0">
            <a:normAutofit/>
          </a:bodyPr>
          <a:lstStyle>
            <a:lvl1pPr marL="0" indent="0">
              <a:spcBef>
                <a:spcPts val="1800"/>
              </a:spcBef>
              <a:buNone/>
              <a:defRPr lang="it-IT" sz="2000"/>
            </a:lvl1pPr>
            <a:lvl2pPr>
              <a:spcBef>
                <a:spcPts val="600"/>
              </a:spcBef>
              <a:defRPr lang="it-IT" sz="2000"/>
            </a:lvl2pPr>
            <a:lvl3pPr>
              <a:spcBef>
                <a:spcPts val="1800"/>
              </a:spcBef>
              <a:defRPr lang="it-IT" sz="2000"/>
            </a:lvl3pPr>
            <a:lvl4pPr>
              <a:spcBef>
                <a:spcPts val="1800"/>
              </a:spcBef>
              <a:defRPr lang="it-IT" sz="2000"/>
            </a:lvl4pPr>
            <a:lvl5pPr>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0" name="Segnaposto numero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it-IT"/>
            </a:defPPr>
          </a:lstStyle>
          <a:p>
            <a:pPr rtl="0"/>
            <a:fld id="{294A09A9-5501-47C1-A89A-A340965A2BE2}" type="slidenum">
              <a:rPr lang="it-IT" smtClean="0"/>
              <a:pPr rtl="0"/>
              <a:t>‹N›</a:t>
            </a:fld>
            <a:endParaRPr lang="it-IT">
              <a:latin typeface="+mn-lt"/>
            </a:endParaRPr>
          </a:p>
        </p:txBody>
      </p:sp>
      <p:sp>
        <p:nvSpPr>
          <p:cNvPr id="8" name="Segnaposto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it-IT"/>
            </a:defPPr>
          </a:lstStyle>
          <a:p>
            <a:pPr rtl="0"/>
            <a:endParaRPr lang="it-IT">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olo e due contenuti">
    <p:bg>
      <p:bgPr>
        <a:solidFill>
          <a:schemeClr val="tx1"/>
        </a:solidFill>
        <a:effectLst/>
      </p:bgPr>
    </p:bg>
    <p:spTree>
      <p:nvGrpSpPr>
        <p:cNvPr id="1" name=""/>
        <p:cNvGrpSpPr/>
        <p:nvPr/>
      </p:nvGrpSpPr>
      <p:grpSpPr>
        <a:xfrm>
          <a:off x="0" y="0"/>
          <a:ext cx="0" cy="0"/>
          <a:chOff x="0" y="0"/>
          <a:chExt cx="0" cy="0"/>
        </a:xfrm>
      </p:grpSpPr>
      <p:grpSp>
        <p:nvGrpSpPr>
          <p:cNvPr id="11" name="Gruppo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igura a mano libera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3" name="Figura a mano libera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4" name="Figura a mano libera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grpSp>
      <p:sp>
        <p:nvSpPr>
          <p:cNvPr id="16" name="Tito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rtlCol="0" anchor="b" anchorCtr="0">
            <a:noAutofit/>
          </a:bodyPr>
          <a:lstStyle>
            <a:lvl1pPr>
              <a:defRPr lang="it-IT" sz="4400" b="1" i="0">
                <a:solidFill>
                  <a:schemeClr val="bg1"/>
                </a:solidFill>
                <a:latin typeface="+mj-lt"/>
              </a:defRPr>
            </a:lvl1pPr>
          </a:lstStyle>
          <a:p>
            <a:pPr rtl="0"/>
            <a:r>
              <a:rPr lang="it-IT"/>
              <a:t>Fare clic per inserire il titolo </a:t>
            </a:r>
          </a:p>
        </p:txBody>
      </p:sp>
      <p:cxnSp>
        <p:nvCxnSpPr>
          <p:cNvPr id="4" name="Connettore dirit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Segnaposto contenuto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rtlCol="0">
            <a:normAutofit/>
          </a:bodyPr>
          <a:lstStyle>
            <a:lvl1pPr marL="0" indent="0">
              <a:spcBef>
                <a:spcPts val="1800"/>
              </a:spcBef>
              <a:buNone/>
              <a:defRPr lang="it-IT" sz="2000"/>
            </a:lvl1pPr>
            <a:lvl2pPr>
              <a:spcBef>
                <a:spcPts val="600"/>
              </a:spcBef>
              <a:defRPr lang="it-IT" sz="2000"/>
            </a:lvl2pPr>
            <a:lvl3pPr>
              <a:spcBef>
                <a:spcPts val="1800"/>
              </a:spcBef>
              <a:defRPr lang="it-IT" sz="2000"/>
            </a:lvl3pPr>
            <a:lvl4pPr>
              <a:spcBef>
                <a:spcPts val="1800"/>
              </a:spcBef>
              <a:defRPr lang="it-IT" sz="2000"/>
            </a:lvl4pPr>
            <a:lvl5pPr>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7" name="Segnaposto contenut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rtlCol="0">
            <a:normAutofit/>
          </a:bodyPr>
          <a:lstStyle>
            <a:lvl1pPr marL="342900" indent="-342900">
              <a:spcBef>
                <a:spcPts val="1800"/>
              </a:spcBef>
              <a:buFont typeface="Arial" panose="020B0604020202020204" pitchFamily="34" charset="0"/>
              <a:buChar char="•"/>
              <a:defRPr lang="it-IT" sz="2000"/>
            </a:lvl1pPr>
            <a:lvl2pPr>
              <a:spcBef>
                <a:spcPts val="1800"/>
              </a:spcBef>
              <a:defRPr lang="it-IT" sz="2000"/>
            </a:lvl2pPr>
            <a:lvl3pPr>
              <a:spcBef>
                <a:spcPts val="1800"/>
              </a:spcBef>
              <a:defRPr lang="it-IT" sz="2000"/>
            </a:lvl3pPr>
            <a:lvl4pPr>
              <a:spcBef>
                <a:spcPts val="1800"/>
              </a:spcBef>
              <a:defRPr lang="it-IT" sz="2000"/>
            </a:lvl4pPr>
            <a:lvl5pPr>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8" name="Segnaposto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it-IT"/>
            </a:defPPr>
          </a:lstStyle>
          <a:p>
            <a:pPr rtl="0"/>
            <a:endParaRPr lang="it-IT">
              <a:latin typeface="+mn-lt"/>
            </a:endParaRPr>
          </a:p>
        </p:txBody>
      </p:sp>
      <p:sp>
        <p:nvSpPr>
          <p:cNvPr id="10" name="Segnaposto numero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it-IT"/>
            </a:defPPr>
          </a:lstStyle>
          <a:p>
            <a:pPr rtl="0"/>
            <a:fld id="{294A09A9-5501-47C1-A89A-A340965A2BE2}" type="slidenum">
              <a:rPr lang="it-IT" smtClean="0"/>
              <a:pPr rtl="0"/>
              <a:t>‹N›</a:t>
            </a:fld>
            <a:endParaRPr lang="it-IT">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ella 2">
    <p:bg>
      <p:bgPr>
        <a:solidFill>
          <a:schemeClr val="tx1"/>
        </a:solidFill>
        <a:effectLst/>
      </p:bgPr>
    </p:bg>
    <p:spTree>
      <p:nvGrpSpPr>
        <p:cNvPr id="1" name=""/>
        <p:cNvGrpSpPr/>
        <p:nvPr/>
      </p:nvGrpSpPr>
      <p:grpSpPr>
        <a:xfrm>
          <a:off x="0" y="0"/>
          <a:ext cx="0" cy="0"/>
          <a:chOff x="0" y="0"/>
          <a:chExt cx="0" cy="0"/>
        </a:xfrm>
      </p:grpSpPr>
      <p:sp>
        <p:nvSpPr>
          <p:cNvPr id="16" name="Tito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rtlCol="0" anchor="b" anchorCtr="0">
            <a:noAutofit/>
          </a:bodyPr>
          <a:lstStyle>
            <a:lvl1pPr>
              <a:defRPr lang="it-IT" sz="4400" b="1" i="0">
                <a:solidFill>
                  <a:schemeClr val="bg1"/>
                </a:solidFill>
                <a:latin typeface="+mj-lt"/>
              </a:defRPr>
            </a:lvl1pPr>
          </a:lstStyle>
          <a:p>
            <a:pPr rtl="0"/>
            <a:r>
              <a:rPr lang="it-IT"/>
              <a:t>Fare clic per inserire il titolo </a:t>
            </a:r>
          </a:p>
        </p:txBody>
      </p:sp>
      <p:sp>
        <p:nvSpPr>
          <p:cNvPr id="9" name="Segnaposto tabella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rtlCol="0">
            <a:noAutofit/>
          </a:bodyPr>
          <a:lstStyle>
            <a:lvl1pPr>
              <a:defRPr lang="it-IT"/>
            </a:lvl1pPr>
          </a:lstStyle>
          <a:p>
            <a:pPr rtl="0"/>
            <a:r>
              <a:rPr lang="it-IT"/>
              <a:t>Fare clic sull'icona per inserire una tabella</a:t>
            </a:r>
          </a:p>
        </p:txBody>
      </p:sp>
      <p:sp>
        <p:nvSpPr>
          <p:cNvPr id="10" name="Segnaposto numero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it-IT"/>
            </a:defPPr>
          </a:lstStyle>
          <a:p>
            <a:pPr rtl="0"/>
            <a:fld id="{294A09A9-5501-47C1-A89A-A340965A2BE2}" type="slidenum">
              <a:rPr lang="it-IT" smtClean="0"/>
              <a:pPr rtl="0"/>
              <a:t>‹N›</a:t>
            </a:fld>
            <a:endParaRPr lang="it-IT">
              <a:latin typeface="+mn-lt"/>
            </a:endParaRPr>
          </a:p>
        </p:txBody>
      </p:sp>
      <p:sp>
        <p:nvSpPr>
          <p:cNvPr id="8" name="Segnaposto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it-IT"/>
            </a:defPPr>
          </a:lstStyle>
          <a:p>
            <a:pPr rtl="0"/>
            <a:endParaRPr lang="it-IT">
              <a:latin typeface="+mn-lt"/>
            </a:endParaRPr>
          </a:p>
        </p:txBody>
      </p:sp>
      <p:cxnSp>
        <p:nvCxnSpPr>
          <p:cNvPr id="4" name="Connettore dirit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olo 3">
    <p:bg>
      <p:bgPr>
        <a:solidFill>
          <a:schemeClr val="tx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rtlCol="0" anchor="b">
            <a:noAutofit/>
          </a:bodyPr>
          <a:lstStyle>
            <a:lvl1pPr algn="l">
              <a:lnSpc>
                <a:spcPct val="80000"/>
              </a:lnSpc>
              <a:defRPr lang="it-IT" sz="6000" b="1" i="0" spc="100" baseline="0">
                <a:solidFill>
                  <a:schemeClr val="bg1"/>
                </a:solidFill>
                <a:latin typeface="+mj-lt"/>
              </a:defRPr>
            </a:lvl1pPr>
          </a:lstStyle>
          <a:p>
            <a:pPr rtl="0"/>
            <a:r>
              <a:rPr lang="it-IT"/>
              <a:t>Fare clic per inserire il titolo </a:t>
            </a:r>
          </a:p>
        </p:txBody>
      </p:sp>
      <p:grpSp>
        <p:nvGrpSpPr>
          <p:cNvPr id="9" name="Grup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igura a mano libera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1" name="Figura a mano libera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sp>
          <p:nvSpPr>
            <p:cNvPr id="12" name="Figura a mano libera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a:p>
          </p:txBody>
        </p:sp>
      </p:grpSp>
      <p:sp>
        <p:nvSpPr>
          <p:cNvPr id="18" name="Segnaposto tes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rtlCol="0">
            <a:noAutofit/>
          </a:bodyPr>
          <a:lstStyle>
            <a:lvl1pPr marL="0" indent="0">
              <a:buNone/>
              <a:defRPr lang="it-IT" sz="2400" b="1" i="0">
                <a:solidFill>
                  <a:schemeClr val="tx2">
                    <a:lumMod val="75000"/>
                  </a:schemeClr>
                </a:solidFill>
                <a:latin typeface="+mn-lt"/>
              </a:defRPr>
            </a:lvl1pPr>
            <a:lvl2pPr>
              <a:defRPr lang="it-IT" sz="4000"/>
            </a:lvl2pPr>
            <a:lvl3pPr>
              <a:defRPr lang="it-IT" sz="4000"/>
            </a:lvl3pPr>
            <a:lvl4pPr>
              <a:defRPr lang="it-IT" sz="4000"/>
            </a:lvl4pPr>
            <a:lvl5pPr>
              <a:defRPr lang="it-IT" sz="4000"/>
            </a:lvl5pPr>
          </a:lstStyle>
          <a:p>
            <a:pPr lvl="0" rtl="0"/>
            <a:r>
              <a:rPr lang="it-IT"/>
              <a:t>Fare clic per inserire il testo</a:t>
            </a:r>
          </a:p>
        </p:txBody>
      </p:sp>
      <p:cxnSp>
        <p:nvCxnSpPr>
          <p:cNvPr id="4" name="Connettore diritto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defPPr>
              <a:defRPr lang="it-IT"/>
            </a:defPPr>
          </a:lstStyle>
          <a:p>
            <a:pPr lvl="0" rtl="0"/>
            <a:r>
              <a:rPr lang="it-IT"/>
              <a:t>Fare clic per modificare lo stile del titolo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2" name="Segnaposto titolo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defPPr>
              <a:defRPr lang="it-IT"/>
            </a:defPPr>
          </a:lstStyle>
          <a:p>
            <a:pPr rtl="0"/>
            <a:r>
              <a:rPr lang="it-IT"/>
              <a:t>Fare clic per modificare lo stile del titolo</a:t>
            </a:r>
          </a:p>
        </p:txBody>
      </p:sp>
      <p:sp>
        <p:nvSpPr>
          <p:cNvPr id="30" name="Segnaposto data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lang="it-IT" sz="1100" b="0" i="0">
                <a:solidFill>
                  <a:schemeClr val="bg1"/>
                </a:solidFill>
                <a:latin typeface="+mn-lt"/>
              </a:defRPr>
            </a:lvl1pPr>
          </a:lstStyle>
          <a:p>
            <a:pPr rtl="0"/>
            <a:endParaRPr lang="it-IT">
              <a:latin typeface="+mn-lt"/>
            </a:endParaRPr>
          </a:p>
        </p:txBody>
      </p:sp>
      <p:sp>
        <p:nvSpPr>
          <p:cNvPr id="32" name="Segnaposto numero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lang="it-IT" sz="1100" b="1" i="0">
                <a:solidFill>
                  <a:schemeClr val="bg1"/>
                </a:solidFill>
                <a:latin typeface="+mn-lt"/>
              </a:defRPr>
            </a:lvl1pPr>
          </a:lstStyle>
          <a:p>
            <a:pPr rtl="0"/>
            <a:fld id="{294A09A9-5501-47C1-A89A-A340965A2BE2}" type="slidenum">
              <a:rPr lang="it-IT" smtClean="0"/>
              <a:pPr rtl="0"/>
              <a:t>‹N›</a:t>
            </a:fld>
            <a:endParaRPr lang="it-IT"/>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lang="it-IT" sz="4400" b="1" i="0" kern="1200" spc="100" baseline="0">
          <a:solidFill>
            <a:schemeClr val="bg1"/>
          </a:solidFill>
          <a:latin typeface="+mj-lt"/>
          <a:ea typeface="+mj-ea"/>
          <a:cs typeface="+mj-cs"/>
        </a:defRPr>
      </a:lvl1pPr>
      <a:lvl2pPr eaLnBrk="1" hangingPunct="1">
        <a:defRPr lang="it-IT">
          <a:solidFill>
            <a:schemeClr val="tx2"/>
          </a:solidFill>
        </a:defRPr>
      </a:lvl2pPr>
      <a:lvl3pPr eaLnBrk="1" hangingPunct="1">
        <a:defRPr lang="it-IT">
          <a:solidFill>
            <a:schemeClr val="tx2"/>
          </a:solidFill>
        </a:defRPr>
      </a:lvl3pPr>
      <a:lvl4pPr eaLnBrk="1" hangingPunct="1">
        <a:defRPr lang="it-IT">
          <a:solidFill>
            <a:schemeClr val="tx2"/>
          </a:solidFill>
        </a:defRPr>
      </a:lvl4pPr>
      <a:lvl5pPr eaLnBrk="1" hangingPunct="1">
        <a:defRPr lang="it-IT">
          <a:solidFill>
            <a:schemeClr val="tx2"/>
          </a:solidFill>
        </a:defRPr>
      </a:lvl5pPr>
      <a:lvl6pPr eaLnBrk="1" hangingPunct="1">
        <a:defRPr lang="it-IT">
          <a:solidFill>
            <a:schemeClr val="tx2"/>
          </a:solidFill>
        </a:defRPr>
      </a:lvl6pPr>
      <a:lvl7pPr eaLnBrk="1" hangingPunct="1">
        <a:defRPr lang="it-IT">
          <a:solidFill>
            <a:schemeClr val="tx2"/>
          </a:solidFill>
        </a:defRPr>
      </a:lvl7pPr>
      <a:lvl8pPr eaLnBrk="1" hangingPunct="1">
        <a:defRPr lang="it-IT">
          <a:solidFill>
            <a:schemeClr val="tx2"/>
          </a:solidFill>
        </a:defRPr>
      </a:lvl8pPr>
      <a:lvl9pPr eaLnBrk="1" hangingPunct="1">
        <a:defRPr lang="it-IT">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lang="it-IT"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lang="it-IT"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lang="it-IT"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lang="it-IT"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lang="it-IT"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p:bodyStyle>
    <p:otherStyle>
      <a:defPPr>
        <a:defRPr lang="it-IT"/>
      </a:defPPr>
      <a:lvl1pPr marL="0" algn="l" defTabSz="914400" rtl="0" eaLnBrk="1" latinLnBrk="0" hangingPunct="1">
        <a:defRPr lang="it-IT" sz="1800" kern="1200">
          <a:solidFill>
            <a:schemeClr val="tx1"/>
          </a:solidFill>
          <a:latin typeface="+mn-lt"/>
          <a:ea typeface="+mn-ea"/>
          <a:cs typeface="+mn-cs"/>
        </a:defRPr>
      </a:lvl1pPr>
      <a:lvl2pPr marL="457200" algn="l" defTabSz="914400" rtl="0" eaLnBrk="1" latinLnBrk="0" hangingPunct="1">
        <a:defRPr lang="it-IT" sz="1800" kern="1200">
          <a:solidFill>
            <a:schemeClr val="tx1"/>
          </a:solidFill>
          <a:latin typeface="+mn-lt"/>
          <a:ea typeface="+mn-ea"/>
          <a:cs typeface="+mn-cs"/>
        </a:defRPr>
      </a:lvl2pPr>
      <a:lvl3pPr marL="914400" algn="l" defTabSz="914400" rtl="0" eaLnBrk="1" latinLnBrk="0" hangingPunct="1">
        <a:defRPr lang="it-IT" sz="1800" kern="1200">
          <a:solidFill>
            <a:schemeClr val="tx1"/>
          </a:solidFill>
          <a:latin typeface="+mn-lt"/>
          <a:ea typeface="+mn-ea"/>
          <a:cs typeface="+mn-cs"/>
        </a:defRPr>
      </a:lvl3pPr>
      <a:lvl4pPr marL="1371600" algn="l" defTabSz="914400" rtl="0" eaLnBrk="1" latinLnBrk="0" hangingPunct="1">
        <a:defRPr lang="it-IT" sz="1800" kern="1200">
          <a:solidFill>
            <a:schemeClr val="tx1"/>
          </a:solidFill>
          <a:latin typeface="+mn-lt"/>
          <a:ea typeface="+mn-ea"/>
          <a:cs typeface="+mn-cs"/>
        </a:defRPr>
      </a:lvl4pPr>
      <a:lvl5pPr marL="1828800" algn="l" defTabSz="914400" rtl="0" eaLnBrk="1" latinLnBrk="0" hangingPunct="1">
        <a:defRPr lang="it-IT" sz="1800" kern="1200">
          <a:solidFill>
            <a:schemeClr val="tx1"/>
          </a:solidFill>
          <a:latin typeface="+mn-lt"/>
          <a:ea typeface="+mn-ea"/>
          <a:cs typeface="+mn-cs"/>
        </a:defRPr>
      </a:lvl5pPr>
      <a:lvl6pPr marL="2286000" algn="l" defTabSz="914400" rtl="0" eaLnBrk="1" latinLnBrk="0" hangingPunct="1">
        <a:defRPr lang="it-IT" sz="1800" kern="1200">
          <a:solidFill>
            <a:schemeClr val="tx1"/>
          </a:solidFill>
          <a:latin typeface="+mn-lt"/>
          <a:ea typeface="+mn-ea"/>
          <a:cs typeface="+mn-cs"/>
        </a:defRPr>
      </a:lvl6pPr>
      <a:lvl7pPr marL="2743200" algn="l" defTabSz="914400" rtl="0" eaLnBrk="1" latinLnBrk="0" hangingPunct="1">
        <a:defRPr lang="it-IT" sz="1800" kern="1200">
          <a:solidFill>
            <a:schemeClr val="tx1"/>
          </a:solidFill>
          <a:latin typeface="+mn-lt"/>
          <a:ea typeface="+mn-ea"/>
          <a:cs typeface="+mn-cs"/>
        </a:defRPr>
      </a:lvl7pPr>
      <a:lvl8pPr marL="3200400" algn="l" defTabSz="914400" rtl="0" eaLnBrk="1" latinLnBrk="0" hangingPunct="1">
        <a:defRPr lang="it-IT" sz="1800" kern="1200">
          <a:solidFill>
            <a:schemeClr val="tx1"/>
          </a:solidFill>
          <a:latin typeface="+mn-lt"/>
          <a:ea typeface="+mn-ea"/>
          <a:cs typeface="+mn-cs"/>
        </a:defRPr>
      </a:lvl8pPr>
      <a:lvl9pPr marL="3657600" algn="l" defTabSz="914400" rtl="0" eaLnBrk="1" latinLnBrk="0" hangingPunct="1">
        <a:defRPr lang="it-IT"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github.com/Roberto1512/SIIA"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0.xml"/><Relationship Id="rId5"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0.xml"/><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0.xml"/><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AB1D9D6-2977-ABCD-FDF8-51AFA5064E54}"/>
              </a:ext>
            </a:extLst>
          </p:cNvPr>
          <p:cNvSpPr>
            <a:spLocks noGrp="1"/>
          </p:cNvSpPr>
          <p:nvPr>
            <p:ph type="title"/>
          </p:nvPr>
        </p:nvSpPr>
        <p:spPr>
          <a:xfrm>
            <a:off x="581846" y="280189"/>
            <a:ext cx="5930008" cy="1593507"/>
          </a:xfrm>
        </p:spPr>
        <p:txBody>
          <a:bodyPr rtlCol="0"/>
          <a:lstStyle>
            <a:defPPr>
              <a:defRPr lang="it-IT"/>
            </a:defPPr>
          </a:lstStyle>
          <a:p>
            <a:r>
              <a:rPr lang="en-US" sz="4000"/>
              <a:t>FAIR ISLE — Detect and Rephrase non-inclusive texts</a:t>
            </a:r>
            <a:endParaRPr lang="it-IT" sz="4000"/>
          </a:p>
        </p:txBody>
      </p:sp>
      <p:sp>
        <p:nvSpPr>
          <p:cNvPr id="6" name="Segnaposto contenuto 5">
            <a:extLst>
              <a:ext uri="{FF2B5EF4-FFF2-40B4-BE49-F238E27FC236}">
                <a16:creationId xmlns:a16="http://schemas.microsoft.com/office/drawing/2014/main" id="{CBB5B408-CBB2-96C6-0907-76FE811EEF64}"/>
              </a:ext>
            </a:extLst>
          </p:cNvPr>
          <p:cNvSpPr>
            <a:spLocks noGrp="1"/>
          </p:cNvSpPr>
          <p:nvPr>
            <p:ph sz="quarter" idx="13"/>
          </p:nvPr>
        </p:nvSpPr>
        <p:spPr>
          <a:xfrm>
            <a:off x="628766" y="2326550"/>
            <a:ext cx="4101208" cy="3708517"/>
          </a:xfrm>
        </p:spPr>
        <p:txBody>
          <a:bodyPr/>
          <a:lstStyle/>
          <a:p>
            <a:pPr marL="0" indent="0" algn="ctr">
              <a:buNone/>
            </a:pPr>
            <a:r>
              <a:rPr lang="en-US">
                <a:solidFill>
                  <a:schemeClr val="bg1"/>
                </a:solidFill>
              </a:rPr>
              <a:t>A modular pipeline for Italian, English, and multilingual settings</a:t>
            </a:r>
            <a:endParaRPr lang="it-IT">
              <a:solidFill>
                <a:schemeClr val="bg1"/>
              </a:solidFill>
            </a:endParaRPr>
          </a:p>
          <a:p>
            <a:endParaRPr lang="it-IT"/>
          </a:p>
        </p:txBody>
      </p:sp>
      <p:sp>
        <p:nvSpPr>
          <p:cNvPr id="12" name="CasellaDiTesto 11">
            <a:extLst>
              <a:ext uri="{FF2B5EF4-FFF2-40B4-BE49-F238E27FC236}">
                <a16:creationId xmlns:a16="http://schemas.microsoft.com/office/drawing/2014/main" id="{1301BDE8-C82F-AF9C-6C2D-9C16CBBB5FF2}"/>
              </a:ext>
            </a:extLst>
          </p:cNvPr>
          <p:cNvSpPr txBox="1"/>
          <p:nvPr/>
        </p:nvSpPr>
        <p:spPr>
          <a:xfrm>
            <a:off x="594357" y="4180808"/>
            <a:ext cx="2757077" cy="923330"/>
          </a:xfrm>
          <a:prstGeom prst="rect">
            <a:avLst/>
          </a:prstGeom>
          <a:noFill/>
        </p:spPr>
        <p:txBody>
          <a:bodyPr wrap="square" rtlCol="0">
            <a:spAutoFit/>
          </a:bodyPr>
          <a:lstStyle/>
          <a:p>
            <a:r>
              <a:rPr lang="it-IT" b="1">
                <a:solidFill>
                  <a:schemeClr val="bg2">
                    <a:lumMod val="10000"/>
                  </a:schemeClr>
                </a:solidFill>
              </a:rPr>
              <a:t>Students</a:t>
            </a:r>
            <a:r>
              <a:rPr lang="it-IT" b="1">
                <a:solidFill>
                  <a:schemeClr val="bg1"/>
                </a:solidFill>
              </a:rPr>
              <a:t>:</a:t>
            </a:r>
            <a:r>
              <a:rPr lang="it-IT">
                <a:solidFill>
                  <a:schemeClr val="bg1"/>
                </a:solidFill>
              </a:rPr>
              <a:t> </a:t>
            </a:r>
          </a:p>
          <a:p>
            <a:pPr marL="285750" indent="-285750">
              <a:buFont typeface="Arial" panose="020B0604020202020204" pitchFamily="34" charset="0"/>
              <a:buChar char="•"/>
            </a:pPr>
            <a:r>
              <a:rPr lang="it-IT">
                <a:solidFill>
                  <a:schemeClr val="bg1"/>
                </a:solidFill>
              </a:rPr>
              <a:t>Lauriola Michele</a:t>
            </a:r>
          </a:p>
          <a:p>
            <a:pPr marL="285750" indent="-285750">
              <a:buFont typeface="Arial" panose="020B0604020202020204" pitchFamily="34" charset="0"/>
              <a:buChar char="•"/>
            </a:pPr>
            <a:r>
              <a:rPr lang="it-IT">
                <a:solidFill>
                  <a:schemeClr val="bg1"/>
                </a:solidFill>
              </a:rPr>
              <a:t>Selvaggi Roberto Pio </a:t>
            </a:r>
          </a:p>
        </p:txBody>
      </p:sp>
      <p:sp>
        <p:nvSpPr>
          <p:cNvPr id="13" name="CasellaDiTesto 12">
            <a:extLst>
              <a:ext uri="{FF2B5EF4-FFF2-40B4-BE49-F238E27FC236}">
                <a16:creationId xmlns:a16="http://schemas.microsoft.com/office/drawing/2014/main" id="{CDA4DC9A-A396-DD82-390C-BA8EE5BC9990}"/>
              </a:ext>
            </a:extLst>
          </p:cNvPr>
          <p:cNvSpPr txBox="1"/>
          <p:nvPr/>
        </p:nvSpPr>
        <p:spPr>
          <a:xfrm>
            <a:off x="3338923" y="4180808"/>
            <a:ext cx="2757077" cy="923330"/>
          </a:xfrm>
          <a:prstGeom prst="rect">
            <a:avLst/>
          </a:prstGeom>
          <a:noFill/>
        </p:spPr>
        <p:txBody>
          <a:bodyPr wrap="square" rtlCol="0">
            <a:spAutoFit/>
          </a:bodyPr>
          <a:lstStyle/>
          <a:p>
            <a:r>
              <a:rPr lang="it-IT" b="1">
                <a:solidFill>
                  <a:schemeClr val="bg1"/>
                </a:solidFill>
              </a:rPr>
              <a:t>Tutors:</a:t>
            </a:r>
            <a:endParaRPr lang="it-IT">
              <a:solidFill>
                <a:schemeClr val="bg1"/>
              </a:solidFill>
            </a:endParaRPr>
          </a:p>
          <a:p>
            <a:pPr marL="285750" indent="-285750">
              <a:buFont typeface="Arial" panose="020B0604020202020204" pitchFamily="34" charset="0"/>
              <a:buChar char="•"/>
            </a:pPr>
            <a:r>
              <a:rPr lang="it-IT">
                <a:solidFill>
                  <a:schemeClr val="bg1"/>
                </a:solidFill>
              </a:rPr>
              <a:t>Basile Pierpaolo</a:t>
            </a:r>
          </a:p>
          <a:p>
            <a:pPr marL="285750" indent="-285750">
              <a:buFont typeface="Arial" panose="020B0604020202020204" pitchFamily="34" charset="0"/>
              <a:buChar char="•"/>
            </a:pPr>
            <a:r>
              <a:rPr lang="it-IT">
                <a:solidFill>
                  <a:schemeClr val="bg1"/>
                </a:solidFill>
              </a:rPr>
              <a:t>Siciliani Lucia</a:t>
            </a:r>
          </a:p>
        </p:txBody>
      </p:sp>
      <p:pic>
        <p:nvPicPr>
          <p:cNvPr id="15" name="Immagine 14" descr="Immagine che contiene schermata, Elementi grafici, cerchio, logo&#10;&#10;Il contenuto generato dall'IA potrebbe non essere corretto.">
            <a:extLst>
              <a:ext uri="{FF2B5EF4-FFF2-40B4-BE49-F238E27FC236}">
                <a16:creationId xmlns:a16="http://schemas.microsoft.com/office/drawing/2014/main" id="{50E74971-932E-87B8-36E2-1467561399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2179" y="3508155"/>
            <a:ext cx="3402952" cy="2268635"/>
          </a:xfrm>
          <a:prstGeom prst="rect">
            <a:avLst/>
          </a:prstGeom>
        </p:spPr>
      </p:pic>
      <p:sp>
        <p:nvSpPr>
          <p:cNvPr id="4" name="CasellaDiTesto 3">
            <a:extLst>
              <a:ext uri="{FF2B5EF4-FFF2-40B4-BE49-F238E27FC236}">
                <a16:creationId xmlns:a16="http://schemas.microsoft.com/office/drawing/2014/main" id="{175DF2D7-FDCE-F66D-E9DA-4780B79E62F0}"/>
              </a:ext>
            </a:extLst>
          </p:cNvPr>
          <p:cNvSpPr txBox="1"/>
          <p:nvPr/>
        </p:nvSpPr>
        <p:spPr>
          <a:xfrm>
            <a:off x="7451558" y="6306332"/>
            <a:ext cx="6096000" cy="369332"/>
          </a:xfrm>
          <a:prstGeom prst="rect">
            <a:avLst/>
          </a:prstGeom>
          <a:noFill/>
        </p:spPr>
        <p:txBody>
          <a:bodyPr wrap="square">
            <a:spAutoFit/>
          </a:bodyPr>
          <a:lstStyle/>
          <a:p>
            <a:r>
              <a:rPr lang="en-US">
                <a:solidFill>
                  <a:schemeClr val="bg1">
                    <a:lumMod val="95000"/>
                    <a:lumOff val="5000"/>
                  </a:schemeClr>
                </a:solidFill>
              </a:rPr>
              <a:t>GitHub: </a:t>
            </a:r>
            <a:r>
              <a:rPr lang="en-US">
                <a:solidFill>
                  <a:schemeClr val="bg1">
                    <a:lumMod val="95000"/>
                    <a:lumOff val="5000"/>
                  </a:schemeClr>
                </a:solidFill>
                <a:hlinkClick r:id="rId4">
                  <a:extLst>
                    <a:ext uri="{A12FA001-AC4F-418D-AE19-62706E023703}">
                      <ahyp:hlinkClr xmlns:ahyp="http://schemas.microsoft.com/office/drawing/2018/hyperlinkcolor" val="tx"/>
                    </a:ext>
                  </a:extLst>
                </a:hlinkClick>
              </a:rPr>
              <a:t>https://github.com/Roberto1512/SIIA</a:t>
            </a:r>
            <a:endParaRPr lang="it-IT">
              <a:solidFill>
                <a:schemeClr val="bg1">
                  <a:lumMod val="95000"/>
                  <a:lumOff val="5000"/>
                </a:schemeClr>
              </a:solidFill>
            </a:endParaRPr>
          </a:p>
        </p:txBody>
      </p:sp>
      <p:sp>
        <p:nvSpPr>
          <p:cNvPr id="3" name="CasellaDiTesto 2">
            <a:extLst>
              <a:ext uri="{FF2B5EF4-FFF2-40B4-BE49-F238E27FC236}">
                <a16:creationId xmlns:a16="http://schemas.microsoft.com/office/drawing/2014/main" id="{8C32278E-27FB-4B05-BB89-7BD828281826}"/>
              </a:ext>
            </a:extLst>
          </p:cNvPr>
          <p:cNvSpPr txBox="1"/>
          <p:nvPr/>
        </p:nvSpPr>
        <p:spPr>
          <a:xfrm>
            <a:off x="581846" y="5111737"/>
            <a:ext cx="2757077" cy="923330"/>
          </a:xfrm>
          <a:prstGeom prst="rect">
            <a:avLst/>
          </a:prstGeom>
          <a:noFill/>
        </p:spPr>
        <p:txBody>
          <a:bodyPr wrap="square" rtlCol="0">
            <a:spAutoFit/>
          </a:bodyPr>
          <a:lstStyle/>
          <a:p>
            <a:r>
              <a:rPr lang="it-IT" b="1">
                <a:solidFill>
                  <a:schemeClr val="bg1"/>
                </a:solidFill>
              </a:rPr>
              <a:t>Professors:</a:t>
            </a:r>
            <a:endParaRPr lang="it-IT">
              <a:solidFill>
                <a:schemeClr val="bg1"/>
              </a:solidFill>
            </a:endParaRPr>
          </a:p>
          <a:p>
            <a:pPr marL="285750" indent="-285750">
              <a:buFont typeface="Arial" panose="020B0604020202020204" pitchFamily="34" charset="0"/>
              <a:buChar char="•"/>
            </a:pPr>
            <a:r>
              <a:rPr lang="it-IT">
                <a:solidFill>
                  <a:schemeClr val="bg1"/>
                </a:solidFill>
              </a:rPr>
              <a:t>Semeraro Giovanni</a:t>
            </a:r>
          </a:p>
          <a:p>
            <a:pPr marL="285750" indent="-285750">
              <a:buFont typeface="Arial" panose="020B0604020202020204" pitchFamily="34" charset="0"/>
              <a:buChar char="•"/>
            </a:pPr>
            <a:r>
              <a:rPr lang="it-IT">
                <a:solidFill>
                  <a:schemeClr val="bg1"/>
                </a:solidFill>
              </a:rPr>
              <a:t>Musto Cataldo</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545D3755-C3E2-975E-DE68-CDECC4B526EC}"/>
              </a:ext>
            </a:extLst>
          </p:cNvPr>
          <p:cNvSpPr>
            <a:spLocks noGrp="1"/>
          </p:cNvSpPr>
          <p:nvPr>
            <p:ph type="title"/>
          </p:nvPr>
        </p:nvSpPr>
        <p:spPr>
          <a:xfrm>
            <a:off x="659130" y="540024"/>
            <a:ext cx="10873740" cy="1491282"/>
          </a:xfrm>
        </p:spPr>
        <p:txBody>
          <a:bodyPr rtlCol="0"/>
          <a:lstStyle>
            <a:defPPr>
              <a:defRPr lang="it-IT"/>
            </a:defPPr>
          </a:lstStyle>
          <a:p>
            <a:r>
              <a:rPr lang="it-IT" sz="6000" err="1">
                <a:latin typeface="Aptos" panose="020B0004020202020204" pitchFamily="34" charset="0"/>
              </a:rPr>
              <a:t>Why</a:t>
            </a:r>
            <a:r>
              <a:rPr lang="it-IT" sz="6000">
                <a:latin typeface="Aptos" panose="020B0004020202020204" pitchFamily="34" charset="0"/>
              </a:rPr>
              <a:t> inclusive </a:t>
            </a:r>
            <a:r>
              <a:rPr lang="it-IT" sz="6000" err="1">
                <a:latin typeface="Aptos" panose="020B0004020202020204" pitchFamily="34" charset="0"/>
              </a:rPr>
              <a:t>language</a:t>
            </a:r>
            <a:r>
              <a:rPr lang="it-IT" sz="6000">
                <a:latin typeface="Aptos" panose="020B0004020202020204" pitchFamily="34" charset="0"/>
              </a:rPr>
              <a:t> </a:t>
            </a:r>
            <a:r>
              <a:rPr lang="it-IT" sz="6000" err="1">
                <a:latin typeface="Aptos" panose="020B0004020202020204" pitchFamily="34" charset="0"/>
              </a:rPr>
              <a:t>matters</a:t>
            </a:r>
            <a:endParaRPr lang="it-IT" sz="6000">
              <a:latin typeface="Aptos" panose="020B0004020202020204" pitchFamily="34" charset="0"/>
            </a:endParaRPr>
          </a:p>
        </p:txBody>
      </p:sp>
      <p:sp>
        <p:nvSpPr>
          <p:cNvPr id="6" name="CasellaDiTesto 5">
            <a:extLst>
              <a:ext uri="{FF2B5EF4-FFF2-40B4-BE49-F238E27FC236}">
                <a16:creationId xmlns:a16="http://schemas.microsoft.com/office/drawing/2014/main" id="{02AD9580-2BD9-7900-FC9F-D2E971FB530E}"/>
              </a:ext>
            </a:extLst>
          </p:cNvPr>
          <p:cNvSpPr txBox="1"/>
          <p:nvPr/>
        </p:nvSpPr>
        <p:spPr>
          <a:xfrm>
            <a:off x="4120786" y="2819400"/>
            <a:ext cx="7412084" cy="2677656"/>
          </a:xfrm>
          <a:prstGeom prst="rect">
            <a:avLst/>
          </a:prstGeom>
          <a:noFill/>
        </p:spPr>
        <p:txBody>
          <a:bodyPr wrap="square" lIns="91440" tIns="45720" rIns="91440" bIns="45720" rtlCol="0" anchor="t">
            <a:spAutoFit/>
          </a:bodyPr>
          <a:lstStyle/>
          <a:p>
            <a:pPr algn="ctr"/>
            <a:r>
              <a:rPr lang="en-US" sz="2400">
                <a:solidFill>
                  <a:schemeClr val="bg1">
                    <a:lumMod val="95000"/>
                    <a:lumOff val="5000"/>
                  </a:schemeClr>
                </a:solidFill>
                <a:latin typeface="Aptos"/>
              </a:rPr>
              <a:t>Language shapes perceptions and social norms. Recurrent patterns —stereotypes, generic masculine forms — can reinforce exclusion over time. </a:t>
            </a:r>
          </a:p>
          <a:p>
            <a:pPr algn="ctr"/>
            <a:endParaRPr lang="en-US" sz="2400">
              <a:solidFill>
                <a:schemeClr val="bg1">
                  <a:lumMod val="95000"/>
                  <a:lumOff val="5000"/>
                </a:schemeClr>
              </a:solidFill>
              <a:latin typeface="Aptos" panose="020B0004020202020204" pitchFamily="34" charset="0"/>
            </a:endParaRPr>
          </a:p>
          <a:p>
            <a:pPr algn="ctr"/>
            <a:r>
              <a:rPr lang="en-US" sz="2400">
                <a:solidFill>
                  <a:schemeClr val="bg1">
                    <a:lumMod val="95000"/>
                    <a:lumOff val="5000"/>
                  </a:schemeClr>
                </a:solidFill>
                <a:latin typeface="Aptos"/>
              </a:rPr>
              <a:t>FAIR ISLE translates inclusive communication principles into an automated workflow that helps apply them consistently.</a:t>
            </a:r>
          </a:p>
        </p:txBody>
      </p:sp>
    </p:spTree>
    <p:extLst>
      <p:ext uri="{BB962C8B-B14F-4D97-AF65-F5344CB8AC3E}">
        <p14:creationId xmlns:p14="http://schemas.microsoft.com/office/powerpoint/2010/main" val="3200312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C269A20-053C-03F9-DBC7-2BF2E08C0988}"/>
              </a:ext>
            </a:extLst>
          </p:cNvPr>
          <p:cNvSpPr>
            <a:spLocks noGrp="1"/>
          </p:cNvSpPr>
          <p:nvPr>
            <p:ph type="title"/>
          </p:nvPr>
        </p:nvSpPr>
        <p:spPr/>
        <p:txBody>
          <a:bodyPr/>
          <a:lstStyle/>
          <a:p>
            <a:r>
              <a:rPr lang="it-IT" sz="6000" err="1">
                <a:latin typeface="Aptos" panose="020B0004020202020204" pitchFamily="34" charset="0"/>
              </a:rPr>
              <a:t>What</a:t>
            </a:r>
            <a:r>
              <a:rPr lang="it-IT" sz="6000">
                <a:latin typeface="Aptos" panose="020B0004020202020204" pitchFamily="34" charset="0"/>
              </a:rPr>
              <a:t> FAIR ISLE </a:t>
            </a:r>
            <a:r>
              <a:rPr lang="it-IT" sz="6000" err="1">
                <a:latin typeface="Aptos" panose="020B0004020202020204" pitchFamily="34" charset="0"/>
              </a:rPr>
              <a:t>is</a:t>
            </a:r>
            <a:endParaRPr lang="it-IT" sz="6000">
              <a:latin typeface="Aptos" panose="020B0004020202020204" pitchFamily="34" charset="0"/>
            </a:endParaRPr>
          </a:p>
        </p:txBody>
      </p:sp>
      <p:sp>
        <p:nvSpPr>
          <p:cNvPr id="3" name="Segnaposto contenuto 2">
            <a:extLst>
              <a:ext uri="{FF2B5EF4-FFF2-40B4-BE49-F238E27FC236}">
                <a16:creationId xmlns:a16="http://schemas.microsoft.com/office/drawing/2014/main" id="{190E47C4-8DF8-C923-F11A-7A804FE3F2C0}"/>
              </a:ext>
            </a:extLst>
          </p:cNvPr>
          <p:cNvSpPr>
            <a:spLocks noGrp="1"/>
          </p:cNvSpPr>
          <p:nvPr>
            <p:ph sz="quarter" idx="13"/>
          </p:nvPr>
        </p:nvSpPr>
        <p:spPr/>
        <p:txBody>
          <a:bodyPr>
            <a:normAutofit/>
          </a:bodyPr>
          <a:lstStyle/>
          <a:p>
            <a:pPr marL="0" indent="0">
              <a:buNone/>
            </a:pPr>
            <a:r>
              <a:rPr lang="en-US" sz="2400">
                <a:latin typeface="Aptos" panose="020B0004020202020204" pitchFamily="34" charset="0"/>
              </a:rPr>
              <a:t>FAIR ISLE is an AI-powered web application that detects non-inclusive language and proposes inclusive rewrites. </a:t>
            </a:r>
          </a:p>
          <a:p>
            <a:pPr marL="0" indent="0">
              <a:buNone/>
            </a:pPr>
            <a:r>
              <a:rPr lang="en-US" sz="2400">
                <a:latin typeface="Aptos" panose="020B0004020202020204" pitchFamily="34" charset="0"/>
              </a:rPr>
              <a:t>It goes beyond grammar: it targets social bias patterns and generates alternatives that preserve meaning and intent.</a:t>
            </a:r>
          </a:p>
          <a:p>
            <a:r>
              <a:rPr lang="en-US" sz="2400">
                <a:latin typeface="Aptos" panose="020B0004020202020204" pitchFamily="34" charset="0"/>
              </a:rPr>
              <a:t>Focus areas</a:t>
            </a:r>
          </a:p>
          <a:p>
            <a:r>
              <a:rPr lang="en-US" sz="2400">
                <a:latin typeface="Aptos" panose="020B0004020202020204" pitchFamily="34" charset="0"/>
              </a:rPr>
              <a:t>Gender bias, ageism, ableism, ethnicity-related bias</a:t>
            </a:r>
          </a:p>
          <a:p>
            <a:r>
              <a:rPr lang="en-US" sz="2400">
                <a:latin typeface="Aptos" panose="020B0004020202020204" pitchFamily="34" charset="0"/>
              </a:rPr>
              <a:t>Sentence-level analysis and rewriting</a:t>
            </a:r>
          </a:p>
          <a:p>
            <a:endParaRPr lang="it-IT" sz="2400">
              <a:latin typeface="Aptos" panose="020B0004020202020204" pitchFamily="34" charset="0"/>
            </a:endParaRPr>
          </a:p>
        </p:txBody>
      </p:sp>
    </p:spTree>
    <p:extLst>
      <p:ext uri="{BB962C8B-B14F-4D97-AF65-F5344CB8AC3E}">
        <p14:creationId xmlns:p14="http://schemas.microsoft.com/office/powerpoint/2010/main" val="2596582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D2741-39A8-CD71-AFCC-4BDC5CF123E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4094938-4109-5BE0-2F23-5B4BEEDFCBD8}"/>
              </a:ext>
            </a:extLst>
          </p:cNvPr>
          <p:cNvSpPr>
            <a:spLocks noGrp="1"/>
          </p:cNvSpPr>
          <p:nvPr>
            <p:ph type="title"/>
          </p:nvPr>
        </p:nvSpPr>
        <p:spPr/>
        <p:txBody>
          <a:bodyPr/>
          <a:lstStyle/>
          <a:p>
            <a:r>
              <a:rPr lang="it-IT" sz="6000" err="1">
                <a:latin typeface="Aptos"/>
                <a:ea typeface="+mj-lt"/>
                <a:cs typeface="+mj-lt"/>
              </a:rPr>
              <a:t>Implemented</a:t>
            </a:r>
            <a:r>
              <a:rPr lang="it-IT" sz="6000">
                <a:latin typeface="Aptos"/>
                <a:ea typeface="+mj-lt"/>
                <a:cs typeface="+mj-lt"/>
              </a:rPr>
              <a:t> </a:t>
            </a:r>
            <a:r>
              <a:rPr lang="it-IT" sz="6000" err="1">
                <a:latin typeface="Aptos"/>
                <a:ea typeface="+mj-lt"/>
                <a:cs typeface="+mj-lt"/>
              </a:rPr>
              <a:t>linguistic</a:t>
            </a:r>
            <a:r>
              <a:rPr lang="it-IT" sz="6000">
                <a:latin typeface="Aptos"/>
                <a:ea typeface="+mj-lt"/>
                <a:cs typeface="+mj-lt"/>
              </a:rPr>
              <a:t> </a:t>
            </a:r>
            <a:r>
              <a:rPr lang="it-IT" sz="6000" err="1">
                <a:latin typeface="Aptos"/>
                <a:ea typeface="+mj-lt"/>
                <a:cs typeface="+mj-lt"/>
              </a:rPr>
              <a:t>rewriting</a:t>
            </a:r>
            <a:r>
              <a:rPr lang="it-IT" sz="6000">
                <a:latin typeface="Aptos"/>
                <a:ea typeface="+mj-lt"/>
                <a:cs typeface="+mj-lt"/>
              </a:rPr>
              <a:t> strategies</a:t>
            </a:r>
            <a:endParaRPr lang="it-IT" sz="6000">
              <a:latin typeface="Aptos"/>
            </a:endParaRPr>
          </a:p>
        </p:txBody>
      </p:sp>
      <p:sp>
        <p:nvSpPr>
          <p:cNvPr id="3" name="Segnaposto contenuto 2">
            <a:extLst>
              <a:ext uri="{FF2B5EF4-FFF2-40B4-BE49-F238E27FC236}">
                <a16:creationId xmlns:a16="http://schemas.microsoft.com/office/drawing/2014/main" id="{6041A22A-63EC-ECD2-3D28-7DB53721E02E}"/>
              </a:ext>
            </a:extLst>
          </p:cNvPr>
          <p:cNvSpPr>
            <a:spLocks noGrp="1"/>
          </p:cNvSpPr>
          <p:nvPr>
            <p:ph sz="quarter" idx="13"/>
          </p:nvPr>
        </p:nvSpPr>
        <p:spPr/>
        <p:txBody>
          <a:bodyPr vert="horz" lIns="0" tIns="228600" rIns="0" bIns="0" rtlCol="0" anchor="t">
            <a:normAutofit lnSpcReduction="10000"/>
          </a:bodyPr>
          <a:lstStyle/>
          <a:p>
            <a:pPr marL="0" indent="0">
              <a:buNone/>
            </a:pPr>
            <a:r>
              <a:rPr lang="en-US" sz="2400">
                <a:latin typeface="Aptos"/>
                <a:ea typeface="+mn-lt"/>
                <a:cs typeface="+mn-lt"/>
              </a:rPr>
              <a:t>FAIR ISLE rewrites are not simple grammatical fixes. They apply strategies to reduce bias while keeping the text readable:</a:t>
            </a:r>
            <a:endParaRPr lang="it-IT" sz="2400">
              <a:latin typeface="Aptos"/>
            </a:endParaRPr>
          </a:p>
          <a:p>
            <a:pPr marL="283210" indent="-283210"/>
            <a:r>
              <a:rPr lang="en-US" sz="2400" b="1">
                <a:latin typeface="Aptos"/>
                <a:ea typeface="+mn-lt"/>
                <a:cs typeface="+mn-lt"/>
              </a:rPr>
              <a:t>Double inflection:</a:t>
            </a:r>
            <a:r>
              <a:rPr lang="en-US" sz="2400">
                <a:latin typeface="Aptos"/>
                <a:ea typeface="+mn-lt"/>
                <a:cs typeface="+mn-lt"/>
              </a:rPr>
              <a:t> explicitly mention both genders when appropriate (e.g., “tutte e tutti”).</a:t>
            </a:r>
          </a:p>
          <a:p>
            <a:pPr marL="283210" indent="-283210"/>
            <a:r>
              <a:rPr lang="en-US" sz="2400" b="1">
                <a:latin typeface="Aptos"/>
                <a:ea typeface="+mn-lt"/>
                <a:cs typeface="+mn-lt"/>
              </a:rPr>
              <a:t>Paraphrasing:</a:t>
            </a:r>
            <a:r>
              <a:rPr lang="en-US" sz="2400">
                <a:latin typeface="Aptos"/>
                <a:ea typeface="+mn-lt"/>
                <a:cs typeface="+mn-lt"/>
              </a:rPr>
              <a:t> replace overextended masculine with neutral formulations (e.g., “staff”, “people who…”).</a:t>
            </a:r>
            <a:endParaRPr lang="en-US" sz="2400">
              <a:latin typeface="Aptos"/>
            </a:endParaRPr>
          </a:p>
          <a:p>
            <a:pPr marL="283210" indent="-283210"/>
            <a:r>
              <a:rPr lang="en-US" sz="2400" b="1">
                <a:latin typeface="Aptos"/>
                <a:ea typeface="+mn-lt"/>
                <a:cs typeface="+mn-lt"/>
              </a:rPr>
              <a:t>Impersonal / passive forms:</a:t>
            </a:r>
            <a:r>
              <a:rPr lang="en-US" sz="2400">
                <a:latin typeface="Aptos"/>
                <a:ea typeface="+mn-lt"/>
                <a:cs typeface="+mn-lt"/>
              </a:rPr>
              <a:t> shift focus to actions or objects to remove gendered references.</a:t>
            </a:r>
            <a:endParaRPr lang="en-US">
              <a:latin typeface="Aptos"/>
            </a:endParaRPr>
          </a:p>
          <a:p>
            <a:pPr marL="283210" indent="-283210"/>
            <a:endParaRPr lang="en-US" sz="2400">
              <a:latin typeface="Aptos" panose="020B0004020202020204" pitchFamily="34" charset="0"/>
            </a:endParaRPr>
          </a:p>
          <a:p>
            <a:pPr marL="283210" indent="-283210"/>
            <a:endParaRPr lang="it-IT" sz="2400">
              <a:latin typeface="Aptos" panose="020B0004020202020204" pitchFamily="34" charset="0"/>
            </a:endParaRPr>
          </a:p>
        </p:txBody>
      </p:sp>
    </p:spTree>
    <p:extLst>
      <p:ext uri="{BB962C8B-B14F-4D97-AF65-F5344CB8AC3E}">
        <p14:creationId xmlns:p14="http://schemas.microsoft.com/office/powerpoint/2010/main" val="3258380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C0C6C-43B3-9159-5EFA-FF2BF20152F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D5E3FED-32E4-4BEC-3C64-C4BD96EB8980}"/>
              </a:ext>
            </a:extLst>
          </p:cNvPr>
          <p:cNvSpPr>
            <a:spLocks noGrp="1"/>
          </p:cNvSpPr>
          <p:nvPr>
            <p:ph type="title"/>
          </p:nvPr>
        </p:nvSpPr>
        <p:spPr>
          <a:xfrm>
            <a:off x="368968" y="385011"/>
            <a:ext cx="6328954" cy="1785365"/>
          </a:xfrm>
        </p:spPr>
        <p:txBody>
          <a:bodyPr rtlCol="0"/>
          <a:lstStyle>
            <a:defPPr>
              <a:defRPr lang="it-IT"/>
            </a:defPPr>
          </a:lstStyle>
          <a:p>
            <a:r>
              <a:rPr lang="it-IT" sz="6000">
                <a:latin typeface="Aptos" panose="020B0004020202020204" pitchFamily="34" charset="0"/>
              </a:rPr>
              <a:t>Reference frameworks</a:t>
            </a:r>
          </a:p>
        </p:txBody>
      </p:sp>
      <p:sp>
        <p:nvSpPr>
          <p:cNvPr id="3" name="Segnaposto contenuto 2">
            <a:extLst>
              <a:ext uri="{FF2B5EF4-FFF2-40B4-BE49-F238E27FC236}">
                <a16:creationId xmlns:a16="http://schemas.microsoft.com/office/drawing/2014/main" id="{F61C09DE-11BA-E765-1EC0-DB78EC074186}"/>
              </a:ext>
            </a:extLst>
          </p:cNvPr>
          <p:cNvSpPr>
            <a:spLocks noGrp="1"/>
          </p:cNvSpPr>
          <p:nvPr>
            <p:ph sz="quarter" idx="14"/>
          </p:nvPr>
        </p:nvSpPr>
        <p:spPr>
          <a:xfrm>
            <a:off x="368968" y="2491218"/>
            <a:ext cx="6328954" cy="3663609"/>
          </a:xfrm>
        </p:spPr>
        <p:txBody>
          <a:bodyPr rtlCol="0">
            <a:normAutofit lnSpcReduction="10000"/>
          </a:bodyPr>
          <a:lstStyle>
            <a:defPPr>
              <a:defRPr lang="it-IT"/>
            </a:defPPr>
          </a:lstStyle>
          <a:p>
            <a:pPr marL="0" indent="0">
              <a:buNone/>
            </a:pPr>
            <a:r>
              <a:rPr lang="it-IT" sz="2400">
                <a:latin typeface="Aptos" panose="020B0004020202020204" pitchFamily="34" charset="0"/>
              </a:rPr>
              <a:t>FAIR ISLE </a:t>
            </a:r>
            <a:r>
              <a:rPr lang="it-IT" sz="2400" err="1">
                <a:latin typeface="Aptos" panose="020B0004020202020204" pitchFamily="34" charset="0"/>
              </a:rPr>
              <a:t>aligns</a:t>
            </a:r>
            <a:r>
              <a:rPr lang="it-IT" sz="2400">
                <a:latin typeface="Aptos" panose="020B0004020202020204" pitchFamily="34" charset="0"/>
              </a:rPr>
              <a:t> with </a:t>
            </a:r>
            <a:r>
              <a:rPr lang="it-IT" sz="2400" err="1">
                <a:latin typeface="Aptos" panose="020B0004020202020204" pitchFamily="34" charset="0"/>
              </a:rPr>
              <a:t>established</a:t>
            </a:r>
            <a:r>
              <a:rPr lang="it-IT" sz="2400">
                <a:latin typeface="Aptos" panose="020B0004020202020204" pitchFamily="34" charset="0"/>
              </a:rPr>
              <a:t> </a:t>
            </a:r>
            <a:r>
              <a:rPr lang="it-IT" sz="2400" err="1">
                <a:latin typeface="Aptos" panose="020B0004020202020204" pitchFamily="34" charset="0"/>
              </a:rPr>
              <a:t>guidelines</a:t>
            </a:r>
            <a:r>
              <a:rPr lang="it-IT" sz="2400">
                <a:latin typeface="Aptos" panose="020B0004020202020204" pitchFamily="34" charset="0"/>
              </a:rPr>
              <a:t> and standards.</a:t>
            </a:r>
          </a:p>
          <a:p>
            <a:pPr marL="342900" indent="-342900">
              <a:buFont typeface="Arial" panose="020B0604020202020204" pitchFamily="34" charset="0"/>
              <a:buChar char="•"/>
            </a:pPr>
            <a:r>
              <a:rPr lang="it-IT" sz="2400">
                <a:latin typeface="Aptos" panose="020B0004020202020204" pitchFamily="34" charset="0"/>
              </a:rPr>
              <a:t>International: UN Women; </a:t>
            </a:r>
            <a:r>
              <a:rPr lang="it-IT" sz="2400" err="1">
                <a:latin typeface="Aptos" panose="020B0004020202020204" pitchFamily="34" charset="0"/>
              </a:rPr>
              <a:t>European</a:t>
            </a:r>
            <a:r>
              <a:rPr lang="it-IT" sz="2400">
                <a:latin typeface="Aptos" panose="020B0004020202020204" pitchFamily="34" charset="0"/>
              </a:rPr>
              <a:t> Union inclusive </a:t>
            </a:r>
            <a:r>
              <a:rPr lang="it-IT" sz="2400" err="1">
                <a:latin typeface="Aptos" panose="020B0004020202020204" pitchFamily="34" charset="0"/>
              </a:rPr>
              <a:t>communication</a:t>
            </a:r>
            <a:r>
              <a:rPr lang="it-IT" sz="2400">
                <a:latin typeface="Aptos" panose="020B0004020202020204" pitchFamily="34" charset="0"/>
              </a:rPr>
              <a:t> </a:t>
            </a:r>
            <a:r>
              <a:rPr lang="it-IT" sz="2400" err="1">
                <a:latin typeface="Aptos" panose="020B0004020202020204" pitchFamily="34" charset="0"/>
              </a:rPr>
              <a:t>guidance</a:t>
            </a:r>
            <a:endParaRPr lang="it-IT" sz="2400">
              <a:latin typeface="Aptos" panose="020B0004020202020204" pitchFamily="34" charset="0"/>
            </a:endParaRPr>
          </a:p>
          <a:p>
            <a:pPr marL="342900" indent="-342900">
              <a:buFont typeface="Arial" panose="020B0604020202020204" pitchFamily="34" charset="0"/>
              <a:buChar char="•"/>
            </a:pPr>
            <a:r>
              <a:rPr lang="it-IT" sz="2400">
                <a:latin typeface="Aptos" panose="020B0004020202020204" pitchFamily="34" charset="0"/>
              </a:rPr>
              <a:t>APA: </a:t>
            </a:r>
            <a:r>
              <a:rPr lang="it-IT" sz="2400" err="1">
                <a:latin typeface="Aptos" panose="020B0004020202020204" pitchFamily="34" charset="0"/>
              </a:rPr>
              <a:t>Bias</a:t>
            </a:r>
            <a:r>
              <a:rPr lang="it-IT" sz="2400">
                <a:latin typeface="Aptos" panose="020B0004020202020204" pitchFamily="34" charset="0"/>
              </a:rPr>
              <a:t>-Free Language </a:t>
            </a:r>
            <a:r>
              <a:rPr lang="it-IT" sz="2400" err="1">
                <a:latin typeface="Aptos" panose="020B0004020202020204" pitchFamily="34" charset="0"/>
              </a:rPr>
              <a:t>Guidelines</a:t>
            </a:r>
            <a:r>
              <a:rPr lang="it-IT" sz="2400">
                <a:latin typeface="Aptos" panose="020B0004020202020204" pitchFamily="34" charset="0"/>
              </a:rPr>
              <a:t> (</a:t>
            </a:r>
            <a:r>
              <a:rPr lang="it-IT" sz="2400" err="1">
                <a:latin typeface="Aptos" panose="020B0004020202020204" pitchFamily="34" charset="0"/>
              </a:rPr>
              <a:t>specificity</a:t>
            </a:r>
            <a:r>
              <a:rPr lang="it-IT" sz="2400">
                <a:latin typeface="Aptos" panose="020B0004020202020204" pitchFamily="34" charset="0"/>
              </a:rPr>
              <a:t>, </a:t>
            </a:r>
            <a:r>
              <a:rPr lang="it-IT" sz="2400" err="1">
                <a:latin typeface="Aptos" panose="020B0004020202020204" pitchFamily="34" charset="0"/>
              </a:rPr>
              <a:t>neutrality</a:t>
            </a:r>
            <a:r>
              <a:rPr lang="it-IT" sz="2400">
                <a:latin typeface="Aptos" panose="020B0004020202020204" pitchFamily="34" charset="0"/>
              </a:rPr>
              <a:t>, </a:t>
            </a:r>
            <a:r>
              <a:rPr lang="it-IT" sz="2400" err="1">
                <a:latin typeface="Aptos" panose="020B0004020202020204" pitchFamily="34" charset="0"/>
              </a:rPr>
              <a:t>avoid</a:t>
            </a:r>
            <a:r>
              <a:rPr lang="it-IT" sz="2400">
                <a:latin typeface="Aptos" panose="020B0004020202020204" pitchFamily="34" charset="0"/>
              </a:rPr>
              <a:t> </a:t>
            </a:r>
            <a:r>
              <a:rPr lang="it-IT" sz="2400" err="1">
                <a:latin typeface="Aptos" panose="020B0004020202020204" pitchFamily="34" charset="0"/>
              </a:rPr>
              <a:t>unnecessary</a:t>
            </a:r>
            <a:r>
              <a:rPr lang="it-IT" sz="2400">
                <a:latin typeface="Aptos" panose="020B0004020202020204" pitchFamily="34" charset="0"/>
              </a:rPr>
              <a:t> </a:t>
            </a:r>
            <a:r>
              <a:rPr lang="it-IT" sz="2400" err="1">
                <a:latin typeface="Aptos" panose="020B0004020202020204" pitchFamily="34" charset="0"/>
              </a:rPr>
              <a:t>binaries</a:t>
            </a:r>
            <a:r>
              <a:rPr lang="it-IT" sz="2400">
                <a:latin typeface="Aptos" panose="020B0004020202020204" pitchFamily="34" charset="0"/>
              </a:rPr>
              <a:t>)</a:t>
            </a:r>
          </a:p>
          <a:p>
            <a:pPr marL="342900" indent="-342900">
              <a:buFont typeface="Arial" panose="020B0604020202020204" pitchFamily="34" charset="0"/>
              <a:buChar char="•"/>
            </a:pPr>
            <a:r>
              <a:rPr lang="it-IT" sz="2400" err="1">
                <a:latin typeface="Aptos" panose="020B0004020202020204" pitchFamily="34" charset="0"/>
              </a:rPr>
              <a:t>Italy</a:t>
            </a:r>
            <a:r>
              <a:rPr lang="it-IT" sz="2400">
                <a:latin typeface="Aptos" panose="020B0004020202020204" pitchFamily="34" charset="0"/>
              </a:rPr>
              <a:t>: MIUR (2018) </a:t>
            </a:r>
            <a:r>
              <a:rPr lang="it-IT" sz="2400" err="1">
                <a:latin typeface="Aptos" panose="020B0004020202020204" pitchFamily="34" charset="0"/>
              </a:rPr>
              <a:t>guidelines</a:t>
            </a:r>
            <a:r>
              <a:rPr lang="it-IT" sz="2400">
                <a:latin typeface="Aptos" panose="020B0004020202020204" pitchFamily="34" charset="0"/>
              </a:rPr>
              <a:t>; UNI standards for inclusive </a:t>
            </a:r>
            <a:r>
              <a:rPr lang="it-IT" sz="2400" err="1">
                <a:latin typeface="Aptos" panose="020B0004020202020204" pitchFamily="34" charset="0"/>
              </a:rPr>
              <a:t>language</a:t>
            </a:r>
            <a:endParaRPr lang="it-IT" sz="2400">
              <a:latin typeface="Aptos" panose="020B0004020202020204" pitchFamily="34" charset="0"/>
            </a:endParaRPr>
          </a:p>
        </p:txBody>
      </p:sp>
    </p:spTree>
    <p:extLst>
      <p:ext uri="{BB962C8B-B14F-4D97-AF65-F5344CB8AC3E}">
        <p14:creationId xmlns:p14="http://schemas.microsoft.com/office/powerpoint/2010/main" val="3272039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4DD6D-FEEA-4FAD-ABF8-1F70AFDF107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0FCDA50-C8B2-7D23-8A31-D74587C53273}"/>
              </a:ext>
            </a:extLst>
          </p:cNvPr>
          <p:cNvSpPr>
            <a:spLocks noGrp="1"/>
          </p:cNvSpPr>
          <p:nvPr>
            <p:ph type="title"/>
          </p:nvPr>
        </p:nvSpPr>
        <p:spPr>
          <a:xfrm>
            <a:off x="272716" y="556676"/>
            <a:ext cx="6657473" cy="1681093"/>
          </a:xfrm>
        </p:spPr>
        <p:txBody>
          <a:bodyPr rtlCol="0"/>
          <a:lstStyle>
            <a:defPPr>
              <a:defRPr lang="it-IT"/>
            </a:defPPr>
          </a:lstStyle>
          <a:p>
            <a:r>
              <a:rPr lang="en-US" sz="6000">
                <a:latin typeface="Aptos" panose="020B0004020202020204" pitchFamily="34" charset="0"/>
              </a:rPr>
              <a:t>Project goals and success criteria</a:t>
            </a:r>
            <a:endParaRPr lang="it-IT" sz="6000">
              <a:latin typeface="Aptos" panose="020B0004020202020204" pitchFamily="34" charset="0"/>
            </a:endParaRPr>
          </a:p>
        </p:txBody>
      </p:sp>
      <p:sp>
        <p:nvSpPr>
          <p:cNvPr id="3" name="Segnaposto contenuto 2">
            <a:extLst>
              <a:ext uri="{FF2B5EF4-FFF2-40B4-BE49-F238E27FC236}">
                <a16:creationId xmlns:a16="http://schemas.microsoft.com/office/drawing/2014/main" id="{8BA73004-9D12-51F6-C943-B628024967B7}"/>
              </a:ext>
            </a:extLst>
          </p:cNvPr>
          <p:cNvSpPr>
            <a:spLocks noGrp="1"/>
          </p:cNvSpPr>
          <p:nvPr>
            <p:ph sz="quarter" idx="14"/>
          </p:nvPr>
        </p:nvSpPr>
        <p:spPr>
          <a:xfrm>
            <a:off x="272716" y="2237769"/>
            <a:ext cx="7793544" cy="4578867"/>
          </a:xfrm>
        </p:spPr>
        <p:txBody>
          <a:bodyPr rtlCol="0">
            <a:normAutofit/>
          </a:bodyPr>
          <a:lstStyle>
            <a:defPPr>
              <a:defRPr lang="it-IT"/>
            </a:defPPr>
          </a:lstStyle>
          <a:p>
            <a:pPr marL="0" indent="0">
              <a:buNone/>
            </a:pPr>
            <a:r>
              <a:rPr lang="en-US" sz="2400">
                <a:latin typeface="Aptos" panose="020B0004020202020204" pitchFamily="34" charset="0"/>
              </a:rPr>
              <a:t>FAIR ISLE was designed to be accurate, fast, and practically useful.</a:t>
            </a:r>
          </a:p>
          <a:p>
            <a:pPr marL="342900" indent="-342900">
              <a:buFont typeface="Arial" panose="020B0604020202020204" pitchFamily="34" charset="0"/>
              <a:buChar char="•"/>
            </a:pPr>
            <a:r>
              <a:rPr lang="en-US" sz="2400">
                <a:latin typeface="Aptos" panose="020B0004020202020204" pitchFamily="34" charset="0"/>
              </a:rPr>
              <a:t>Detect non-inclusive expressions in short and long texts</a:t>
            </a:r>
          </a:p>
          <a:p>
            <a:pPr marL="342900" indent="-342900">
              <a:buFont typeface="Arial" panose="020B0604020202020204" pitchFamily="34" charset="0"/>
              <a:buChar char="•"/>
            </a:pPr>
            <a:r>
              <a:rPr lang="en-US" sz="2400">
                <a:latin typeface="Aptos" panose="020B0004020202020204" pitchFamily="34" charset="0"/>
              </a:rPr>
              <a:t>Generate inclusive rewrites preserving tone and meaning</a:t>
            </a:r>
          </a:p>
          <a:p>
            <a:pPr marL="342900" indent="-342900">
              <a:buFont typeface="Arial" panose="020B0604020202020204" pitchFamily="34" charset="0"/>
              <a:buChar char="•"/>
            </a:pPr>
            <a:r>
              <a:rPr lang="en-US" sz="2400">
                <a:latin typeface="Aptos" panose="020B0004020202020204" pitchFamily="34" charset="0"/>
              </a:rPr>
              <a:t>Support Italian and English + multilingual experiment</a:t>
            </a:r>
          </a:p>
          <a:p>
            <a:pPr marL="342900" indent="-342900">
              <a:buFont typeface="Arial" panose="020B0604020202020204" pitchFamily="34" charset="0"/>
              <a:buChar char="•"/>
            </a:pPr>
            <a:r>
              <a:rPr lang="en-US" sz="2400">
                <a:latin typeface="Aptos" panose="020B0004020202020204" pitchFamily="34" charset="0"/>
              </a:rPr>
              <a:t>Keep latency compatible with an interactive web app</a:t>
            </a:r>
          </a:p>
          <a:p>
            <a:pPr marL="342900" indent="-342900">
              <a:buFont typeface="Arial" panose="020B0604020202020204" pitchFamily="34" charset="0"/>
              <a:buChar char="•"/>
            </a:pPr>
            <a:r>
              <a:rPr lang="en-US" sz="2400">
                <a:latin typeface="Aptos" panose="020B0004020202020204" pitchFamily="34" charset="0"/>
              </a:rPr>
              <a:t>Include a feedback loop for continuous improvement</a:t>
            </a:r>
          </a:p>
        </p:txBody>
      </p:sp>
    </p:spTree>
    <p:extLst>
      <p:ext uri="{BB962C8B-B14F-4D97-AF65-F5344CB8AC3E}">
        <p14:creationId xmlns:p14="http://schemas.microsoft.com/office/powerpoint/2010/main" val="3788295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5346ED-721D-85EE-2F1B-A31D0912DE29}"/>
              </a:ext>
            </a:extLst>
          </p:cNvPr>
          <p:cNvSpPr>
            <a:spLocks noGrp="1"/>
          </p:cNvSpPr>
          <p:nvPr>
            <p:ph type="title"/>
          </p:nvPr>
        </p:nvSpPr>
        <p:spPr>
          <a:xfrm>
            <a:off x="594360" y="582929"/>
            <a:ext cx="9778365" cy="1494596"/>
          </a:xfrm>
        </p:spPr>
        <p:txBody>
          <a:bodyPr rtlCol="0"/>
          <a:lstStyle>
            <a:defPPr>
              <a:defRPr lang="it-IT"/>
            </a:defPPr>
          </a:lstStyle>
          <a:p>
            <a:r>
              <a:rPr lang="en-US" sz="6000">
                <a:latin typeface="Aptos" panose="020B0004020202020204" pitchFamily="34" charset="0"/>
              </a:rPr>
              <a:t>The data challenge and ethical validation</a:t>
            </a:r>
            <a:endParaRPr lang="it-IT" sz="6000">
              <a:latin typeface="Aptos" panose="020B0004020202020204" pitchFamily="34" charset="0"/>
            </a:endParaRPr>
          </a:p>
        </p:txBody>
      </p:sp>
      <p:sp>
        <p:nvSpPr>
          <p:cNvPr id="3" name="Segnaposto contenuto 2">
            <a:extLst>
              <a:ext uri="{FF2B5EF4-FFF2-40B4-BE49-F238E27FC236}">
                <a16:creationId xmlns:a16="http://schemas.microsoft.com/office/drawing/2014/main" id="{DB097449-5B72-ADA0-3B2D-1CBC160D6B90}"/>
              </a:ext>
            </a:extLst>
          </p:cNvPr>
          <p:cNvSpPr>
            <a:spLocks noGrp="1"/>
          </p:cNvSpPr>
          <p:nvPr>
            <p:ph sz="quarter" idx="15"/>
          </p:nvPr>
        </p:nvSpPr>
        <p:spPr>
          <a:xfrm>
            <a:off x="594360" y="2676525"/>
            <a:ext cx="9464040" cy="3597470"/>
          </a:xfrm>
        </p:spPr>
        <p:txBody>
          <a:bodyPr rtlCol="0">
            <a:normAutofit/>
          </a:bodyPr>
          <a:lstStyle>
            <a:defPPr>
              <a:defRPr lang="it-IT"/>
            </a:defPPr>
          </a:lstStyle>
          <a:p>
            <a:r>
              <a:rPr lang="en-US" sz="2400">
                <a:latin typeface="Aptos" panose="020B0004020202020204" pitchFamily="34" charset="0"/>
              </a:rPr>
              <a:t>High model quality requires high data quality. We began from a small dataset and scaled it responsibly.</a:t>
            </a:r>
          </a:p>
          <a:p>
            <a:pPr marL="342900" indent="-342900">
              <a:buFont typeface="Arial" panose="020B0604020202020204" pitchFamily="34" charset="0"/>
              <a:buChar char="•"/>
            </a:pPr>
            <a:r>
              <a:rPr lang="en-US" sz="2400">
                <a:latin typeface="Aptos" panose="020B0004020202020204" pitchFamily="34" charset="0"/>
              </a:rPr>
              <a:t>Initial dataset: 449 validated examples</a:t>
            </a:r>
          </a:p>
          <a:p>
            <a:pPr marL="342900" indent="-342900">
              <a:buFont typeface="Arial" panose="020B0604020202020204" pitchFamily="34" charset="0"/>
              <a:buChar char="•"/>
            </a:pPr>
            <a:r>
              <a:rPr lang="en-US" sz="2400">
                <a:latin typeface="Aptos" panose="020B0004020202020204" pitchFamily="34" charset="0"/>
              </a:rPr>
              <a:t>Cleaning step: filtering, deduplication, removal of bad samples</a:t>
            </a:r>
          </a:p>
          <a:p>
            <a:pPr marL="342900" indent="-342900">
              <a:buFont typeface="Arial" panose="020B0604020202020204" pitchFamily="34" charset="0"/>
              <a:buChar char="•"/>
            </a:pPr>
            <a:r>
              <a:rPr lang="en-US" sz="2400">
                <a:latin typeface="Aptos" panose="020B0004020202020204" pitchFamily="34" charset="0"/>
              </a:rPr>
              <a:t>Critical step: psychologist supervision and approval to prevent harmful rewrites</a:t>
            </a:r>
          </a:p>
          <a:p>
            <a:pPr marL="342900" indent="-342900">
              <a:buFont typeface="Arial" panose="020B0604020202020204" pitchFamily="34" charset="0"/>
              <a:buChar char="•"/>
            </a:pPr>
            <a:r>
              <a:rPr lang="en-US" sz="2400">
                <a:latin typeface="Aptos" panose="020B0004020202020204" pitchFamily="34" charset="0"/>
              </a:rPr>
              <a:t>Data Augmentation</a:t>
            </a:r>
          </a:p>
        </p:txBody>
      </p:sp>
    </p:spTree>
    <p:extLst>
      <p:ext uri="{BB962C8B-B14F-4D97-AF65-F5344CB8AC3E}">
        <p14:creationId xmlns:p14="http://schemas.microsoft.com/office/powerpoint/2010/main" val="888484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650FA7C-C2D7-AAF6-EF6E-329D8261D2C6}"/>
              </a:ext>
            </a:extLst>
          </p:cNvPr>
          <p:cNvSpPr>
            <a:spLocks noGrp="1"/>
          </p:cNvSpPr>
          <p:nvPr>
            <p:ph type="title"/>
          </p:nvPr>
        </p:nvSpPr>
        <p:spPr>
          <a:xfrm>
            <a:off x="594360" y="310212"/>
            <a:ext cx="10803556" cy="1687030"/>
          </a:xfrm>
        </p:spPr>
        <p:txBody>
          <a:bodyPr/>
          <a:lstStyle/>
          <a:p>
            <a:r>
              <a:rPr lang="en-US" sz="6000">
                <a:latin typeface="Aptos"/>
              </a:rPr>
              <a:t>Dataset evolution</a:t>
            </a:r>
            <a:endParaRPr lang="en-US" sz="6000">
              <a:latin typeface="Aptos" panose="020B0004020202020204" pitchFamily="34" charset="0"/>
            </a:endParaRPr>
          </a:p>
        </p:txBody>
      </p:sp>
      <p:sp>
        <p:nvSpPr>
          <p:cNvPr id="3" name="Segnaposto contenuto 2">
            <a:extLst>
              <a:ext uri="{FF2B5EF4-FFF2-40B4-BE49-F238E27FC236}">
                <a16:creationId xmlns:a16="http://schemas.microsoft.com/office/drawing/2014/main" id="{38254276-CD86-5768-6351-B31F0FEC887B}"/>
              </a:ext>
            </a:extLst>
          </p:cNvPr>
          <p:cNvSpPr>
            <a:spLocks noGrp="1"/>
          </p:cNvSpPr>
          <p:nvPr>
            <p:ph sz="quarter" idx="15"/>
          </p:nvPr>
        </p:nvSpPr>
        <p:spPr>
          <a:xfrm>
            <a:off x="594360" y="2676525"/>
            <a:ext cx="9929261" cy="3597470"/>
          </a:xfrm>
        </p:spPr>
        <p:txBody>
          <a:bodyPr vert="horz" lIns="0" tIns="45720" rIns="0" bIns="0" rtlCol="0" anchor="t">
            <a:normAutofit/>
          </a:bodyPr>
          <a:lstStyle/>
          <a:p>
            <a:r>
              <a:rPr lang="en-US" sz="2400">
                <a:latin typeface="Aptos"/>
              </a:rPr>
              <a:t>Datasets were expanded through controlled augmentation (using API-KEY Google Gemini) to increase linguistic variety and coverage of bias types. </a:t>
            </a:r>
          </a:p>
          <a:p>
            <a:pPr marL="342900" indent="-342900">
              <a:buFont typeface="Arial" panose="020B0604020202020204" pitchFamily="34" charset="0"/>
              <a:buChar char="•"/>
            </a:pPr>
            <a:r>
              <a:rPr lang="en-US" sz="2400">
                <a:latin typeface="Aptos"/>
              </a:rPr>
              <a:t>The Italian dataset progressed from 5,367 pairs to the final Italian dataset (16,672 pairs) used to fine-tune the Italian rewriter. </a:t>
            </a:r>
          </a:p>
          <a:p>
            <a:pPr marL="342900" indent="-342900">
              <a:buFont typeface="Arial" panose="020B0604020202020204" pitchFamily="34" charset="0"/>
              <a:buChar char="•"/>
            </a:pPr>
            <a:r>
              <a:rPr lang="en-US" sz="2400">
                <a:latin typeface="Aptos"/>
                <a:ea typeface="+mn-lt"/>
                <a:cs typeface="+mn-lt"/>
              </a:rPr>
              <a:t>An English dataset was created (4,980 pairs), avoiding literal translation and focusing on English-specific inclusive strategies (e.g., singular “they”).</a:t>
            </a:r>
          </a:p>
          <a:p>
            <a:pPr marL="342900" indent="-342900">
              <a:buFont typeface="Arial" panose="020B0604020202020204" pitchFamily="34" charset="0"/>
              <a:buChar char="•"/>
            </a:pPr>
            <a:r>
              <a:rPr lang="en-US" sz="2400">
                <a:latin typeface="Aptos"/>
              </a:rPr>
              <a:t>A merged multilingual dataset (21,653 pairs).</a:t>
            </a:r>
            <a:endParaRPr lang="it-IT" sz="2400">
              <a:latin typeface="Aptos"/>
            </a:endParaRPr>
          </a:p>
        </p:txBody>
      </p:sp>
    </p:spTree>
    <p:extLst>
      <p:ext uri="{BB962C8B-B14F-4D97-AF65-F5344CB8AC3E}">
        <p14:creationId xmlns:p14="http://schemas.microsoft.com/office/powerpoint/2010/main" val="3031617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6867D-A2EB-CC57-060E-299550532C6D}"/>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2C0CE8B7-4C95-79AE-C10F-86689723E761}"/>
              </a:ext>
            </a:extLst>
          </p:cNvPr>
          <p:cNvSpPr>
            <a:spLocks noGrp="1"/>
          </p:cNvSpPr>
          <p:nvPr>
            <p:ph type="title"/>
          </p:nvPr>
        </p:nvSpPr>
        <p:spPr>
          <a:xfrm>
            <a:off x="659130" y="474173"/>
            <a:ext cx="10873740" cy="917431"/>
          </a:xfrm>
        </p:spPr>
        <p:txBody>
          <a:bodyPr rtlCol="0"/>
          <a:lstStyle>
            <a:defPPr>
              <a:defRPr lang="it-IT"/>
            </a:defPPr>
          </a:lstStyle>
          <a:p>
            <a:r>
              <a:rPr lang="it-IT" sz="6000">
                <a:solidFill>
                  <a:srgbClr val="000000"/>
                </a:solidFill>
                <a:latin typeface="Aptos"/>
              </a:rPr>
              <a:t>Dataset </a:t>
            </a:r>
            <a:r>
              <a:rPr lang="it-IT" sz="6000" err="1">
                <a:solidFill>
                  <a:srgbClr val="000000"/>
                </a:solidFill>
                <a:latin typeface="Aptos"/>
              </a:rPr>
              <a:t>examples</a:t>
            </a:r>
            <a:r>
              <a:rPr lang="it-IT" sz="6000">
                <a:solidFill>
                  <a:srgbClr val="000000"/>
                </a:solidFill>
                <a:latin typeface="Aptos"/>
              </a:rPr>
              <a:t> </a:t>
            </a:r>
            <a:endParaRPr lang="en-US">
              <a:solidFill>
                <a:srgbClr val="000000"/>
              </a:solidFill>
              <a:latin typeface="Aptos"/>
            </a:endParaRPr>
          </a:p>
        </p:txBody>
      </p:sp>
      <p:sp>
        <p:nvSpPr>
          <p:cNvPr id="2" name="Rettangolo 1">
            <a:extLst>
              <a:ext uri="{FF2B5EF4-FFF2-40B4-BE49-F238E27FC236}">
                <a16:creationId xmlns:a16="http://schemas.microsoft.com/office/drawing/2014/main" id="{BCE3D7CC-3AD2-3D3A-4120-F692057ED893}"/>
              </a:ext>
            </a:extLst>
          </p:cNvPr>
          <p:cNvSpPr/>
          <p:nvPr/>
        </p:nvSpPr>
        <p:spPr>
          <a:xfrm>
            <a:off x="520700" y="1968500"/>
            <a:ext cx="2501900" cy="469900"/>
          </a:xfrm>
          <a:prstGeom prst="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D09EB396-97FB-2D48-4729-B5A1867856AD}"/>
              </a:ext>
            </a:extLst>
          </p:cNvPr>
          <p:cNvSpPr txBox="1"/>
          <p:nvPr/>
        </p:nvSpPr>
        <p:spPr>
          <a:xfrm>
            <a:off x="818446" y="1585149"/>
            <a:ext cx="10564518" cy="5047536"/>
          </a:xfrm>
          <a:prstGeom prst="rect">
            <a:avLst/>
          </a:prstGeom>
          <a:solidFill>
            <a:schemeClr val="tx1">
              <a:lumMod val="95000"/>
            </a:schemeClr>
          </a:solidFill>
          <a:ln>
            <a:solidFill>
              <a:schemeClr val="tx1">
                <a:lumMod val="9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chemeClr val="bg1"/>
                </a:solidFill>
                <a:latin typeface="Consolas"/>
              </a:rPr>
              <a:t>{ </a:t>
            </a:r>
            <a:endParaRPr lang="it-IT" sz="1400">
              <a:solidFill>
                <a:schemeClr val="bg1"/>
              </a:solidFill>
              <a:latin typeface="Consolas"/>
            </a:endParaRPr>
          </a:p>
          <a:p>
            <a:r>
              <a:rPr lang="en-US" sz="1400">
                <a:solidFill>
                  <a:schemeClr val="bg1"/>
                </a:solidFill>
                <a:latin typeface="Consolas"/>
              </a:rPr>
              <a:t>"</a:t>
            </a:r>
            <a:r>
              <a:rPr lang="en-US" sz="1400" err="1">
                <a:solidFill>
                  <a:srgbClr val="FF0000"/>
                </a:solidFill>
                <a:latin typeface="Consolas"/>
              </a:rPr>
              <a:t>english_pairs</a:t>
            </a:r>
            <a:r>
              <a:rPr lang="en-US" sz="1400">
                <a:solidFill>
                  <a:schemeClr val="bg1"/>
                </a:solidFill>
                <a:latin typeface="Consolas"/>
              </a:rPr>
              <a:t>": [</a:t>
            </a:r>
          </a:p>
          <a:p>
            <a:r>
              <a:rPr lang="en-US" sz="1400">
                <a:solidFill>
                  <a:schemeClr val="bg1"/>
                </a:solidFill>
                <a:latin typeface="Consolas"/>
              </a:rPr>
              <a:t>    { </a:t>
            </a:r>
          </a:p>
          <a:p>
            <a:r>
              <a:rPr lang="en-US" sz="1400">
                <a:solidFill>
                  <a:schemeClr val="bg1"/>
                </a:solidFill>
                <a:latin typeface="Consolas"/>
              </a:rPr>
              <a:t>      "</a:t>
            </a:r>
            <a:r>
              <a:rPr lang="en-US" sz="1400">
                <a:solidFill>
                  <a:srgbClr val="FF0000"/>
                </a:solidFill>
                <a:latin typeface="Consolas"/>
              </a:rPr>
              <a:t>non_inclusive</a:t>
            </a:r>
            <a:r>
              <a:rPr lang="en-US" sz="1400">
                <a:solidFill>
                  <a:schemeClr val="bg1"/>
                </a:solidFill>
                <a:latin typeface="Consolas"/>
              </a:rPr>
              <a:t>": "</a:t>
            </a:r>
            <a:r>
              <a:rPr lang="en-US" sz="1400">
                <a:solidFill>
                  <a:schemeClr val="tx2">
                    <a:lumMod val="76000"/>
                  </a:schemeClr>
                </a:solidFill>
                <a:latin typeface="Consolas"/>
              </a:rPr>
              <a:t>Blonde women are usually not very smart.</a:t>
            </a:r>
            <a:r>
              <a:rPr lang="en-US" sz="1400">
                <a:solidFill>
                  <a:schemeClr val="bg1"/>
                </a:solidFill>
                <a:latin typeface="Consolas"/>
              </a:rPr>
              <a:t>", </a:t>
            </a:r>
          </a:p>
          <a:p>
            <a:r>
              <a:rPr lang="en-US" sz="1400">
                <a:solidFill>
                  <a:schemeClr val="bg1"/>
                </a:solidFill>
                <a:latin typeface="Consolas"/>
              </a:rPr>
              <a:t>      "</a:t>
            </a:r>
            <a:r>
              <a:rPr lang="en-US" sz="1400">
                <a:solidFill>
                  <a:srgbClr val="FF0000"/>
                </a:solidFill>
                <a:latin typeface="Consolas"/>
              </a:rPr>
              <a:t>inclusive</a:t>
            </a:r>
            <a:r>
              <a:rPr lang="en-US" sz="1400">
                <a:solidFill>
                  <a:schemeClr val="bg1"/>
                </a:solidFill>
                <a:latin typeface="Consolas"/>
              </a:rPr>
              <a:t>": "</a:t>
            </a:r>
            <a:r>
              <a:rPr lang="en-US" sz="1400">
                <a:solidFill>
                  <a:schemeClr val="tx2">
                    <a:lumMod val="76000"/>
                  </a:schemeClr>
                </a:solidFill>
                <a:latin typeface="Consolas"/>
              </a:rPr>
              <a:t>Hair color does not determine a person's intelligence.</a:t>
            </a:r>
            <a:r>
              <a:rPr lang="en-US" sz="1400">
                <a:solidFill>
                  <a:schemeClr val="bg1"/>
                </a:solidFill>
                <a:latin typeface="Consolas"/>
              </a:rPr>
              <a:t>" </a:t>
            </a:r>
          </a:p>
          <a:p>
            <a:r>
              <a:rPr lang="en-US" sz="1400">
                <a:solidFill>
                  <a:schemeClr val="bg1"/>
                </a:solidFill>
                <a:latin typeface="Consolas"/>
              </a:rPr>
              <a:t>    },</a:t>
            </a:r>
          </a:p>
          <a:p>
            <a:r>
              <a:rPr lang="en-US" sz="1400">
                <a:solidFill>
                  <a:schemeClr val="bg1"/>
                </a:solidFill>
                <a:latin typeface="Consolas"/>
              </a:rPr>
              <a:t>    { </a:t>
            </a:r>
          </a:p>
          <a:p>
            <a:r>
              <a:rPr lang="en-US" sz="1400">
                <a:solidFill>
                  <a:schemeClr val="bg1"/>
                </a:solidFill>
                <a:latin typeface="Consolas"/>
              </a:rPr>
              <a:t>      "</a:t>
            </a:r>
            <a:r>
              <a:rPr lang="en-US" sz="1400">
                <a:solidFill>
                  <a:srgbClr val="FF0000"/>
                </a:solidFill>
                <a:latin typeface="Consolas"/>
              </a:rPr>
              <a:t>non_inclusive</a:t>
            </a:r>
            <a:r>
              <a:rPr lang="en-US" sz="1400">
                <a:solidFill>
                  <a:schemeClr val="bg1"/>
                </a:solidFill>
                <a:latin typeface="Consolas"/>
              </a:rPr>
              <a:t>": "</a:t>
            </a:r>
            <a:r>
              <a:rPr lang="en-US" sz="1400">
                <a:solidFill>
                  <a:schemeClr val="tx2">
                    <a:lumMod val="76000"/>
                  </a:schemeClr>
                </a:solidFill>
                <a:latin typeface="Consolas"/>
              </a:rPr>
              <a:t>He's too sensitive for a man.</a:t>
            </a:r>
            <a:r>
              <a:rPr lang="en-US" sz="1400">
                <a:solidFill>
                  <a:schemeClr val="bg1"/>
                </a:solidFill>
                <a:latin typeface="Consolas"/>
              </a:rPr>
              <a:t>", </a:t>
            </a:r>
          </a:p>
          <a:p>
            <a:r>
              <a:rPr lang="en-US" sz="1400">
                <a:solidFill>
                  <a:schemeClr val="bg1"/>
                </a:solidFill>
                <a:latin typeface="Consolas"/>
              </a:rPr>
              <a:t>      "</a:t>
            </a:r>
            <a:r>
              <a:rPr lang="en-US" sz="1400">
                <a:solidFill>
                  <a:srgbClr val="FF0000"/>
                </a:solidFill>
                <a:latin typeface="Consolas"/>
              </a:rPr>
              <a:t>inclusive</a:t>
            </a:r>
            <a:r>
              <a:rPr lang="en-US" sz="1400">
                <a:solidFill>
                  <a:schemeClr val="bg1"/>
                </a:solidFill>
                <a:latin typeface="Consolas"/>
              </a:rPr>
              <a:t>": "</a:t>
            </a:r>
            <a:r>
              <a:rPr lang="en-US" sz="1400">
                <a:solidFill>
                  <a:schemeClr val="tx2">
                    <a:lumMod val="76000"/>
                  </a:schemeClr>
                </a:solidFill>
                <a:latin typeface="Consolas"/>
              </a:rPr>
              <a:t>Expressing emotions is a human trait, regardless of gender.</a:t>
            </a:r>
            <a:r>
              <a:rPr lang="en-US" sz="1400">
                <a:solidFill>
                  <a:schemeClr val="bg1"/>
                </a:solidFill>
                <a:latin typeface="Consolas"/>
              </a:rPr>
              <a:t>" </a:t>
            </a:r>
          </a:p>
          <a:p>
            <a:r>
              <a:rPr lang="en-US" sz="1400">
                <a:solidFill>
                  <a:schemeClr val="bg1"/>
                </a:solidFill>
                <a:latin typeface="Consolas"/>
              </a:rPr>
              <a:t>    }],</a:t>
            </a:r>
          </a:p>
          <a:p>
            <a:endParaRPr lang="en-US" sz="1400">
              <a:solidFill>
                <a:schemeClr val="bg1"/>
              </a:solidFill>
              <a:latin typeface="Consolas"/>
            </a:endParaRPr>
          </a:p>
          <a:p>
            <a:r>
              <a:rPr lang="en-US" sz="1400">
                <a:solidFill>
                  <a:schemeClr val="bg1"/>
                </a:solidFill>
                <a:latin typeface="Consolas"/>
              </a:rPr>
              <a:t>"</a:t>
            </a:r>
            <a:r>
              <a:rPr lang="en-US" sz="1400" err="1">
                <a:solidFill>
                  <a:srgbClr val="FF0000"/>
                </a:solidFill>
                <a:latin typeface="Consolas"/>
              </a:rPr>
              <a:t>italian_pairs</a:t>
            </a:r>
            <a:r>
              <a:rPr lang="en-US" sz="1400">
                <a:solidFill>
                  <a:schemeClr val="bg1"/>
                </a:solidFill>
                <a:latin typeface="Consolas"/>
              </a:rPr>
              <a:t>": [ </a:t>
            </a:r>
          </a:p>
          <a:p>
            <a:r>
              <a:rPr lang="en-US" sz="1400">
                <a:solidFill>
                  <a:schemeClr val="bg1"/>
                </a:solidFill>
                <a:latin typeface="Consolas"/>
              </a:rPr>
              <a:t>    { </a:t>
            </a:r>
          </a:p>
          <a:p>
            <a:r>
              <a:rPr lang="en-US" sz="1400">
                <a:solidFill>
                  <a:schemeClr val="bg1"/>
                </a:solidFill>
                <a:latin typeface="Consolas"/>
              </a:rPr>
              <a:t>      "</a:t>
            </a:r>
            <a:r>
              <a:rPr lang="en-US" sz="1400">
                <a:solidFill>
                  <a:srgbClr val="FF0000"/>
                </a:solidFill>
                <a:latin typeface="Consolas"/>
              </a:rPr>
              <a:t>non_inclusive</a:t>
            </a:r>
            <a:r>
              <a:rPr lang="en-US" sz="1400">
                <a:solidFill>
                  <a:schemeClr val="bg1"/>
                </a:solidFill>
                <a:latin typeface="Consolas"/>
              </a:rPr>
              <a:t>": "</a:t>
            </a:r>
            <a:r>
              <a:rPr lang="en-US" sz="1400">
                <a:solidFill>
                  <a:schemeClr val="tx2">
                    <a:lumMod val="76000"/>
                  </a:schemeClr>
                </a:solidFill>
                <a:latin typeface="Consolas"/>
              </a:rPr>
              <a:t>Se non </a:t>
            </a:r>
            <a:r>
              <a:rPr lang="en-US" sz="1400" err="1">
                <a:solidFill>
                  <a:schemeClr val="tx2">
                    <a:lumMod val="76000"/>
                  </a:schemeClr>
                </a:solidFill>
                <a:latin typeface="Consolas"/>
              </a:rPr>
              <a:t>risponde</a:t>
            </a:r>
            <a:r>
              <a:rPr lang="en-US" sz="1400">
                <a:solidFill>
                  <a:schemeClr val="tx2">
                    <a:lumMod val="76000"/>
                  </a:schemeClr>
                </a:solidFill>
                <a:latin typeface="Consolas"/>
              </a:rPr>
              <a:t> subito, </a:t>
            </a:r>
            <a:r>
              <a:rPr lang="en-US" sz="1400" err="1">
                <a:solidFill>
                  <a:schemeClr val="tx2">
                    <a:lumMod val="76000"/>
                  </a:schemeClr>
                </a:solidFill>
                <a:latin typeface="Consolas"/>
              </a:rPr>
              <a:t>probabilmente</a:t>
            </a:r>
            <a:r>
              <a:rPr lang="en-US" sz="1400">
                <a:solidFill>
                  <a:schemeClr val="tx2">
                    <a:lumMod val="76000"/>
                  </a:schemeClr>
                </a:solidFill>
                <a:latin typeface="Consolas"/>
              </a:rPr>
              <a:t> non capisce.</a:t>
            </a:r>
            <a:r>
              <a:rPr lang="en-US" sz="1400">
                <a:solidFill>
                  <a:schemeClr val="bg1"/>
                </a:solidFill>
                <a:latin typeface="Consolas"/>
              </a:rPr>
              <a:t>",</a:t>
            </a:r>
            <a:endParaRPr lang="en-US" sz="1400">
              <a:solidFill>
                <a:schemeClr val="bg1"/>
              </a:solidFill>
            </a:endParaRPr>
          </a:p>
          <a:p>
            <a:r>
              <a:rPr lang="en-US" sz="1400">
                <a:solidFill>
                  <a:schemeClr val="bg1"/>
                </a:solidFill>
                <a:latin typeface="Consolas"/>
              </a:rPr>
              <a:t>      "</a:t>
            </a:r>
            <a:r>
              <a:rPr lang="en-US" sz="1400">
                <a:solidFill>
                  <a:srgbClr val="FF0000"/>
                </a:solidFill>
                <a:latin typeface="Consolas"/>
              </a:rPr>
              <a:t>inclusive</a:t>
            </a:r>
            <a:r>
              <a:rPr lang="en-US" sz="1400">
                <a:solidFill>
                  <a:schemeClr val="bg1"/>
                </a:solidFill>
                <a:latin typeface="Consolas"/>
              </a:rPr>
              <a:t>": "</a:t>
            </a:r>
            <a:r>
              <a:rPr lang="en-US" sz="1400">
                <a:solidFill>
                  <a:schemeClr val="tx2">
                    <a:lumMod val="76000"/>
                  </a:schemeClr>
                </a:solidFill>
                <a:latin typeface="Consolas"/>
              </a:rPr>
              <a:t>Il tempo di </a:t>
            </a:r>
            <a:r>
              <a:rPr lang="en-US" sz="1400" err="1">
                <a:solidFill>
                  <a:schemeClr val="tx2">
                    <a:lumMod val="76000"/>
                  </a:schemeClr>
                </a:solidFill>
                <a:latin typeface="Consolas"/>
              </a:rPr>
              <a:t>elaborazione</a:t>
            </a:r>
            <a:r>
              <a:rPr lang="en-US" sz="1400">
                <a:solidFill>
                  <a:schemeClr val="tx2">
                    <a:lumMod val="76000"/>
                  </a:schemeClr>
                </a:solidFill>
                <a:latin typeface="Consolas"/>
              </a:rPr>
              <a:t> della </a:t>
            </a:r>
            <a:r>
              <a:rPr lang="en-US" sz="1400" err="1">
                <a:solidFill>
                  <a:schemeClr val="tx2">
                    <a:lumMod val="76000"/>
                  </a:schemeClr>
                </a:solidFill>
                <a:latin typeface="Consolas"/>
              </a:rPr>
              <a:t>risposta</a:t>
            </a:r>
            <a:r>
              <a:rPr lang="en-US" sz="1400">
                <a:solidFill>
                  <a:schemeClr val="tx2">
                    <a:lumMod val="76000"/>
                  </a:schemeClr>
                </a:solidFill>
                <a:latin typeface="Consolas"/>
              </a:rPr>
              <a:t> </a:t>
            </a:r>
            <a:r>
              <a:rPr lang="en-US" sz="1400" err="1">
                <a:solidFill>
                  <a:schemeClr val="tx2">
                    <a:lumMod val="76000"/>
                  </a:schemeClr>
                </a:solidFill>
                <a:latin typeface="Consolas"/>
              </a:rPr>
              <a:t>può</a:t>
            </a:r>
            <a:r>
              <a:rPr lang="en-US" sz="1400">
                <a:solidFill>
                  <a:schemeClr val="tx2">
                    <a:lumMod val="76000"/>
                  </a:schemeClr>
                </a:solidFill>
                <a:latin typeface="Consolas"/>
              </a:rPr>
              <a:t> </a:t>
            </a:r>
            <a:r>
              <a:rPr lang="en-US" sz="1400" err="1">
                <a:solidFill>
                  <a:schemeClr val="tx2">
                    <a:lumMod val="76000"/>
                  </a:schemeClr>
                </a:solidFill>
                <a:latin typeface="Consolas"/>
              </a:rPr>
              <a:t>variare</a:t>
            </a:r>
            <a:r>
              <a:rPr lang="en-US" sz="1400">
                <a:solidFill>
                  <a:schemeClr val="tx2">
                    <a:lumMod val="76000"/>
                  </a:schemeClr>
                </a:solidFill>
                <a:latin typeface="Consolas"/>
              </a:rPr>
              <a:t> e non indica </a:t>
            </a:r>
            <a:r>
              <a:rPr lang="en-US" sz="1400" err="1">
                <a:solidFill>
                  <a:schemeClr val="tx2">
                    <a:lumMod val="76000"/>
                  </a:schemeClr>
                </a:solidFill>
                <a:latin typeface="Consolas"/>
              </a:rPr>
              <a:t>mancanza</a:t>
            </a:r>
            <a:r>
              <a:rPr lang="en-US" sz="1400">
                <a:solidFill>
                  <a:schemeClr val="tx2">
                    <a:lumMod val="76000"/>
                  </a:schemeClr>
                </a:solidFill>
                <a:latin typeface="Consolas"/>
              </a:rPr>
              <a:t> di comprensione.</a:t>
            </a:r>
            <a:r>
              <a:rPr lang="en-US" sz="1400">
                <a:solidFill>
                  <a:schemeClr val="bg1"/>
                </a:solidFill>
                <a:latin typeface="Consolas"/>
              </a:rPr>
              <a:t>" </a:t>
            </a:r>
          </a:p>
          <a:p>
            <a:r>
              <a:rPr lang="en-US" sz="1400">
                <a:solidFill>
                  <a:schemeClr val="bg1"/>
                </a:solidFill>
                <a:latin typeface="Consolas"/>
              </a:rPr>
              <a:t>    }, </a:t>
            </a:r>
          </a:p>
          <a:p>
            <a:r>
              <a:rPr lang="en-US" sz="1400">
                <a:solidFill>
                  <a:schemeClr val="bg1"/>
                </a:solidFill>
                <a:latin typeface="Consolas"/>
              </a:rPr>
              <a:t>    { </a:t>
            </a:r>
          </a:p>
          <a:p>
            <a:r>
              <a:rPr lang="en-US" sz="1400">
                <a:solidFill>
                  <a:schemeClr val="bg1"/>
                </a:solidFill>
                <a:latin typeface="Consolas"/>
              </a:rPr>
              <a:t>      "</a:t>
            </a:r>
            <a:r>
              <a:rPr lang="en-US" sz="1400">
                <a:solidFill>
                  <a:srgbClr val="FF0000"/>
                </a:solidFill>
                <a:latin typeface="Consolas"/>
              </a:rPr>
              <a:t>non_inclusive</a:t>
            </a:r>
            <a:r>
              <a:rPr lang="en-US" sz="1400">
                <a:solidFill>
                  <a:schemeClr val="bg1"/>
                </a:solidFill>
                <a:latin typeface="Consolas"/>
              </a:rPr>
              <a:t>": "</a:t>
            </a:r>
            <a:r>
              <a:rPr lang="en-US" sz="1400">
                <a:solidFill>
                  <a:schemeClr val="tx2">
                    <a:lumMod val="76000"/>
                  </a:schemeClr>
                </a:solidFill>
                <a:latin typeface="Consolas"/>
              </a:rPr>
              <a:t>Se non </a:t>
            </a:r>
            <a:r>
              <a:rPr lang="en-US" sz="1400" err="1">
                <a:solidFill>
                  <a:schemeClr val="tx2">
                    <a:lumMod val="76000"/>
                  </a:schemeClr>
                </a:solidFill>
                <a:latin typeface="Consolas"/>
              </a:rPr>
              <a:t>parla</a:t>
            </a:r>
            <a:r>
              <a:rPr lang="en-US" sz="1400">
                <a:solidFill>
                  <a:schemeClr val="tx2">
                    <a:lumMod val="76000"/>
                  </a:schemeClr>
                </a:solidFill>
                <a:latin typeface="Consolas"/>
              </a:rPr>
              <a:t> </a:t>
            </a:r>
            <a:r>
              <a:rPr lang="en-US" sz="1400" err="1">
                <a:solidFill>
                  <a:schemeClr val="tx2">
                    <a:lumMod val="76000"/>
                  </a:schemeClr>
                </a:solidFill>
                <a:latin typeface="Consolas"/>
              </a:rPr>
              <a:t>chiaramente</a:t>
            </a:r>
            <a:r>
              <a:rPr lang="en-US" sz="1400">
                <a:solidFill>
                  <a:schemeClr val="tx2">
                    <a:lumMod val="76000"/>
                  </a:schemeClr>
                </a:solidFill>
                <a:latin typeface="Consolas"/>
              </a:rPr>
              <a:t>, non </a:t>
            </a:r>
            <a:r>
              <a:rPr lang="en-US" sz="1400" err="1">
                <a:solidFill>
                  <a:schemeClr val="tx2">
                    <a:lumMod val="76000"/>
                  </a:schemeClr>
                </a:solidFill>
                <a:latin typeface="Consolas"/>
              </a:rPr>
              <a:t>riesce</a:t>
            </a:r>
            <a:r>
              <a:rPr lang="en-US" sz="1400">
                <a:solidFill>
                  <a:schemeClr val="tx2">
                    <a:lumMod val="76000"/>
                  </a:schemeClr>
                </a:solidFill>
                <a:latin typeface="Consolas"/>
              </a:rPr>
              <a:t> a </a:t>
            </a:r>
            <a:r>
              <a:rPr lang="en-US" sz="1400" err="1">
                <a:solidFill>
                  <a:schemeClr val="tx2">
                    <a:lumMod val="76000"/>
                  </a:schemeClr>
                </a:solidFill>
                <a:latin typeface="Consolas"/>
              </a:rPr>
              <a:t>spiegarsi</a:t>
            </a:r>
            <a:r>
              <a:rPr lang="en-US" sz="1400">
                <a:solidFill>
                  <a:schemeClr val="tx2">
                    <a:lumMod val="76000"/>
                  </a:schemeClr>
                </a:solidFill>
                <a:latin typeface="Consolas"/>
              </a:rPr>
              <a:t>.</a:t>
            </a:r>
            <a:r>
              <a:rPr lang="en-US" sz="1400">
                <a:solidFill>
                  <a:schemeClr val="bg1"/>
                </a:solidFill>
                <a:latin typeface="Consolas"/>
              </a:rPr>
              <a:t>",</a:t>
            </a:r>
          </a:p>
          <a:p>
            <a:r>
              <a:rPr lang="en-US" sz="1400">
                <a:solidFill>
                  <a:schemeClr val="bg1"/>
                </a:solidFill>
                <a:latin typeface="Consolas"/>
              </a:rPr>
              <a:t>      "</a:t>
            </a:r>
            <a:r>
              <a:rPr lang="en-US" sz="1400">
                <a:solidFill>
                  <a:srgbClr val="FF0000"/>
                </a:solidFill>
                <a:latin typeface="Consolas"/>
              </a:rPr>
              <a:t>inclusive</a:t>
            </a:r>
            <a:r>
              <a:rPr lang="en-US" sz="1400">
                <a:solidFill>
                  <a:schemeClr val="bg1"/>
                </a:solidFill>
                <a:latin typeface="Consolas"/>
              </a:rPr>
              <a:t>": "</a:t>
            </a:r>
            <a:r>
              <a:rPr lang="en-US" sz="1400">
                <a:solidFill>
                  <a:schemeClr val="tx2">
                    <a:lumMod val="76000"/>
                  </a:schemeClr>
                </a:solidFill>
                <a:latin typeface="Consolas"/>
              </a:rPr>
              <a:t>La </a:t>
            </a:r>
            <a:r>
              <a:rPr lang="en-US" sz="1400" err="1">
                <a:solidFill>
                  <a:schemeClr val="tx2">
                    <a:lumMod val="76000"/>
                  </a:schemeClr>
                </a:solidFill>
                <a:latin typeface="Consolas"/>
              </a:rPr>
              <a:t>comunicazione</a:t>
            </a:r>
            <a:r>
              <a:rPr lang="en-US" sz="1400">
                <a:solidFill>
                  <a:schemeClr val="tx2">
                    <a:lumMod val="76000"/>
                  </a:schemeClr>
                </a:solidFill>
                <a:latin typeface="Consolas"/>
              </a:rPr>
              <a:t> </a:t>
            </a:r>
            <a:r>
              <a:rPr lang="en-US" sz="1400" err="1">
                <a:solidFill>
                  <a:schemeClr val="tx2">
                    <a:lumMod val="76000"/>
                  </a:schemeClr>
                </a:solidFill>
                <a:latin typeface="Consolas"/>
              </a:rPr>
              <a:t>può</a:t>
            </a:r>
            <a:r>
              <a:rPr lang="en-US" sz="1400">
                <a:solidFill>
                  <a:schemeClr val="tx2">
                    <a:lumMod val="76000"/>
                  </a:schemeClr>
                </a:solidFill>
                <a:latin typeface="Consolas"/>
              </a:rPr>
              <a:t> </a:t>
            </a:r>
            <a:r>
              <a:rPr lang="en-US" sz="1400" err="1">
                <a:solidFill>
                  <a:schemeClr val="tx2">
                    <a:lumMod val="76000"/>
                  </a:schemeClr>
                </a:solidFill>
                <a:latin typeface="Consolas"/>
              </a:rPr>
              <a:t>avvenire</a:t>
            </a:r>
            <a:r>
              <a:rPr lang="en-US" sz="1400">
                <a:solidFill>
                  <a:schemeClr val="tx2">
                    <a:lumMod val="76000"/>
                  </a:schemeClr>
                </a:solidFill>
                <a:latin typeface="Consolas"/>
              </a:rPr>
              <a:t> in </a:t>
            </a:r>
            <a:r>
              <a:rPr lang="en-US" sz="1400" err="1">
                <a:solidFill>
                  <a:schemeClr val="tx2">
                    <a:lumMod val="76000"/>
                  </a:schemeClr>
                </a:solidFill>
                <a:latin typeface="Consolas"/>
              </a:rPr>
              <a:t>molti</a:t>
            </a:r>
            <a:r>
              <a:rPr lang="en-US" sz="1400">
                <a:solidFill>
                  <a:schemeClr val="tx2">
                    <a:lumMod val="76000"/>
                  </a:schemeClr>
                </a:solidFill>
                <a:latin typeface="Consolas"/>
              </a:rPr>
              <a:t> </a:t>
            </a:r>
            <a:r>
              <a:rPr lang="en-US" sz="1400" err="1">
                <a:solidFill>
                  <a:schemeClr val="tx2">
                    <a:lumMod val="76000"/>
                  </a:schemeClr>
                </a:solidFill>
                <a:latin typeface="Consolas"/>
              </a:rPr>
              <a:t>modi</a:t>
            </a:r>
            <a:r>
              <a:rPr lang="en-US" sz="1400">
                <a:solidFill>
                  <a:schemeClr val="tx2">
                    <a:lumMod val="76000"/>
                  </a:schemeClr>
                </a:solidFill>
                <a:latin typeface="Consolas"/>
              </a:rPr>
              <a:t> </a:t>
            </a:r>
            <a:r>
              <a:rPr lang="en-US" sz="1400" err="1">
                <a:solidFill>
                  <a:schemeClr val="tx2">
                    <a:lumMod val="76000"/>
                  </a:schemeClr>
                </a:solidFill>
                <a:latin typeface="Consolas"/>
              </a:rPr>
              <a:t>diversi</a:t>
            </a:r>
            <a:r>
              <a:rPr lang="en-US" sz="1400">
                <a:solidFill>
                  <a:schemeClr val="tx2">
                    <a:lumMod val="76000"/>
                  </a:schemeClr>
                </a:solidFill>
                <a:latin typeface="Consolas"/>
              </a:rPr>
              <a:t>.</a:t>
            </a:r>
            <a:r>
              <a:rPr lang="en-US" sz="1400">
                <a:solidFill>
                  <a:schemeClr val="bg1"/>
                </a:solidFill>
                <a:latin typeface="Consolas"/>
              </a:rPr>
              <a:t>" </a:t>
            </a:r>
          </a:p>
          <a:p>
            <a:r>
              <a:rPr lang="en-US" sz="1400">
                <a:solidFill>
                  <a:schemeClr val="bg1"/>
                </a:solidFill>
                <a:latin typeface="Consolas"/>
              </a:rPr>
              <a:t>    }]</a:t>
            </a:r>
          </a:p>
          <a:p>
            <a:r>
              <a:rPr lang="en-US" sz="1400">
                <a:solidFill>
                  <a:schemeClr val="bg1"/>
                </a:solidFill>
                <a:latin typeface="Consolas"/>
              </a:rPr>
              <a:t>}</a:t>
            </a:r>
          </a:p>
          <a:p>
            <a:pPr algn="ctr"/>
            <a:endParaRPr lang="it-IT" sz="1400">
              <a:solidFill>
                <a:schemeClr val="bg1"/>
              </a:solidFill>
            </a:endParaRPr>
          </a:p>
        </p:txBody>
      </p:sp>
    </p:spTree>
    <p:extLst>
      <p:ext uri="{BB962C8B-B14F-4D97-AF65-F5344CB8AC3E}">
        <p14:creationId xmlns:p14="http://schemas.microsoft.com/office/powerpoint/2010/main" val="1556230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2" name="Rettangolo 1">
            <a:extLst>
              <a:ext uri="{FF2B5EF4-FFF2-40B4-BE49-F238E27FC236}">
                <a16:creationId xmlns:a16="http://schemas.microsoft.com/office/drawing/2014/main" id="{FCC453F0-5D8B-8D1D-7F8C-92AB7327C847}"/>
              </a:ext>
            </a:extLst>
          </p:cNvPr>
          <p:cNvSpPr/>
          <p:nvPr/>
        </p:nvSpPr>
        <p:spPr>
          <a:xfrm>
            <a:off x="5980922" y="3676261"/>
            <a:ext cx="2696547" cy="61582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Aptos" panose="020B0004020202020204" pitchFamily="34" charset="0"/>
            </a:endParaRPr>
          </a:p>
        </p:txBody>
      </p:sp>
      <p:sp>
        <p:nvSpPr>
          <p:cNvPr id="9" name="Titolo 8">
            <a:extLst>
              <a:ext uri="{FF2B5EF4-FFF2-40B4-BE49-F238E27FC236}">
                <a16:creationId xmlns:a16="http://schemas.microsoft.com/office/drawing/2014/main" id="{5AB6D40A-2A0A-AF3D-8CF7-3ECD37765637}"/>
              </a:ext>
            </a:extLst>
          </p:cNvPr>
          <p:cNvSpPr>
            <a:spLocks noGrp="1"/>
          </p:cNvSpPr>
          <p:nvPr>
            <p:ph type="ctrTitle"/>
          </p:nvPr>
        </p:nvSpPr>
        <p:spPr>
          <a:xfrm>
            <a:off x="1661161" y="262244"/>
            <a:ext cx="10100658" cy="1782797"/>
          </a:xfrm>
        </p:spPr>
        <p:txBody>
          <a:bodyPr rtlCol="0"/>
          <a:lstStyle>
            <a:defPPr>
              <a:defRPr lang="it-IT"/>
            </a:defPPr>
          </a:lstStyle>
          <a:p>
            <a:pPr algn="r"/>
            <a:r>
              <a:rPr lang="it-IT">
                <a:latin typeface="Aptos"/>
                <a:ea typeface="+mj-lt"/>
                <a:cs typeface="+mj-lt"/>
              </a:rPr>
              <a:t>Analysis pipeline</a:t>
            </a:r>
            <a:endParaRPr lang="it-IT">
              <a:latin typeface="Aptos"/>
            </a:endParaRPr>
          </a:p>
        </p:txBody>
      </p:sp>
      <p:sp>
        <p:nvSpPr>
          <p:cNvPr id="3" name="Segnaposto testo 2">
            <a:extLst>
              <a:ext uri="{FF2B5EF4-FFF2-40B4-BE49-F238E27FC236}">
                <a16:creationId xmlns:a16="http://schemas.microsoft.com/office/drawing/2014/main" id="{591442CD-A26D-1761-8CE7-8BC3075BB4ED}"/>
              </a:ext>
            </a:extLst>
          </p:cNvPr>
          <p:cNvSpPr>
            <a:spLocks noGrp="1"/>
          </p:cNvSpPr>
          <p:nvPr>
            <p:ph type="body" sz="quarter" idx="11"/>
          </p:nvPr>
        </p:nvSpPr>
        <p:spPr>
          <a:xfrm>
            <a:off x="3490228" y="2314640"/>
            <a:ext cx="8701772" cy="4436341"/>
          </a:xfrm>
          <a:noFill/>
        </p:spPr>
        <p:txBody>
          <a:bodyPr vert="horz" lIns="0" tIns="0" rIns="0" bIns="0" rtlCol="0" anchor="t">
            <a:normAutofit/>
          </a:bodyPr>
          <a:lstStyle>
            <a:defPPr>
              <a:defRPr lang="it-IT"/>
            </a:defPPr>
          </a:lstStyle>
          <a:p>
            <a:r>
              <a:rPr lang="en-US" b="0">
                <a:solidFill>
                  <a:schemeClr val="bg1"/>
                </a:solidFill>
                <a:latin typeface="Aptos"/>
              </a:rPr>
              <a:t>FAIR ISLE follows a specific pipeline:</a:t>
            </a:r>
          </a:p>
          <a:p>
            <a:endParaRPr lang="en-US" b="0">
              <a:solidFill>
                <a:schemeClr val="bg1"/>
              </a:solidFill>
              <a:latin typeface="Aptos"/>
            </a:endParaRPr>
          </a:p>
          <a:p>
            <a:pPr marL="457200" indent="-457200">
              <a:buAutoNum type="arabicPeriod"/>
            </a:pPr>
            <a:r>
              <a:rPr lang="en-US">
                <a:solidFill>
                  <a:schemeClr val="bg1"/>
                </a:solidFill>
                <a:latin typeface="Aptos"/>
              </a:rPr>
              <a:t>Split </a:t>
            </a:r>
            <a:r>
              <a:rPr lang="en-US" b="0">
                <a:solidFill>
                  <a:schemeClr val="bg1"/>
                </a:solidFill>
                <a:latin typeface="Aptos"/>
              </a:rPr>
              <a:t>the input text into sentences.</a:t>
            </a:r>
          </a:p>
          <a:p>
            <a:pPr marL="457200" indent="-457200">
              <a:buAutoNum type="arabicPeriod"/>
            </a:pPr>
            <a:r>
              <a:rPr lang="en-US">
                <a:solidFill>
                  <a:schemeClr val="bg1"/>
                </a:solidFill>
                <a:latin typeface="Aptos"/>
              </a:rPr>
              <a:t>Bias Classifier: </a:t>
            </a:r>
            <a:r>
              <a:rPr lang="en-US" b="0">
                <a:solidFill>
                  <a:schemeClr val="bg1"/>
                </a:solidFill>
                <a:latin typeface="Aptos"/>
              </a:rPr>
              <a:t>Classify each</a:t>
            </a:r>
            <a:r>
              <a:rPr lang="en-US" b="0">
                <a:solidFill>
                  <a:schemeClr val="bg1"/>
                </a:solidFill>
                <a:latin typeface="Aptos"/>
                <a:ea typeface="+mn-lt"/>
                <a:cs typeface="+mn-lt"/>
              </a:rPr>
              <a:t> sentence (</a:t>
            </a:r>
            <a:r>
              <a:rPr lang="en-US">
                <a:solidFill>
                  <a:schemeClr val="bg1"/>
                </a:solidFill>
                <a:latin typeface="Aptos"/>
                <a:ea typeface="+mn-lt"/>
                <a:cs typeface="+mn-lt"/>
              </a:rPr>
              <a:t>inclusive vs non-inclusive</a:t>
            </a:r>
            <a:r>
              <a:rPr lang="en-US" b="0">
                <a:solidFill>
                  <a:schemeClr val="bg1"/>
                </a:solidFill>
                <a:latin typeface="Aptos"/>
                <a:ea typeface="+mn-lt"/>
                <a:cs typeface="+mn-lt"/>
              </a:rPr>
              <a:t>) and compute a confidence score.</a:t>
            </a:r>
            <a:r>
              <a:rPr lang="en-US" b="0">
                <a:solidFill>
                  <a:schemeClr val="bg1"/>
                </a:solidFill>
                <a:latin typeface="Aptos"/>
              </a:rPr>
              <a:t>;</a:t>
            </a:r>
            <a:endParaRPr lang="en-US">
              <a:solidFill>
                <a:schemeClr val="bg1"/>
              </a:solidFill>
              <a:latin typeface="Aptos"/>
            </a:endParaRPr>
          </a:p>
          <a:p>
            <a:pPr marL="457200" indent="-457200">
              <a:buAutoNum type="arabicPeriod"/>
            </a:pPr>
            <a:r>
              <a:rPr lang="en-US">
                <a:solidFill>
                  <a:schemeClr val="bg1"/>
                </a:solidFill>
                <a:latin typeface="Aptos"/>
              </a:rPr>
              <a:t>Inclusive Rewriter: </a:t>
            </a:r>
            <a:r>
              <a:rPr lang="en-US" b="0">
                <a:solidFill>
                  <a:schemeClr val="bg1"/>
                </a:solidFill>
                <a:latin typeface="Aptos"/>
                <a:ea typeface="+mn-lt"/>
                <a:cs typeface="+mn-lt"/>
              </a:rPr>
              <a:t>If the sentence is predicted as non-inclusive with sufficient confidence, generate an inclusive rewrite</a:t>
            </a:r>
          </a:p>
          <a:p>
            <a:pPr marL="457200" indent="-457200">
              <a:buAutoNum type="arabicPeriod"/>
            </a:pPr>
            <a:r>
              <a:rPr lang="en-US">
                <a:solidFill>
                  <a:schemeClr val="bg1"/>
                </a:solidFill>
                <a:latin typeface="Aptos"/>
                <a:ea typeface="+mn-lt"/>
                <a:cs typeface="+mn-lt"/>
              </a:rPr>
              <a:t>Return </a:t>
            </a:r>
            <a:r>
              <a:rPr lang="en-US" b="0">
                <a:solidFill>
                  <a:schemeClr val="bg1"/>
                </a:solidFill>
                <a:latin typeface="Aptos"/>
                <a:ea typeface="+mn-lt"/>
                <a:cs typeface="+mn-lt"/>
              </a:rPr>
              <a:t>label, score, and (when generated) the rewrite suggestion to the UI.</a:t>
            </a:r>
            <a:endParaRPr lang="en-US" b="0">
              <a:solidFill>
                <a:schemeClr val="bg1"/>
              </a:solidFill>
              <a:latin typeface="Aptos"/>
            </a:endParaRPr>
          </a:p>
        </p:txBody>
      </p:sp>
    </p:spTree>
    <p:extLst>
      <p:ext uri="{BB962C8B-B14F-4D97-AF65-F5344CB8AC3E}">
        <p14:creationId xmlns:p14="http://schemas.microsoft.com/office/powerpoint/2010/main" val="2039059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844FC-C769-A978-45E1-8FC20A42210F}"/>
            </a:ext>
          </a:extLst>
        </p:cNvPr>
        <p:cNvGrpSpPr/>
        <p:nvPr/>
      </p:nvGrpSpPr>
      <p:grpSpPr>
        <a:xfrm>
          <a:off x="0" y="0"/>
          <a:ext cx="0" cy="0"/>
          <a:chOff x="0" y="0"/>
          <a:chExt cx="0" cy="0"/>
        </a:xfrm>
      </p:grpSpPr>
      <p:sp>
        <p:nvSpPr>
          <p:cNvPr id="2" name="Rettangolo 1">
            <a:extLst>
              <a:ext uri="{FF2B5EF4-FFF2-40B4-BE49-F238E27FC236}">
                <a16:creationId xmlns:a16="http://schemas.microsoft.com/office/drawing/2014/main" id="{F4713173-3984-EFA7-C953-16085A53A5CA}"/>
              </a:ext>
            </a:extLst>
          </p:cNvPr>
          <p:cNvSpPr/>
          <p:nvPr/>
        </p:nvSpPr>
        <p:spPr>
          <a:xfrm>
            <a:off x="5980922" y="3676261"/>
            <a:ext cx="2696547" cy="61582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Aptos" panose="020B0004020202020204" pitchFamily="34" charset="0"/>
            </a:endParaRPr>
          </a:p>
        </p:txBody>
      </p:sp>
      <p:sp>
        <p:nvSpPr>
          <p:cNvPr id="9" name="Titolo 8">
            <a:extLst>
              <a:ext uri="{FF2B5EF4-FFF2-40B4-BE49-F238E27FC236}">
                <a16:creationId xmlns:a16="http://schemas.microsoft.com/office/drawing/2014/main" id="{5B03DB31-BFF5-742A-103D-ABE286F11EE7}"/>
              </a:ext>
            </a:extLst>
          </p:cNvPr>
          <p:cNvSpPr>
            <a:spLocks noGrp="1"/>
          </p:cNvSpPr>
          <p:nvPr>
            <p:ph type="ctrTitle"/>
          </p:nvPr>
        </p:nvSpPr>
        <p:spPr>
          <a:xfrm>
            <a:off x="1661161" y="262244"/>
            <a:ext cx="10100658" cy="1782797"/>
          </a:xfrm>
        </p:spPr>
        <p:txBody>
          <a:bodyPr rtlCol="0"/>
          <a:lstStyle>
            <a:defPPr>
              <a:defRPr lang="it-IT"/>
            </a:defPPr>
          </a:lstStyle>
          <a:p>
            <a:pPr algn="r"/>
            <a:r>
              <a:rPr lang="it-IT">
                <a:latin typeface="Aptos"/>
                <a:ea typeface="+mj-lt"/>
                <a:cs typeface="+mj-lt"/>
              </a:rPr>
              <a:t>Graphic </a:t>
            </a:r>
            <a:r>
              <a:rPr lang="it-IT" err="1">
                <a:latin typeface="Aptos"/>
                <a:ea typeface="+mj-lt"/>
                <a:cs typeface="+mj-lt"/>
              </a:rPr>
              <a:t>representation</a:t>
            </a:r>
            <a:endParaRPr lang="it-IT">
              <a:latin typeface="Aptos"/>
              <a:ea typeface="+mj-lt"/>
              <a:cs typeface="+mj-lt"/>
            </a:endParaRPr>
          </a:p>
        </p:txBody>
      </p:sp>
      <p:pic>
        <p:nvPicPr>
          <p:cNvPr id="6" name="Immagine 5" descr="Immagine che contiene testo, schermata, Carattere, linea&#10;&#10;Il contenuto generato dall&amp;#39;IA potrebbe non essere corretto.">
            <a:extLst>
              <a:ext uri="{FF2B5EF4-FFF2-40B4-BE49-F238E27FC236}">
                <a16:creationId xmlns:a16="http://schemas.microsoft.com/office/drawing/2014/main" id="{20672DDD-C28F-959C-BE0F-A741F2A043CB}"/>
              </a:ext>
            </a:extLst>
          </p:cNvPr>
          <p:cNvPicPr>
            <a:picLocks noChangeAspect="1"/>
          </p:cNvPicPr>
          <p:nvPr/>
        </p:nvPicPr>
        <p:blipFill>
          <a:blip r:embed="rId3"/>
          <a:srcRect l="4607" t="13250" r="2774" b="17367"/>
          <a:stretch>
            <a:fillRect/>
          </a:stretch>
        </p:blipFill>
        <p:spPr>
          <a:xfrm>
            <a:off x="5014762" y="2550160"/>
            <a:ext cx="6754925" cy="2854968"/>
          </a:xfrm>
          <a:prstGeom prst="rect">
            <a:avLst/>
          </a:prstGeom>
        </p:spPr>
      </p:pic>
    </p:spTree>
    <p:extLst>
      <p:ext uri="{BB962C8B-B14F-4D97-AF65-F5344CB8AC3E}">
        <p14:creationId xmlns:p14="http://schemas.microsoft.com/office/powerpoint/2010/main" val="565032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22160-2339-51E5-284D-94EAFA49FA3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0E09E5F-9C77-0522-8356-6C8938B823AA}"/>
              </a:ext>
            </a:extLst>
          </p:cNvPr>
          <p:cNvSpPr>
            <a:spLocks noGrp="1"/>
          </p:cNvSpPr>
          <p:nvPr>
            <p:ph type="title"/>
          </p:nvPr>
        </p:nvSpPr>
        <p:spPr>
          <a:xfrm>
            <a:off x="594360" y="310212"/>
            <a:ext cx="10803556" cy="1687030"/>
          </a:xfrm>
        </p:spPr>
        <p:txBody>
          <a:bodyPr/>
          <a:lstStyle/>
          <a:p>
            <a:r>
              <a:rPr lang="en-US" sz="5400">
                <a:latin typeface="Aptos"/>
                <a:ea typeface="+mj-lt"/>
                <a:cs typeface="+mj-lt"/>
              </a:rPr>
              <a:t>How we build positive/negative examples for classification</a:t>
            </a:r>
            <a:endParaRPr lang="it-IT" sz="5400">
              <a:latin typeface="Aptos"/>
            </a:endParaRPr>
          </a:p>
        </p:txBody>
      </p:sp>
      <p:sp>
        <p:nvSpPr>
          <p:cNvPr id="3" name="Segnaposto contenuto 2">
            <a:extLst>
              <a:ext uri="{FF2B5EF4-FFF2-40B4-BE49-F238E27FC236}">
                <a16:creationId xmlns:a16="http://schemas.microsoft.com/office/drawing/2014/main" id="{85DEC74E-EE34-F983-2EE1-62CBC634AEE9}"/>
              </a:ext>
            </a:extLst>
          </p:cNvPr>
          <p:cNvSpPr>
            <a:spLocks noGrp="1"/>
          </p:cNvSpPr>
          <p:nvPr>
            <p:ph sz="quarter" idx="15"/>
          </p:nvPr>
        </p:nvSpPr>
        <p:spPr>
          <a:xfrm>
            <a:off x="590597" y="2453005"/>
            <a:ext cx="5956701" cy="4217230"/>
          </a:xfrm>
        </p:spPr>
        <p:txBody>
          <a:bodyPr vert="horz" lIns="0" tIns="45720" rIns="0" bIns="0" rtlCol="0" anchor="t">
            <a:normAutofit/>
          </a:bodyPr>
          <a:lstStyle/>
          <a:p>
            <a:r>
              <a:rPr lang="en-US">
                <a:latin typeface="Aptos"/>
                <a:ea typeface="+mn-lt"/>
                <a:cs typeface="+mn-lt"/>
              </a:rPr>
              <a:t>Our starting dataset is made of </a:t>
            </a:r>
            <a:r>
              <a:rPr lang="en-US" b="1">
                <a:latin typeface="Aptos"/>
                <a:ea typeface="+mn-lt"/>
                <a:cs typeface="+mn-lt"/>
              </a:rPr>
              <a:t>paired sentences</a:t>
            </a:r>
            <a:r>
              <a:rPr lang="en-US">
                <a:latin typeface="Aptos"/>
                <a:ea typeface="+mn-lt"/>
                <a:cs typeface="+mn-lt"/>
              </a:rPr>
              <a:t>:</a:t>
            </a:r>
            <a:endParaRPr lang="it-IT">
              <a:latin typeface="Aptos"/>
            </a:endParaRPr>
          </a:p>
          <a:p>
            <a:pPr marL="285750" indent="-285750">
              <a:buFont typeface="Arial"/>
              <a:buChar char="•"/>
            </a:pPr>
            <a:r>
              <a:rPr lang="en-US" b="1" i="1" err="1">
                <a:latin typeface="Aptos"/>
                <a:ea typeface="+mn-lt"/>
                <a:cs typeface="+mn-lt"/>
              </a:rPr>
              <a:t>non_inclusiva</a:t>
            </a:r>
            <a:r>
              <a:rPr lang="en-US" i="1">
                <a:latin typeface="Aptos"/>
                <a:ea typeface="+mn-lt"/>
                <a:cs typeface="+mn-lt"/>
              </a:rPr>
              <a:t> (biased) → </a:t>
            </a:r>
            <a:r>
              <a:rPr lang="en-US" b="1" i="1" err="1">
                <a:latin typeface="Aptos"/>
                <a:ea typeface="+mn-lt"/>
                <a:cs typeface="+mn-lt"/>
              </a:rPr>
              <a:t>inclusiva</a:t>
            </a:r>
            <a:r>
              <a:rPr lang="en-US" i="1">
                <a:latin typeface="Aptos"/>
                <a:ea typeface="+mn-lt"/>
                <a:cs typeface="+mn-lt"/>
              </a:rPr>
              <a:t> (corrected)</a:t>
            </a:r>
            <a:endParaRPr lang="en-US" i="1">
              <a:latin typeface="Aptos"/>
            </a:endParaRPr>
          </a:p>
          <a:p>
            <a:r>
              <a:rPr lang="en-US">
                <a:latin typeface="Aptos"/>
                <a:ea typeface="+mn-lt"/>
                <a:cs typeface="+mn-lt"/>
              </a:rPr>
              <a:t>To train a </a:t>
            </a:r>
            <a:r>
              <a:rPr lang="en-US" b="1">
                <a:latin typeface="Aptos"/>
                <a:ea typeface="+mn-lt"/>
                <a:cs typeface="+mn-lt"/>
              </a:rPr>
              <a:t>binary classifier</a:t>
            </a:r>
            <a:r>
              <a:rPr lang="en-US">
                <a:latin typeface="Aptos"/>
                <a:ea typeface="+mn-lt"/>
                <a:cs typeface="+mn-lt"/>
              </a:rPr>
              <a:t>, we convert each pair into two labeled samples:</a:t>
            </a:r>
            <a:endParaRPr lang="en-US">
              <a:latin typeface="Aptos"/>
            </a:endParaRPr>
          </a:p>
          <a:p>
            <a:pPr marL="285750" indent="-285750">
              <a:buFont typeface="Arial"/>
              <a:buChar char="•"/>
            </a:pPr>
            <a:r>
              <a:rPr lang="en-US" b="1" i="1">
                <a:latin typeface="Aptos"/>
                <a:ea typeface="+mn-lt"/>
                <a:cs typeface="+mn-lt"/>
              </a:rPr>
              <a:t>Positive (label = 1, non-inclusive):</a:t>
            </a:r>
            <a:r>
              <a:rPr lang="en-US" i="1">
                <a:latin typeface="Aptos"/>
                <a:ea typeface="+mn-lt"/>
                <a:cs typeface="+mn-lt"/>
              </a:rPr>
              <a:t> we take the </a:t>
            </a:r>
            <a:r>
              <a:rPr lang="en-US" i="1" err="1">
                <a:latin typeface="Aptos"/>
                <a:ea typeface="+mn-lt"/>
                <a:cs typeface="+mn-lt"/>
              </a:rPr>
              <a:t>non_inclusiva</a:t>
            </a:r>
            <a:r>
              <a:rPr lang="en-US" i="1">
                <a:latin typeface="Aptos"/>
                <a:ea typeface="+mn-lt"/>
                <a:cs typeface="+mn-lt"/>
              </a:rPr>
              <a:t> sentence.</a:t>
            </a:r>
          </a:p>
          <a:p>
            <a:pPr marL="285750" indent="-285750">
              <a:buFont typeface="Arial"/>
              <a:buChar char="•"/>
            </a:pPr>
            <a:r>
              <a:rPr lang="en-US" b="1" i="1">
                <a:latin typeface="Aptos"/>
                <a:ea typeface="+mn-lt"/>
                <a:cs typeface="+mn-lt"/>
              </a:rPr>
              <a:t>Negative (label = 0, inclusive):</a:t>
            </a:r>
            <a:r>
              <a:rPr lang="en-US" i="1">
                <a:latin typeface="Aptos"/>
                <a:ea typeface="+mn-lt"/>
                <a:cs typeface="+mn-lt"/>
              </a:rPr>
              <a:t> we take the </a:t>
            </a:r>
            <a:r>
              <a:rPr lang="en-US" i="1" err="1">
                <a:latin typeface="Aptos"/>
                <a:ea typeface="+mn-lt"/>
                <a:cs typeface="+mn-lt"/>
              </a:rPr>
              <a:t>inclusiva</a:t>
            </a:r>
            <a:r>
              <a:rPr lang="en-US" i="1">
                <a:latin typeface="Aptos"/>
                <a:ea typeface="+mn-lt"/>
                <a:cs typeface="+mn-lt"/>
              </a:rPr>
              <a:t> sentence.</a:t>
            </a:r>
          </a:p>
          <a:p>
            <a:r>
              <a:rPr lang="en-US">
                <a:latin typeface="Aptos"/>
                <a:ea typeface="+mn-lt"/>
                <a:cs typeface="+mn-lt"/>
              </a:rPr>
              <a:t>This mapping guarantees balanced and consistent supervision from human-validated rewrites.</a:t>
            </a:r>
          </a:p>
          <a:p>
            <a:endParaRPr lang="en-US" sz="2400">
              <a:latin typeface="Aptos"/>
            </a:endParaRPr>
          </a:p>
        </p:txBody>
      </p:sp>
      <p:sp>
        <p:nvSpPr>
          <p:cNvPr id="4" name="CasellaDiTesto 3">
            <a:extLst>
              <a:ext uri="{FF2B5EF4-FFF2-40B4-BE49-F238E27FC236}">
                <a16:creationId xmlns:a16="http://schemas.microsoft.com/office/drawing/2014/main" id="{94840EB5-C3E6-F271-68C9-6A6F1C035909}"/>
              </a:ext>
            </a:extLst>
          </p:cNvPr>
          <p:cNvSpPr txBox="1"/>
          <p:nvPr/>
        </p:nvSpPr>
        <p:spPr>
          <a:xfrm>
            <a:off x="6998735" y="2453640"/>
            <a:ext cx="4399280"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000" b="1" baseline="0">
                <a:solidFill>
                  <a:schemeClr val="bg1"/>
                </a:solidFill>
                <a:latin typeface="Aptos"/>
                <a:ea typeface="Segoe UI"/>
                <a:cs typeface="Segoe UI"/>
              </a:rPr>
              <a:t>Example (Italian pair)</a:t>
            </a:r>
            <a:r>
              <a:rPr lang="en-US" sz="2000">
                <a:solidFill>
                  <a:schemeClr val="bg1"/>
                </a:solidFill>
                <a:latin typeface="Aptos"/>
                <a:ea typeface="Segoe UI"/>
                <a:cs typeface="Segoe UI"/>
              </a:rPr>
              <a:t>​</a:t>
            </a:r>
            <a:endParaRPr lang="it-IT">
              <a:latin typeface="Aptos"/>
            </a:endParaRPr>
          </a:p>
          <a:p>
            <a:endParaRPr lang="en-US" sz="600">
              <a:solidFill>
                <a:schemeClr val="bg1"/>
              </a:solidFill>
              <a:latin typeface="Aptos"/>
              <a:ea typeface="Arial"/>
              <a:cs typeface="Segoe UI"/>
            </a:endParaRPr>
          </a:p>
          <a:p>
            <a:r>
              <a:rPr lang="en-US" sz="2000" baseline="0">
                <a:solidFill>
                  <a:schemeClr val="bg1"/>
                </a:solidFill>
                <a:latin typeface="Aptos"/>
                <a:ea typeface="Arial"/>
                <a:cs typeface="Arial"/>
              </a:rPr>
              <a:t>label=1: </a:t>
            </a:r>
            <a:r>
              <a:rPr lang="en-US" baseline="0">
                <a:solidFill>
                  <a:schemeClr val="bg1"/>
                </a:solidFill>
                <a:latin typeface="Aptos"/>
                <a:ea typeface="Arial"/>
                <a:cs typeface="Arial"/>
              </a:rPr>
              <a:t>“</a:t>
            </a:r>
            <a:r>
              <a:rPr lang="en-US" err="1">
                <a:solidFill>
                  <a:schemeClr val="bg1"/>
                </a:solidFill>
                <a:latin typeface="Aptos"/>
                <a:ea typeface="Arial"/>
                <a:cs typeface="Arial"/>
              </a:rPr>
              <a:t>G</a:t>
            </a:r>
            <a:r>
              <a:rPr lang="en-US" err="1">
                <a:solidFill>
                  <a:srgbClr val="111827"/>
                </a:solidFill>
                <a:latin typeface="Aptos"/>
                <a:ea typeface="Arial"/>
                <a:cs typeface="Arial"/>
              </a:rPr>
              <a:t>li</a:t>
            </a:r>
            <a:r>
              <a:rPr lang="en-US">
                <a:solidFill>
                  <a:srgbClr val="111827"/>
                </a:solidFill>
                <a:latin typeface="Aptos"/>
                <a:ea typeface="+mn-lt"/>
                <a:cs typeface="+mn-lt"/>
              </a:rPr>
              <a:t> </a:t>
            </a:r>
            <a:r>
              <a:rPr lang="en-US" err="1">
                <a:solidFill>
                  <a:srgbClr val="111827"/>
                </a:solidFill>
                <a:latin typeface="Aptos"/>
                <a:ea typeface="+mn-lt"/>
                <a:cs typeface="+mn-lt"/>
              </a:rPr>
              <a:t>ingegneri</a:t>
            </a:r>
            <a:r>
              <a:rPr lang="en-US" baseline="0">
                <a:solidFill>
                  <a:srgbClr val="111827"/>
                </a:solidFill>
                <a:latin typeface="Aptos"/>
                <a:ea typeface="+mn-lt"/>
                <a:cs typeface="+mn-lt"/>
              </a:rPr>
              <a:t> </a:t>
            </a:r>
            <a:r>
              <a:rPr lang="en-US" baseline="0" err="1">
                <a:solidFill>
                  <a:srgbClr val="111827"/>
                </a:solidFill>
                <a:latin typeface="Aptos"/>
                <a:ea typeface="+mn-lt"/>
                <a:cs typeface="+mn-lt"/>
              </a:rPr>
              <a:t>sono</a:t>
            </a:r>
            <a:r>
              <a:rPr lang="en-US" baseline="0">
                <a:solidFill>
                  <a:srgbClr val="111827"/>
                </a:solidFill>
                <a:latin typeface="Aptos"/>
                <a:ea typeface="+mn-lt"/>
                <a:cs typeface="+mn-lt"/>
              </a:rPr>
              <a:t> </a:t>
            </a:r>
            <a:r>
              <a:rPr lang="en-US" baseline="0" err="1">
                <a:solidFill>
                  <a:srgbClr val="111827"/>
                </a:solidFill>
                <a:latin typeface="Aptos"/>
                <a:ea typeface="+mn-lt"/>
                <a:cs typeface="+mn-lt"/>
              </a:rPr>
              <a:t>più</a:t>
            </a:r>
            <a:r>
              <a:rPr lang="en-US" baseline="0">
                <a:solidFill>
                  <a:srgbClr val="111827"/>
                </a:solidFill>
                <a:latin typeface="Aptos"/>
                <a:ea typeface="+mn-lt"/>
                <a:cs typeface="+mn-lt"/>
              </a:rPr>
              <a:t> </a:t>
            </a:r>
            <a:r>
              <a:rPr lang="en-US" baseline="0" err="1">
                <a:solidFill>
                  <a:srgbClr val="111827"/>
                </a:solidFill>
                <a:latin typeface="Aptos"/>
                <a:ea typeface="+mn-lt"/>
                <a:cs typeface="+mn-lt"/>
              </a:rPr>
              <a:t>portati</a:t>
            </a:r>
            <a:r>
              <a:rPr lang="en-US" baseline="0">
                <a:solidFill>
                  <a:srgbClr val="111827"/>
                </a:solidFill>
                <a:latin typeface="Aptos"/>
                <a:ea typeface="+mn-lt"/>
                <a:cs typeface="+mn-lt"/>
              </a:rPr>
              <a:t> </a:t>
            </a:r>
            <a:r>
              <a:rPr lang="en-US" err="1">
                <a:solidFill>
                  <a:srgbClr val="111827"/>
                </a:solidFill>
                <a:latin typeface="Aptos"/>
                <a:ea typeface="+mn-lt"/>
                <a:cs typeface="+mn-lt"/>
              </a:rPr>
              <a:t>sulla</a:t>
            </a:r>
            <a:r>
              <a:rPr lang="en-US">
                <a:solidFill>
                  <a:srgbClr val="111827"/>
                </a:solidFill>
                <a:latin typeface="Aptos"/>
                <a:ea typeface="+mn-lt"/>
                <a:cs typeface="+mn-lt"/>
              </a:rPr>
              <a:t> </a:t>
            </a:r>
            <a:r>
              <a:rPr lang="en-US" baseline="0" err="1">
                <a:solidFill>
                  <a:srgbClr val="111827"/>
                </a:solidFill>
                <a:latin typeface="Aptos"/>
                <a:ea typeface="+mn-lt"/>
                <a:cs typeface="+mn-lt"/>
              </a:rPr>
              <a:t>logica</a:t>
            </a:r>
            <a:r>
              <a:rPr lang="en-US">
                <a:solidFill>
                  <a:srgbClr val="111827"/>
                </a:solidFill>
                <a:latin typeface="Aptos"/>
                <a:ea typeface="+mn-lt"/>
                <a:cs typeface="+mn-lt"/>
              </a:rPr>
              <a:t>.</a:t>
            </a:r>
            <a:r>
              <a:rPr lang="en-US">
                <a:solidFill>
                  <a:schemeClr val="bg1"/>
                </a:solidFill>
                <a:latin typeface="Aptos"/>
                <a:ea typeface="+mn-lt"/>
                <a:cs typeface="Arial"/>
              </a:rPr>
              <a:t>”</a:t>
            </a:r>
            <a:endParaRPr lang="en-US">
              <a:solidFill>
                <a:schemeClr val="bg1"/>
              </a:solidFill>
              <a:latin typeface="Aptos"/>
              <a:ea typeface="Arial"/>
              <a:cs typeface="Arial"/>
            </a:endParaRPr>
          </a:p>
          <a:p>
            <a:endParaRPr lang="en-US">
              <a:solidFill>
                <a:schemeClr val="bg1"/>
              </a:solidFill>
              <a:latin typeface="Aptos"/>
              <a:ea typeface="Arial"/>
              <a:cs typeface="Arial"/>
            </a:endParaRPr>
          </a:p>
          <a:p>
            <a:endParaRPr lang="en-US" sz="2000">
              <a:solidFill>
                <a:schemeClr val="bg1"/>
              </a:solidFill>
              <a:latin typeface="Aptos"/>
              <a:ea typeface="Arial"/>
              <a:cs typeface="Arial"/>
            </a:endParaRPr>
          </a:p>
          <a:p>
            <a:endParaRPr lang="en-US" sz="2000">
              <a:solidFill>
                <a:schemeClr val="bg1"/>
              </a:solidFill>
              <a:latin typeface="Aptos"/>
              <a:ea typeface="Arial"/>
              <a:cs typeface="Arial"/>
            </a:endParaRPr>
          </a:p>
          <a:p>
            <a:r>
              <a:rPr lang="en-US" sz="2000" baseline="0">
                <a:solidFill>
                  <a:schemeClr val="bg1"/>
                </a:solidFill>
                <a:latin typeface="Aptos"/>
                <a:ea typeface="Arial"/>
                <a:cs typeface="Arial"/>
              </a:rPr>
              <a:t>label=0: </a:t>
            </a:r>
            <a:r>
              <a:rPr lang="en-US" baseline="0">
                <a:solidFill>
                  <a:schemeClr val="bg1"/>
                </a:solidFill>
                <a:latin typeface="Aptos"/>
                <a:ea typeface="Arial"/>
                <a:cs typeface="Arial"/>
              </a:rPr>
              <a:t>“</a:t>
            </a:r>
            <a:r>
              <a:rPr lang="en-US">
                <a:solidFill>
                  <a:schemeClr val="bg1"/>
                </a:solidFill>
                <a:latin typeface="Aptos"/>
                <a:ea typeface="Arial"/>
                <a:cs typeface="Arial"/>
              </a:rPr>
              <a:t>le </a:t>
            </a:r>
            <a:r>
              <a:rPr lang="en-US" err="1">
                <a:solidFill>
                  <a:schemeClr val="bg1"/>
                </a:solidFill>
                <a:latin typeface="Aptos"/>
                <a:ea typeface="Arial"/>
                <a:cs typeface="Arial"/>
              </a:rPr>
              <a:t>capacità</a:t>
            </a:r>
            <a:r>
              <a:rPr lang="en-US">
                <a:solidFill>
                  <a:schemeClr val="bg1"/>
                </a:solidFill>
                <a:latin typeface="Aptos"/>
                <a:ea typeface="Arial"/>
                <a:cs typeface="Arial"/>
              </a:rPr>
              <a:t> di </a:t>
            </a:r>
            <a:r>
              <a:rPr lang="en-US" baseline="0" err="1">
                <a:solidFill>
                  <a:schemeClr val="bg1"/>
                </a:solidFill>
                <a:latin typeface="Aptos"/>
                <a:ea typeface="Arial"/>
                <a:cs typeface="Arial"/>
              </a:rPr>
              <a:t>logica</a:t>
            </a:r>
            <a:r>
              <a:rPr lang="en-US">
                <a:solidFill>
                  <a:schemeClr val="bg1"/>
                </a:solidFill>
                <a:latin typeface="Aptos"/>
                <a:ea typeface="Arial"/>
                <a:cs typeface="Arial"/>
              </a:rPr>
              <a:t> </a:t>
            </a:r>
            <a:r>
              <a:rPr lang="en-US" err="1">
                <a:solidFill>
                  <a:schemeClr val="bg1"/>
                </a:solidFill>
                <a:latin typeface="Aptos"/>
                <a:ea typeface="Arial"/>
                <a:cs typeface="Arial"/>
              </a:rPr>
              <a:t>variano</a:t>
            </a:r>
            <a:r>
              <a:rPr lang="en-US">
                <a:solidFill>
                  <a:schemeClr val="bg1"/>
                </a:solidFill>
                <a:latin typeface="Aptos"/>
                <a:ea typeface="Arial"/>
                <a:cs typeface="Arial"/>
              </a:rPr>
              <a:t> da </a:t>
            </a:r>
            <a:r>
              <a:rPr lang="en-US" err="1">
                <a:solidFill>
                  <a:schemeClr val="bg1"/>
                </a:solidFill>
                <a:latin typeface="Aptos"/>
                <a:ea typeface="Arial"/>
                <a:cs typeface="Arial"/>
              </a:rPr>
              <a:t>individuo</a:t>
            </a:r>
            <a:r>
              <a:rPr lang="en-US">
                <a:solidFill>
                  <a:schemeClr val="bg1"/>
                </a:solidFill>
                <a:latin typeface="Aptos"/>
                <a:ea typeface="Arial"/>
                <a:cs typeface="Arial"/>
              </a:rPr>
              <a:t> a </a:t>
            </a:r>
            <a:r>
              <a:rPr lang="en-US" err="1">
                <a:solidFill>
                  <a:schemeClr val="bg1"/>
                </a:solidFill>
                <a:latin typeface="Aptos"/>
                <a:ea typeface="Arial"/>
                <a:cs typeface="Arial"/>
              </a:rPr>
              <a:t>individuo</a:t>
            </a:r>
            <a:r>
              <a:rPr lang="en-US">
                <a:solidFill>
                  <a:schemeClr val="bg1"/>
                </a:solidFill>
                <a:latin typeface="Aptos"/>
                <a:ea typeface="Arial"/>
                <a:cs typeface="Arial"/>
              </a:rPr>
              <a:t>, </a:t>
            </a:r>
            <a:r>
              <a:rPr lang="en-US" err="1">
                <a:solidFill>
                  <a:schemeClr val="bg1"/>
                </a:solidFill>
                <a:latin typeface="Aptos"/>
                <a:ea typeface="Arial"/>
                <a:cs typeface="Arial"/>
              </a:rPr>
              <a:t>indipendentemente</a:t>
            </a:r>
            <a:r>
              <a:rPr lang="en-US">
                <a:solidFill>
                  <a:schemeClr val="bg1"/>
                </a:solidFill>
                <a:latin typeface="Aptos"/>
                <a:ea typeface="Arial"/>
                <a:cs typeface="Arial"/>
              </a:rPr>
              <a:t> dal </a:t>
            </a:r>
            <a:r>
              <a:rPr lang="en-US" err="1">
                <a:solidFill>
                  <a:schemeClr val="bg1"/>
                </a:solidFill>
                <a:latin typeface="Aptos"/>
                <a:ea typeface="Arial"/>
                <a:cs typeface="Arial"/>
              </a:rPr>
              <a:t>genere</a:t>
            </a:r>
            <a:r>
              <a:rPr lang="en-US" baseline="0">
                <a:solidFill>
                  <a:schemeClr val="bg1"/>
                </a:solidFill>
                <a:latin typeface="Aptos"/>
                <a:ea typeface="Arial"/>
                <a:cs typeface="Arial"/>
              </a:rPr>
              <a:t>.”</a:t>
            </a:r>
            <a:endParaRPr lang="en-US">
              <a:solidFill>
                <a:schemeClr val="bg1"/>
              </a:solidFill>
            </a:endParaRPr>
          </a:p>
          <a:p>
            <a:pPr algn="ctr"/>
            <a:endParaRPr lang="it-IT">
              <a:solidFill>
                <a:schemeClr val="bg1"/>
              </a:solidFill>
              <a:latin typeface="Aptos"/>
            </a:endParaRPr>
          </a:p>
        </p:txBody>
      </p:sp>
      <p:cxnSp>
        <p:nvCxnSpPr>
          <p:cNvPr id="6" name="Connettore 2 5">
            <a:extLst>
              <a:ext uri="{FF2B5EF4-FFF2-40B4-BE49-F238E27FC236}">
                <a16:creationId xmlns:a16="http://schemas.microsoft.com/office/drawing/2014/main" id="{CA139755-D564-04E6-B0C1-8A90FA5F18C3}"/>
              </a:ext>
            </a:extLst>
          </p:cNvPr>
          <p:cNvCxnSpPr/>
          <p:nvPr/>
        </p:nvCxnSpPr>
        <p:spPr>
          <a:xfrm>
            <a:off x="9038637" y="3432293"/>
            <a:ext cx="12699" cy="91863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8636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0BD29B5-1B58-809F-FEA7-B82105E94664}"/>
              </a:ext>
            </a:extLst>
          </p:cNvPr>
          <p:cNvSpPr>
            <a:spLocks noGrp="1"/>
          </p:cNvSpPr>
          <p:nvPr>
            <p:ph type="title"/>
          </p:nvPr>
        </p:nvSpPr>
        <p:spPr>
          <a:xfrm>
            <a:off x="448762" y="224590"/>
            <a:ext cx="8744642" cy="2138136"/>
          </a:xfrm>
        </p:spPr>
        <p:txBody>
          <a:bodyPr rtlCol="0"/>
          <a:lstStyle>
            <a:defPPr>
              <a:defRPr lang="it-IT"/>
            </a:defPPr>
          </a:lstStyle>
          <a:p>
            <a:r>
              <a:rPr lang="it-IT" sz="6000">
                <a:latin typeface="Aptos" panose="020B0004020202020204" pitchFamily="34" charset="0"/>
              </a:rPr>
              <a:t>Development </a:t>
            </a:r>
            <a:r>
              <a:rPr lang="it-IT" sz="6000" err="1">
                <a:latin typeface="Aptos" panose="020B0004020202020204" pitchFamily="34" charset="0"/>
              </a:rPr>
              <a:t>environment</a:t>
            </a:r>
            <a:r>
              <a:rPr lang="it-IT" sz="6000">
                <a:latin typeface="Aptos" panose="020B0004020202020204" pitchFamily="34" charset="0"/>
              </a:rPr>
              <a:t> and compute</a:t>
            </a:r>
          </a:p>
        </p:txBody>
      </p:sp>
      <p:sp>
        <p:nvSpPr>
          <p:cNvPr id="4" name="Segnaposto contenuto 3">
            <a:extLst>
              <a:ext uri="{FF2B5EF4-FFF2-40B4-BE49-F238E27FC236}">
                <a16:creationId xmlns:a16="http://schemas.microsoft.com/office/drawing/2014/main" id="{07C3632C-2D2E-7026-33B8-EE42DA4BDB5C}"/>
              </a:ext>
            </a:extLst>
          </p:cNvPr>
          <p:cNvSpPr>
            <a:spLocks noGrp="1"/>
          </p:cNvSpPr>
          <p:nvPr>
            <p:ph sz="quarter" idx="14"/>
          </p:nvPr>
        </p:nvSpPr>
        <p:spPr>
          <a:xfrm>
            <a:off x="7007240" y="5520477"/>
            <a:ext cx="2075458" cy="534035"/>
          </a:xfrm>
        </p:spPr>
        <p:txBody>
          <a:bodyPr rtlCol="0">
            <a:normAutofit fontScale="70000" lnSpcReduction="20000"/>
          </a:bodyPr>
          <a:lstStyle>
            <a:defPPr>
              <a:defRPr lang="it-IT"/>
            </a:defPPr>
          </a:lstStyle>
          <a:p>
            <a:pPr marL="0" indent="0">
              <a:buNone/>
            </a:pPr>
            <a:r>
              <a:rPr lang="it-IT" b="1">
                <a:latin typeface="Aptos" panose="020B0004020202020204" pitchFamily="34" charset="0"/>
              </a:rPr>
              <a:t>Google </a:t>
            </a:r>
            <a:r>
              <a:rPr lang="it-IT" b="1" err="1">
                <a:latin typeface="Aptos" panose="020B0004020202020204" pitchFamily="34" charset="0"/>
              </a:rPr>
              <a:t>Colab</a:t>
            </a:r>
            <a:r>
              <a:rPr lang="it-IT" b="1">
                <a:latin typeface="Aptos" panose="020B0004020202020204" pitchFamily="34" charset="0"/>
              </a:rPr>
              <a:t> (GPU T4)</a:t>
            </a:r>
          </a:p>
        </p:txBody>
      </p:sp>
      <p:sp>
        <p:nvSpPr>
          <p:cNvPr id="3" name="Segnaposto contenuto 2">
            <a:extLst>
              <a:ext uri="{FF2B5EF4-FFF2-40B4-BE49-F238E27FC236}">
                <a16:creationId xmlns:a16="http://schemas.microsoft.com/office/drawing/2014/main" id="{8B599B60-BF79-A832-6AD4-6C6FC6CE4317}"/>
              </a:ext>
            </a:extLst>
          </p:cNvPr>
          <p:cNvSpPr>
            <a:spLocks noGrp="1"/>
          </p:cNvSpPr>
          <p:nvPr>
            <p:ph sz="quarter" idx="15"/>
          </p:nvPr>
        </p:nvSpPr>
        <p:spPr>
          <a:xfrm>
            <a:off x="448763" y="2649382"/>
            <a:ext cx="6558477" cy="3691786"/>
          </a:xfrm>
        </p:spPr>
        <p:txBody>
          <a:bodyPr vert="horz" lIns="0" tIns="45720" rIns="0" bIns="0" rtlCol="0" anchor="t">
            <a:normAutofit/>
          </a:bodyPr>
          <a:lstStyle>
            <a:defPPr>
              <a:defRPr lang="it-IT"/>
            </a:defPPr>
          </a:lstStyle>
          <a:p>
            <a:r>
              <a:rPr lang="en-US" sz="2400" b="1">
                <a:latin typeface="Aptos"/>
              </a:rPr>
              <a:t>Training </a:t>
            </a:r>
            <a:r>
              <a:rPr lang="en-US" sz="2400">
                <a:latin typeface="Aptos"/>
              </a:rPr>
              <a:t>and </a:t>
            </a:r>
            <a:r>
              <a:rPr lang="en-US" sz="2400" b="1">
                <a:latin typeface="Aptos"/>
              </a:rPr>
              <a:t>Experiments </a:t>
            </a:r>
            <a:r>
              <a:rPr lang="en-US" sz="2400">
                <a:latin typeface="Aptos"/>
              </a:rPr>
              <a:t>were run in cloud notebooks for reproducibility and GPU availability. </a:t>
            </a:r>
          </a:p>
          <a:p>
            <a:r>
              <a:rPr lang="en-US" sz="2400">
                <a:latin typeface="Aptos"/>
              </a:rPr>
              <a:t>Classifiers were fine-tuned on </a:t>
            </a:r>
            <a:r>
              <a:rPr lang="en-US" sz="2400" b="1">
                <a:latin typeface="Aptos"/>
              </a:rPr>
              <a:t>Google </a:t>
            </a:r>
            <a:r>
              <a:rPr lang="en-US" sz="2400" b="1" err="1">
                <a:latin typeface="Aptos"/>
              </a:rPr>
              <a:t>Colab</a:t>
            </a:r>
            <a:r>
              <a:rPr lang="en-US" sz="2400">
                <a:latin typeface="Aptos"/>
              </a:rPr>
              <a:t> (T4 GPU), while the more memory-intensive seq2seq rewriters were trained on </a:t>
            </a:r>
            <a:r>
              <a:rPr lang="en-US" sz="2400" b="1">
                <a:latin typeface="Aptos"/>
              </a:rPr>
              <a:t>Kaggle </a:t>
            </a:r>
            <a:r>
              <a:rPr lang="en-US" sz="2400">
                <a:latin typeface="Aptos"/>
              </a:rPr>
              <a:t>(P100 GPU). </a:t>
            </a:r>
          </a:p>
          <a:p>
            <a:r>
              <a:rPr lang="en-US" sz="2400">
                <a:latin typeface="Aptos"/>
              </a:rPr>
              <a:t>This split made it possible to train heavier models (T5-family) without compromising iteration speed on the classification side.</a:t>
            </a:r>
            <a:endParaRPr lang="it-IT" sz="2400">
              <a:latin typeface="Aptos"/>
            </a:endParaRPr>
          </a:p>
        </p:txBody>
      </p:sp>
      <p:pic>
        <p:nvPicPr>
          <p:cNvPr id="4098" name="Picture 2">
            <a:extLst>
              <a:ext uri="{FF2B5EF4-FFF2-40B4-BE49-F238E27FC236}">
                <a16:creationId xmlns:a16="http://schemas.microsoft.com/office/drawing/2014/main" id="{E99ADFB7-F2E7-52B7-40BC-A36CE245B9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4098" y="4256768"/>
            <a:ext cx="2459306" cy="151601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cona di Kaggle logo">
            <a:extLst>
              <a:ext uri="{FF2B5EF4-FFF2-40B4-BE49-F238E27FC236}">
                <a16:creationId xmlns:a16="http://schemas.microsoft.com/office/drawing/2014/main" id="{645F76C6-5986-0B3C-8714-CADA844D18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74630" y="4370917"/>
            <a:ext cx="2827502" cy="1413751"/>
          </a:xfrm>
          <a:prstGeom prst="rect">
            <a:avLst/>
          </a:prstGeom>
          <a:noFill/>
          <a:extLst>
            <a:ext uri="{909E8E84-426E-40DD-AFC4-6F175D3DCCD1}">
              <a14:hiddenFill xmlns:a14="http://schemas.microsoft.com/office/drawing/2010/main">
                <a:solidFill>
                  <a:srgbClr val="FFFFFF"/>
                </a:solidFill>
              </a14:hiddenFill>
            </a:ext>
          </a:extLst>
        </p:spPr>
      </p:pic>
      <p:sp>
        <p:nvSpPr>
          <p:cNvPr id="5" name="Segnaposto contenuto 3">
            <a:extLst>
              <a:ext uri="{FF2B5EF4-FFF2-40B4-BE49-F238E27FC236}">
                <a16:creationId xmlns:a16="http://schemas.microsoft.com/office/drawing/2014/main" id="{6EC71322-CF13-7159-F620-18EF48FA881A}"/>
              </a:ext>
            </a:extLst>
          </p:cNvPr>
          <p:cNvSpPr txBox="1">
            <a:spLocks/>
          </p:cNvSpPr>
          <p:nvPr/>
        </p:nvSpPr>
        <p:spPr>
          <a:xfrm>
            <a:off x="9901428" y="5509423"/>
            <a:ext cx="1783852" cy="545089"/>
          </a:xfrm>
          <a:prstGeom prst="rect">
            <a:avLst/>
          </a:prstGeom>
        </p:spPr>
        <p:txBody>
          <a:bodyPr vert="horz" lIns="0" tIns="274320" rIns="91440" bIns="45720" rtlCol="0">
            <a:normAutofit fontScale="77500" lnSpcReduction="20000"/>
          </a:bodyPr>
          <a:lstStyle>
            <a:defPPr>
              <a:defRPr lang="it-IT"/>
            </a:defPPr>
            <a:lvl1pPr marL="457200" indent="-457200" algn="l" defTabSz="914400" rtl="0" eaLnBrk="1" latinLnBrk="0" hangingPunct="1">
              <a:lnSpc>
                <a:spcPct val="90000"/>
              </a:lnSpc>
              <a:spcBef>
                <a:spcPts val="1800"/>
              </a:spcBef>
              <a:buFont typeface="+mj-lt"/>
              <a:buAutoNum type="arabicPeriod"/>
              <a:defRPr lang="it-IT" sz="2000" b="0" i="0" kern="1200">
                <a:solidFill>
                  <a:schemeClr val="bg1"/>
                </a:solidFill>
                <a:latin typeface="+mn-lt"/>
                <a:ea typeface="+mn-ea"/>
                <a:cs typeface="+mn-cs"/>
              </a:defRPr>
            </a:lvl1pPr>
            <a:lvl2pPr marL="914400" indent="-457200" algn="l" defTabSz="914400" rtl="0" eaLnBrk="1" latinLnBrk="0" hangingPunct="1">
              <a:lnSpc>
                <a:spcPct val="90000"/>
              </a:lnSpc>
              <a:spcBef>
                <a:spcPts val="1800"/>
              </a:spcBef>
              <a:buFont typeface="+mj-lt"/>
              <a:buAutoNum type="alphaLcPeriod"/>
              <a:defRPr lang="it-IT" sz="2000" b="0" i="0" kern="1200">
                <a:solidFill>
                  <a:schemeClr val="bg1"/>
                </a:solidFill>
                <a:latin typeface="+mn-lt"/>
                <a:ea typeface="+mn-ea"/>
                <a:cs typeface="+mn-cs"/>
              </a:defRPr>
            </a:lvl2pPr>
            <a:lvl3pPr marL="1371600" indent="-457200" algn="l" defTabSz="914400" rtl="0" eaLnBrk="1" latinLnBrk="0" hangingPunct="1">
              <a:lnSpc>
                <a:spcPct val="90000"/>
              </a:lnSpc>
              <a:spcBef>
                <a:spcPts val="1800"/>
              </a:spcBef>
              <a:buFont typeface="+mj-lt"/>
              <a:buAutoNum type="arabicParenR"/>
              <a:defRPr lang="it-IT" sz="2000" b="0" i="0" kern="1200">
                <a:solidFill>
                  <a:schemeClr val="bg1"/>
                </a:solidFill>
                <a:latin typeface="+mn-lt"/>
                <a:ea typeface="+mn-ea"/>
                <a:cs typeface="+mn-cs"/>
              </a:defRPr>
            </a:lvl3pPr>
            <a:lvl4pPr marL="1371600" indent="0" algn="l" defTabSz="914400" rtl="0" eaLnBrk="1" latinLnBrk="0" hangingPunct="1">
              <a:lnSpc>
                <a:spcPct val="90000"/>
              </a:lnSpc>
              <a:spcBef>
                <a:spcPts val="1800"/>
              </a:spcBef>
              <a:buFont typeface="+mj-lt"/>
              <a:buNone/>
              <a:defRPr lang="it-IT" sz="2000" b="0" i="0" kern="1200">
                <a:solidFill>
                  <a:schemeClr val="bg1"/>
                </a:solidFill>
                <a:latin typeface="+mn-lt"/>
                <a:ea typeface="+mn-ea"/>
                <a:cs typeface="+mn-cs"/>
              </a:defRPr>
            </a:lvl4pPr>
            <a:lvl5pPr marL="2286000" indent="-457200" algn="l" defTabSz="914400" rtl="0" eaLnBrk="1" latinLnBrk="0" hangingPunct="1">
              <a:lnSpc>
                <a:spcPct val="90000"/>
              </a:lnSpc>
              <a:spcBef>
                <a:spcPts val="1800"/>
              </a:spcBef>
              <a:buFont typeface="+mj-lt"/>
              <a:buAutoNum type="arabicPeriod"/>
              <a:defRPr lang="it-IT"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a:lstStyle>
          <a:p>
            <a:pPr marL="0" indent="0">
              <a:buNone/>
            </a:pPr>
            <a:r>
              <a:rPr lang="it-IT" b="1" err="1">
                <a:latin typeface="Aptos" panose="020B0004020202020204" pitchFamily="34" charset="0"/>
              </a:rPr>
              <a:t>Kaggle</a:t>
            </a:r>
            <a:r>
              <a:rPr lang="it-IT" b="1">
                <a:latin typeface="Aptos" panose="020B0004020202020204" pitchFamily="34" charset="0"/>
              </a:rPr>
              <a:t> (GPU P100)</a:t>
            </a:r>
            <a:endParaRPr lang="it-IT">
              <a:latin typeface="Aptos" panose="020B0004020202020204" pitchFamily="34" charset="0"/>
            </a:endParaRPr>
          </a:p>
        </p:txBody>
      </p:sp>
    </p:spTree>
    <p:extLst>
      <p:ext uri="{BB962C8B-B14F-4D97-AF65-F5344CB8AC3E}">
        <p14:creationId xmlns:p14="http://schemas.microsoft.com/office/powerpoint/2010/main" val="3088225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1D583-3AFE-3087-90EF-8C7A57B68D5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2B51E27-AC5E-865B-F53F-F2A90BD0EC1E}"/>
              </a:ext>
            </a:extLst>
          </p:cNvPr>
          <p:cNvSpPr>
            <a:spLocks noGrp="1"/>
          </p:cNvSpPr>
          <p:nvPr>
            <p:ph type="title"/>
          </p:nvPr>
        </p:nvSpPr>
        <p:spPr>
          <a:xfrm>
            <a:off x="594360" y="310212"/>
            <a:ext cx="10803556" cy="1687030"/>
          </a:xfrm>
        </p:spPr>
        <p:txBody>
          <a:bodyPr/>
          <a:lstStyle/>
          <a:p>
            <a:r>
              <a:rPr lang="en-US" sz="6000">
                <a:latin typeface="Aptos"/>
                <a:ea typeface="+mj-lt"/>
                <a:cs typeface="+mj-lt"/>
              </a:rPr>
              <a:t>Evaluation Metrics</a:t>
            </a:r>
            <a:endParaRPr lang="it-IT"/>
          </a:p>
        </p:txBody>
      </p:sp>
      <p:sp>
        <p:nvSpPr>
          <p:cNvPr id="3" name="Segnaposto contenuto 2">
            <a:extLst>
              <a:ext uri="{FF2B5EF4-FFF2-40B4-BE49-F238E27FC236}">
                <a16:creationId xmlns:a16="http://schemas.microsoft.com/office/drawing/2014/main" id="{426FBDEE-79FC-B2EA-9179-38EBB318108D}"/>
              </a:ext>
            </a:extLst>
          </p:cNvPr>
          <p:cNvSpPr>
            <a:spLocks noGrp="1"/>
          </p:cNvSpPr>
          <p:nvPr>
            <p:ph sz="quarter" idx="15"/>
          </p:nvPr>
        </p:nvSpPr>
        <p:spPr>
          <a:xfrm>
            <a:off x="594360" y="2676525"/>
            <a:ext cx="10777525" cy="4115054"/>
          </a:xfrm>
        </p:spPr>
        <p:txBody>
          <a:bodyPr vert="horz" lIns="0" tIns="45720" rIns="0" bIns="0" rtlCol="0" anchor="t">
            <a:normAutofit/>
          </a:bodyPr>
          <a:lstStyle/>
          <a:p>
            <a:r>
              <a:rPr lang="en-US" sz="2400">
                <a:latin typeface="Aptos"/>
                <a:ea typeface="+mn-lt"/>
                <a:cs typeface="+mn-lt"/>
              </a:rPr>
              <a:t>Rewriting quality cannot be judged with a single “right vs wrong” score: multiple inclusive rewrites can be correct. We therefore use complementary metrics:</a:t>
            </a:r>
            <a:endParaRPr lang="it-IT" sz="2400">
              <a:latin typeface="Aptos"/>
            </a:endParaRPr>
          </a:p>
          <a:p>
            <a:pPr>
              <a:buFont typeface="Arial" panose="020B0604020202020204" pitchFamily="34" charset="0"/>
              <a:buChar char="•"/>
            </a:pPr>
            <a:r>
              <a:rPr lang="en-US" sz="2400" b="1">
                <a:latin typeface="Aptos"/>
                <a:ea typeface="+mn-lt"/>
                <a:cs typeface="+mn-lt"/>
              </a:rPr>
              <a:t>ROUGE:</a:t>
            </a:r>
            <a:r>
              <a:rPr lang="en-US" sz="2400">
                <a:latin typeface="Aptos"/>
                <a:ea typeface="+mn-lt"/>
                <a:cs typeface="+mn-lt"/>
              </a:rPr>
              <a:t> measures content overlap / recall with the human reference.</a:t>
            </a:r>
          </a:p>
          <a:p>
            <a:pPr>
              <a:buFont typeface="Arial" panose="020B0604020202020204" pitchFamily="34" charset="0"/>
              <a:buChar char="•"/>
            </a:pPr>
            <a:r>
              <a:rPr lang="en-US" sz="2400" b="1">
                <a:latin typeface="Aptos"/>
                <a:ea typeface="+mn-lt"/>
                <a:cs typeface="+mn-lt"/>
              </a:rPr>
              <a:t>BLEU:</a:t>
            </a:r>
            <a:r>
              <a:rPr lang="en-US" sz="2400">
                <a:latin typeface="Aptos"/>
                <a:ea typeface="+mn-lt"/>
                <a:cs typeface="+mn-lt"/>
              </a:rPr>
              <a:t> measures precision and penalizes unnecessary additions (“noise”).</a:t>
            </a:r>
            <a:endParaRPr lang="en-US" sz="2400">
              <a:latin typeface="Aptos"/>
            </a:endParaRPr>
          </a:p>
          <a:p>
            <a:pPr>
              <a:buFont typeface="Arial" panose="020B0604020202020204" pitchFamily="34" charset="0"/>
              <a:buChar char="•"/>
            </a:pPr>
            <a:r>
              <a:rPr lang="en-US" sz="2400" b="1" err="1">
                <a:latin typeface="Aptos"/>
                <a:ea typeface="+mn-lt"/>
                <a:cs typeface="+mn-lt"/>
              </a:rPr>
              <a:t>BERTScore</a:t>
            </a:r>
            <a:r>
              <a:rPr lang="en-US" sz="2400" b="1">
                <a:latin typeface="Aptos"/>
                <a:ea typeface="+mn-lt"/>
                <a:cs typeface="+mn-lt"/>
              </a:rPr>
              <a:t>:</a:t>
            </a:r>
            <a:r>
              <a:rPr lang="en-US" sz="2400">
                <a:latin typeface="Aptos"/>
                <a:ea typeface="+mn-lt"/>
                <a:cs typeface="+mn-lt"/>
              </a:rPr>
              <a:t> measures semantic similarity via contextual embeddings, rewarding correct rewrites even when wording differs (synonyms or rephrasing).</a:t>
            </a:r>
          </a:p>
          <a:p>
            <a:r>
              <a:rPr lang="en-US" sz="2400">
                <a:latin typeface="Aptos"/>
              </a:rPr>
              <a:t>Why?</a:t>
            </a:r>
            <a:r>
              <a:rPr lang="en-US" sz="2400">
                <a:latin typeface="Aptos"/>
                <a:ea typeface="+mn-lt"/>
                <a:cs typeface="+mn-lt"/>
              </a:rPr>
              <a:t> This approach captures both surface similarity and meaning preservation.</a:t>
            </a:r>
            <a:endParaRPr lang="en-US" sz="2400">
              <a:latin typeface="Aptos"/>
            </a:endParaRPr>
          </a:p>
        </p:txBody>
      </p:sp>
    </p:spTree>
    <p:extLst>
      <p:ext uri="{BB962C8B-B14F-4D97-AF65-F5344CB8AC3E}">
        <p14:creationId xmlns:p14="http://schemas.microsoft.com/office/powerpoint/2010/main" val="3447945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0759DC4-8B30-98A0-5BAB-C78BA4A4AD55}"/>
              </a:ext>
            </a:extLst>
          </p:cNvPr>
          <p:cNvSpPr>
            <a:spLocks noGrp="1"/>
          </p:cNvSpPr>
          <p:nvPr>
            <p:ph type="title"/>
          </p:nvPr>
        </p:nvSpPr>
        <p:spPr>
          <a:xfrm>
            <a:off x="597441" y="5176"/>
            <a:ext cx="9806107" cy="2407193"/>
          </a:xfrm>
        </p:spPr>
        <p:txBody>
          <a:bodyPr rtlCol="0"/>
          <a:lstStyle>
            <a:defPPr>
              <a:defRPr lang="it-IT"/>
            </a:defPPr>
          </a:lstStyle>
          <a:p>
            <a:r>
              <a:rPr lang="it-IT" sz="6000">
                <a:latin typeface="Aptos"/>
              </a:rPr>
              <a:t>English </a:t>
            </a:r>
            <a:r>
              <a:rPr lang="it-IT" sz="6000" err="1">
                <a:latin typeface="Aptos"/>
              </a:rPr>
              <a:t>Classifier</a:t>
            </a:r>
            <a:r>
              <a:rPr lang="it-IT" sz="6000">
                <a:latin typeface="Aptos"/>
              </a:rPr>
              <a:t> (</a:t>
            </a:r>
            <a:r>
              <a:rPr lang="it-IT" sz="6000" err="1">
                <a:latin typeface="Aptos"/>
              </a:rPr>
              <a:t>DistilBERT</a:t>
            </a:r>
            <a:r>
              <a:rPr lang="it-IT" sz="6000">
                <a:latin typeface="Aptos"/>
              </a:rPr>
              <a:t>)</a:t>
            </a:r>
            <a:br>
              <a:rPr lang="it-IT" sz="6000">
                <a:latin typeface="Aptos"/>
              </a:rPr>
            </a:br>
            <a:endParaRPr lang="it-IT" sz="6000">
              <a:latin typeface="Aptos"/>
            </a:endParaRPr>
          </a:p>
        </p:txBody>
      </p:sp>
      <p:sp>
        <p:nvSpPr>
          <p:cNvPr id="3" name="Segnaposto contenuto 2">
            <a:extLst>
              <a:ext uri="{FF2B5EF4-FFF2-40B4-BE49-F238E27FC236}">
                <a16:creationId xmlns:a16="http://schemas.microsoft.com/office/drawing/2014/main" id="{4096FB3A-B62C-3DAB-4FD1-B4EBDD650AEF}"/>
              </a:ext>
            </a:extLst>
          </p:cNvPr>
          <p:cNvSpPr>
            <a:spLocks noGrp="1"/>
          </p:cNvSpPr>
          <p:nvPr>
            <p:ph sz="quarter" idx="13"/>
          </p:nvPr>
        </p:nvSpPr>
        <p:spPr>
          <a:xfrm>
            <a:off x="594360" y="2402208"/>
            <a:ext cx="11253238" cy="4272911"/>
          </a:xfrm>
        </p:spPr>
        <p:txBody>
          <a:bodyPr vert="horz" lIns="0" tIns="45720" rIns="91440" bIns="45720" rtlCol="0" anchor="t">
            <a:normAutofit fontScale="92500"/>
          </a:bodyPr>
          <a:lstStyle>
            <a:defPPr>
              <a:defRPr lang="it-IT"/>
            </a:defPPr>
          </a:lstStyle>
          <a:p>
            <a:r>
              <a:rPr lang="en-US" sz="2400">
                <a:latin typeface="Aptos"/>
              </a:rPr>
              <a:t>For English bias detection we selected </a:t>
            </a:r>
            <a:r>
              <a:rPr lang="en-US" sz="2400" err="1">
                <a:latin typeface="Aptos"/>
              </a:rPr>
              <a:t>distilbert</a:t>
            </a:r>
            <a:r>
              <a:rPr lang="en-US" sz="2400">
                <a:latin typeface="Aptos"/>
              </a:rPr>
              <a:t>-base-uncased to balance accuracy and speed. </a:t>
            </a:r>
          </a:p>
          <a:p>
            <a:r>
              <a:rPr lang="en-US" sz="2400">
                <a:latin typeface="Aptos"/>
              </a:rPr>
              <a:t>The task is binary classification (inclusive vs not inclusive), where low inference latency matters for a web app. </a:t>
            </a:r>
          </a:p>
          <a:p>
            <a:r>
              <a:rPr lang="en-US" sz="2400">
                <a:latin typeface="Aptos"/>
              </a:rPr>
              <a:t>Training used standard </a:t>
            </a:r>
            <a:r>
              <a:rPr lang="en-US" sz="2400" b="1">
                <a:latin typeface="Aptos"/>
              </a:rPr>
              <a:t>Hugging Face fine-tuning</a:t>
            </a:r>
            <a:r>
              <a:rPr lang="en-US" sz="2400">
                <a:latin typeface="Aptos"/>
              </a:rPr>
              <a:t> :</a:t>
            </a:r>
            <a:endParaRPr lang="it-IT" sz="2400">
              <a:latin typeface="Aptos"/>
            </a:endParaRPr>
          </a:p>
          <a:p>
            <a:pPr marL="342900" indent="-342900">
              <a:buChar char="•"/>
            </a:pPr>
            <a:r>
              <a:rPr lang="en-US" sz="2400">
                <a:latin typeface="Aptos"/>
              </a:rPr>
              <a:t>3 epochs</a:t>
            </a:r>
            <a:endParaRPr lang="it-IT" sz="2400">
              <a:latin typeface="Aptos"/>
            </a:endParaRPr>
          </a:p>
          <a:p>
            <a:pPr marL="342900" indent="-342900">
              <a:buChar char="•"/>
            </a:pPr>
            <a:r>
              <a:rPr lang="en-US" sz="2400">
                <a:latin typeface="Aptos"/>
              </a:rPr>
              <a:t>learning rate 2e-5</a:t>
            </a:r>
            <a:endParaRPr lang="it-IT" sz="2400">
              <a:latin typeface="Aptos"/>
            </a:endParaRPr>
          </a:p>
          <a:p>
            <a:pPr marL="342900" indent="-342900">
              <a:buChar char="•"/>
            </a:pPr>
            <a:r>
              <a:rPr lang="en-US" sz="2400">
                <a:latin typeface="Aptos"/>
              </a:rPr>
              <a:t>batch size tuned for GPU limits</a:t>
            </a:r>
            <a:endParaRPr lang="it-IT" sz="2400">
              <a:latin typeface="Aptos"/>
            </a:endParaRPr>
          </a:p>
          <a:p>
            <a:pPr marL="342900" indent="-342900">
              <a:buChar char="•"/>
            </a:pPr>
            <a:r>
              <a:rPr lang="en-US" sz="2400">
                <a:latin typeface="Aptos"/>
              </a:rPr>
              <a:t> selecting the best checkpoint using F1-score to stay reliable under class imbalance.</a:t>
            </a:r>
            <a:endParaRPr lang="it-IT" sz="2400">
              <a:latin typeface="Aptos"/>
            </a:endParaRPr>
          </a:p>
        </p:txBody>
      </p:sp>
      <p:sp>
        <p:nvSpPr>
          <p:cNvPr id="5" name="Segnaposto contenuto 3">
            <a:extLst>
              <a:ext uri="{FF2B5EF4-FFF2-40B4-BE49-F238E27FC236}">
                <a16:creationId xmlns:a16="http://schemas.microsoft.com/office/drawing/2014/main" id="{50E80F50-49E5-A5F1-2B64-8593B3B7FAAA}"/>
              </a:ext>
            </a:extLst>
          </p:cNvPr>
          <p:cNvSpPr txBox="1">
            <a:spLocks/>
          </p:cNvSpPr>
          <p:nvPr/>
        </p:nvSpPr>
        <p:spPr>
          <a:xfrm>
            <a:off x="594360" y="1743693"/>
            <a:ext cx="5066523" cy="531132"/>
          </a:xfrm>
          <a:prstGeom prst="rect">
            <a:avLst/>
          </a:prstGeom>
        </p:spPr>
        <p:txBody>
          <a:bodyPr vert="horz" lIns="0" tIns="45720" rIns="91440" bIns="45720" rtlCol="0">
            <a:normAutofit/>
          </a:bodyPr>
          <a:lstStyle>
            <a:defPPr>
              <a:defRPr lang="it-IT"/>
            </a:defPPr>
            <a:lvl1pPr marL="342900" indent="-342900"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a:lstStyle>
          <a:p>
            <a:pPr marL="0" indent="0">
              <a:buNone/>
            </a:pPr>
            <a:r>
              <a:rPr lang="it-IT" b="1">
                <a:latin typeface="Aptos"/>
              </a:rPr>
              <a:t>Model </a:t>
            </a:r>
            <a:r>
              <a:rPr lang="it-IT" b="1" err="1">
                <a:latin typeface="Aptos"/>
              </a:rPr>
              <a:t>used</a:t>
            </a:r>
            <a:r>
              <a:rPr lang="it-IT" b="1">
                <a:latin typeface="Aptos"/>
              </a:rPr>
              <a:t>:</a:t>
            </a:r>
            <a:r>
              <a:rPr lang="it-IT">
                <a:latin typeface="Aptos"/>
              </a:rPr>
              <a:t> </a:t>
            </a:r>
            <a:r>
              <a:rPr lang="it-IT" err="1">
                <a:latin typeface="Aptos"/>
              </a:rPr>
              <a:t>DistilBERT</a:t>
            </a:r>
            <a:r>
              <a:rPr lang="it-IT">
                <a:latin typeface="Aptos"/>
              </a:rPr>
              <a:t>-base-</a:t>
            </a:r>
            <a:r>
              <a:rPr lang="it-IT" err="1">
                <a:latin typeface="Aptos"/>
              </a:rPr>
              <a:t>uncased</a:t>
            </a:r>
            <a:r>
              <a:rPr lang="it-IT">
                <a:latin typeface="Aptos"/>
              </a:rPr>
              <a:t>.</a:t>
            </a:r>
          </a:p>
        </p:txBody>
      </p:sp>
    </p:spTree>
    <p:extLst>
      <p:ext uri="{BB962C8B-B14F-4D97-AF65-F5344CB8AC3E}">
        <p14:creationId xmlns:p14="http://schemas.microsoft.com/office/powerpoint/2010/main" val="1850768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A008A-21C1-917C-0734-327F5054122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68783F2-6343-FAD8-9C65-35C258C622AD}"/>
              </a:ext>
            </a:extLst>
          </p:cNvPr>
          <p:cNvSpPr>
            <a:spLocks noGrp="1"/>
          </p:cNvSpPr>
          <p:nvPr>
            <p:ph type="title"/>
          </p:nvPr>
        </p:nvSpPr>
        <p:spPr>
          <a:xfrm>
            <a:off x="594360" y="48039"/>
            <a:ext cx="9250304" cy="1687815"/>
          </a:xfrm>
        </p:spPr>
        <p:txBody>
          <a:bodyPr rtlCol="0"/>
          <a:lstStyle>
            <a:defPPr>
              <a:defRPr lang="it-IT"/>
            </a:defPPr>
          </a:lstStyle>
          <a:p>
            <a:r>
              <a:rPr lang="en-US" sz="6000">
                <a:latin typeface="Aptos"/>
              </a:rPr>
              <a:t>English Rewriter</a:t>
            </a:r>
            <a:br>
              <a:rPr lang="en-US" sz="6000">
                <a:latin typeface="Aptos"/>
              </a:rPr>
            </a:br>
            <a:r>
              <a:rPr lang="en-US" sz="6000">
                <a:latin typeface="Aptos"/>
              </a:rPr>
              <a:t>(FLAN-T5)</a:t>
            </a:r>
            <a:endParaRPr lang="it-IT" sz="6000">
              <a:latin typeface="Aptos"/>
            </a:endParaRPr>
          </a:p>
        </p:txBody>
      </p:sp>
      <p:sp>
        <p:nvSpPr>
          <p:cNvPr id="3" name="Segnaposto contenuto 2">
            <a:extLst>
              <a:ext uri="{FF2B5EF4-FFF2-40B4-BE49-F238E27FC236}">
                <a16:creationId xmlns:a16="http://schemas.microsoft.com/office/drawing/2014/main" id="{06BDE855-56B8-FB01-5764-047EC6B485D8}"/>
              </a:ext>
            </a:extLst>
          </p:cNvPr>
          <p:cNvSpPr>
            <a:spLocks noGrp="1"/>
          </p:cNvSpPr>
          <p:nvPr>
            <p:ph sz="quarter" idx="13"/>
          </p:nvPr>
        </p:nvSpPr>
        <p:spPr>
          <a:xfrm>
            <a:off x="594360" y="2412368"/>
            <a:ext cx="10023878" cy="4161151"/>
          </a:xfrm>
        </p:spPr>
        <p:txBody>
          <a:bodyPr vert="horz" lIns="0" tIns="45720" rIns="91440" bIns="45720" rtlCol="0" anchor="t">
            <a:normAutofit/>
          </a:bodyPr>
          <a:lstStyle>
            <a:defPPr>
              <a:defRPr lang="it-IT"/>
            </a:defPPr>
          </a:lstStyle>
          <a:p>
            <a:r>
              <a:rPr lang="en-US">
                <a:latin typeface="Aptos"/>
              </a:rPr>
              <a:t>For rewriting we used </a:t>
            </a:r>
            <a:r>
              <a:rPr lang="en-US" b="1">
                <a:latin typeface="Aptos"/>
              </a:rPr>
              <a:t>google/flan-t5-base</a:t>
            </a:r>
            <a:r>
              <a:rPr lang="en-US">
                <a:latin typeface="Aptos"/>
              </a:rPr>
              <a:t>: a text-to-text model optimized for instruction following.</a:t>
            </a:r>
          </a:p>
          <a:p>
            <a:r>
              <a:rPr lang="en-US">
                <a:latin typeface="Aptos"/>
              </a:rPr>
              <a:t>Each input sentence is preceded by a prefix to steer generation:</a:t>
            </a:r>
          </a:p>
          <a:p>
            <a:pPr algn="ctr"/>
            <a:r>
              <a:rPr lang="en-US" i="1">
                <a:latin typeface="Aptos"/>
              </a:rPr>
              <a:t>“Rewrite the sentence using inclusive language: …”</a:t>
            </a:r>
          </a:p>
          <a:p>
            <a:r>
              <a:rPr lang="en-US">
                <a:latin typeface="Aptos"/>
              </a:rPr>
              <a:t>Training followed a </a:t>
            </a:r>
            <a:r>
              <a:rPr lang="en-US" i="1">
                <a:latin typeface="Aptos"/>
              </a:rPr>
              <a:t>seq2seq </a:t>
            </a:r>
            <a:r>
              <a:rPr lang="en-US">
                <a:latin typeface="Aptos"/>
              </a:rPr>
              <a:t>setup with careful batching and evaluation.</a:t>
            </a:r>
          </a:p>
          <a:p>
            <a:r>
              <a:rPr lang="en-US" b="1">
                <a:latin typeface="Aptos"/>
              </a:rPr>
              <a:t>Evaluation goal:</a:t>
            </a:r>
            <a:endParaRPr lang="en-US">
              <a:latin typeface="Aptos"/>
            </a:endParaRPr>
          </a:p>
          <a:p>
            <a:pPr marL="342900" indent="-342900">
              <a:buFont typeface="Arial" panose="020B0604020202020204" pitchFamily="34" charset="0"/>
              <a:buChar char="•"/>
            </a:pPr>
            <a:r>
              <a:rPr lang="en-US">
                <a:latin typeface="Aptos"/>
              </a:rPr>
              <a:t>Not word-for-word copying</a:t>
            </a:r>
          </a:p>
          <a:p>
            <a:pPr marL="342900" indent="-342900">
              <a:buFont typeface="Arial" panose="020B0604020202020204" pitchFamily="34" charset="0"/>
              <a:buChar char="•"/>
            </a:pPr>
            <a:r>
              <a:rPr lang="en-US">
                <a:latin typeface="Aptos"/>
              </a:rPr>
              <a:t>Preserve meaning while removing bias with natural English output</a:t>
            </a:r>
          </a:p>
        </p:txBody>
      </p:sp>
      <p:sp>
        <p:nvSpPr>
          <p:cNvPr id="6" name="Segnaposto contenuto 3">
            <a:extLst>
              <a:ext uri="{FF2B5EF4-FFF2-40B4-BE49-F238E27FC236}">
                <a16:creationId xmlns:a16="http://schemas.microsoft.com/office/drawing/2014/main" id="{E30C136B-EFB7-FE2C-0379-5FF74D529406}"/>
              </a:ext>
            </a:extLst>
          </p:cNvPr>
          <p:cNvSpPr txBox="1">
            <a:spLocks/>
          </p:cNvSpPr>
          <p:nvPr/>
        </p:nvSpPr>
        <p:spPr>
          <a:xfrm>
            <a:off x="594360" y="1743693"/>
            <a:ext cx="5066523" cy="531132"/>
          </a:xfrm>
          <a:prstGeom prst="rect">
            <a:avLst/>
          </a:prstGeom>
        </p:spPr>
        <p:txBody>
          <a:bodyPr vert="horz" lIns="0" tIns="45720" rIns="91440" bIns="45720" rtlCol="0" anchor="t">
            <a:noAutofit/>
          </a:bodyPr>
          <a:lstStyle>
            <a:defPPr>
              <a:defRPr lang="it-IT"/>
            </a:defPPr>
            <a:lvl1pPr marL="342900" indent="-342900"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a:lstStyle>
          <a:p>
            <a:pPr marL="0" indent="0">
              <a:buNone/>
            </a:pPr>
            <a:r>
              <a:rPr lang="it-IT" b="1">
                <a:latin typeface="Aptos"/>
              </a:rPr>
              <a:t>Model </a:t>
            </a:r>
            <a:r>
              <a:rPr lang="it-IT" b="1" err="1">
                <a:latin typeface="Aptos"/>
              </a:rPr>
              <a:t>used</a:t>
            </a:r>
            <a:r>
              <a:rPr lang="it-IT" b="1">
                <a:latin typeface="Aptos"/>
              </a:rPr>
              <a:t>:</a:t>
            </a:r>
            <a:r>
              <a:rPr lang="it-IT">
                <a:latin typeface="Aptos"/>
              </a:rPr>
              <a:t> FLAN-T5</a:t>
            </a:r>
          </a:p>
        </p:txBody>
      </p:sp>
    </p:spTree>
    <p:extLst>
      <p:ext uri="{BB962C8B-B14F-4D97-AF65-F5344CB8AC3E}">
        <p14:creationId xmlns:p14="http://schemas.microsoft.com/office/powerpoint/2010/main" val="2876786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A4AF5-58B5-2946-FBF0-28C4477A12E4}"/>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609D3036-E11A-03E6-7C24-289C890D3624}"/>
              </a:ext>
            </a:extLst>
          </p:cNvPr>
          <p:cNvSpPr/>
          <p:nvPr/>
        </p:nvSpPr>
        <p:spPr>
          <a:xfrm>
            <a:off x="3536302" y="6102220"/>
            <a:ext cx="2649894" cy="41054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Aptos" panose="020B0004020202020204" pitchFamily="34" charset="0"/>
            </a:endParaRPr>
          </a:p>
        </p:txBody>
      </p:sp>
      <p:sp>
        <p:nvSpPr>
          <p:cNvPr id="6" name="Titolo 5">
            <a:extLst>
              <a:ext uri="{FF2B5EF4-FFF2-40B4-BE49-F238E27FC236}">
                <a16:creationId xmlns:a16="http://schemas.microsoft.com/office/drawing/2014/main" id="{1D5634AB-5C27-8FC1-7029-FDEF2AD9A033}"/>
              </a:ext>
            </a:extLst>
          </p:cNvPr>
          <p:cNvSpPr>
            <a:spLocks noGrp="1"/>
          </p:cNvSpPr>
          <p:nvPr>
            <p:ph type="title"/>
          </p:nvPr>
        </p:nvSpPr>
        <p:spPr>
          <a:xfrm>
            <a:off x="0" y="82990"/>
            <a:ext cx="12192000" cy="796755"/>
          </a:xfrm>
        </p:spPr>
        <p:txBody>
          <a:bodyPr rtlCol="0"/>
          <a:lstStyle>
            <a:defPPr>
              <a:defRPr lang="it-IT"/>
            </a:defPPr>
          </a:lstStyle>
          <a:p>
            <a:pPr algn="ctr"/>
            <a:r>
              <a:rPr lang="it-IT" sz="6000">
                <a:latin typeface="Aptos"/>
              </a:rPr>
              <a:t>English Module</a:t>
            </a:r>
          </a:p>
        </p:txBody>
      </p:sp>
      <p:pic>
        <p:nvPicPr>
          <p:cNvPr id="11" name="Immagine 10" descr="Immagine che contiene testo, Carattere, schermata, numero&#10;&#10;Il contenuto generato dall&amp;#39;IA potrebbe non essere corretto.">
            <a:extLst>
              <a:ext uri="{FF2B5EF4-FFF2-40B4-BE49-F238E27FC236}">
                <a16:creationId xmlns:a16="http://schemas.microsoft.com/office/drawing/2014/main" id="{790AD816-B0A3-4F81-7164-31818F042C86}"/>
              </a:ext>
            </a:extLst>
          </p:cNvPr>
          <p:cNvPicPr>
            <a:picLocks noChangeAspect="1"/>
          </p:cNvPicPr>
          <p:nvPr/>
        </p:nvPicPr>
        <p:blipFill>
          <a:blip r:embed="rId3"/>
          <a:stretch>
            <a:fillRect/>
          </a:stretch>
        </p:blipFill>
        <p:spPr>
          <a:xfrm>
            <a:off x="5526297" y="1337236"/>
            <a:ext cx="6096000" cy="2085975"/>
          </a:xfrm>
          <a:prstGeom prst="rect">
            <a:avLst/>
          </a:prstGeom>
        </p:spPr>
      </p:pic>
      <p:pic>
        <p:nvPicPr>
          <p:cNvPr id="12" name="Immagine 11" descr="Immagine che contiene testo, numero, Carattere, schermata&#10;&#10;Il contenuto generato dall&amp;#39;IA potrebbe non essere corretto.">
            <a:extLst>
              <a:ext uri="{FF2B5EF4-FFF2-40B4-BE49-F238E27FC236}">
                <a16:creationId xmlns:a16="http://schemas.microsoft.com/office/drawing/2014/main" id="{F6AA916C-661E-694B-E1E7-6C3F214B4ACC}"/>
              </a:ext>
            </a:extLst>
          </p:cNvPr>
          <p:cNvPicPr>
            <a:picLocks noChangeAspect="1"/>
          </p:cNvPicPr>
          <p:nvPr/>
        </p:nvPicPr>
        <p:blipFill>
          <a:blip r:embed="rId4"/>
          <a:stretch>
            <a:fillRect/>
          </a:stretch>
        </p:blipFill>
        <p:spPr>
          <a:xfrm>
            <a:off x="2227220" y="3581258"/>
            <a:ext cx="7705725" cy="2943225"/>
          </a:xfrm>
          <a:prstGeom prst="rect">
            <a:avLst/>
          </a:prstGeom>
        </p:spPr>
      </p:pic>
      <p:pic>
        <p:nvPicPr>
          <p:cNvPr id="10" name="Segnaposto contenuto 9" descr="Immagine che contiene testo, schermata, Carattere, diagramma&#10;&#10;Il contenuto generato dall&amp;#39;IA potrebbe non essere corretto.">
            <a:extLst>
              <a:ext uri="{FF2B5EF4-FFF2-40B4-BE49-F238E27FC236}">
                <a16:creationId xmlns:a16="http://schemas.microsoft.com/office/drawing/2014/main" id="{F33D8C8B-4DC5-4B5C-207E-07E41AD516AB}"/>
              </a:ext>
            </a:extLst>
          </p:cNvPr>
          <p:cNvPicPr>
            <a:picLocks noGrp="1" noChangeAspect="1"/>
          </p:cNvPicPr>
          <p:nvPr>
            <p:ph sz="quarter" idx="13"/>
          </p:nvPr>
        </p:nvPicPr>
        <p:blipFill>
          <a:blip r:embed="rId5"/>
          <a:stretch>
            <a:fillRect/>
          </a:stretch>
        </p:blipFill>
        <p:spPr>
          <a:xfrm>
            <a:off x="982333" y="1018406"/>
            <a:ext cx="3471850" cy="2719476"/>
          </a:xfrm>
          <a:prstGeom prst="rect">
            <a:avLst/>
          </a:prstGeom>
        </p:spPr>
      </p:pic>
    </p:spTree>
    <p:extLst>
      <p:ext uri="{BB962C8B-B14F-4D97-AF65-F5344CB8AC3E}">
        <p14:creationId xmlns:p14="http://schemas.microsoft.com/office/powerpoint/2010/main" val="3440358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DA660-3CB9-90E1-625F-E6BA774747C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2CECD0B-B7AE-9D68-015F-F01561D80D59}"/>
              </a:ext>
            </a:extLst>
          </p:cNvPr>
          <p:cNvSpPr>
            <a:spLocks noGrp="1"/>
          </p:cNvSpPr>
          <p:nvPr>
            <p:ph type="title"/>
          </p:nvPr>
        </p:nvSpPr>
        <p:spPr>
          <a:xfrm>
            <a:off x="594360" y="6648"/>
            <a:ext cx="8867986" cy="1712671"/>
          </a:xfrm>
        </p:spPr>
        <p:txBody>
          <a:bodyPr rtlCol="0"/>
          <a:lstStyle>
            <a:defPPr>
              <a:defRPr lang="it-IT"/>
            </a:defPPr>
          </a:lstStyle>
          <a:p>
            <a:r>
              <a:rPr lang="it-IT" sz="6000" err="1">
                <a:latin typeface="Aptos"/>
              </a:rPr>
              <a:t>Italian</a:t>
            </a:r>
            <a:r>
              <a:rPr lang="it-IT" sz="6000">
                <a:latin typeface="Aptos"/>
              </a:rPr>
              <a:t> </a:t>
            </a:r>
            <a:r>
              <a:rPr lang="it-IT" sz="6000" err="1">
                <a:latin typeface="Aptos"/>
              </a:rPr>
              <a:t>Classifier</a:t>
            </a:r>
            <a:r>
              <a:rPr lang="it-IT" sz="6000">
                <a:latin typeface="Aptos"/>
              </a:rPr>
              <a:t> (</a:t>
            </a:r>
            <a:r>
              <a:rPr lang="it-IT" sz="6000" err="1">
                <a:latin typeface="Aptos"/>
              </a:rPr>
              <a:t>BERTino</a:t>
            </a:r>
            <a:r>
              <a:rPr lang="it-IT" sz="6000">
                <a:latin typeface="Aptos"/>
              </a:rPr>
              <a:t>)</a:t>
            </a:r>
            <a:endParaRPr lang="it-IT" sz="6000" err="1">
              <a:latin typeface="Aptos" panose="020B0004020202020204" pitchFamily="34" charset="0"/>
            </a:endParaRPr>
          </a:p>
        </p:txBody>
      </p:sp>
      <p:sp>
        <p:nvSpPr>
          <p:cNvPr id="5" name="Segnaposto contenuto 3">
            <a:extLst>
              <a:ext uri="{FF2B5EF4-FFF2-40B4-BE49-F238E27FC236}">
                <a16:creationId xmlns:a16="http://schemas.microsoft.com/office/drawing/2014/main" id="{5BACE7AF-8116-178A-3BDA-D59EBB5D3314}"/>
              </a:ext>
            </a:extLst>
          </p:cNvPr>
          <p:cNvSpPr txBox="1">
            <a:spLocks/>
          </p:cNvSpPr>
          <p:nvPr/>
        </p:nvSpPr>
        <p:spPr>
          <a:xfrm>
            <a:off x="594360" y="1713213"/>
            <a:ext cx="5066523" cy="531132"/>
          </a:xfrm>
          <a:prstGeom prst="rect">
            <a:avLst/>
          </a:prstGeom>
        </p:spPr>
        <p:txBody>
          <a:bodyPr vert="horz" lIns="0" tIns="45720" rIns="91440" bIns="45720" rtlCol="0">
            <a:normAutofit/>
          </a:bodyPr>
          <a:lstStyle>
            <a:defPPr>
              <a:defRPr lang="it-IT"/>
            </a:defPPr>
            <a:lvl1pPr marL="342900" indent="-342900"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a:lstStyle>
          <a:p>
            <a:pPr marL="0" indent="0">
              <a:buNone/>
            </a:pPr>
            <a:r>
              <a:rPr lang="it-IT" b="1">
                <a:latin typeface="Aptos" panose="020B0004020202020204" pitchFamily="34" charset="0"/>
              </a:rPr>
              <a:t>Model </a:t>
            </a:r>
            <a:r>
              <a:rPr lang="it-IT" b="1" err="1">
                <a:latin typeface="Aptos" panose="020B0004020202020204" pitchFamily="34" charset="0"/>
              </a:rPr>
              <a:t>used</a:t>
            </a:r>
            <a:r>
              <a:rPr lang="it-IT" b="1">
                <a:latin typeface="Aptos" panose="020B0004020202020204" pitchFamily="34" charset="0"/>
              </a:rPr>
              <a:t>:</a:t>
            </a:r>
            <a:r>
              <a:rPr lang="it-IT">
                <a:latin typeface="Aptos" panose="020B0004020202020204" pitchFamily="34" charset="0"/>
              </a:rPr>
              <a:t> indigo-ai/</a:t>
            </a:r>
            <a:r>
              <a:rPr lang="it-IT" err="1">
                <a:latin typeface="Aptos" panose="020B0004020202020204" pitchFamily="34" charset="0"/>
              </a:rPr>
              <a:t>BERTino</a:t>
            </a:r>
            <a:r>
              <a:rPr lang="it-IT">
                <a:latin typeface="Aptos" panose="020B0004020202020204" pitchFamily="34" charset="0"/>
              </a:rPr>
              <a:t>.</a:t>
            </a:r>
          </a:p>
        </p:txBody>
      </p:sp>
      <p:sp>
        <p:nvSpPr>
          <p:cNvPr id="6" name="CasellaDiTesto 5">
            <a:extLst>
              <a:ext uri="{FF2B5EF4-FFF2-40B4-BE49-F238E27FC236}">
                <a16:creationId xmlns:a16="http://schemas.microsoft.com/office/drawing/2014/main" id="{A46B4AA7-A0A2-B7F2-35BA-64E8DAA098CB}"/>
              </a:ext>
            </a:extLst>
          </p:cNvPr>
          <p:cNvSpPr txBox="1"/>
          <p:nvPr/>
        </p:nvSpPr>
        <p:spPr>
          <a:xfrm>
            <a:off x="594360" y="2410959"/>
            <a:ext cx="11678920" cy="4524315"/>
          </a:xfrm>
          <a:prstGeom prst="rect">
            <a:avLst/>
          </a:prstGeom>
          <a:noFill/>
        </p:spPr>
        <p:txBody>
          <a:bodyPr wrap="square" lIns="91440" tIns="45720" rIns="91440" bIns="45720" anchor="t">
            <a:spAutoFit/>
          </a:bodyPr>
          <a:lstStyle/>
          <a:p>
            <a:r>
              <a:rPr lang="en-US" sz="2400">
                <a:solidFill>
                  <a:schemeClr val="bg1"/>
                </a:solidFill>
                <a:latin typeface="Aptos"/>
              </a:rPr>
              <a:t>Italian required language-specific choices due to morphology and style constraints.</a:t>
            </a:r>
          </a:p>
          <a:p>
            <a:endParaRPr lang="it-IT" sz="2400" b="1">
              <a:solidFill>
                <a:schemeClr val="bg1"/>
              </a:solidFill>
              <a:latin typeface="Aptos" panose="020B0004020202020204" pitchFamily="34" charset="0"/>
            </a:endParaRPr>
          </a:p>
          <a:p>
            <a:r>
              <a:rPr lang="it-IT" sz="2400" b="1">
                <a:solidFill>
                  <a:schemeClr val="bg1"/>
                </a:solidFill>
                <a:latin typeface="Aptos"/>
              </a:rPr>
              <a:t>Strategy: </a:t>
            </a:r>
            <a:r>
              <a:rPr lang="en-US" altLang="it-IT" sz="2400">
                <a:solidFill>
                  <a:schemeClr val="bg1"/>
                </a:solidFill>
                <a:latin typeface="Aptos"/>
              </a:rPr>
              <a:t>Choice of a Native Italian model (pre-trained on Wikipedia, IT and OPUS).</a:t>
            </a:r>
            <a:endParaRPr lang="it-IT" altLang="it-IT" sz="2400">
              <a:solidFill>
                <a:schemeClr val="bg1"/>
              </a:solidFill>
              <a:latin typeface="Aptos"/>
            </a:endParaRPr>
          </a:p>
          <a:p>
            <a:endParaRPr lang="it-IT" altLang="it-IT" sz="2400">
              <a:solidFill>
                <a:schemeClr val="bg1"/>
              </a:solidFill>
              <a:latin typeface="Aptos" panose="020B0004020202020204" pitchFamily="34" charset="0"/>
            </a:endParaRPr>
          </a:p>
          <a:p>
            <a:r>
              <a:rPr lang="it-IT" altLang="it-IT" sz="2400" b="1" err="1">
                <a:solidFill>
                  <a:schemeClr val="bg1"/>
                </a:solidFill>
                <a:latin typeface="Aptos"/>
              </a:rPr>
              <a:t>Why</a:t>
            </a:r>
            <a:r>
              <a:rPr lang="it-IT" altLang="it-IT" sz="2400" b="1">
                <a:solidFill>
                  <a:schemeClr val="bg1"/>
                </a:solidFill>
                <a:latin typeface="Aptos"/>
              </a:rPr>
              <a:t>? </a:t>
            </a:r>
            <a:r>
              <a:rPr lang="en-US" altLang="it-IT" sz="2400">
                <a:solidFill>
                  <a:schemeClr val="bg1"/>
                </a:solidFill>
                <a:latin typeface="Aptos"/>
              </a:rPr>
              <a:t>Generic multilingual models struggle with Italian cultural nuances.</a:t>
            </a:r>
          </a:p>
          <a:p>
            <a:endParaRPr lang="it-IT" sz="2400" b="1">
              <a:solidFill>
                <a:schemeClr val="bg1"/>
              </a:solidFill>
              <a:latin typeface="Aptos" panose="020B0004020202020204" pitchFamily="34" charset="0"/>
            </a:endParaRPr>
          </a:p>
          <a:p>
            <a:r>
              <a:rPr lang="it-IT" sz="2400" b="1">
                <a:solidFill>
                  <a:schemeClr val="bg1"/>
                </a:solidFill>
                <a:latin typeface="Aptos"/>
              </a:rPr>
              <a:t>Training (</a:t>
            </a:r>
            <a:r>
              <a:rPr lang="it-IT" sz="2400" b="1" err="1">
                <a:solidFill>
                  <a:schemeClr val="bg1"/>
                </a:solidFill>
                <a:latin typeface="Aptos"/>
              </a:rPr>
              <a:t>Colab</a:t>
            </a:r>
            <a:r>
              <a:rPr lang="it-IT" sz="2400" b="1">
                <a:solidFill>
                  <a:schemeClr val="bg1"/>
                </a:solidFill>
                <a:latin typeface="Aptos"/>
              </a:rPr>
              <a:t> T4)</a:t>
            </a:r>
            <a:r>
              <a:rPr lang="it-IT" sz="2400">
                <a:solidFill>
                  <a:schemeClr val="bg1"/>
                </a:solidFill>
                <a:latin typeface="Aptos"/>
              </a:rPr>
              <a:t>: </a:t>
            </a:r>
            <a:r>
              <a:rPr lang="en-US" altLang="it-IT" sz="2400">
                <a:solidFill>
                  <a:schemeClr val="bg1"/>
                </a:solidFill>
                <a:latin typeface="Aptos"/>
              </a:rPr>
              <a:t>3 epochs, LR 2e-5, weight decay, Best checkpoint selected with F1-score, Mixed precision (FP16)</a:t>
            </a:r>
            <a:endParaRPr lang="it-IT" altLang="it-IT" sz="2400">
              <a:solidFill>
                <a:schemeClr val="bg1"/>
              </a:solidFill>
              <a:latin typeface="Aptos"/>
            </a:endParaRPr>
          </a:p>
          <a:p>
            <a:endParaRPr lang="it-IT" sz="2400" b="1">
              <a:solidFill>
                <a:schemeClr val="bg1"/>
              </a:solidFill>
              <a:latin typeface="Aptos" panose="020B0004020202020204" pitchFamily="34" charset="0"/>
            </a:endParaRPr>
          </a:p>
          <a:p>
            <a:r>
              <a:rPr lang="it-IT" sz="2400" b="1" err="1">
                <a:solidFill>
                  <a:schemeClr val="bg1"/>
                </a:solidFill>
                <a:latin typeface="Aptos"/>
              </a:rPr>
              <a:t>Result</a:t>
            </a:r>
            <a:r>
              <a:rPr lang="it-IT" sz="2400" b="1">
                <a:solidFill>
                  <a:schemeClr val="bg1"/>
                </a:solidFill>
                <a:latin typeface="Aptos"/>
              </a:rPr>
              <a:t>:</a:t>
            </a:r>
            <a:r>
              <a:rPr lang="it-IT" sz="2400">
                <a:solidFill>
                  <a:schemeClr val="bg1"/>
                </a:solidFill>
                <a:latin typeface="Aptos"/>
              </a:rPr>
              <a:t> </a:t>
            </a:r>
            <a:r>
              <a:rPr lang="it-IT" sz="2400" err="1">
                <a:solidFill>
                  <a:schemeClr val="bg1"/>
                </a:solidFill>
                <a:ea typeface="+mn-lt"/>
                <a:cs typeface="+mn-lt"/>
              </a:rPr>
              <a:t>excellent</a:t>
            </a:r>
            <a:r>
              <a:rPr lang="it-IT" sz="2400">
                <a:solidFill>
                  <a:schemeClr val="bg1"/>
                </a:solidFill>
                <a:ea typeface="+mn-lt"/>
                <a:cs typeface="+mn-lt"/>
              </a:rPr>
              <a:t> </a:t>
            </a:r>
            <a:r>
              <a:rPr lang="it-IT" sz="2400" err="1">
                <a:solidFill>
                  <a:schemeClr val="bg1"/>
                </a:solidFill>
                <a:ea typeface="+mn-lt"/>
                <a:cs typeface="+mn-lt"/>
              </a:rPr>
              <a:t>at</a:t>
            </a:r>
            <a:r>
              <a:rPr lang="it-IT" sz="2400">
                <a:solidFill>
                  <a:schemeClr val="bg1"/>
                </a:solidFill>
                <a:ea typeface="+mn-lt"/>
                <a:cs typeface="+mn-lt"/>
              </a:rPr>
              <a:t> </a:t>
            </a:r>
            <a:r>
              <a:rPr lang="it-IT" sz="2400" err="1">
                <a:solidFill>
                  <a:schemeClr val="bg1"/>
                </a:solidFill>
                <a:ea typeface="+mn-lt"/>
                <a:cs typeface="+mn-lt"/>
              </a:rPr>
              <a:t>detecting</a:t>
            </a:r>
            <a:r>
              <a:rPr lang="it-IT" sz="2400">
                <a:solidFill>
                  <a:schemeClr val="bg1"/>
                </a:solidFill>
                <a:ea typeface="+mn-lt"/>
                <a:cs typeface="+mn-lt"/>
              </a:rPr>
              <a:t> </a:t>
            </a:r>
            <a:r>
              <a:rPr lang="it-IT" sz="2400" i="1" err="1">
                <a:solidFill>
                  <a:schemeClr val="bg1"/>
                </a:solidFill>
                <a:ea typeface="+mn-lt"/>
                <a:cs typeface="+mn-lt"/>
              </a:rPr>
              <a:t>overextended</a:t>
            </a:r>
            <a:r>
              <a:rPr lang="it-IT" sz="2400" i="1">
                <a:solidFill>
                  <a:schemeClr val="bg1"/>
                </a:solidFill>
                <a:ea typeface="+mn-lt"/>
                <a:cs typeface="+mn-lt"/>
              </a:rPr>
              <a:t> </a:t>
            </a:r>
            <a:r>
              <a:rPr lang="it-IT" sz="2400" i="1" err="1">
                <a:solidFill>
                  <a:schemeClr val="bg1"/>
                </a:solidFill>
                <a:ea typeface="+mn-lt"/>
                <a:cs typeface="+mn-lt"/>
              </a:rPr>
              <a:t>masculine</a:t>
            </a:r>
            <a:r>
              <a:rPr lang="it-IT" sz="2400" i="1">
                <a:solidFill>
                  <a:schemeClr val="bg1"/>
                </a:solidFill>
                <a:ea typeface="+mn-lt"/>
                <a:cs typeface="+mn-lt"/>
              </a:rPr>
              <a:t> </a:t>
            </a:r>
            <a:r>
              <a:rPr lang="it-IT" sz="2400" i="1" err="1">
                <a:solidFill>
                  <a:schemeClr val="bg1"/>
                </a:solidFill>
                <a:ea typeface="+mn-lt"/>
                <a:cs typeface="+mn-lt"/>
              </a:rPr>
              <a:t>forms</a:t>
            </a:r>
            <a:r>
              <a:rPr lang="it-IT" sz="2400">
                <a:solidFill>
                  <a:schemeClr val="bg1"/>
                </a:solidFill>
                <a:ea typeface="+mn-lt"/>
                <a:cs typeface="+mn-lt"/>
              </a:rPr>
              <a:t> and </a:t>
            </a:r>
            <a:r>
              <a:rPr lang="it-IT" sz="2400" i="1" err="1">
                <a:solidFill>
                  <a:schemeClr val="bg1"/>
                </a:solidFill>
                <a:ea typeface="+mn-lt"/>
                <a:cs typeface="+mn-lt"/>
              </a:rPr>
              <a:t>exclusionary</a:t>
            </a:r>
            <a:r>
              <a:rPr lang="it-IT" sz="2400" i="1">
                <a:solidFill>
                  <a:schemeClr val="bg1"/>
                </a:solidFill>
                <a:ea typeface="+mn-lt"/>
                <a:cs typeface="+mn-lt"/>
              </a:rPr>
              <a:t> </a:t>
            </a:r>
            <a:r>
              <a:rPr lang="it-IT" sz="2400" i="1" err="1">
                <a:solidFill>
                  <a:schemeClr val="bg1"/>
                </a:solidFill>
                <a:ea typeface="+mn-lt"/>
                <a:cs typeface="+mn-lt"/>
              </a:rPr>
              <a:t>grammatical</a:t>
            </a:r>
            <a:r>
              <a:rPr lang="it-IT" sz="2400" i="1">
                <a:solidFill>
                  <a:schemeClr val="bg1"/>
                </a:solidFill>
                <a:ea typeface="+mn-lt"/>
                <a:cs typeface="+mn-lt"/>
              </a:rPr>
              <a:t> </a:t>
            </a:r>
            <a:r>
              <a:rPr lang="it-IT" sz="2400" i="1" err="1">
                <a:solidFill>
                  <a:schemeClr val="bg1"/>
                </a:solidFill>
                <a:ea typeface="+mn-lt"/>
                <a:cs typeface="+mn-lt"/>
              </a:rPr>
              <a:t>constructions</a:t>
            </a:r>
            <a:r>
              <a:rPr lang="it-IT" sz="2400" i="1">
                <a:solidFill>
                  <a:schemeClr val="bg1"/>
                </a:solidFill>
                <a:ea typeface="+mn-lt"/>
                <a:cs typeface="+mn-lt"/>
              </a:rPr>
              <a:t>.</a:t>
            </a:r>
            <a:endParaRPr lang="it-IT" altLang="it-IT" sz="2400" i="1">
              <a:solidFill>
                <a:schemeClr val="bg1"/>
              </a:solidFill>
              <a:ea typeface="+mn-lt"/>
              <a:cs typeface="+mn-lt"/>
            </a:endParaRPr>
          </a:p>
          <a:p>
            <a:endParaRPr lang="it-IT" sz="2400" i="1">
              <a:solidFill>
                <a:schemeClr val="bg1"/>
              </a:solidFill>
              <a:latin typeface="Aptos" panose="020B0004020202020204" pitchFamily="34" charset="0"/>
            </a:endParaRPr>
          </a:p>
        </p:txBody>
      </p:sp>
    </p:spTree>
    <p:extLst>
      <p:ext uri="{BB962C8B-B14F-4D97-AF65-F5344CB8AC3E}">
        <p14:creationId xmlns:p14="http://schemas.microsoft.com/office/powerpoint/2010/main" val="1739302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D717B-2799-2D76-D44D-9A70CC5B39E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1CDD46F-83BB-C572-9F23-F671E5DA3C53}"/>
              </a:ext>
            </a:extLst>
          </p:cNvPr>
          <p:cNvSpPr>
            <a:spLocks noGrp="1"/>
          </p:cNvSpPr>
          <p:nvPr>
            <p:ph type="title"/>
          </p:nvPr>
        </p:nvSpPr>
        <p:spPr>
          <a:xfrm>
            <a:off x="594360" y="875515"/>
            <a:ext cx="6893560" cy="839664"/>
          </a:xfrm>
        </p:spPr>
        <p:txBody>
          <a:bodyPr rtlCol="0"/>
          <a:lstStyle>
            <a:defPPr>
              <a:defRPr lang="it-IT"/>
            </a:defPPr>
          </a:lstStyle>
          <a:p>
            <a:r>
              <a:rPr lang="it-IT" sz="6000" err="1">
                <a:latin typeface="Aptos" panose="020B0004020202020204" pitchFamily="34" charset="0"/>
              </a:rPr>
              <a:t>Italian</a:t>
            </a:r>
            <a:r>
              <a:rPr lang="it-IT" sz="6000">
                <a:latin typeface="Aptos" panose="020B0004020202020204" pitchFamily="34" charset="0"/>
              </a:rPr>
              <a:t> Rewriter</a:t>
            </a:r>
          </a:p>
        </p:txBody>
      </p:sp>
      <p:sp>
        <p:nvSpPr>
          <p:cNvPr id="3" name="Segnaposto contenuto 2">
            <a:extLst>
              <a:ext uri="{FF2B5EF4-FFF2-40B4-BE49-F238E27FC236}">
                <a16:creationId xmlns:a16="http://schemas.microsoft.com/office/drawing/2014/main" id="{7EFAE2B2-03BC-089B-9827-D776411257F8}"/>
              </a:ext>
            </a:extLst>
          </p:cNvPr>
          <p:cNvSpPr>
            <a:spLocks noGrp="1"/>
          </p:cNvSpPr>
          <p:nvPr>
            <p:ph sz="quarter" idx="13"/>
          </p:nvPr>
        </p:nvSpPr>
        <p:spPr>
          <a:xfrm>
            <a:off x="523240" y="2410959"/>
            <a:ext cx="11597640" cy="4445631"/>
          </a:xfrm>
        </p:spPr>
        <p:txBody>
          <a:bodyPr vert="horz" lIns="0" tIns="45720" rIns="91440" bIns="45720" rtlCol="0" anchor="t">
            <a:noAutofit/>
          </a:bodyPr>
          <a:lstStyle>
            <a:defPPr>
              <a:defRPr lang="it-IT"/>
            </a:defPPr>
          </a:lstStyle>
          <a:p>
            <a:r>
              <a:rPr lang="en-US" sz="2200">
                <a:latin typeface="Aptos"/>
              </a:rPr>
              <a:t>Initial multilingual FLAN-T5 tests produced redundancy and unnatural phrasing in Italian.</a:t>
            </a:r>
          </a:p>
          <a:p>
            <a:r>
              <a:rPr lang="en-US" sz="2200">
                <a:latin typeface="Aptos"/>
              </a:rPr>
              <a:t>We switched to IT5, an Italian-native text-to-text model.</a:t>
            </a:r>
          </a:p>
          <a:p>
            <a:r>
              <a:rPr lang="en-US" sz="2200" b="1">
                <a:latin typeface="Aptos"/>
              </a:rPr>
              <a:t>Why IT5 worked better:</a:t>
            </a:r>
            <a:endParaRPr lang="en-US" sz="2200">
              <a:latin typeface="Aptos"/>
            </a:endParaRPr>
          </a:p>
          <a:p>
            <a:pPr marL="1028700" lvl="1" indent="-342900"/>
            <a:r>
              <a:rPr lang="en-US" sz="2200">
                <a:latin typeface="Aptos"/>
              </a:rPr>
              <a:t>Italian-focused pretraining</a:t>
            </a:r>
          </a:p>
          <a:p>
            <a:pPr marL="1028700" lvl="1" indent="-342900"/>
            <a:r>
              <a:rPr lang="en-US" sz="2200">
                <a:latin typeface="Aptos"/>
              </a:rPr>
              <a:t>Better fluency and fewer repetitive outputs</a:t>
            </a:r>
          </a:p>
          <a:p>
            <a:pPr marL="1028700" lvl="1" indent="-342900"/>
            <a:r>
              <a:rPr lang="en-US" sz="2200">
                <a:latin typeface="Aptos"/>
              </a:rPr>
              <a:t>Stronger learning with the 16k+ Italian dataset</a:t>
            </a:r>
          </a:p>
          <a:p>
            <a:r>
              <a:rPr lang="it-IT" sz="2200" b="1" err="1">
                <a:latin typeface="Aptos"/>
              </a:rPr>
              <a:t>Result</a:t>
            </a:r>
            <a:r>
              <a:rPr lang="it-IT" sz="2200" b="1">
                <a:latin typeface="Aptos"/>
              </a:rPr>
              <a:t>:</a:t>
            </a:r>
            <a:r>
              <a:rPr lang="it-IT" sz="2200">
                <a:latin typeface="Aptos"/>
              </a:rPr>
              <a:t> </a:t>
            </a:r>
            <a:r>
              <a:rPr lang="en-US" sz="2200">
                <a:latin typeface="Aptos"/>
              </a:rPr>
              <a:t>Fluent and grammatically correct rewrites.</a:t>
            </a:r>
          </a:p>
          <a:p>
            <a:r>
              <a:rPr lang="it-IT" sz="2200" b="1">
                <a:latin typeface="Aptos"/>
              </a:rPr>
              <a:t>Tecnica di Training</a:t>
            </a:r>
            <a:r>
              <a:rPr lang="it-IT" sz="2200">
                <a:latin typeface="Aptos"/>
              </a:rPr>
              <a:t>:</a:t>
            </a:r>
            <a:endParaRPr lang="it-IT" altLang="it-IT" sz="2200">
              <a:latin typeface="Aptos"/>
            </a:endParaRPr>
          </a:p>
          <a:p>
            <a:pPr marL="1028700" lvl="1" indent="-342900" eaLnBrk="0" fontAlgn="base" hangingPunct="0">
              <a:lnSpc>
                <a:spcPct val="100000"/>
              </a:lnSpc>
              <a:spcBef>
                <a:spcPct val="0"/>
              </a:spcBef>
              <a:spcAft>
                <a:spcPct val="0"/>
              </a:spcAft>
            </a:pPr>
            <a:r>
              <a:rPr lang="en-US" altLang="it-IT" sz="2200">
                <a:latin typeface="Aptos"/>
              </a:rPr>
              <a:t>Prefix prompt: "[INCLUSIVE] Rephrase...".
Reduced batch size with Gradient Accumulation.</a:t>
            </a:r>
            <a:endParaRPr lang="it-IT" altLang="it-IT" sz="2200">
              <a:latin typeface="Aptos"/>
            </a:endParaRPr>
          </a:p>
          <a:p>
            <a:endParaRPr lang="en-US" sz="2200">
              <a:latin typeface="Aptos"/>
            </a:endParaRPr>
          </a:p>
          <a:p>
            <a:endParaRPr lang="en-US" sz="2200">
              <a:latin typeface="Aptos"/>
            </a:endParaRPr>
          </a:p>
        </p:txBody>
      </p:sp>
      <p:sp>
        <p:nvSpPr>
          <p:cNvPr id="5" name="Segnaposto contenuto 3">
            <a:extLst>
              <a:ext uri="{FF2B5EF4-FFF2-40B4-BE49-F238E27FC236}">
                <a16:creationId xmlns:a16="http://schemas.microsoft.com/office/drawing/2014/main" id="{75D81905-60ED-6E93-10EA-4DB8F31D998D}"/>
              </a:ext>
            </a:extLst>
          </p:cNvPr>
          <p:cNvSpPr txBox="1">
            <a:spLocks/>
          </p:cNvSpPr>
          <p:nvPr/>
        </p:nvSpPr>
        <p:spPr>
          <a:xfrm>
            <a:off x="594360" y="1712837"/>
            <a:ext cx="5066523" cy="531132"/>
          </a:xfrm>
          <a:prstGeom prst="rect">
            <a:avLst/>
          </a:prstGeom>
        </p:spPr>
        <p:txBody>
          <a:bodyPr vert="horz" lIns="0" tIns="45720" rIns="91440" bIns="45720" rtlCol="0">
            <a:normAutofit/>
          </a:bodyPr>
          <a:lstStyle>
            <a:defPPr>
              <a:defRPr lang="it-IT"/>
            </a:defPPr>
            <a:lvl1pPr marL="342900" indent="-342900"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a:lstStyle>
          <a:p>
            <a:pPr marL="0" indent="0">
              <a:buNone/>
            </a:pPr>
            <a:r>
              <a:rPr lang="it-IT" b="1">
                <a:latin typeface="Aptos" panose="020B0004020202020204" pitchFamily="34" charset="0"/>
              </a:rPr>
              <a:t>Model </a:t>
            </a:r>
            <a:r>
              <a:rPr lang="it-IT" b="1" err="1">
                <a:latin typeface="Aptos" panose="020B0004020202020204" pitchFamily="34" charset="0"/>
              </a:rPr>
              <a:t>used</a:t>
            </a:r>
            <a:r>
              <a:rPr lang="it-IT" b="1">
                <a:latin typeface="Aptos" panose="020B0004020202020204" pitchFamily="34" charset="0"/>
              </a:rPr>
              <a:t>:</a:t>
            </a:r>
            <a:r>
              <a:rPr lang="it-IT">
                <a:latin typeface="Aptos" panose="020B0004020202020204" pitchFamily="34" charset="0"/>
              </a:rPr>
              <a:t> IT5 (</a:t>
            </a:r>
            <a:r>
              <a:rPr lang="it-IT" err="1">
                <a:latin typeface="Aptos" panose="020B0004020202020204" pitchFamily="34" charset="0"/>
              </a:rPr>
              <a:t>Italian</a:t>
            </a:r>
            <a:r>
              <a:rPr lang="it-IT">
                <a:latin typeface="Aptos" panose="020B0004020202020204" pitchFamily="34" charset="0"/>
              </a:rPr>
              <a:t> T5).</a:t>
            </a:r>
          </a:p>
        </p:txBody>
      </p:sp>
    </p:spTree>
    <p:extLst>
      <p:ext uri="{BB962C8B-B14F-4D97-AF65-F5344CB8AC3E}">
        <p14:creationId xmlns:p14="http://schemas.microsoft.com/office/powerpoint/2010/main" val="3540088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FFA33-8E00-9C59-CB36-E80A33ABEFD4}"/>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C08B613E-F977-8D41-FA6B-9422828515BE}"/>
              </a:ext>
            </a:extLst>
          </p:cNvPr>
          <p:cNvSpPr/>
          <p:nvPr/>
        </p:nvSpPr>
        <p:spPr>
          <a:xfrm>
            <a:off x="3536302" y="6102220"/>
            <a:ext cx="2649894" cy="41054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Aptos" panose="020B0004020202020204" pitchFamily="34" charset="0"/>
            </a:endParaRPr>
          </a:p>
        </p:txBody>
      </p:sp>
      <p:sp>
        <p:nvSpPr>
          <p:cNvPr id="6" name="Titolo 5">
            <a:extLst>
              <a:ext uri="{FF2B5EF4-FFF2-40B4-BE49-F238E27FC236}">
                <a16:creationId xmlns:a16="http://schemas.microsoft.com/office/drawing/2014/main" id="{F210D2EA-679B-0577-DC3D-AD22F17D7F75}"/>
              </a:ext>
            </a:extLst>
          </p:cNvPr>
          <p:cNvSpPr>
            <a:spLocks noGrp="1"/>
          </p:cNvSpPr>
          <p:nvPr>
            <p:ph type="title"/>
          </p:nvPr>
        </p:nvSpPr>
        <p:spPr>
          <a:xfrm>
            <a:off x="0" y="82990"/>
            <a:ext cx="12192000" cy="796755"/>
          </a:xfrm>
        </p:spPr>
        <p:txBody>
          <a:bodyPr rtlCol="0"/>
          <a:lstStyle>
            <a:defPPr>
              <a:defRPr lang="it-IT"/>
            </a:defPPr>
          </a:lstStyle>
          <a:p>
            <a:pPr algn="ctr"/>
            <a:r>
              <a:rPr lang="it-IT" sz="6000" err="1">
                <a:latin typeface="Aptos"/>
              </a:rPr>
              <a:t>Italian</a:t>
            </a:r>
            <a:r>
              <a:rPr lang="it-IT" sz="6000">
                <a:latin typeface="Aptos"/>
              </a:rPr>
              <a:t> Module</a:t>
            </a:r>
            <a:endParaRPr lang="it-IT" sz="6000" b="0">
              <a:latin typeface="Aptos"/>
            </a:endParaRPr>
          </a:p>
        </p:txBody>
      </p:sp>
      <p:pic>
        <p:nvPicPr>
          <p:cNvPr id="5" name="Immagine 4" descr="Immagine che contiene testo, numero, Carattere, schermata&#10;&#10;Il contenuto generato dall&amp;#39;IA potrebbe non essere corretto.">
            <a:extLst>
              <a:ext uri="{FF2B5EF4-FFF2-40B4-BE49-F238E27FC236}">
                <a16:creationId xmlns:a16="http://schemas.microsoft.com/office/drawing/2014/main" id="{FCA57DD3-33B4-241F-E765-C17C6611A499}"/>
              </a:ext>
            </a:extLst>
          </p:cNvPr>
          <p:cNvPicPr>
            <a:picLocks noChangeAspect="1"/>
          </p:cNvPicPr>
          <p:nvPr/>
        </p:nvPicPr>
        <p:blipFill>
          <a:blip r:embed="rId3"/>
          <a:stretch>
            <a:fillRect/>
          </a:stretch>
        </p:blipFill>
        <p:spPr>
          <a:xfrm>
            <a:off x="2331486" y="3713300"/>
            <a:ext cx="7705725" cy="2943225"/>
          </a:xfrm>
          <a:prstGeom prst="rect">
            <a:avLst/>
          </a:prstGeom>
        </p:spPr>
      </p:pic>
      <p:pic>
        <p:nvPicPr>
          <p:cNvPr id="9" name="Immagine 8" descr="Immagine che contiene testo, Carattere, schermata, numero&#10;&#10;Il contenuto generato dall&amp;#39;IA potrebbe non essere corretto.">
            <a:extLst>
              <a:ext uri="{FF2B5EF4-FFF2-40B4-BE49-F238E27FC236}">
                <a16:creationId xmlns:a16="http://schemas.microsoft.com/office/drawing/2014/main" id="{8F0C632E-2802-94DE-2193-F426AD99AF2F}"/>
              </a:ext>
            </a:extLst>
          </p:cNvPr>
          <p:cNvPicPr>
            <a:picLocks noChangeAspect="1"/>
          </p:cNvPicPr>
          <p:nvPr/>
        </p:nvPicPr>
        <p:blipFill>
          <a:blip r:embed="rId4"/>
          <a:stretch>
            <a:fillRect/>
          </a:stretch>
        </p:blipFill>
        <p:spPr>
          <a:xfrm>
            <a:off x="5587117" y="1348368"/>
            <a:ext cx="6096000" cy="2085975"/>
          </a:xfrm>
          <a:prstGeom prst="rect">
            <a:avLst/>
          </a:prstGeom>
        </p:spPr>
      </p:pic>
      <p:pic>
        <p:nvPicPr>
          <p:cNvPr id="11" name="Immagine 10">
            <a:extLst>
              <a:ext uri="{FF2B5EF4-FFF2-40B4-BE49-F238E27FC236}">
                <a16:creationId xmlns:a16="http://schemas.microsoft.com/office/drawing/2014/main" id="{B5E583B4-0CEF-ADC6-CFDB-8B9A0E853F83}"/>
              </a:ext>
            </a:extLst>
          </p:cNvPr>
          <p:cNvPicPr>
            <a:picLocks noChangeAspect="1"/>
          </p:cNvPicPr>
          <p:nvPr/>
        </p:nvPicPr>
        <p:blipFill>
          <a:blip r:embed="rId5"/>
          <a:stretch>
            <a:fillRect/>
          </a:stretch>
        </p:blipFill>
        <p:spPr>
          <a:xfrm>
            <a:off x="871622" y="1037412"/>
            <a:ext cx="3877449" cy="2957029"/>
          </a:xfrm>
          <a:prstGeom prst="rect">
            <a:avLst/>
          </a:prstGeom>
        </p:spPr>
      </p:pic>
    </p:spTree>
    <p:extLst>
      <p:ext uri="{BB962C8B-B14F-4D97-AF65-F5344CB8AC3E}">
        <p14:creationId xmlns:p14="http://schemas.microsoft.com/office/powerpoint/2010/main" val="2898505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3CB26-0A28-FD01-1318-469D322B2E7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8A5378D-4E76-127D-7F40-F10A7885F9FA}"/>
              </a:ext>
            </a:extLst>
          </p:cNvPr>
          <p:cNvSpPr>
            <a:spLocks noGrp="1"/>
          </p:cNvSpPr>
          <p:nvPr>
            <p:ph type="title"/>
          </p:nvPr>
        </p:nvSpPr>
        <p:spPr>
          <a:xfrm>
            <a:off x="594359" y="442774"/>
            <a:ext cx="9260841" cy="1060905"/>
          </a:xfrm>
        </p:spPr>
        <p:txBody>
          <a:bodyPr rtlCol="0"/>
          <a:lstStyle>
            <a:defPPr>
              <a:defRPr lang="it-IT"/>
            </a:defPPr>
          </a:lstStyle>
          <a:p>
            <a:r>
              <a:rPr lang="it-IT" sz="6000" err="1">
                <a:latin typeface="Aptos" panose="020B0004020202020204" pitchFamily="34" charset="0"/>
              </a:rPr>
              <a:t>Multilingual</a:t>
            </a:r>
            <a:r>
              <a:rPr lang="it-IT" sz="6000">
                <a:latin typeface="Aptos" panose="020B0004020202020204" pitchFamily="34" charset="0"/>
              </a:rPr>
              <a:t> </a:t>
            </a:r>
            <a:r>
              <a:rPr lang="it-IT" sz="6000" err="1">
                <a:latin typeface="Aptos" panose="020B0004020202020204" pitchFamily="34" charset="0"/>
              </a:rPr>
              <a:t>Classifier</a:t>
            </a:r>
            <a:endParaRPr lang="it-IT" sz="6000">
              <a:latin typeface="Aptos" panose="020B0004020202020204" pitchFamily="34" charset="0"/>
            </a:endParaRPr>
          </a:p>
        </p:txBody>
      </p:sp>
      <p:sp>
        <p:nvSpPr>
          <p:cNvPr id="3" name="Segnaposto contenuto 2">
            <a:extLst>
              <a:ext uri="{FF2B5EF4-FFF2-40B4-BE49-F238E27FC236}">
                <a16:creationId xmlns:a16="http://schemas.microsoft.com/office/drawing/2014/main" id="{3F801EA0-B000-2F08-27C4-F5F8F4FC05DD}"/>
              </a:ext>
            </a:extLst>
          </p:cNvPr>
          <p:cNvSpPr>
            <a:spLocks noGrp="1"/>
          </p:cNvSpPr>
          <p:nvPr>
            <p:ph sz="quarter" idx="13"/>
          </p:nvPr>
        </p:nvSpPr>
        <p:spPr>
          <a:xfrm>
            <a:off x="594360" y="2275841"/>
            <a:ext cx="11597640" cy="4582160"/>
          </a:xfrm>
        </p:spPr>
        <p:txBody>
          <a:bodyPr vert="horz" lIns="0" tIns="45720" rIns="91440" bIns="45720" rtlCol="0" anchor="t">
            <a:normAutofit fontScale="92500" lnSpcReduction="10000"/>
          </a:bodyPr>
          <a:lstStyle>
            <a:defPPr>
              <a:defRPr lang="it-IT"/>
            </a:defPPr>
          </a:lstStyle>
          <a:p>
            <a:r>
              <a:rPr lang="en-US" sz="2400">
                <a:latin typeface="Aptos"/>
              </a:rPr>
              <a:t>XLM-</a:t>
            </a:r>
            <a:r>
              <a:rPr lang="en-US" sz="2400" err="1">
                <a:latin typeface="Aptos"/>
              </a:rPr>
              <a:t>RoBERTa</a:t>
            </a:r>
            <a:r>
              <a:rPr lang="en-US" sz="2400">
                <a:latin typeface="Aptos"/>
              </a:rPr>
              <a:t> aligns concepts across languages in a shared space, enabling cross-lingual bias detection.</a:t>
            </a:r>
            <a:endParaRPr lang="it-IT" sz="2400" b="1">
              <a:latin typeface="Aptos"/>
            </a:endParaRPr>
          </a:p>
          <a:p>
            <a:r>
              <a:rPr lang="it-IT" sz="2400" b="1">
                <a:latin typeface="Aptos"/>
              </a:rPr>
              <a:t>Dataset</a:t>
            </a:r>
            <a:r>
              <a:rPr lang="it-IT" sz="2400">
                <a:latin typeface="Aptos"/>
              </a:rPr>
              <a:t>:</a:t>
            </a:r>
          </a:p>
          <a:p>
            <a:pPr marL="1028700" lvl="1" indent="-342900"/>
            <a:r>
              <a:rPr lang="it-IT" sz="2400" err="1">
                <a:ea typeface="+mn-lt"/>
                <a:cs typeface="+mn-lt"/>
              </a:rPr>
              <a:t>Multilingual</a:t>
            </a:r>
            <a:r>
              <a:rPr lang="it-IT" sz="2400">
                <a:ea typeface="+mn-lt"/>
                <a:cs typeface="+mn-lt"/>
              </a:rPr>
              <a:t> dataset: </a:t>
            </a:r>
            <a:r>
              <a:rPr lang="it-IT" sz="2400" b="1" err="1">
                <a:ea typeface="+mn-lt"/>
                <a:cs typeface="+mn-lt"/>
              </a:rPr>
              <a:t>dataset_multi.json</a:t>
            </a:r>
            <a:r>
              <a:rPr lang="it-IT" sz="2400" b="1">
                <a:ea typeface="+mn-lt"/>
                <a:cs typeface="+mn-lt"/>
              </a:rPr>
              <a:t> = 21,653 </a:t>
            </a:r>
            <a:r>
              <a:rPr lang="it-IT" sz="2400" b="1" err="1">
                <a:ea typeface="+mn-lt"/>
                <a:cs typeface="+mn-lt"/>
              </a:rPr>
              <a:t>sentence</a:t>
            </a:r>
            <a:r>
              <a:rPr lang="it-IT" sz="2400" b="1">
                <a:ea typeface="+mn-lt"/>
                <a:cs typeface="+mn-lt"/>
              </a:rPr>
              <a:t> </a:t>
            </a:r>
            <a:r>
              <a:rPr lang="it-IT" sz="2400" b="1" err="1">
                <a:ea typeface="+mn-lt"/>
                <a:cs typeface="+mn-lt"/>
              </a:rPr>
              <a:t>pairs</a:t>
            </a:r>
            <a:r>
              <a:rPr lang="it-IT" sz="2400">
                <a:ea typeface="+mn-lt"/>
                <a:cs typeface="+mn-lt"/>
              </a:rPr>
              <a:t> (</a:t>
            </a:r>
            <a:r>
              <a:rPr lang="it-IT" sz="2400" err="1">
                <a:ea typeface="+mn-lt"/>
                <a:cs typeface="+mn-lt"/>
              </a:rPr>
              <a:t>Italian</a:t>
            </a:r>
            <a:r>
              <a:rPr lang="it-IT" sz="2400">
                <a:ea typeface="+mn-lt"/>
                <a:cs typeface="+mn-lt"/>
              </a:rPr>
              <a:t> + English, </a:t>
            </a:r>
            <a:r>
              <a:rPr lang="it-IT" sz="2400" err="1">
                <a:ea typeface="+mn-lt"/>
                <a:cs typeface="+mn-lt"/>
              </a:rPr>
              <a:t>normalized</a:t>
            </a:r>
            <a:r>
              <a:rPr lang="it-IT" sz="2400">
                <a:ea typeface="+mn-lt"/>
                <a:cs typeface="+mn-lt"/>
              </a:rPr>
              <a:t> JSON-lines).</a:t>
            </a:r>
            <a:endParaRPr lang="it-IT" sz="2400">
              <a:latin typeface="Aptos"/>
            </a:endParaRPr>
          </a:p>
          <a:p>
            <a:r>
              <a:rPr lang="it-IT" sz="2400" b="1">
                <a:latin typeface="Aptos"/>
              </a:rPr>
              <a:t>Strategy:</a:t>
            </a:r>
            <a:endParaRPr lang="it-IT" sz="2400">
              <a:latin typeface="Aptos"/>
            </a:endParaRPr>
          </a:p>
          <a:p>
            <a:pPr marL="1028700" lvl="1" indent="-342900" fontAlgn="base">
              <a:spcAft>
                <a:spcPct val="0"/>
              </a:spcAft>
            </a:pPr>
            <a:r>
              <a:rPr lang="en-US" altLang="it-IT" sz="2400">
                <a:latin typeface="Aptos"/>
              </a:rPr>
              <a:t>Take advantage of cross-lingual embeddings. The model projects semantically similar sentences (e.g., "Women at the wheel" and "Women drivers") into the same vector space.
Training on shuffled data to force the model to learn the concept of bias, not language.</a:t>
            </a:r>
          </a:p>
          <a:p>
            <a:pPr fontAlgn="base">
              <a:spcAft>
                <a:spcPct val="0"/>
              </a:spcAft>
            </a:pPr>
            <a:r>
              <a:rPr lang="it-IT" sz="2400" b="1" err="1">
                <a:latin typeface="Aptos"/>
              </a:rPr>
              <a:t>Result</a:t>
            </a:r>
            <a:r>
              <a:rPr lang="it-IT" sz="2400" b="1">
                <a:latin typeface="Aptos"/>
              </a:rPr>
              <a:t>:</a:t>
            </a:r>
            <a:r>
              <a:rPr lang="it-IT" sz="2400">
                <a:latin typeface="Aptos"/>
              </a:rPr>
              <a:t> </a:t>
            </a:r>
            <a:r>
              <a:rPr lang="en-US" sz="2400">
                <a:latin typeface="Aptos"/>
              </a:rPr>
              <a:t>Detects bias regardless of the input language. Shuffled IT/EN batches encourage generalization</a:t>
            </a:r>
            <a:endParaRPr lang="it-IT" altLang="it-IT" sz="2400">
              <a:latin typeface="Aptos"/>
            </a:endParaRPr>
          </a:p>
        </p:txBody>
      </p:sp>
      <p:sp>
        <p:nvSpPr>
          <p:cNvPr id="5" name="Segnaposto contenuto 3">
            <a:extLst>
              <a:ext uri="{FF2B5EF4-FFF2-40B4-BE49-F238E27FC236}">
                <a16:creationId xmlns:a16="http://schemas.microsoft.com/office/drawing/2014/main" id="{750A8513-AE33-8CB4-F3C8-8AA1E27D594B}"/>
              </a:ext>
            </a:extLst>
          </p:cNvPr>
          <p:cNvSpPr txBox="1">
            <a:spLocks/>
          </p:cNvSpPr>
          <p:nvPr/>
        </p:nvSpPr>
        <p:spPr>
          <a:xfrm>
            <a:off x="594360" y="1581133"/>
            <a:ext cx="5066523" cy="531132"/>
          </a:xfrm>
          <a:prstGeom prst="rect">
            <a:avLst/>
          </a:prstGeom>
        </p:spPr>
        <p:txBody>
          <a:bodyPr vert="horz" lIns="0" tIns="45720" rIns="91440" bIns="45720" rtlCol="0">
            <a:normAutofit/>
          </a:bodyPr>
          <a:lstStyle>
            <a:defPPr>
              <a:defRPr lang="it-IT"/>
            </a:defPPr>
            <a:lvl1pPr marL="342900" indent="-342900"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a:lstStyle>
          <a:p>
            <a:pPr marL="0" indent="0">
              <a:buNone/>
            </a:pPr>
            <a:r>
              <a:rPr lang="it-IT" b="1">
                <a:latin typeface="Aptos" panose="020B0004020202020204" pitchFamily="34" charset="0"/>
              </a:rPr>
              <a:t>Model </a:t>
            </a:r>
            <a:r>
              <a:rPr lang="it-IT" b="1" err="1">
                <a:latin typeface="Aptos" panose="020B0004020202020204" pitchFamily="34" charset="0"/>
              </a:rPr>
              <a:t>used</a:t>
            </a:r>
            <a:r>
              <a:rPr lang="it-IT" b="1">
                <a:latin typeface="Aptos" panose="020B0004020202020204" pitchFamily="34" charset="0"/>
              </a:rPr>
              <a:t>:</a:t>
            </a:r>
            <a:r>
              <a:rPr lang="it-IT">
                <a:latin typeface="Aptos" panose="020B0004020202020204" pitchFamily="34" charset="0"/>
              </a:rPr>
              <a:t> XLM-</a:t>
            </a:r>
            <a:r>
              <a:rPr lang="it-IT" err="1">
                <a:latin typeface="Aptos" panose="020B0004020202020204" pitchFamily="34" charset="0"/>
              </a:rPr>
              <a:t>RoBERTa</a:t>
            </a:r>
            <a:r>
              <a:rPr lang="it-IT">
                <a:latin typeface="Aptos" panose="020B0004020202020204" pitchFamily="34" charset="0"/>
              </a:rPr>
              <a:t>.</a:t>
            </a:r>
          </a:p>
        </p:txBody>
      </p:sp>
    </p:spTree>
    <p:extLst>
      <p:ext uri="{BB962C8B-B14F-4D97-AF65-F5344CB8AC3E}">
        <p14:creationId xmlns:p14="http://schemas.microsoft.com/office/powerpoint/2010/main" val="21748173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BEB28-38CB-4301-D774-2D4167D62FC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21FF641-1984-DAE1-A42E-7A2054A2AB24}"/>
              </a:ext>
            </a:extLst>
          </p:cNvPr>
          <p:cNvSpPr>
            <a:spLocks noGrp="1"/>
          </p:cNvSpPr>
          <p:nvPr>
            <p:ph type="title"/>
          </p:nvPr>
        </p:nvSpPr>
        <p:spPr>
          <a:xfrm>
            <a:off x="594360" y="442775"/>
            <a:ext cx="7899400" cy="839664"/>
          </a:xfrm>
        </p:spPr>
        <p:txBody>
          <a:bodyPr rtlCol="0"/>
          <a:lstStyle>
            <a:defPPr>
              <a:defRPr lang="it-IT"/>
            </a:defPPr>
          </a:lstStyle>
          <a:p>
            <a:r>
              <a:rPr lang="it-IT" sz="6000" err="1">
                <a:latin typeface="Aptos" panose="020B0004020202020204" pitchFamily="34" charset="0"/>
              </a:rPr>
              <a:t>Multilingual</a:t>
            </a:r>
            <a:r>
              <a:rPr lang="it-IT" sz="6000">
                <a:latin typeface="Aptos" panose="020B0004020202020204" pitchFamily="34" charset="0"/>
              </a:rPr>
              <a:t> Rewriter</a:t>
            </a:r>
          </a:p>
        </p:txBody>
      </p:sp>
      <p:sp>
        <p:nvSpPr>
          <p:cNvPr id="3" name="Segnaposto contenuto 2">
            <a:extLst>
              <a:ext uri="{FF2B5EF4-FFF2-40B4-BE49-F238E27FC236}">
                <a16:creationId xmlns:a16="http://schemas.microsoft.com/office/drawing/2014/main" id="{3A128887-1399-4266-41AD-6BD602FBF357}"/>
              </a:ext>
            </a:extLst>
          </p:cNvPr>
          <p:cNvSpPr>
            <a:spLocks noGrp="1"/>
          </p:cNvSpPr>
          <p:nvPr>
            <p:ph sz="quarter" idx="13"/>
          </p:nvPr>
        </p:nvSpPr>
        <p:spPr>
          <a:xfrm>
            <a:off x="594360" y="2412368"/>
            <a:ext cx="11516360" cy="4283071"/>
          </a:xfrm>
        </p:spPr>
        <p:txBody>
          <a:bodyPr rtlCol="0">
            <a:normAutofit/>
          </a:bodyPr>
          <a:lstStyle>
            <a:defPPr>
              <a:defRPr lang="it-IT"/>
            </a:defPPr>
          </a:lstStyle>
          <a:p>
            <a:r>
              <a:rPr lang="en-US" sz="2400">
                <a:latin typeface="Aptos" panose="020B0004020202020204" pitchFamily="34" charset="0"/>
              </a:rPr>
              <a:t>Google/mT5 supports text-to-text generation across many languages.</a:t>
            </a:r>
            <a:endParaRPr lang="it-IT" sz="2400" b="1">
              <a:latin typeface="Aptos" panose="020B0004020202020204" pitchFamily="34" charset="0"/>
            </a:endParaRPr>
          </a:p>
          <a:p>
            <a:r>
              <a:rPr lang="it-IT" sz="2400" b="1">
                <a:latin typeface="Aptos" panose="020B0004020202020204" pitchFamily="34" charset="0"/>
              </a:rPr>
              <a:t>Challenges:</a:t>
            </a:r>
            <a:endParaRPr lang="it-IT" sz="2400">
              <a:latin typeface="Aptos" panose="020B0004020202020204" pitchFamily="34" charset="0"/>
            </a:endParaRPr>
          </a:p>
          <a:p>
            <a:pPr marL="1028700" lvl="1" indent="-342900" eaLnBrk="0" fontAlgn="base" hangingPunct="0">
              <a:lnSpc>
                <a:spcPct val="100000"/>
              </a:lnSpc>
              <a:spcBef>
                <a:spcPct val="0"/>
              </a:spcBef>
              <a:spcAft>
                <a:spcPct val="0"/>
              </a:spcAft>
            </a:pPr>
            <a:r>
              <a:rPr lang="en-US" altLang="it-IT" sz="2400">
                <a:latin typeface="Aptos" panose="020B0004020202020204" pitchFamily="34" charset="0"/>
              </a:rPr>
              <a:t>mT5 has a huge vocabulary (250k tokens).
Solution: Training on Kaggle with </a:t>
            </a:r>
            <a:r>
              <a:rPr lang="en-US" altLang="it-IT" sz="2400" err="1">
                <a:latin typeface="Aptos" panose="020B0004020202020204" pitchFamily="34" charset="0"/>
              </a:rPr>
              <a:t>Adafactor</a:t>
            </a:r>
            <a:r>
              <a:rPr lang="en-US" altLang="it-IT" sz="2400">
                <a:latin typeface="Aptos" panose="020B0004020202020204" pitchFamily="34" charset="0"/>
              </a:rPr>
              <a:t> optimizer (less memory than </a:t>
            </a:r>
            <a:r>
              <a:rPr lang="en-US" altLang="it-IT" sz="2400" err="1">
                <a:latin typeface="Aptos" panose="020B0004020202020204" pitchFamily="34" charset="0"/>
              </a:rPr>
              <a:t>AdamW</a:t>
            </a:r>
            <a:r>
              <a:rPr lang="en-US" altLang="it-IT" sz="2400">
                <a:latin typeface="Aptos" panose="020B0004020202020204" pitchFamily="34" charset="0"/>
              </a:rPr>
              <a:t>) and Gradient Checkpointing.
Tokenizer: Use of the "slow" version to avoid known bugs with special characters.</a:t>
            </a:r>
            <a:endParaRPr lang="it-IT" sz="2400">
              <a:latin typeface="Aptos" panose="020B0004020202020204" pitchFamily="34" charset="0"/>
            </a:endParaRPr>
          </a:p>
          <a:p>
            <a:r>
              <a:rPr lang="it-IT" sz="2400" b="1">
                <a:latin typeface="Aptos" panose="020B0004020202020204" pitchFamily="34" charset="0"/>
              </a:rPr>
              <a:t>Performance</a:t>
            </a:r>
            <a:r>
              <a:rPr lang="it-IT" sz="2400">
                <a:latin typeface="Aptos" panose="020B0004020202020204" pitchFamily="34" charset="0"/>
              </a:rPr>
              <a:t>:</a:t>
            </a:r>
            <a:endParaRPr lang="it-IT" altLang="it-IT" sz="2400">
              <a:latin typeface="Aptos" panose="020B0004020202020204" pitchFamily="34" charset="0"/>
            </a:endParaRPr>
          </a:p>
          <a:p>
            <a:pPr marL="1028700" lvl="1" indent="-342900" eaLnBrk="0" fontAlgn="base" hangingPunct="0">
              <a:lnSpc>
                <a:spcPct val="100000"/>
              </a:lnSpc>
              <a:spcBef>
                <a:spcPct val="0"/>
              </a:spcBef>
              <a:spcAft>
                <a:spcPct val="0"/>
              </a:spcAft>
            </a:pPr>
            <a:r>
              <a:rPr lang="en-US" altLang="it-IT" sz="2400">
                <a:latin typeface="Aptos" panose="020B0004020202020204" pitchFamily="34" charset="0"/>
              </a:rPr>
              <a:t>Good generalization ability.
Slight loss of syntactic quality compared to monolingual models.</a:t>
            </a:r>
            <a:endParaRPr lang="it-IT" altLang="it-IT" sz="2400">
              <a:latin typeface="Aptos" panose="020B0004020202020204" pitchFamily="34" charset="0"/>
            </a:endParaRPr>
          </a:p>
        </p:txBody>
      </p:sp>
      <p:sp>
        <p:nvSpPr>
          <p:cNvPr id="5" name="Segnaposto contenuto 3">
            <a:extLst>
              <a:ext uri="{FF2B5EF4-FFF2-40B4-BE49-F238E27FC236}">
                <a16:creationId xmlns:a16="http://schemas.microsoft.com/office/drawing/2014/main" id="{0DA8C2A3-8DB4-9482-5E0D-C6C7078D8D0B}"/>
              </a:ext>
            </a:extLst>
          </p:cNvPr>
          <p:cNvSpPr txBox="1">
            <a:spLocks/>
          </p:cNvSpPr>
          <p:nvPr/>
        </p:nvSpPr>
        <p:spPr>
          <a:xfrm>
            <a:off x="594360" y="1581133"/>
            <a:ext cx="5501640" cy="531132"/>
          </a:xfrm>
          <a:prstGeom prst="rect">
            <a:avLst/>
          </a:prstGeom>
        </p:spPr>
        <p:txBody>
          <a:bodyPr vert="horz" lIns="0" tIns="45720" rIns="91440" bIns="45720" rtlCol="0">
            <a:normAutofit/>
          </a:bodyPr>
          <a:lstStyle>
            <a:defPPr>
              <a:defRPr lang="it-IT"/>
            </a:defPPr>
            <a:lvl1pPr marL="342900" indent="-342900"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it-IT"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a:lstStyle>
          <a:p>
            <a:pPr marL="0" indent="0">
              <a:buNone/>
            </a:pPr>
            <a:r>
              <a:rPr lang="it-IT" b="1">
                <a:latin typeface="Aptos" panose="020B0004020202020204" pitchFamily="34" charset="0"/>
              </a:rPr>
              <a:t>Model </a:t>
            </a:r>
            <a:r>
              <a:rPr lang="it-IT" b="1" err="1">
                <a:latin typeface="Aptos" panose="020B0004020202020204" pitchFamily="34" charset="0"/>
              </a:rPr>
              <a:t>used</a:t>
            </a:r>
            <a:r>
              <a:rPr lang="it-IT" b="1">
                <a:latin typeface="Aptos" panose="020B0004020202020204" pitchFamily="34" charset="0"/>
              </a:rPr>
              <a:t>:</a:t>
            </a:r>
            <a:r>
              <a:rPr lang="it-IT">
                <a:latin typeface="Aptos" panose="020B0004020202020204" pitchFamily="34" charset="0"/>
              </a:rPr>
              <a:t> </a:t>
            </a:r>
            <a:r>
              <a:rPr lang="it-IT" err="1">
                <a:latin typeface="Aptos" panose="020B0004020202020204" pitchFamily="34" charset="0"/>
              </a:rPr>
              <a:t>google</a:t>
            </a:r>
            <a:r>
              <a:rPr lang="it-IT">
                <a:latin typeface="Aptos" panose="020B0004020202020204" pitchFamily="34" charset="0"/>
              </a:rPr>
              <a:t>/mt5-base (</a:t>
            </a:r>
            <a:r>
              <a:rPr lang="it-IT" err="1">
                <a:latin typeface="Aptos" panose="020B0004020202020204" pitchFamily="34" charset="0"/>
              </a:rPr>
              <a:t>Multilingual</a:t>
            </a:r>
            <a:r>
              <a:rPr lang="it-IT">
                <a:latin typeface="Aptos" panose="020B0004020202020204" pitchFamily="34" charset="0"/>
              </a:rPr>
              <a:t> T5)</a:t>
            </a:r>
          </a:p>
        </p:txBody>
      </p:sp>
    </p:spTree>
    <p:extLst>
      <p:ext uri="{BB962C8B-B14F-4D97-AF65-F5344CB8AC3E}">
        <p14:creationId xmlns:p14="http://schemas.microsoft.com/office/powerpoint/2010/main" val="1436108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E1D6D-24A1-0F4F-6B4A-C586CEECA598}"/>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5A036A6E-170D-7C26-0F9B-2AAC94388DA8}"/>
              </a:ext>
            </a:extLst>
          </p:cNvPr>
          <p:cNvSpPr/>
          <p:nvPr/>
        </p:nvSpPr>
        <p:spPr>
          <a:xfrm>
            <a:off x="3536302" y="6102220"/>
            <a:ext cx="2649894" cy="41054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Aptos" panose="020B0004020202020204" pitchFamily="34" charset="0"/>
            </a:endParaRPr>
          </a:p>
        </p:txBody>
      </p:sp>
      <p:sp>
        <p:nvSpPr>
          <p:cNvPr id="6" name="Titolo 5">
            <a:extLst>
              <a:ext uri="{FF2B5EF4-FFF2-40B4-BE49-F238E27FC236}">
                <a16:creationId xmlns:a16="http://schemas.microsoft.com/office/drawing/2014/main" id="{4530CB2F-6068-A819-D6AA-2E2BC068ECDC}"/>
              </a:ext>
            </a:extLst>
          </p:cNvPr>
          <p:cNvSpPr>
            <a:spLocks noGrp="1"/>
          </p:cNvSpPr>
          <p:nvPr>
            <p:ph type="title"/>
          </p:nvPr>
        </p:nvSpPr>
        <p:spPr>
          <a:xfrm>
            <a:off x="0" y="82990"/>
            <a:ext cx="12192000" cy="796755"/>
          </a:xfrm>
        </p:spPr>
        <p:txBody>
          <a:bodyPr rtlCol="0"/>
          <a:lstStyle>
            <a:defPPr>
              <a:defRPr lang="it-IT"/>
            </a:defPPr>
          </a:lstStyle>
          <a:p>
            <a:pPr algn="ctr"/>
            <a:r>
              <a:rPr lang="it-IT" sz="6000" err="1">
                <a:latin typeface="Aptos"/>
              </a:rPr>
              <a:t>Multilingual</a:t>
            </a:r>
            <a:r>
              <a:rPr lang="it-IT" sz="6000">
                <a:latin typeface="Aptos"/>
              </a:rPr>
              <a:t> Module</a:t>
            </a:r>
            <a:endParaRPr lang="it-IT" sz="6000" b="0">
              <a:latin typeface="Aptos"/>
            </a:endParaRPr>
          </a:p>
        </p:txBody>
      </p:sp>
      <p:pic>
        <p:nvPicPr>
          <p:cNvPr id="4" name="Immagine 3" descr="Immagine che contiene testo, Carattere, numero, schermata&#10;&#10;Il contenuto generato dall&amp;#39;IA potrebbe non essere corretto.">
            <a:extLst>
              <a:ext uri="{FF2B5EF4-FFF2-40B4-BE49-F238E27FC236}">
                <a16:creationId xmlns:a16="http://schemas.microsoft.com/office/drawing/2014/main" id="{CDBFACC4-2533-690D-9DE5-8C896D59A8C1}"/>
              </a:ext>
            </a:extLst>
          </p:cNvPr>
          <p:cNvPicPr>
            <a:picLocks noChangeAspect="1"/>
          </p:cNvPicPr>
          <p:nvPr/>
        </p:nvPicPr>
        <p:blipFill>
          <a:blip r:embed="rId3"/>
          <a:stretch>
            <a:fillRect/>
          </a:stretch>
        </p:blipFill>
        <p:spPr>
          <a:xfrm>
            <a:off x="4882011" y="1251100"/>
            <a:ext cx="7143750" cy="2371725"/>
          </a:xfrm>
          <a:prstGeom prst="rect">
            <a:avLst/>
          </a:prstGeom>
        </p:spPr>
      </p:pic>
      <p:pic>
        <p:nvPicPr>
          <p:cNvPr id="7" name="Immagine 6">
            <a:extLst>
              <a:ext uri="{FF2B5EF4-FFF2-40B4-BE49-F238E27FC236}">
                <a16:creationId xmlns:a16="http://schemas.microsoft.com/office/drawing/2014/main" id="{545C4939-3874-1F3B-C400-556DF8160DE5}"/>
              </a:ext>
            </a:extLst>
          </p:cNvPr>
          <p:cNvPicPr>
            <a:picLocks noChangeAspect="1"/>
          </p:cNvPicPr>
          <p:nvPr/>
        </p:nvPicPr>
        <p:blipFill>
          <a:blip r:embed="rId4"/>
          <a:stretch>
            <a:fillRect/>
          </a:stretch>
        </p:blipFill>
        <p:spPr>
          <a:xfrm>
            <a:off x="2052638" y="3768934"/>
            <a:ext cx="8086725" cy="2943225"/>
          </a:xfrm>
          <a:prstGeom prst="rect">
            <a:avLst/>
          </a:prstGeom>
        </p:spPr>
      </p:pic>
      <p:pic>
        <p:nvPicPr>
          <p:cNvPr id="2" name="Immagine 1" descr="Immagine che contiene testo, schermata, Carattere, numero&#10;&#10;Il contenuto generato dall&amp;#39;IA potrebbe non essere corretto.">
            <a:extLst>
              <a:ext uri="{FF2B5EF4-FFF2-40B4-BE49-F238E27FC236}">
                <a16:creationId xmlns:a16="http://schemas.microsoft.com/office/drawing/2014/main" id="{FD262D68-C343-7F11-FB6F-D780B29B43B3}"/>
              </a:ext>
            </a:extLst>
          </p:cNvPr>
          <p:cNvPicPr>
            <a:picLocks noChangeAspect="1"/>
          </p:cNvPicPr>
          <p:nvPr/>
        </p:nvPicPr>
        <p:blipFill>
          <a:blip r:embed="rId5"/>
          <a:stretch>
            <a:fillRect/>
          </a:stretch>
        </p:blipFill>
        <p:spPr>
          <a:xfrm>
            <a:off x="851679" y="1247775"/>
            <a:ext cx="3645020" cy="2809696"/>
          </a:xfrm>
          <a:prstGeom prst="rect">
            <a:avLst/>
          </a:prstGeom>
        </p:spPr>
      </p:pic>
    </p:spTree>
    <p:extLst>
      <p:ext uri="{BB962C8B-B14F-4D97-AF65-F5344CB8AC3E}">
        <p14:creationId xmlns:p14="http://schemas.microsoft.com/office/powerpoint/2010/main" val="35382194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tangolo 2">
            <a:extLst>
              <a:ext uri="{FF2B5EF4-FFF2-40B4-BE49-F238E27FC236}">
                <a16:creationId xmlns:a16="http://schemas.microsoft.com/office/drawing/2014/main" id="{A4F9AF9F-B666-BC9F-597E-2F28B3B30477}"/>
              </a:ext>
            </a:extLst>
          </p:cNvPr>
          <p:cNvSpPr/>
          <p:nvPr/>
        </p:nvSpPr>
        <p:spPr>
          <a:xfrm>
            <a:off x="3536302" y="6102220"/>
            <a:ext cx="2649894" cy="41054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Aptos" panose="020B0004020202020204" pitchFamily="34" charset="0"/>
            </a:endParaRPr>
          </a:p>
        </p:txBody>
      </p:sp>
      <p:sp>
        <p:nvSpPr>
          <p:cNvPr id="6" name="Titolo 5">
            <a:extLst>
              <a:ext uri="{FF2B5EF4-FFF2-40B4-BE49-F238E27FC236}">
                <a16:creationId xmlns:a16="http://schemas.microsoft.com/office/drawing/2014/main" id="{76A9A9A7-F1D2-237D-AC72-E21A286F0A6F}"/>
              </a:ext>
            </a:extLst>
          </p:cNvPr>
          <p:cNvSpPr>
            <a:spLocks noGrp="1"/>
          </p:cNvSpPr>
          <p:nvPr>
            <p:ph type="title"/>
          </p:nvPr>
        </p:nvSpPr>
        <p:spPr>
          <a:xfrm>
            <a:off x="0" y="82990"/>
            <a:ext cx="12192000" cy="796755"/>
          </a:xfrm>
        </p:spPr>
        <p:txBody>
          <a:bodyPr rtlCol="0"/>
          <a:lstStyle>
            <a:defPPr>
              <a:defRPr lang="it-IT"/>
            </a:defPPr>
          </a:lstStyle>
          <a:p>
            <a:pPr algn="ctr"/>
            <a:r>
              <a:rPr lang="it-IT" sz="6000" err="1">
                <a:latin typeface="Aptos" panose="020B0004020202020204" pitchFamily="34" charset="0"/>
              </a:rPr>
              <a:t>Classifier</a:t>
            </a:r>
            <a:r>
              <a:rPr lang="it-IT" sz="6000">
                <a:latin typeface="Aptos" panose="020B0004020202020204" pitchFamily="34" charset="0"/>
              </a:rPr>
              <a:t> </a:t>
            </a:r>
            <a:r>
              <a:rPr lang="it-IT" sz="6000" err="1">
                <a:latin typeface="Aptos" panose="020B0004020202020204" pitchFamily="34" charset="0"/>
              </a:rPr>
              <a:t>Metrics</a:t>
            </a:r>
            <a:r>
              <a:rPr lang="it-IT" sz="6000">
                <a:latin typeface="Aptos" panose="020B0004020202020204" pitchFamily="34" charset="0"/>
              </a:rPr>
              <a:t> Analysis</a:t>
            </a:r>
          </a:p>
        </p:txBody>
      </p:sp>
      <p:sp>
        <p:nvSpPr>
          <p:cNvPr id="4" name="Segnaposto contenuto 3">
            <a:extLst>
              <a:ext uri="{FF2B5EF4-FFF2-40B4-BE49-F238E27FC236}">
                <a16:creationId xmlns:a16="http://schemas.microsoft.com/office/drawing/2014/main" id="{CDB14AAA-1F04-769D-E7F0-4F68C8EB9283}"/>
              </a:ext>
            </a:extLst>
          </p:cNvPr>
          <p:cNvSpPr>
            <a:spLocks noGrp="1"/>
          </p:cNvSpPr>
          <p:nvPr>
            <p:ph sz="quarter" idx="14"/>
          </p:nvPr>
        </p:nvSpPr>
        <p:spPr>
          <a:xfrm>
            <a:off x="1652054" y="4496867"/>
            <a:ext cx="10201767" cy="2362843"/>
          </a:xfrm>
        </p:spPr>
        <p:txBody>
          <a:bodyPr vert="horz" lIns="0" tIns="274320" rIns="91440" bIns="45720" rtlCol="0" anchor="t">
            <a:normAutofit/>
          </a:bodyPr>
          <a:lstStyle>
            <a:defPPr>
              <a:defRPr lang="it-IT"/>
            </a:defPPr>
          </a:lstStyle>
          <a:p>
            <a:r>
              <a:rPr lang="en-US" sz="2200">
                <a:ea typeface="+mn-lt"/>
                <a:cs typeface="+mn-lt"/>
              </a:rPr>
              <a:t>The multilingual model, XLM-</a:t>
            </a:r>
            <a:r>
              <a:rPr lang="en-US" sz="2200" err="1">
                <a:ea typeface="+mn-lt"/>
                <a:cs typeface="+mn-lt"/>
              </a:rPr>
              <a:t>RoBERTa</a:t>
            </a:r>
            <a:r>
              <a:rPr lang="en-US" sz="2200">
                <a:ea typeface="+mn-lt"/>
                <a:cs typeface="+mn-lt"/>
              </a:rPr>
              <a:t>, however, drops to </a:t>
            </a:r>
            <a:r>
              <a:rPr lang="en-US" sz="2200" b="1">
                <a:ea typeface="+mn-lt"/>
                <a:cs typeface="+mn-lt"/>
              </a:rPr>
              <a:t>87.80% </a:t>
            </a:r>
            <a:r>
              <a:rPr lang="en-US" sz="2200">
                <a:ea typeface="+mn-lt"/>
                <a:cs typeface="+mn-lt"/>
              </a:rPr>
              <a:t>accuracy and an F1 of </a:t>
            </a:r>
            <a:r>
              <a:rPr lang="en-US" sz="2200" b="1">
                <a:ea typeface="+mn-lt"/>
                <a:cs typeface="+mn-lt"/>
              </a:rPr>
              <a:t>0.880</a:t>
            </a:r>
            <a:r>
              <a:rPr lang="en-US" sz="2200">
                <a:ea typeface="+mn-lt"/>
                <a:cs typeface="+mn-lt"/>
              </a:rPr>
              <a:t>: this is a lower result because it must generalize to more heterogeneous inputs and handle different linguistic variations with a single model.</a:t>
            </a:r>
            <a:endParaRPr lang="it-IT">
              <a:ea typeface="+mn-lt"/>
              <a:cs typeface="+mn-lt"/>
            </a:endParaRPr>
          </a:p>
          <a:p>
            <a:r>
              <a:rPr lang="en-US" sz="2200">
                <a:ea typeface="+mn-lt"/>
                <a:cs typeface="+mn-lt"/>
              </a:rPr>
              <a:t>In practice, multilingual offers </a:t>
            </a:r>
            <a:r>
              <a:rPr lang="en-US" sz="2200" b="1">
                <a:ea typeface="+mn-lt"/>
                <a:cs typeface="+mn-lt"/>
              </a:rPr>
              <a:t>scalability </a:t>
            </a:r>
            <a:r>
              <a:rPr lang="en-US" sz="2200">
                <a:ea typeface="+mn-lt"/>
                <a:cs typeface="+mn-lt"/>
              </a:rPr>
              <a:t>and cross-language coverage, but comes at a cost in accuracy compared to dedicated models.</a:t>
            </a:r>
            <a:endParaRPr lang="it-IT">
              <a:ea typeface="+mn-lt"/>
              <a:cs typeface="+mn-lt"/>
            </a:endParaRPr>
          </a:p>
        </p:txBody>
      </p:sp>
      <p:graphicFrame>
        <p:nvGraphicFramePr>
          <p:cNvPr id="8" name="Segnaposto tabella 2">
            <a:extLst>
              <a:ext uri="{FF2B5EF4-FFF2-40B4-BE49-F238E27FC236}">
                <a16:creationId xmlns:a16="http://schemas.microsoft.com/office/drawing/2014/main" id="{C60AA2D2-28D7-69D7-F6C5-B31DAD3332C1}"/>
              </a:ext>
            </a:extLst>
          </p:cNvPr>
          <p:cNvGraphicFramePr>
            <a:graphicFrameLocks noGrp="1"/>
          </p:cNvGraphicFramePr>
          <p:nvPr>
            <p:ph sz="quarter" idx="13"/>
            <p:extLst>
              <p:ext uri="{D42A27DB-BD31-4B8C-83A1-F6EECF244321}">
                <p14:modId xmlns:p14="http://schemas.microsoft.com/office/powerpoint/2010/main" val="3464041135"/>
              </p:ext>
            </p:extLst>
          </p:nvPr>
        </p:nvGraphicFramePr>
        <p:xfrm>
          <a:off x="566151" y="1168970"/>
          <a:ext cx="5947755" cy="3066502"/>
        </p:xfrm>
        <a:graphic>
          <a:graphicData uri="http://schemas.openxmlformats.org/drawingml/2006/table">
            <a:tbl>
              <a:tblPr firstRow="1" bandRow="1">
                <a:tableStyleId>{8A107856-5554-42FB-B03E-39F5DBC370BA}</a:tableStyleId>
              </a:tblPr>
              <a:tblGrid>
                <a:gridCol w="1982585">
                  <a:extLst>
                    <a:ext uri="{9D8B030D-6E8A-4147-A177-3AD203B41FA5}">
                      <a16:colId xmlns:a16="http://schemas.microsoft.com/office/drawing/2014/main" val="127040821"/>
                    </a:ext>
                  </a:extLst>
                </a:gridCol>
                <a:gridCol w="1982585">
                  <a:extLst>
                    <a:ext uri="{9D8B030D-6E8A-4147-A177-3AD203B41FA5}">
                      <a16:colId xmlns:a16="http://schemas.microsoft.com/office/drawing/2014/main" val="149845700"/>
                    </a:ext>
                  </a:extLst>
                </a:gridCol>
                <a:gridCol w="1982585">
                  <a:extLst>
                    <a:ext uri="{9D8B030D-6E8A-4147-A177-3AD203B41FA5}">
                      <a16:colId xmlns:a16="http://schemas.microsoft.com/office/drawing/2014/main" val="3119692462"/>
                    </a:ext>
                  </a:extLst>
                </a:gridCol>
              </a:tblGrid>
              <a:tr h="511373">
                <a:tc gridSpan="3">
                  <a:txBody>
                    <a:bodyPr/>
                    <a:lstStyle/>
                    <a:p>
                      <a:pPr algn="ctr" rtl="0"/>
                      <a:r>
                        <a:rPr lang="it-IT" err="1"/>
                        <a:t>Classifier</a:t>
                      </a:r>
                      <a:r>
                        <a:rPr lang="it-IT"/>
                        <a:t> </a:t>
                      </a:r>
                      <a:r>
                        <a:rPr lang="it-IT" err="1"/>
                        <a:t>Comparison</a:t>
                      </a:r>
                      <a:endParaRPr lang="it-IT" b="0">
                        <a:latin typeface="+mj-lt"/>
                      </a:endParaRPr>
                    </a:p>
                  </a:txBody>
                  <a:tcPr anchor="ctr"/>
                </a:tc>
                <a:tc hMerge="1">
                  <a:txBody>
                    <a:bodyPr/>
                    <a:lstStyle/>
                    <a:p>
                      <a:pPr algn="ctr" rtl="0"/>
                      <a:endParaRPr lang="it-IT" b="0">
                        <a:latin typeface="+mj-lt"/>
                      </a:endParaRPr>
                    </a:p>
                  </a:txBody>
                  <a:tcPr anchor="ctr"/>
                </a:tc>
                <a:tc hMerge="1">
                  <a:txBody>
                    <a:bodyPr/>
                    <a:lstStyle/>
                    <a:p>
                      <a:pPr algn="ctr" rtl="0"/>
                      <a:endParaRPr lang="it-IT" b="0">
                        <a:latin typeface="+mj-lt"/>
                      </a:endParaRPr>
                    </a:p>
                  </a:txBody>
                  <a:tcPr anchor="ctr"/>
                </a:tc>
                <a:extLst>
                  <a:ext uri="{0D108BD9-81ED-4DB2-BD59-A6C34878D82A}">
                    <a16:rowId xmlns:a16="http://schemas.microsoft.com/office/drawing/2014/main" val="3698239563"/>
                  </a:ext>
                </a:extLst>
              </a:tr>
              <a:tr h="511373">
                <a:tc>
                  <a:txBody>
                    <a:bodyPr/>
                    <a:lstStyle>
                      <a:defPPr>
                        <a:defRPr lang="it-IT"/>
                      </a:defPPr>
                    </a:lstStyle>
                    <a:p>
                      <a:pPr algn="ctr" rtl="0"/>
                      <a:r>
                        <a:rPr lang="it-IT" b="1"/>
                        <a:t>Modello</a:t>
                      </a:r>
                      <a:endParaRPr lang="it-IT" b="1">
                        <a:latin typeface="+mj-lt"/>
                      </a:endParaRPr>
                    </a:p>
                  </a:txBody>
                  <a:tcPr anchor="ctr"/>
                </a:tc>
                <a:tc>
                  <a:txBody>
                    <a:bodyPr/>
                    <a:lstStyle>
                      <a:defPPr>
                        <a:defRPr lang="it-IT"/>
                      </a:defPPr>
                    </a:lstStyle>
                    <a:p>
                      <a:pPr algn="ctr" rtl="0"/>
                      <a:r>
                        <a:rPr lang="it-IT" b="1" err="1"/>
                        <a:t>Accuracy</a:t>
                      </a:r>
                      <a:endParaRPr lang="it-IT" b="1">
                        <a:latin typeface="+mj-lt"/>
                      </a:endParaRPr>
                    </a:p>
                  </a:txBody>
                  <a:tcPr anchor="ctr"/>
                </a:tc>
                <a:tc>
                  <a:txBody>
                    <a:bodyPr/>
                    <a:lstStyle>
                      <a:defPPr>
                        <a:defRPr lang="it-IT"/>
                      </a:defPPr>
                    </a:lstStyle>
                    <a:p>
                      <a:pPr algn="ctr" rtl="0"/>
                      <a:r>
                        <a:rPr lang="it-IT" b="1"/>
                        <a:t>F1-Score</a:t>
                      </a:r>
                      <a:endParaRPr lang="it-IT" b="1">
                        <a:latin typeface="+mj-lt"/>
                      </a:endParaRPr>
                    </a:p>
                  </a:txBody>
                  <a:tcPr anchor="ctr"/>
                </a:tc>
                <a:extLst>
                  <a:ext uri="{0D108BD9-81ED-4DB2-BD59-A6C34878D82A}">
                    <a16:rowId xmlns:a16="http://schemas.microsoft.com/office/drawing/2014/main" val="3298013591"/>
                  </a:ext>
                </a:extLst>
              </a:tr>
              <a:tr h="708914">
                <a:tc>
                  <a:txBody>
                    <a:bodyPr/>
                    <a:lstStyle>
                      <a:defPPr>
                        <a:defRPr lang="it-IT"/>
                      </a:defPPr>
                    </a:lstStyle>
                    <a:p>
                      <a:pPr algn="ctr" rtl="0"/>
                      <a:r>
                        <a:rPr lang="it-IT" err="1"/>
                        <a:t>DistilBERT</a:t>
                      </a:r>
                      <a:endParaRPr lang="it-IT" b="0"/>
                    </a:p>
                  </a:txBody>
                  <a:tcPr anchor="ctr"/>
                </a:tc>
                <a:tc>
                  <a:txBody>
                    <a:bodyPr/>
                    <a:lstStyle>
                      <a:defPPr>
                        <a:defRPr lang="it-IT"/>
                      </a:defPPr>
                    </a:lstStyle>
                    <a:p>
                      <a:pPr algn="ctr" rtl="0"/>
                      <a:r>
                        <a:rPr lang="it-IT"/>
                        <a:t>99.70%</a:t>
                      </a:r>
                      <a:endParaRPr lang="it-IT" b="0"/>
                    </a:p>
                  </a:txBody>
                  <a:tcPr anchor="ctr"/>
                </a:tc>
                <a:tc>
                  <a:txBody>
                    <a:bodyPr/>
                    <a:lstStyle>
                      <a:defPPr>
                        <a:defRPr lang="it-IT"/>
                      </a:defPPr>
                    </a:lstStyle>
                    <a:p>
                      <a:pPr algn="ctr" rtl="0"/>
                      <a:r>
                        <a:rPr lang="it-IT"/>
                        <a:t>0.997</a:t>
                      </a:r>
                      <a:endParaRPr lang="it-IT" b="0"/>
                    </a:p>
                  </a:txBody>
                  <a:tcPr anchor="ctr"/>
                </a:tc>
                <a:extLst>
                  <a:ext uri="{0D108BD9-81ED-4DB2-BD59-A6C34878D82A}">
                    <a16:rowId xmlns:a16="http://schemas.microsoft.com/office/drawing/2014/main" val="3873867931"/>
                  </a:ext>
                </a:extLst>
              </a:tr>
              <a:tr h="708914">
                <a:tc>
                  <a:txBody>
                    <a:bodyPr/>
                    <a:lstStyle>
                      <a:defPPr>
                        <a:defRPr lang="it-IT"/>
                      </a:def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a:t>XLM-</a:t>
                      </a:r>
                      <a:r>
                        <a:rPr lang="it-IT" err="1"/>
                        <a:t>RoBERTa</a:t>
                      </a:r>
                      <a:endParaRPr lang="it-IT" b="0" err="1"/>
                    </a:p>
                  </a:txBody>
                  <a:tcPr anchor="ctr"/>
                </a:tc>
                <a:tc>
                  <a:txBody>
                    <a:bodyPr/>
                    <a:lstStyle>
                      <a:defPPr>
                        <a:defRPr lang="it-IT"/>
                      </a:defPPr>
                    </a:lstStyle>
                    <a:p>
                      <a:pPr algn="ctr" rtl="0"/>
                      <a:r>
                        <a:rPr lang="it-IT"/>
                        <a:t>87.80%</a:t>
                      </a:r>
                      <a:endParaRPr lang="it-IT" b="0"/>
                    </a:p>
                  </a:txBody>
                  <a:tcPr anchor="ctr"/>
                </a:tc>
                <a:tc>
                  <a:txBody>
                    <a:bodyPr/>
                    <a:lstStyle>
                      <a:defPPr>
                        <a:defRPr lang="it-IT"/>
                      </a:defPPr>
                    </a:lstStyle>
                    <a:p>
                      <a:pPr algn="ctr" rtl="0"/>
                      <a:r>
                        <a:rPr lang="it-IT"/>
                        <a:t>0.880</a:t>
                      </a:r>
                      <a:endParaRPr lang="it-IT" b="0"/>
                    </a:p>
                  </a:txBody>
                  <a:tcPr anchor="ctr"/>
                </a:tc>
                <a:extLst>
                  <a:ext uri="{0D108BD9-81ED-4DB2-BD59-A6C34878D82A}">
                    <a16:rowId xmlns:a16="http://schemas.microsoft.com/office/drawing/2014/main" val="85209771"/>
                  </a:ext>
                </a:extLst>
              </a:tr>
              <a:tr h="625928">
                <a:tc>
                  <a:txBody>
                    <a:bodyPr/>
                    <a:lstStyle>
                      <a:defPPr>
                        <a:defRPr lang="it-IT"/>
                      </a:defPPr>
                    </a:lstStyle>
                    <a:p>
                      <a:pPr algn="ctr" rtl="0"/>
                      <a:r>
                        <a:rPr lang="it-IT"/>
                        <a:t>🇮🇹 </a:t>
                      </a:r>
                      <a:r>
                        <a:rPr lang="it-IT" err="1"/>
                        <a:t>BERTino</a:t>
                      </a:r>
                      <a:endParaRPr lang="it-IT" b="0"/>
                    </a:p>
                  </a:txBody>
                  <a:tcPr anchor="ctr"/>
                </a:tc>
                <a:tc>
                  <a:txBody>
                    <a:bodyPr/>
                    <a:lstStyle>
                      <a:defPPr>
                        <a:defRPr lang="it-IT"/>
                      </a:defPPr>
                    </a:lstStyle>
                    <a:p>
                      <a:pPr algn="ctr" rtl="0"/>
                      <a:r>
                        <a:rPr lang="it-IT"/>
                        <a:t>99.25%</a:t>
                      </a:r>
                      <a:endParaRPr lang="it-IT" b="0"/>
                    </a:p>
                  </a:txBody>
                  <a:tcPr anchor="ctr"/>
                </a:tc>
                <a:tc>
                  <a:txBody>
                    <a:bodyPr/>
                    <a:lstStyle>
                      <a:defPPr>
                        <a:defRPr lang="it-IT"/>
                      </a:defPPr>
                    </a:lstStyle>
                    <a:p>
                      <a:pPr algn="ctr" rtl="0"/>
                      <a:r>
                        <a:rPr lang="it-IT"/>
                        <a:t>0.992</a:t>
                      </a:r>
                      <a:endParaRPr lang="it-IT" b="0"/>
                    </a:p>
                  </a:txBody>
                  <a:tcPr anchor="ctr"/>
                </a:tc>
                <a:extLst>
                  <a:ext uri="{0D108BD9-81ED-4DB2-BD59-A6C34878D82A}">
                    <a16:rowId xmlns:a16="http://schemas.microsoft.com/office/drawing/2014/main" val="4061031278"/>
                  </a:ext>
                </a:extLst>
              </a:tr>
            </a:tbl>
          </a:graphicData>
        </a:graphic>
      </p:graphicFrame>
      <p:sp>
        <p:nvSpPr>
          <p:cNvPr id="2" name="Segnaposto contenuto 3">
            <a:extLst>
              <a:ext uri="{FF2B5EF4-FFF2-40B4-BE49-F238E27FC236}">
                <a16:creationId xmlns:a16="http://schemas.microsoft.com/office/drawing/2014/main" id="{CDD4F5C5-14F4-5AAE-F4FE-43C0CB59D22B}"/>
              </a:ext>
            </a:extLst>
          </p:cNvPr>
          <p:cNvSpPr txBox="1">
            <a:spLocks/>
          </p:cNvSpPr>
          <p:nvPr/>
        </p:nvSpPr>
        <p:spPr>
          <a:xfrm>
            <a:off x="7112122" y="1163933"/>
            <a:ext cx="4730585" cy="3340266"/>
          </a:xfrm>
          <a:prstGeom prst="rect">
            <a:avLst/>
          </a:prstGeom>
        </p:spPr>
        <p:txBody>
          <a:bodyPr vert="horz" lIns="0" tIns="274320" rIns="91440" bIns="45720" rtlCol="0" anchor="t">
            <a:normAutofit fontScale="70000" lnSpcReduction="20000"/>
          </a:bodyPr>
          <a:lstStyle>
            <a:defPPr>
              <a:defRPr lang="it-IT"/>
            </a:defPPr>
            <a:lvl1pPr marL="0" indent="0" algn="l" defTabSz="914400" rtl="0" eaLnBrk="1" latinLnBrk="0" hangingPunct="1">
              <a:lnSpc>
                <a:spcPct val="90000"/>
              </a:lnSpc>
              <a:spcBef>
                <a:spcPts val="1800"/>
              </a:spcBef>
              <a:buFont typeface="Arial" panose="020B0604020202020204" pitchFamily="34" charset="0"/>
              <a:buNone/>
              <a:defRPr lang="it-IT" sz="2000" b="0" i="0" kern="1200">
                <a:solidFill>
                  <a:schemeClr val="bg1"/>
                </a:solidFill>
                <a:latin typeface="+mn-lt"/>
                <a:ea typeface="+mn-ea"/>
                <a:cs typeface="+mn-cs"/>
              </a:defRPr>
            </a:lvl1pPr>
            <a:lvl2pPr marL="457200" indent="0" algn="l" defTabSz="914400" rtl="0" eaLnBrk="1" latinLnBrk="0" hangingPunct="1">
              <a:lnSpc>
                <a:spcPct val="90000"/>
              </a:lnSpc>
              <a:spcBef>
                <a:spcPts val="1800"/>
              </a:spcBef>
              <a:buFont typeface="Arial" panose="020B0604020202020204" pitchFamily="34" charset="0"/>
              <a:buNone/>
              <a:defRPr lang="it-IT" sz="2000" b="0" i="0" kern="1200">
                <a:solidFill>
                  <a:schemeClr val="bg1"/>
                </a:solidFill>
                <a:latin typeface="+mn-lt"/>
                <a:ea typeface="+mn-ea"/>
                <a:cs typeface="+mn-cs"/>
              </a:defRPr>
            </a:lvl2pPr>
            <a:lvl3pPr marL="914400" indent="0" algn="l" defTabSz="914400" rtl="0" eaLnBrk="1" latinLnBrk="0" hangingPunct="1">
              <a:lnSpc>
                <a:spcPct val="90000"/>
              </a:lnSpc>
              <a:spcBef>
                <a:spcPts val="1800"/>
              </a:spcBef>
              <a:buFont typeface="Arial" panose="020B0604020202020204" pitchFamily="34" charset="0"/>
              <a:buNone/>
              <a:defRPr lang="it-IT" sz="2000" b="0" i="0" kern="1200">
                <a:solidFill>
                  <a:schemeClr val="bg1"/>
                </a:solidFill>
                <a:latin typeface="+mn-lt"/>
                <a:ea typeface="+mn-ea"/>
                <a:cs typeface="+mn-cs"/>
              </a:defRPr>
            </a:lvl3pPr>
            <a:lvl4pPr marL="1371600" indent="0" algn="l" defTabSz="914400" rtl="0" eaLnBrk="1" latinLnBrk="0" hangingPunct="1">
              <a:lnSpc>
                <a:spcPct val="90000"/>
              </a:lnSpc>
              <a:spcBef>
                <a:spcPts val="1800"/>
              </a:spcBef>
              <a:buFont typeface="Arial" panose="020B0604020202020204" pitchFamily="34" charset="0"/>
              <a:buNone/>
              <a:defRPr lang="it-IT" sz="2000" b="0" i="0" kern="1200">
                <a:solidFill>
                  <a:schemeClr val="bg1"/>
                </a:solidFill>
                <a:latin typeface="+mn-lt"/>
                <a:ea typeface="+mn-ea"/>
                <a:cs typeface="+mn-cs"/>
              </a:defRPr>
            </a:lvl4pPr>
            <a:lvl5pPr marL="1828800" indent="0" algn="l" defTabSz="914400" rtl="0" eaLnBrk="1" latinLnBrk="0" hangingPunct="1">
              <a:lnSpc>
                <a:spcPct val="90000"/>
              </a:lnSpc>
              <a:spcBef>
                <a:spcPts val="1800"/>
              </a:spcBef>
              <a:buFont typeface="Arial" panose="020B0604020202020204" pitchFamily="34" charset="0"/>
              <a:buNone/>
              <a:defRPr lang="it-IT"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a:lstStyle>
          <a:p>
            <a:r>
              <a:rPr lang="en-US" sz="2900">
                <a:ea typeface="+mn-lt"/>
                <a:cs typeface="+mn-lt"/>
              </a:rPr>
              <a:t>The two single-language models achieve near-perfect performance:</a:t>
            </a:r>
            <a:endParaRPr lang="en-US">
              <a:ea typeface="+mn-lt"/>
              <a:cs typeface="+mn-lt"/>
            </a:endParaRPr>
          </a:p>
          <a:p>
            <a:pPr marL="457200" indent="-457200">
              <a:buChar char="•"/>
            </a:pPr>
            <a:r>
              <a:rPr lang="en-US" sz="2900" b="1" err="1">
                <a:ea typeface="+mn-lt"/>
                <a:cs typeface="+mn-lt"/>
              </a:rPr>
              <a:t>DistilBERT</a:t>
            </a:r>
            <a:r>
              <a:rPr lang="en-US" sz="2900" b="1">
                <a:ea typeface="+mn-lt"/>
                <a:cs typeface="+mn-lt"/>
              </a:rPr>
              <a:t> </a:t>
            </a:r>
            <a:r>
              <a:rPr lang="en-US" sz="2900">
                <a:ea typeface="+mn-lt"/>
                <a:cs typeface="+mn-lt"/>
              </a:rPr>
              <a:t>in English achieves </a:t>
            </a:r>
            <a:r>
              <a:rPr lang="en-US" sz="2900" b="1">
                <a:ea typeface="+mn-lt"/>
                <a:cs typeface="+mn-lt"/>
              </a:rPr>
              <a:t>99.70%</a:t>
            </a:r>
            <a:r>
              <a:rPr lang="en-US" sz="2900">
                <a:ea typeface="+mn-lt"/>
                <a:cs typeface="+mn-lt"/>
              </a:rPr>
              <a:t> accuracy with an F1 of </a:t>
            </a:r>
            <a:r>
              <a:rPr lang="en-US" sz="2900" b="1">
                <a:ea typeface="+mn-lt"/>
                <a:cs typeface="+mn-lt"/>
              </a:rPr>
              <a:t>0.997.</a:t>
            </a:r>
            <a:endParaRPr lang="en-US">
              <a:ea typeface="+mn-lt"/>
              <a:cs typeface="+mn-lt"/>
            </a:endParaRPr>
          </a:p>
          <a:p>
            <a:pPr marL="457200" indent="-457200">
              <a:buChar char="•"/>
            </a:pPr>
            <a:r>
              <a:rPr lang="en-US" sz="2900" b="1" err="1">
                <a:ea typeface="+mn-lt"/>
                <a:cs typeface="+mn-lt"/>
              </a:rPr>
              <a:t>BERTino</a:t>
            </a:r>
            <a:r>
              <a:rPr lang="en-US" sz="2900" b="1">
                <a:ea typeface="+mn-lt"/>
                <a:cs typeface="+mn-lt"/>
              </a:rPr>
              <a:t> </a:t>
            </a:r>
            <a:r>
              <a:rPr lang="en-US" sz="2900">
                <a:ea typeface="+mn-lt"/>
                <a:cs typeface="+mn-lt"/>
              </a:rPr>
              <a:t>in Italian achieves </a:t>
            </a:r>
            <a:r>
              <a:rPr lang="en-US" sz="2900" b="1">
                <a:ea typeface="+mn-lt"/>
                <a:cs typeface="+mn-lt"/>
              </a:rPr>
              <a:t>99.25%</a:t>
            </a:r>
            <a:r>
              <a:rPr lang="en-US" sz="2900">
                <a:ea typeface="+mn-lt"/>
                <a:cs typeface="+mn-lt"/>
              </a:rPr>
              <a:t> accuracy with an F1 of </a:t>
            </a:r>
            <a:r>
              <a:rPr lang="en-US" sz="2900" b="1">
                <a:ea typeface="+mn-lt"/>
                <a:cs typeface="+mn-lt"/>
              </a:rPr>
              <a:t>0.992</a:t>
            </a:r>
            <a:r>
              <a:rPr lang="en-US" sz="2900">
                <a:ea typeface="+mn-lt"/>
                <a:cs typeface="+mn-lt"/>
              </a:rPr>
              <a:t>.</a:t>
            </a:r>
            <a:endParaRPr lang="en-US">
              <a:ea typeface="+mn-lt"/>
              <a:cs typeface="+mn-lt"/>
            </a:endParaRPr>
          </a:p>
          <a:p>
            <a:r>
              <a:rPr lang="en-US" sz="2900">
                <a:ea typeface="+mn-lt"/>
                <a:cs typeface="+mn-lt"/>
              </a:rPr>
              <a:t>This indicates that, when the model specializes in one language and the dataset is well-curated, bias patterns are recognized with greater reliability.</a:t>
            </a:r>
            <a:endParaRPr lang="en-US">
              <a:ea typeface="+mn-lt"/>
              <a:cs typeface="+mn-lt"/>
            </a:endParaRPr>
          </a:p>
          <a:p>
            <a:endParaRPr lang="en-US" sz="2900">
              <a:latin typeface="Aptos"/>
            </a:endParaRPr>
          </a:p>
          <a:p>
            <a:endParaRPr lang="en-US" i="1">
              <a:latin typeface="Aptos"/>
            </a:endParaRPr>
          </a:p>
        </p:txBody>
      </p:sp>
    </p:spTree>
    <p:extLst>
      <p:ext uri="{BB962C8B-B14F-4D97-AF65-F5344CB8AC3E}">
        <p14:creationId xmlns:p14="http://schemas.microsoft.com/office/powerpoint/2010/main" val="4127695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93F3C-F064-F058-C102-3610FFB732A0}"/>
            </a:ext>
          </a:extLst>
        </p:cNvPr>
        <p:cNvGrpSpPr/>
        <p:nvPr/>
      </p:nvGrpSpPr>
      <p:grpSpPr>
        <a:xfrm>
          <a:off x="0" y="0"/>
          <a:ext cx="0" cy="0"/>
          <a:chOff x="0" y="0"/>
          <a:chExt cx="0" cy="0"/>
        </a:xfrm>
      </p:grpSpPr>
      <p:sp>
        <p:nvSpPr>
          <p:cNvPr id="3" name="Rettangolo 2">
            <a:extLst>
              <a:ext uri="{FF2B5EF4-FFF2-40B4-BE49-F238E27FC236}">
                <a16:creationId xmlns:a16="http://schemas.microsoft.com/office/drawing/2014/main" id="{21D3E53F-057D-08E5-043F-1613663BD981}"/>
              </a:ext>
            </a:extLst>
          </p:cNvPr>
          <p:cNvSpPr/>
          <p:nvPr/>
        </p:nvSpPr>
        <p:spPr>
          <a:xfrm>
            <a:off x="3536302" y="6102220"/>
            <a:ext cx="2649894" cy="41054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Aptos" panose="020B0004020202020204" pitchFamily="34" charset="0"/>
            </a:endParaRPr>
          </a:p>
        </p:txBody>
      </p:sp>
      <p:sp>
        <p:nvSpPr>
          <p:cNvPr id="6" name="Titolo 5">
            <a:extLst>
              <a:ext uri="{FF2B5EF4-FFF2-40B4-BE49-F238E27FC236}">
                <a16:creationId xmlns:a16="http://schemas.microsoft.com/office/drawing/2014/main" id="{4EC6F3F6-35D5-887A-C09F-22AD4D360E21}"/>
              </a:ext>
            </a:extLst>
          </p:cNvPr>
          <p:cNvSpPr>
            <a:spLocks noGrp="1"/>
          </p:cNvSpPr>
          <p:nvPr>
            <p:ph type="title"/>
          </p:nvPr>
        </p:nvSpPr>
        <p:spPr>
          <a:xfrm>
            <a:off x="1516477" y="166563"/>
            <a:ext cx="9339437" cy="796755"/>
          </a:xfrm>
        </p:spPr>
        <p:txBody>
          <a:bodyPr rtlCol="0"/>
          <a:lstStyle>
            <a:defPPr>
              <a:defRPr lang="it-IT"/>
            </a:defPPr>
          </a:lstStyle>
          <a:p>
            <a:pPr algn="ctr"/>
            <a:r>
              <a:rPr lang="it-IT" sz="6000">
                <a:latin typeface="Aptos" panose="020B0004020202020204" pitchFamily="34" charset="0"/>
              </a:rPr>
              <a:t>Rewriter </a:t>
            </a:r>
            <a:r>
              <a:rPr lang="it-IT" sz="6000" err="1">
                <a:latin typeface="Aptos" panose="020B0004020202020204" pitchFamily="34" charset="0"/>
              </a:rPr>
              <a:t>Metrics</a:t>
            </a:r>
            <a:r>
              <a:rPr lang="it-IT" sz="6000">
                <a:latin typeface="Aptos" panose="020B0004020202020204" pitchFamily="34" charset="0"/>
              </a:rPr>
              <a:t> Analysis</a:t>
            </a:r>
          </a:p>
        </p:txBody>
      </p:sp>
      <p:sp>
        <p:nvSpPr>
          <p:cNvPr id="4" name="Segnaposto contenuto 3">
            <a:extLst>
              <a:ext uri="{FF2B5EF4-FFF2-40B4-BE49-F238E27FC236}">
                <a16:creationId xmlns:a16="http://schemas.microsoft.com/office/drawing/2014/main" id="{FA0DCD9C-7943-D96F-046A-62DE3BA7208A}"/>
              </a:ext>
            </a:extLst>
          </p:cNvPr>
          <p:cNvSpPr>
            <a:spLocks noGrp="1"/>
          </p:cNvSpPr>
          <p:nvPr>
            <p:ph sz="quarter" idx="14"/>
          </p:nvPr>
        </p:nvSpPr>
        <p:spPr>
          <a:xfrm>
            <a:off x="664429" y="5080694"/>
            <a:ext cx="10495073" cy="1579632"/>
          </a:xfrm>
        </p:spPr>
        <p:txBody>
          <a:bodyPr vert="horz" lIns="0" tIns="274320" rIns="91440" bIns="45720" rtlCol="0" anchor="t">
            <a:normAutofit fontScale="92500" lnSpcReduction="20000"/>
          </a:bodyPr>
          <a:lstStyle>
            <a:defPPr>
              <a:defRPr lang="it-IT"/>
            </a:defPPr>
          </a:lstStyle>
          <a:p>
            <a:r>
              <a:rPr lang="en-US" b="1">
                <a:ea typeface="+mn-lt"/>
                <a:cs typeface="+mn-lt"/>
              </a:rPr>
              <a:t>Specialist models &gt; generalist model:</a:t>
            </a:r>
            <a:r>
              <a:rPr lang="en-US">
                <a:ea typeface="+mn-lt"/>
                <a:cs typeface="+mn-lt"/>
              </a:rPr>
              <a:t> FLAN-T5 and IT5 are focused on a single language, while mT5 must distribute its capacity across many languages (the well-known “curse of </a:t>
            </a:r>
            <a:r>
              <a:rPr lang="en-US" err="1">
                <a:ea typeface="+mn-lt"/>
                <a:cs typeface="+mn-lt"/>
              </a:rPr>
              <a:t>multilinguality</a:t>
            </a:r>
            <a:r>
              <a:rPr lang="en-US">
                <a:ea typeface="+mn-lt"/>
                <a:cs typeface="+mn-lt"/>
              </a:rPr>
              <a:t>”).</a:t>
            </a:r>
            <a:endParaRPr lang="it-IT"/>
          </a:p>
          <a:p>
            <a:r>
              <a:rPr lang="en-US" b="1">
                <a:ea typeface="+mn-lt"/>
                <a:cs typeface="+mn-lt"/>
              </a:rPr>
              <a:t>Exact-match metrics penalize paraphrases,</a:t>
            </a:r>
            <a:r>
              <a:rPr lang="en-US">
                <a:ea typeface="+mn-lt"/>
                <a:cs typeface="+mn-lt"/>
              </a:rPr>
              <a:t> and Italian naturally involves more paraphrasing (agreement, freer word order, synonyms). For this reason, </a:t>
            </a:r>
            <a:r>
              <a:rPr lang="en-US" b="1" err="1">
                <a:ea typeface="+mn-lt"/>
                <a:cs typeface="+mn-lt"/>
              </a:rPr>
              <a:t>BERTScore</a:t>
            </a:r>
            <a:r>
              <a:rPr lang="en-US" b="1">
                <a:ea typeface="+mn-lt"/>
                <a:cs typeface="+mn-lt"/>
              </a:rPr>
              <a:t> is the most important metric here.</a:t>
            </a:r>
          </a:p>
          <a:p>
            <a:endParaRPr lang="en-US">
              <a:latin typeface="Aptos"/>
              <a:ea typeface="+mn-lt"/>
              <a:cs typeface="+mn-lt"/>
            </a:endParaRPr>
          </a:p>
        </p:txBody>
      </p:sp>
      <p:graphicFrame>
        <p:nvGraphicFramePr>
          <p:cNvPr id="8" name="Segnaposto tabella 2">
            <a:extLst>
              <a:ext uri="{FF2B5EF4-FFF2-40B4-BE49-F238E27FC236}">
                <a16:creationId xmlns:a16="http://schemas.microsoft.com/office/drawing/2014/main" id="{D6639ED0-F00D-F947-2EC5-EA113E9A4E08}"/>
              </a:ext>
            </a:extLst>
          </p:cNvPr>
          <p:cNvGraphicFramePr>
            <a:graphicFrameLocks noGrp="1"/>
          </p:cNvGraphicFramePr>
          <p:nvPr>
            <p:ph sz="quarter" idx="13"/>
            <p:extLst>
              <p:ext uri="{D42A27DB-BD31-4B8C-83A1-F6EECF244321}">
                <p14:modId xmlns:p14="http://schemas.microsoft.com/office/powerpoint/2010/main" val="4154703029"/>
              </p:ext>
            </p:extLst>
          </p:nvPr>
        </p:nvGraphicFramePr>
        <p:xfrm>
          <a:off x="663671" y="954086"/>
          <a:ext cx="6948216" cy="3913177"/>
        </p:xfrm>
        <a:graphic>
          <a:graphicData uri="http://schemas.openxmlformats.org/drawingml/2006/table">
            <a:tbl>
              <a:tblPr firstRow="1" bandRow="1">
                <a:tableStyleId>{8A107856-5554-42FB-B03E-39F5DBC370BA}</a:tableStyleId>
              </a:tblPr>
              <a:tblGrid>
                <a:gridCol w="1698079">
                  <a:extLst>
                    <a:ext uri="{9D8B030D-6E8A-4147-A177-3AD203B41FA5}">
                      <a16:colId xmlns:a16="http://schemas.microsoft.com/office/drawing/2014/main" val="127040821"/>
                    </a:ext>
                  </a:extLst>
                </a:gridCol>
                <a:gridCol w="1723757">
                  <a:extLst>
                    <a:ext uri="{9D8B030D-6E8A-4147-A177-3AD203B41FA5}">
                      <a16:colId xmlns:a16="http://schemas.microsoft.com/office/drawing/2014/main" val="149845700"/>
                    </a:ext>
                  </a:extLst>
                </a:gridCol>
                <a:gridCol w="1870221">
                  <a:extLst>
                    <a:ext uri="{9D8B030D-6E8A-4147-A177-3AD203B41FA5}">
                      <a16:colId xmlns:a16="http://schemas.microsoft.com/office/drawing/2014/main" val="3119692462"/>
                    </a:ext>
                  </a:extLst>
                </a:gridCol>
                <a:gridCol w="1656159">
                  <a:extLst>
                    <a:ext uri="{9D8B030D-6E8A-4147-A177-3AD203B41FA5}">
                      <a16:colId xmlns:a16="http://schemas.microsoft.com/office/drawing/2014/main" val="2040603085"/>
                    </a:ext>
                  </a:extLst>
                </a:gridCol>
              </a:tblGrid>
              <a:tr h="470949">
                <a:tc gridSpan="4">
                  <a:txBody>
                    <a:bodyPr/>
                    <a:lstStyle/>
                    <a:p>
                      <a:pPr algn="ctr" rtl="0"/>
                      <a:r>
                        <a:rPr lang="it-IT"/>
                        <a:t>Models </a:t>
                      </a:r>
                      <a:r>
                        <a:rPr lang="it-IT" err="1"/>
                        <a:t>Comparison</a:t>
                      </a:r>
                      <a:endParaRPr lang="it-IT" b="0">
                        <a:latin typeface="+mj-lt"/>
                      </a:endParaRPr>
                    </a:p>
                  </a:txBody>
                  <a:tcPr anchor="ctr"/>
                </a:tc>
                <a:tc hMerge="1">
                  <a:txBody>
                    <a:bodyPr/>
                    <a:lstStyle/>
                    <a:p>
                      <a:pPr algn="ctr" rtl="0"/>
                      <a:endParaRPr lang="it-IT" b="0">
                        <a:latin typeface="+mj-lt"/>
                      </a:endParaRPr>
                    </a:p>
                  </a:txBody>
                  <a:tcPr anchor="ctr"/>
                </a:tc>
                <a:tc hMerge="1">
                  <a:txBody>
                    <a:bodyPr/>
                    <a:lstStyle/>
                    <a:p>
                      <a:pPr algn="ctr" rtl="0"/>
                      <a:endParaRPr lang="it-IT" b="0">
                        <a:latin typeface="+mj-lt"/>
                      </a:endParaRPr>
                    </a:p>
                  </a:txBody>
                  <a:tcPr anchor="ctr"/>
                </a:tc>
                <a:tc hMerge="1">
                  <a:txBody>
                    <a:bodyPr/>
                    <a:lstStyle/>
                    <a:p>
                      <a:endParaRPr lang="it-IT"/>
                    </a:p>
                  </a:txBody>
                  <a:tcPr/>
                </a:tc>
                <a:extLst>
                  <a:ext uri="{0D108BD9-81ED-4DB2-BD59-A6C34878D82A}">
                    <a16:rowId xmlns:a16="http://schemas.microsoft.com/office/drawing/2014/main" val="3698239563"/>
                  </a:ext>
                </a:extLst>
              </a:tr>
              <a:tr h="600459">
                <a:tc>
                  <a:txBody>
                    <a:bodyPr/>
                    <a:lstStyle>
                      <a:defPPr>
                        <a:defRPr lang="it-IT"/>
                      </a:defPPr>
                    </a:lstStyle>
                    <a:p>
                      <a:pPr algn="ctr" rtl="0"/>
                      <a:r>
                        <a:rPr lang="it-IT" b="1"/>
                        <a:t>Model</a:t>
                      </a:r>
                      <a:endParaRPr lang="it-IT" b="1">
                        <a:latin typeface="+mj-lt"/>
                      </a:endParaRPr>
                    </a:p>
                  </a:txBody>
                  <a:tcPr anchor="ctr"/>
                </a:tc>
                <a:tc>
                  <a:txBody>
                    <a:bodyPr/>
                    <a:lstStyle>
                      <a:defPPr>
                        <a:defRPr lang="it-IT"/>
                      </a:defPPr>
                    </a:lstStyle>
                    <a:p>
                      <a:pPr algn="ctr" rtl="0"/>
                      <a:r>
                        <a:rPr lang="it-IT" b="1"/>
                        <a:t>ROUGE-1 (Lessico)</a:t>
                      </a:r>
                      <a:endParaRPr lang="it-IT" b="1">
                        <a:latin typeface="+mj-lt"/>
                      </a:endParaRPr>
                    </a:p>
                  </a:txBody>
                  <a:tcPr anchor="ctr"/>
                </a:tc>
                <a:tc>
                  <a:txBody>
                    <a:bodyPr/>
                    <a:lstStyle>
                      <a:defPPr>
                        <a:defRPr lang="it-IT"/>
                      </a:defPPr>
                    </a:lstStyle>
                    <a:p>
                      <a:pPr algn="ctr" rtl="0"/>
                      <a:r>
                        <a:rPr lang="it-IT" b="1"/>
                        <a:t>BLEU (Sintassi)</a:t>
                      </a:r>
                      <a:endParaRPr lang="it-IT" b="1">
                        <a:latin typeface="+mj-lt"/>
                      </a:endParaRPr>
                    </a:p>
                  </a:txBody>
                  <a:tcPr anchor="ctr"/>
                </a:tc>
                <a:tc>
                  <a:txBody>
                    <a:bodyPr/>
                    <a:lstStyle/>
                    <a:p>
                      <a:pPr algn="ctr" rtl="0"/>
                      <a:r>
                        <a:rPr lang="it-IT" b="1" err="1"/>
                        <a:t>BERTScore</a:t>
                      </a:r>
                      <a:r>
                        <a:rPr lang="it-IT" b="1"/>
                        <a:t> F1 (Semantica)</a:t>
                      </a:r>
                    </a:p>
                  </a:txBody>
                  <a:tcPr anchor="ctr"/>
                </a:tc>
                <a:extLst>
                  <a:ext uri="{0D108BD9-81ED-4DB2-BD59-A6C34878D82A}">
                    <a16:rowId xmlns:a16="http://schemas.microsoft.com/office/drawing/2014/main" val="3298013591"/>
                  </a:ext>
                </a:extLst>
              </a:tr>
              <a:tr h="1106731">
                <a:tc>
                  <a:txBody>
                    <a:bodyPr/>
                    <a:lstStyle>
                      <a:defPPr>
                        <a:defRPr lang="it-IT"/>
                      </a:defPPr>
                    </a:lstStyle>
                    <a:p>
                      <a:pPr algn="ctr" rtl="0"/>
                      <a:r>
                        <a:rPr lang="it-IT"/>
                        <a:t>FLAN-T5 </a:t>
                      </a:r>
                      <a:endParaRPr lang="it-IT" b="0"/>
                    </a:p>
                  </a:txBody>
                  <a:tcPr anchor="ctr"/>
                </a:tc>
                <a:tc>
                  <a:txBody>
                    <a:bodyPr/>
                    <a:lstStyle>
                      <a:defPPr>
                        <a:defRPr lang="it-IT"/>
                      </a:defPPr>
                    </a:lstStyle>
                    <a:p>
                      <a:pPr algn="ctr" rtl="0"/>
                      <a:r>
                        <a:rPr lang="it-IT"/>
                        <a:t>35.94</a:t>
                      </a:r>
                      <a:endParaRPr lang="it-IT" b="0"/>
                    </a:p>
                  </a:txBody>
                  <a:tcPr anchor="ctr"/>
                </a:tc>
                <a:tc>
                  <a:txBody>
                    <a:bodyPr/>
                    <a:lstStyle>
                      <a:defPPr>
                        <a:defRPr lang="it-IT"/>
                      </a:defPPr>
                    </a:lstStyle>
                    <a:p>
                      <a:pPr algn="ctr" rtl="0"/>
                      <a:r>
                        <a:rPr lang="it-IT"/>
                        <a:t>10.42</a:t>
                      </a:r>
                      <a:endParaRPr lang="it-IT" b="0"/>
                    </a:p>
                  </a:txBody>
                  <a:tcPr anchor="ctr"/>
                </a:tc>
                <a:tc>
                  <a:txBody>
                    <a:bodyPr/>
                    <a:lstStyle/>
                    <a:p>
                      <a:pPr algn="ctr" rtl="0"/>
                      <a:r>
                        <a:rPr lang="it-IT"/>
                        <a:t>0.899</a:t>
                      </a:r>
                      <a:endParaRPr lang="it-IT" b="0"/>
                    </a:p>
                  </a:txBody>
                  <a:tcPr anchor="ctr"/>
                </a:tc>
                <a:extLst>
                  <a:ext uri="{0D108BD9-81ED-4DB2-BD59-A6C34878D82A}">
                    <a16:rowId xmlns:a16="http://schemas.microsoft.com/office/drawing/2014/main" val="3873867931"/>
                  </a:ext>
                </a:extLst>
              </a:tr>
              <a:tr h="1106731">
                <a:tc>
                  <a:txBody>
                    <a:bodyPr/>
                    <a:lstStyle>
                      <a:defPPr>
                        <a:defRPr lang="it-IT"/>
                      </a:def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a:t>IT5</a:t>
                      </a:r>
                      <a:endParaRPr lang="it-IT" b="0"/>
                    </a:p>
                    <a:p>
                      <a:pPr algn="ctr" rtl="0"/>
                      <a:endParaRPr lang="it-IT" b="0"/>
                    </a:p>
                  </a:txBody>
                  <a:tcPr anchor="ctr"/>
                </a:tc>
                <a:tc>
                  <a:txBody>
                    <a:bodyPr/>
                    <a:lstStyle>
                      <a:defPPr>
                        <a:defRPr lang="it-IT"/>
                      </a:defPPr>
                    </a:lstStyle>
                    <a:p>
                      <a:pPr algn="ctr" rtl="0"/>
                      <a:r>
                        <a:rPr lang="it-IT"/>
                        <a:t>23.27</a:t>
                      </a:r>
                      <a:endParaRPr lang="it-IT" b="0"/>
                    </a:p>
                  </a:txBody>
                  <a:tcPr anchor="ctr"/>
                </a:tc>
                <a:tc>
                  <a:txBody>
                    <a:bodyPr/>
                    <a:lstStyle>
                      <a:defPPr>
                        <a:defRPr lang="it-IT"/>
                      </a:defPPr>
                    </a:lstStyle>
                    <a:p>
                      <a:pPr algn="ctr" rtl="0"/>
                      <a:r>
                        <a:rPr lang="it-IT"/>
                        <a:t>5.98</a:t>
                      </a:r>
                      <a:endParaRPr lang="it-IT" b="0"/>
                    </a:p>
                  </a:txBody>
                  <a:tcPr anchor="ctr"/>
                </a:tc>
                <a:tc>
                  <a:txBody>
                    <a:bodyPr/>
                    <a:lstStyle/>
                    <a:p>
                      <a:pPr algn="ctr" rtl="0"/>
                      <a:r>
                        <a:rPr lang="it-IT"/>
                        <a:t>0.886</a:t>
                      </a:r>
                      <a:endParaRPr lang="it-IT" b="0"/>
                    </a:p>
                  </a:txBody>
                  <a:tcPr anchor="ctr"/>
                </a:tc>
                <a:extLst>
                  <a:ext uri="{0D108BD9-81ED-4DB2-BD59-A6C34878D82A}">
                    <a16:rowId xmlns:a16="http://schemas.microsoft.com/office/drawing/2014/main" val="85209771"/>
                  </a:ext>
                </a:extLst>
              </a:tr>
              <a:tr h="588686">
                <a:tc>
                  <a:txBody>
                    <a:bodyPr/>
                    <a:lstStyle>
                      <a:defPPr>
                        <a:defRPr lang="it-IT"/>
                      </a:defPPr>
                    </a:lstStyle>
                    <a:p>
                      <a:pPr algn="ctr" rtl="0"/>
                      <a:r>
                        <a:rPr lang="it-IT"/>
                        <a:t>mT5</a:t>
                      </a:r>
                      <a:endParaRPr lang="it-IT" b="0"/>
                    </a:p>
                  </a:txBody>
                  <a:tcPr anchor="ctr"/>
                </a:tc>
                <a:tc>
                  <a:txBody>
                    <a:bodyPr/>
                    <a:lstStyle>
                      <a:defPPr>
                        <a:defRPr lang="it-IT"/>
                      </a:defPPr>
                    </a:lstStyle>
                    <a:p>
                      <a:pPr algn="ctr" rtl="0"/>
                      <a:r>
                        <a:rPr lang="it-IT"/>
                        <a:t>21.51</a:t>
                      </a:r>
                      <a:endParaRPr lang="it-IT" b="0"/>
                    </a:p>
                  </a:txBody>
                  <a:tcPr anchor="ctr"/>
                </a:tc>
                <a:tc>
                  <a:txBody>
                    <a:bodyPr/>
                    <a:lstStyle>
                      <a:defPPr>
                        <a:defRPr lang="it-IT"/>
                      </a:defPPr>
                    </a:lstStyle>
                    <a:p>
                      <a:pPr algn="ctr" rtl="0"/>
                      <a:r>
                        <a:rPr lang="it-IT"/>
                        <a:t>6.00</a:t>
                      </a:r>
                      <a:endParaRPr lang="it-IT" b="0"/>
                    </a:p>
                  </a:txBody>
                  <a:tcPr anchor="ctr"/>
                </a:tc>
                <a:tc>
                  <a:txBody>
                    <a:bodyPr/>
                    <a:lstStyle/>
                    <a:p>
                      <a:pPr algn="ctr" rtl="0"/>
                      <a:r>
                        <a:rPr lang="it-IT"/>
                        <a:t>0.885</a:t>
                      </a:r>
                      <a:endParaRPr lang="it-IT" b="0"/>
                    </a:p>
                  </a:txBody>
                  <a:tcPr anchor="ctr"/>
                </a:tc>
                <a:extLst>
                  <a:ext uri="{0D108BD9-81ED-4DB2-BD59-A6C34878D82A}">
                    <a16:rowId xmlns:a16="http://schemas.microsoft.com/office/drawing/2014/main" val="4061031278"/>
                  </a:ext>
                </a:extLst>
              </a:tr>
            </a:tbl>
          </a:graphicData>
        </a:graphic>
      </p:graphicFrame>
      <p:sp>
        <p:nvSpPr>
          <p:cNvPr id="2" name="Segnaposto contenuto 3">
            <a:extLst>
              <a:ext uri="{FF2B5EF4-FFF2-40B4-BE49-F238E27FC236}">
                <a16:creationId xmlns:a16="http://schemas.microsoft.com/office/drawing/2014/main" id="{DD2E0E86-6B1A-A9AD-BC7C-3D95518B3CB1}"/>
              </a:ext>
            </a:extLst>
          </p:cNvPr>
          <p:cNvSpPr txBox="1">
            <a:spLocks/>
          </p:cNvSpPr>
          <p:nvPr/>
        </p:nvSpPr>
        <p:spPr>
          <a:xfrm>
            <a:off x="7906940" y="945177"/>
            <a:ext cx="4156802" cy="3934434"/>
          </a:xfrm>
          <a:prstGeom prst="rect">
            <a:avLst/>
          </a:prstGeom>
        </p:spPr>
        <p:txBody>
          <a:bodyPr vert="horz" lIns="0" tIns="274320" rIns="91440" bIns="45720" rtlCol="0" anchor="t">
            <a:normAutofit/>
          </a:bodyPr>
          <a:lstStyle>
            <a:defPPr>
              <a:defRPr lang="it-IT"/>
            </a:defPPr>
            <a:lvl1pPr marL="0" indent="0" algn="l" defTabSz="914400" rtl="0" eaLnBrk="1" latinLnBrk="0" hangingPunct="1">
              <a:lnSpc>
                <a:spcPct val="90000"/>
              </a:lnSpc>
              <a:spcBef>
                <a:spcPts val="1800"/>
              </a:spcBef>
              <a:buFont typeface="Arial" panose="020B0604020202020204" pitchFamily="34" charset="0"/>
              <a:buNone/>
              <a:defRPr lang="it-IT" sz="2000" b="0" i="0" kern="1200">
                <a:solidFill>
                  <a:schemeClr val="bg1"/>
                </a:solidFill>
                <a:latin typeface="+mn-lt"/>
                <a:ea typeface="+mn-ea"/>
                <a:cs typeface="+mn-cs"/>
              </a:defRPr>
            </a:lvl1pPr>
            <a:lvl2pPr marL="457200" indent="0" algn="l" defTabSz="914400" rtl="0" eaLnBrk="1" latinLnBrk="0" hangingPunct="1">
              <a:lnSpc>
                <a:spcPct val="90000"/>
              </a:lnSpc>
              <a:spcBef>
                <a:spcPts val="1800"/>
              </a:spcBef>
              <a:buFont typeface="Arial" panose="020B0604020202020204" pitchFamily="34" charset="0"/>
              <a:buNone/>
              <a:defRPr lang="it-IT" sz="2000" b="0" i="0" kern="1200">
                <a:solidFill>
                  <a:schemeClr val="bg1"/>
                </a:solidFill>
                <a:latin typeface="+mn-lt"/>
                <a:ea typeface="+mn-ea"/>
                <a:cs typeface="+mn-cs"/>
              </a:defRPr>
            </a:lvl2pPr>
            <a:lvl3pPr marL="914400" indent="0" algn="l" defTabSz="914400" rtl="0" eaLnBrk="1" latinLnBrk="0" hangingPunct="1">
              <a:lnSpc>
                <a:spcPct val="90000"/>
              </a:lnSpc>
              <a:spcBef>
                <a:spcPts val="1800"/>
              </a:spcBef>
              <a:buFont typeface="Arial" panose="020B0604020202020204" pitchFamily="34" charset="0"/>
              <a:buNone/>
              <a:defRPr lang="it-IT" sz="2000" b="0" i="0" kern="1200">
                <a:solidFill>
                  <a:schemeClr val="bg1"/>
                </a:solidFill>
                <a:latin typeface="+mn-lt"/>
                <a:ea typeface="+mn-ea"/>
                <a:cs typeface="+mn-cs"/>
              </a:defRPr>
            </a:lvl3pPr>
            <a:lvl4pPr marL="1371600" indent="0" algn="l" defTabSz="914400" rtl="0" eaLnBrk="1" latinLnBrk="0" hangingPunct="1">
              <a:lnSpc>
                <a:spcPct val="90000"/>
              </a:lnSpc>
              <a:spcBef>
                <a:spcPts val="1800"/>
              </a:spcBef>
              <a:buFont typeface="Arial" panose="020B0604020202020204" pitchFamily="34" charset="0"/>
              <a:buNone/>
              <a:defRPr lang="it-IT" sz="2000" b="0" i="0" kern="1200">
                <a:solidFill>
                  <a:schemeClr val="bg1"/>
                </a:solidFill>
                <a:latin typeface="+mn-lt"/>
                <a:ea typeface="+mn-ea"/>
                <a:cs typeface="+mn-cs"/>
              </a:defRPr>
            </a:lvl4pPr>
            <a:lvl5pPr marL="1828800" indent="0" algn="l" defTabSz="914400" rtl="0" eaLnBrk="1" latinLnBrk="0" hangingPunct="1">
              <a:lnSpc>
                <a:spcPct val="90000"/>
              </a:lnSpc>
              <a:spcBef>
                <a:spcPts val="1800"/>
              </a:spcBef>
              <a:buFont typeface="Arial" panose="020B0604020202020204" pitchFamily="34" charset="0"/>
              <a:buNone/>
              <a:defRPr lang="it-IT"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a:lstStyle>
          <a:p>
            <a:r>
              <a:rPr lang="en-US" b="1">
                <a:ea typeface="+mn-lt"/>
                <a:cs typeface="+mn-lt"/>
              </a:rPr>
              <a:t>EN is best overall</a:t>
            </a:r>
            <a:r>
              <a:rPr lang="en-US">
                <a:ea typeface="+mn-lt"/>
                <a:cs typeface="+mn-lt"/>
              </a:rPr>
              <a:t> (higher lexical + syntactic overlap and top semantic similarity).</a:t>
            </a:r>
            <a:endParaRPr lang="it-IT"/>
          </a:p>
          <a:p>
            <a:r>
              <a:rPr lang="en-US" b="1">
                <a:ea typeface="+mn-lt"/>
                <a:cs typeface="+mn-lt"/>
              </a:rPr>
              <a:t>IT is semantically strong</a:t>
            </a:r>
            <a:r>
              <a:rPr lang="en-US">
                <a:ea typeface="+mn-lt"/>
                <a:cs typeface="+mn-lt"/>
              </a:rPr>
              <a:t> even if exact-match metrics drop due to morphological variability.</a:t>
            </a:r>
            <a:endParaRPr lang="en-US"/>
          </a:p>
          <a:p>
            <a:r>
              <a:rPr lang="en-US" b="1">
                <a:ea typeface="+mn-lt"/>
                <a:cs typeface="+mn-lt"/>
              </a:rPr>
              <a:t>MULTI is a solid compromise:</a:t>
            </a:r>
            <a:r>
              <a:rPr lang="en-US">
                <a:ea typeface="+mn-lt"/>
                <a:cs typeface="+mn-lt"/>
              </a:rPr>
              <a:t> slightly lower than monolingual models, but useful when language is unknown or mixed.</a:t>
            </a:r>
            <a:endParaRPr lang="en-US"/>
          </a:p>
          <a:p>
            <a:endParaRPr lang="en-US">
              <a:latin typeface="Franklin Gothic Book"/>
              <a:ea typeface="+mn-lt"/>
              <a:cs typeface="+mn-lt"/>
            </a:endParaRPr>
          </a:p>
        </p:txBody>
      </p:sp>
    </p:spTree>
    <p:extLst>
      <p:ext uri="{BB962C8B-B14F-4D97-AF65-F5344CB8AC3E}">
        <p14:creationId xmlns:p14="http://schemas.microsoft.com/office/powerpoint/2010/main" val="18936002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52A871D-B15E-C971-7C85-0AF173E38781}"/>
              </a:ext>
            </a:extLst>
          </p:cNvPr>
          <p:cNvSpPr>
            <a:spLocks noGrp="1"/>
          </p:cNvSpPr>
          <p:nvPr>
            <p:ph type="title"/>
          </p:nvPr>
        </p:nvSpPr>
        <p:spPr>
          <a:xfrm>
            <a:off x="251764" y="746448"/>
            <a:ext cx="5728995" cy="1876375"/>
          </a:xfrm>
        </p:spPr>
        <p:txBody>
          <a:bodyPr rtlCol="0"/>
          <a:lstStyle>
            <a:defPPr>
              <a:defRPr lang="it-IT"/>
            </a:defPPr>
          </a:lstStyle>
          <a:p>
            <a:r>
              <a:rPr lang="it-IT" sz="5400">
                <a:latin typeface="Aptos" panose="020B0004020202020204" pitchFamily="34" charset="0"/>
              </a:rPr>
              <a:t>Scenario 1: </a:t>
            </a:r>
            <a:r>
              <a:rPr lang="it-IT" sz="5400" err="1">
                <a:latin typeface="Aptos" panose="020B0004020202020204" pitchFamily="34" charset="0"/>
              </a:rPr>
              <a:t>Prioritizing</a:t>
            </a:r>
            <a:r>
              <a:rPr lang="it-IT" sz="5400">
                <a:latin typeface="Aptos" panose="020B0004020202020204" pitchFamily="34" charset="0"/>
              </a:rPr>
              <a:t> "User Experience"</a:t>
            </a:r>
          </a:p>
        </p:txBody>
      </p:sp>
      <p:sp>
        <p:nvSpPr>
          <p:cNvPr id="3" name="Segnaposto contenuto 2">
            <a:extLst>
              <a:ext uri="{FF2B5EF4-FFF2-40B4-BE49-F238E27FC236}">
                <a16:creationId xmlns:a16="http://schemas.microsoft.com/office/drawing/2014/main" id="{34F2E863-4A4C-76FE-444A-083F93043389}"/>
              </a:ext>
            </a:extLst>
          </p:cNvPr>
          <p:cNvSpPr>
            <a:spLocks noGrp="1"/>
          </p:cNvSpPr>
          <p:nvPr>
            <p:ph sz="quarter" idx="16"/>
          </p:nvPr>
        </p:nvSpPr>
        <p:spPr>
          <a:xfrm>
            <a:off x="251764" y="3279579"/>
            <a:ext cx="5387036" cy="2994415"/>
          </a:xfrm>
        </p:spPr>
        <p:txBody>
          <a:bodyPr rtlCol="0">
            <a:normAutofit/>
          </a:bodyPr>
          <a:lstStyle>
            <a:defPPr>
              <a:defRPr lang="it-IT"/>
            </a:defPPr>
          </a:lstStyle>
          <a:p>
            <a:r>
              <a:rPr lang="en-US" b="1">
                <a:latin typeface="Aptos" panose="020B0004020202020204" pitchFamily="34" charset="0"/>
              </a:rPr>
              <a:t>Requirement: </a:t>
            </a:r>
            <a:r>
              <a:rPr lang="en-US">
                <a:latin typeface="Aptos" panose="020B0004020202020204" pitchFamily="34" charset="0"/>
              </a:rPr>
              <a:t>The generated text must be indistinguishable from human text, grammatically perfect and stylistically fluid.</a:t>
            </a:r>
          </a:p>
          <a:p>
            <a:r>
              <a:rPr lang="en-US" b="1">
                <a:latin typeface="Aptos" panose="020B0004020202020204" pitchFamily="34" charset="0"/>
              </a:rPr>
              <a:t>Recommended model: </a:t>
            </a:r>
            <a:r>
              <a:rPr lang="en-US">
                <a:latin typeface="Aptos" panose="020B0004020202020204" pitchFamily="34" charset="0"/>
              </a:rPr>
              <a:t>Monolingual (IT5 / FLAN-T5).</a:t>
            </a:r>
          </a:p>
          <a:p>
            <a:r>
              <a:rPr lang="en-US" i="1">
                <a:latin typeface="Aptos" panose="020B0004020202020204" pitchFamily="34" charset="0"/>
              </a:rPr>
              <a:t>Even a small gain on the </a:t>
            </a:r>
            <a:r>
              <a:rPr lang="en-US" i="1" err="1">
                <a:latin typeface="Aptos" panose="020B0004020202020204" pitchFamily="34" charset="0"/>
              </a:rPr>
              <a:t>BERTScore</a:t>
            </a:r>
            <a:r>
              <a:rPr lang="en-US" i="1">
                <a:latin typeface="Aptos" panose="020B0004020202020204" pitchFamily="34" charset="0"/>
              </a:rPr>
              <a:t> translates into a much higher perception of "intelligence" by the user</a:t>
            </a:r>
            <a:endParaRPr lang="it-IT" i="1">
              <a:latin typeface="Aptos" panose="020B0004020202020204" pitchFamily="34" charset="0"/>
            </a:endParaRPr>
          </a:p>
        </p:txBody>
      </p:sp>
      <p:pic>
        <p:nvPicPr>
          <p:cNvPr id="11266" name="Picture 2" descr="Cosa sono UI e UX design: differenze e caratteristiche - Larin Group">
            <a:extLst>
              <a:ext uri="{FF2B5EF4-FFF2-40B4-BE49-F238E27FC236}">
                <a16:creationId xmlns:a16="http://schemas.microsoft.com/office/drawing/2014/main" id="{B87E1906-D168-E7A7-CACE-CB7766D35A5B}"/>
              </a:ext>
            </a:extLst>
          </p:cNvPr>
          <p:cNvPicPr>
            <a:picLocks noGrp="1" noChangeAspect="1" noChangeArrowheads="1"/>
          </p:cNvPicPr>
          <p:nvPr>
            <p:ph type="pic" sz="quarter" idx="15"/>
          </p:nvPr>
        </p:nvPicPr>
        <p:blipFill rotWithShape="1">
          <a:blip r:embed="rId3">
            <a:extLst>
              <a:ext uri="{28A0092B-C50C-407E-A947-70E740481C1C}">
                <a14:useLocalDpi xmlns:a14="http://schemas.microsoft.com/office/drawing/2010/main" val="0"/>
              </a:ext>
            </a:extLst>
          </a:blip>
          <a:srcRect l="24909" r="24909"/>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645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A321C-CE44-2BCD-956E-73BDF05607C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4F9FCD2-2711-74AE-C904-B00F95ABC032}"/>
              </a:ext>
            </a:extLst>
          </p:cNvPr>
          <p:cNvSpPr>
            <a:spLocks noGrp="1"/>
          </p:cNvSpPr>
          <p:nvPr>
            <p:ph type="title"/>
          </p:nvPr>
        </p:nvSpPr>
        <p:spPr>
          <a:xfrm>
            <a:off x="215986" y="333309"/>
            <a:ext cx="5063490" cy="2354026"/>
          </a:xfrm>
        </p:spPr>
        <p:txBody>
          <a:bodyPr rtlCol="0"/>
          <a:lstStyle>
            <a:defPPr>
              <a:defRPr lang="it-IT"/>
            </a:defPPr>
          </a:lstStyle>
          <a:p>
            <a:r>
              <a:rPr lang="it-IT" sz="6000">
                <a:latin typeface="Aptos" panose="020B0004020202020204" pitchFamily="34" charset="0"/>
              </a:rPr>
              <a:t>Scenario 2: </a:t>
            </a:r>
            <a:r>
              <a:rPr lang="it-IT" sz="6000" err="1">
                <a:latin typeface="Aptos" panose="020B0004020202020204" pitchFamily="34" charset="0"/>
              </a:rPr>
              <a:t>Prioritizing</a:t>
            </a:r>
            <a:r>
              <a:rPr lang="it-IT" sz="6000">
                <a:latin typeface="Aptos" panose="020B0004020202020204" pitchFamily="34" charset="0"/>
              </a:rPr>
              <a:t> </a:t>
            </a:r>
            <a:r>
              <a:rPr lang="it-IT" sz="6000" err="1">
                <a:latin typeface="Aptos" panose="020B0004020202020204" pitchFamily="34" charset="0"/>
              </a:rPr>
              <a:t>Efficiency</a:t>
            </a:r>
            <a:endParaRPr lang="it-IT">
              <a:latin typeface="Aptos" panose="020B0004020202020204" pitchFamily="34" charset="0"/>
            </a:endParaRPr>
          </a:p>
        </p:txBody>
      </p:sp>
      <p:sp>
        <p:nvSpPr>
          <p:cNvPr id="3" name="Segnaposto contenuto 2">
            <a:extLst>
              <a:ext uri="{FF2B5EF4-FFF2-40B4-BE49-F238E27FC236}">
                <a16:creationId xmlns:a16="http://schemas.microsoft.com/office/drawing/2014/main" id="{038FDDFC-1B75-3D56-3B91-84FD50866D01}"/>
              </a:ext>
            </a:extLst>
          </p:cNvPr>
          <p:cNvSpPr>
            <a:spLocks noGrp="1"/>
          </p:cNvSpPr>
          <p:nvPr>
            <p:ph sz="quarter" idx="16"/>
          </p:nvPr>
        </p:nvSpPr>
        <p:spPr>
          <a:xfrm>
            <a:off x="215986" y="3020643"/>
            <a:ext cx="6584207" cy="3837357"/>
          </a:xfrm>
        </p:spPr>
        <p:txBody>
          <a:bodyPr rtlCol="0">
            <a:noAutofit/>
          </a:bodyPr>
          <a:lstStyle>
            <a:defPPr>
              <a:defRPr lang="it-IT"/>
            </a:defPPr>
          </a:lstStyle>
          <a:p>
            <a:r>
              <a:rPr lang="it-IT" b="1" err="1">
                <a:latin typeface="Aptos" panose="020B0004020202020204" pitchFamily="34" charset="0"/>
              </a:rPr>
              <a:t>Requirement</a:t>
            </a:r>
            <a:r>
              <a:rPr lang="it-IT" b="1">
                <a:latin typeface="Aptos" panose="020B0004020202020204" pitchFamily="34" charset="0"/>
              </a:rPr>
              <a:t>:</a:t>
            </a:r>
            <a:r>
              <a:rPr lang="it-IT">
                <a:latin typeface="Aptos" panose="020B0004020202020204" pitchFamily="34" charset="0"/>
              </a:rPr>
              <a:t> </a:t>
            </a:r>
            <a:r>
              <a:rPr lang="en-US">
                <a:latin typeface="Aptos" panose="020B0004020202020204" pitchFamily="34" charset="0"/>
              </a:rPr>
              <a:t>Manage large volumes of data in many languages with limited hardware resources and simplified maintenance.</a:t>
            </a:r>
          </a:p>
          <a:p>
            <a:r>
              <a:rPr lang="it-IT" b="1" err="1">
                <a:latin typeface="Aptos" panose="020B0004020202020204" pitchFamily="34" charset="0"/>
              </a:rPr>
              <a:t>Recommended</a:t>
            </a:r>
            <a:r>
              <a:rPr lang="it-IT" b="1">
                <a:latin typeface="Aptos" panose="020B0004020202020204" pitchFamily="34" charset="0"/>
              </a:rPr>
              <a:t> Model:</a:t>
            </a:r>
            <a:r>
              <a:rPr lang="it-IT">
                <a:latin typeface="Aptos" panose="020B0004020202020204" pitchFamily="34" charset="0"/>
              </a:rPr>
              <a:t> Multilingua (mT5 / XLM-R).</a:t>
            </a:r>
          </a:p>
          <a:p>
            <a:r>
              <a:rPr lang="it-IT" b="1">
                <a:latin typeface="Aptos" panose="020B0004020202020204" pitchFamily="34" charset="0"/>
              </a:rPr>
              <a:t>Application:</a:t>
            </a:r>
            <a:r>
              <a:rPr lang="it-IT">
                <a:latin typeface="Aptos" panose="020B0004020202020204" pitchFamily="34" charset="0"/>
              </a:rPr>
              <a:t> </a:t>
            </a:r>
            <a:r>
              <a:rPr lang="en-US">
                <a:latin typeface="Aptos" panose="020B0004020202020204" pitchFamily="34" charset="0"/>
              </a:rPr>
              <a:t>Automatic moderation of Social comments, Global Assistance Chatbot, Internal Analysis of Company Documents.</a:t>
            </a:r>
          </a:p>
          <a:p>
            <a:r>
              <a:rPr lang="en-US" i="1">
                <a:latin typeface="Aptos" panose="020B0004020202020204" pitchFamily="34" charset="0"/>
              </a:rPr>
              <a:t>Slight syntactic rigidity is accepted in exchange for a lean architecture (only 1 model in memory vs 10 specific models).</a:t>
            </a:r>
            <a:endParaRPr lang="it-IT" i="1">
              <a:latin typeface="Aptos" panose="020B0004020202020204" pitchFamily="34" charset="0"/>
            </a:endParaRPr>
          </a:p>
        </p:txBody>
      </p:sp>
      <p:sp>
        <p:nvSpPr>
          <p:cNvPr id="4" name="Rettangolo 3">
            <a:extLst>
              <a:ext uri="{FF2B5EF4-FFF2-40B4-BE49-F238E27FC236}">
                <a16:creationId xmlns:a16="http://schemas.microsoft.com/office/drawing/2014/main" id="{B42F7478-2179-A7F9-A70F-72FBEC6EAFFB}"/>
              </a:ext>
            </a:extLst>
          </p:cNvPr>
          <p:cNvSpPr/>
          <p:nvPr/>
        </p:nvSpPr>
        <p:spPr>
          <a:xfrm>
            <a:off x="6705601" y="0"/>
            <a:ext cx="5486400" cy="6858000"/>
          </a:xfrm>
          <a:prstGeom prst="rect">
            <a:avLst/>
          </a:prstGeom>
          <a:solidFill>
            <a:srgbClr val="0A7A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3316" name="Picture 4">
            <a:extLst>
              <a:ext uri="{FF2B5EF4-FFF2-40B4-BE49-F238E27FC236}">
                <a16:creationId xmlns:a16="http://schemas.microsoft.com/office/drawing/2014/main" id="{3DC9CBE0-CACC-121B-C36F-CA419B8A051B}"/>
              </a:ext>
            </a:extLst>
          </p:cNvPr>
          <p:cNvPicPr>
            <a:picLocks noGrp="1" noChangeAspect="1" noChangeArrowheads="1"/>
          </p:cNvPicPr>
          <p:nvPr>
            <p:ph type="pic" sz="quarter" idx="15"/>
          </p:nvPr>
        </p:nvPicPr>
        <p:blipFill rotWithShape="1">
          <a:blip r:embed="rId3">
            <a:extLst>
              <a:ext uri="{28A0092B-C50C-407E-A947-70E740481C1C}">
                <a14:useLocalDpi xmlns:a14="http://schemas.microsoft.com/office/drawing/2010/main" val="0"/>
              </a:ext>
            </a:extLst>
          </a:blip>
          <a:srcRect l="20220" t="14554" r="21852" b="1"/>
          <a:stretch>
            <a:fillRect/>
          </a:stretch>
        </p:blipFill>
        <p:spPr bwMode="auto">
          <a:xfrm>
            <a:off x="6800193" y="254000"/>
            <a:ext cx="5279473" cy="6437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4031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FA7134F-9CC7-B21D-0973-890FC5830C40}"/>
              </a:ext>
            </a:extLst>
          </p:cNvPr>
          <p:cNvSpPr>
            <a:spLocks noGrp="1"/>
          </p:cNvSpPr>
          <p:nvPr>
            <p:ph type="title"/>
          </p:nvPr>
        </p:nvSpPr>
        <p:spPr>
          <a:xfrm>
            <a:off x="575310" y="1930399"/>
            <a:ext cx="5063490" cy="701755"/>
          </a:xfrm>
        </p:spPr>
        <p:txBody>
          <a:bodyPr/>
          <a:lstStyle/>
          <a:p>
            <a:r>
              <a:rPr lang="it-IT" sz="6000" err="1">
                <a:latin typeface="Aptos" panose="020B0004020202020204" pitchFamily="34" charset="0"/>
              </a:rPr>
              <a:t>Conclusions</a:t>
            </a:r>
            <a:endParaRPr lang="it-IT" sz="6000">
              <a:latin typeface="Aptos" panose="020B0004020202020204" pitchFamily="34" charset="0"/>
            </a:endParaRPr>
          </a:p>
        </p:txBody>
      </p:sp>
      <p:sp>
        <p:nvSpPr>
          <p:cNvPr id="3" name="Segnaposto contenuto 2">
            <a:extLst>
              <a:ext uri="{FF2B5EF4-FFF2-40B4-BE49-F238E27FC236}">
                <a16:creationId xmlns:a16="http://schemas.microsoft.com/office/drawing/2014/main" id="{A32ADCFD-58DE-170A-E3D1-623304B952BF}"/>
              </a:ext>
            </a:extLst>
          </p:cNvPr>
          <p:cNvSpPr>
            <a:spLocks noGrp="1"/>
          </p:cNvSpPr>
          <p:nvPr>
            <p:ph sz="quarter" idx="16"/>
          </p:nvPr>
        </p:nvSpPr>
        <p:spPr/>
        <p:txBody>
          <a:bodyPr>
            <a:normAutofit/>
          </a:bodyPr>
          <a:lstStyle/>
          <a:p>
            <a:r>
              <a:rPr lang="en-US">
                <a:latin typeface="Aptos" panose="020B0004020202020204" pitchFamily="34" charset="0"/>
              </a:rPr>
              <a:t>FAIR ISLE shows that a modular </a:t>
            </a:r>
            <a:r>
              <a:rPr lang="en-US" b="1" i="1">
                <a:latin typeface="Aptos" panose="020B0004020202020204" pitchFamily="34" charset="0"/>
              </a:rPr>
              <a:t>detection + rewriting pipeline </a:t>
            </a:r>
            <a:r>
              <a:rPr lang="en-US">
                <a:latin typeface="Aptos" panose="020B0004020202020204" pitchFamily="34" charset="0"/>
              </a:rPr>
              <a:t>can achieve excellent classification accuracy and strong rewriting quality in Italian and English.</a:t>
            </a:r>
          </a:p>
          <a:p>
            <a:r>
              <a:rPr lang="en-US">
                <a:latin typeface="Aptos" panose="020B0004020202020204" pitchFamily="34" charset="0"/>
              </a:rPr>
              <a:t>The multilingual extension provides a practical balance between quality and scalability, especially for mixed-language input.</a:t>
            </a:r>
          </a:p>
        </p:txBody>
      </p:sp>
      <p:pic>
        <p:nvPicPr>
          <p:cNvPr id="5" name="Segnaposto immagine 4">
            <a:extLst>
              <a:ext uri="{FF2B5EF4-FFF2-40B4-BE49-F238E27FC236}">
                <a16:creationId xmlns:a16="http://schemas.microsoft.com/office/drawing/2014/main" id="{BE7488F7-D468-7D3B-2393-C0491791B9BB}"/>
              </a:ext>
            </a:extLst>
          </p:cNvPr>
          <p:cNvPicPr>
            <a:picLocks noGrp="1" noChangeAspect="1"/>
          </p:cNvPicPr>
          <p:nvPr>
            <p:ph type="pic" sz="quarter" idx="15"/>
          </p:nvPr>
        </p:nvPicPr>
        <p:blipFill>
          <a:blip r:embed="rId3"/>
          <a:srcRect l="22793" r="31154"/>
          <a:stretch>
            <a:fillRect/>
          </a:stretch>
        </p:blipFill>
        <p:spPr>
          <a:xfrm>
            <a:off x="5875282" y="0"/>
            <a:ext cx="6316717" cy="6858000"/>
          </a:xfrm>
          <a:prstGeom prst="rect">
            <a:avLst/>
          </a:prstGeom>
        </p:spPr>
      </p:pic>
    </p:spTree>
    <p:extLst>
      <p:ext uri="{BB962C8B-B14F-4D97-AF65-F5344CB8AC3E}">
        <p14:creationId xmlns:p14="http://schemas.microsoft.com/office/powerpoint/2010/main" val="34984591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CuadroTexto 31">
            <a:extLst>
              <a:ext uri="{FF2B5EF4-FFF2-40B4-BE49-F238E27FC236}">
                <a16:creationId xmlns:a16="http://schemas.microsoft.com/office/drawing/2014/main" id="{40670F1A-069E-741C-15A6-4867F44207AF}"/>
              </a:ext>
            </a:extLst>
          </p:cNvPr>
          <p:cNvSpPr txBox="1"/>
          <p:nvPr/>
        </p:nvSpPr>
        <p:spPr>
          <a:xfrm>
            <a:off x="3022248" y="162329"/>
            <a:ext cx="5771636" cy="654320"/>
          </a:xfrm>
          <a:prstGeom prst="rect">
            <a:avLst/>
          </a:prstGeom>
          <a:noFill/>
        </p:spPr>
        <p:txBody>
          <a:bodyPr wrap="square">
            <a:spAutoFit/>
          </a:bodyPr>
          <a:lstStyle/>
          <a:p>
            <a:pPr algn="ctr">
              <a:lnSpc>
                <a:spcPct val="80000"/>
              </a:lnSpc>
            </a:pPr>
            <a:r>
              <a:rPr lang="en-US" sz="4314">
                <a:solidFill>
                  <a:srgbClr val="4D7B9D"/>
                </a:solidFill>
                <a:latin typeface="Staatliches" pitchFamily="2" charset="0"/>
              </a:rPr>
              <a:t>INTERFACE</a:t>
            </a:r>
            <a:endParaRPr lang="es-SV" sz="4314">
              <a:solidFill>
                <a:srgbClr val="4D7B9D"/>
              </a:solidFill>
              <a:latin typeface="Lato Light" panose="020F0302020204030203" pitchFamily="34" charset="77"/>
            </a:endParaRPr>
          </a:p>
        </p:txBody>
      </p:sp>
      <p:grpSp>
        <p:nvGrpSpPr>
          <p:cNvPr id="8" name="Group 38">
            <a:extLst>
              <a:ext uri="{FF2B5EF4-FFF2-40B4-BE49-F238E27FC236}">
                <a16:creationId xmlns:a16="http://schemas.microsoft.com/office/drawing/2014/main" id="{7C46C78A-E2C2-8415-789F-BF0BC66F40FC}"/>
              </a:ext>
            </a:extLst>
          </p:cNvPr>
          <p:cNvGrpSpPr/>
          <p:nvPr/>
        </p:nvGrpSpPr>
        <p:grpSpPr>
          <a:xfrm>
            <a:off x="373224" y="998376"/>
            <a:ext cx="10963470" cy="5262465"/>
            <a:chOff x="12848246" y="3401528"/>
            <a:chExt cx="5934809" cy="3407018"/>
          </a:xfrm>
        </p:grpSpPr>
        <p:sp>
          <p:nvSpPr>
            <p:cNvPr id="9" name="Freeform 39">
              <a:extLst>
                <a:ext uri="{FF2B5EF4-FFF2-40B4-BE49-F238E27FC236}">
                  <a16:creationId xmlns:a16="http://schemas.microsoft.com/office/drawing/2014/main" id="{021D735D-BE0A-C6E5-613C-8215C1A517BA}"/>
                </a:ext>
              </a:extLst>
            </p:cNvPr>
            <p:cNvSpPr>
              <a:spLocks noChangeArrowheads="1"/>
            </p:cNvSpPr>
            <p:nvPr/>
          </p:nvSpPr>
          <p:spPr bwMode="auto">
            <a:xfrm>
              <a:off x="13392272" y="3412520"/>
              <a:ext cx="4846761" cy="3264145"/>
            </a:xfrm>
            <a:custGeom>
              <a:avLst/>
              <a:gdLst>
                <a:gd name="T0" fmla="*/ 3883 w 3890"/>
                <a:gd name="T1" fmla="*/ 121 h 2620"/>
                <a:gd name="T2" fmla="*/ 3883 w 3890"/>
                <a:gd name="T3" fmla="*/ 121 h 2620"/>
                <a:gd name="T4" fmla="*/ 3763 w 3890"/>
                <a:gd name="T5" fmla="*/ 0 h 2620"/>
                <a:gd name="T6" fmla="*/ 126 w 3890"/>
                <a:gd name="T7" fmla="*/ 0 h 2620"/>
                <a:gd name="T8" fmla="*/ 126 w 3890"/>
                <a:gd name="T9" fmla="*/ 0 h 2620"/>
                <a:gd name="T10" fmla="*/ 4 w 3890"/>
                <a:gd name="T11" fmla="*/ 121 h 2620"/>
                <a:gd name="T12" fmla="*/ 4 w 3890"/>
                <a:gd name="T13" fmla="*/ 2619 h 2620"/>
                <a:gd name="T14" fmla="*/ 0 w 3890"/>
                <a:gd name="T15" fmla="*/ 2619 h 2620"/>
                <a:gd name="T16" fmla="*/ 0 w 3890"/>
                <a:gd name="T17" fmla="*/ 2619 h 2620"/>
                <a:gd name="T18" fmla="*/ 3889 w 3890"/>
                <a:gd name="T19" fmla="*/ 2619 h 2620"/>
                <a:gd name="T20" fmla="*/ 3889 w 3890"/>
                <a:gd name="T21" fmla="*/ 2619 h 2620"/>
                <a:gd name="T22" fmla="*/ 3883 w 3890"/>
                <a:gd name="T23" fmla="*/ 2619 h 2620"/>
                <a:gd name="T24" fmla="*/ 3883 w 3890"/>
                <a:gd name="T25" fmla="*/ 121 h 2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90" h="2620">
                  <a:moveTo>
                    <a:pt x="3883" y="121"/>
                  </a:moveTo>
                  <a:lnTo>
                    <a:pt x="3883" y="121"/>
                  </a:lnTo>
                  <a:cubicBezTo>
                    <a:pt x="3883" y="54"/>
                    <a:pt x="3829" y="0"/>
                    <a:pt x="3763" y="0"/>
                  </a:cubicBezTo>
                  <a:lnTo>
                    <a:pt x="126" y="0"/>
                  </a:lnTo>
                  <a:lnTo>
                    <a:pt x="126" y="0"/>
                  </a:lnTo>
                  <a:cubicBezTo>
                    <a:pt x="59" y="0"/>
                    <a:pt x="4" y="54"/>
                    <a:pt x="4" y="121"/>
                  </a:cubicBezTo>
                  <a:lnTo>
                    <a:pt x="4" y="2619"/>
                  </a:lnTo>
                  <a:lnTo>
                    <a:pt x="0" y="2619"/>
                  </a:lnTo>
                  <a:lnTo>
                    <a:pt x="0" y="2619"/>
                  </a:lnTo>
                  <a:lnTo>
                    <a:pt x="3889" y="2619"/>
                  </a:lnTo>
                  <a:lnTo>
                    <a:pt x="3889" y="2619"/>
                  </a:lnTo>
                  <a:lnTo>
                    <a:pt x="3883" y="2619"/>
                  </a:lnTo>
                  <a:lnTo>
                    <a:pt x="3883" y="121"/>
                  </a:lnTo>
                </a:path>
              </a:pathLst>
            </a:custGeom>
            <a:solidFill>
              <a:srgbClr val="02020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0" name="Freeform 40">
              <a:extLst>
                <a:ext uri="{FF2B5EF4-FFF2-40B4-BE49-F238E27FC236}">
                  <a16:creationId xmlns:a16="http://schemas.microsoft.com/office/drawing/2014/main" id="{1730708B-47AB-A10C-10F7-2AD848B5BA43}"/>
                </a:ext>
              </a:extLst>
            </p:cNvPr>
            <p:cNvSpPr>
              <a:spLocks noChangeArrowheads="1"/>
            </p:cNvSpPr>
            <p:nvPr/>
          </p:nvSpPr>
          <p:spPr bwMode="auto">
            <a:xfrm>
              <a:off x="13386775" y="3401528"/>
              <a:ext cx="4857750" cy="3275134"/>
            </a:xfrm>
            <a:custGeom>
              <a:avLst/>
              <a:gdLst>
                <a:gd name="T0" fmla="*/ 3768 w 3900"/>
                <a:gd name="T1" fmla="*/ 0 h 2630"/>
                <a:gd name="T2" fmla="*/ 131 w 3900"/>
                <a:gd name="T3" fmla="*/ 0 h 2630"/>
                <a:gd name="T4" fmla="*/ 131 w 3900"/>
                <a:gd name="T5" fmla="*/ 0 h 2630"/>
                <a:gd name="T6" fmla="*/ 0 w 3900"/>
                <a:gd name="T7" fmla="*/ 131 h 2630"/>
                <a:gd name="T8" fmla="*/ 0 w 3900"/>
                <a:gd name="T9" fmla="*/ 2629 h 2630"/>
                <a:gd name="T10" fmla="*/ 5 w 3900"/>
                <a:gd name="T11" fmla="*/ 2629 h 2630"/>
                <a:gd name="T12" fmla="*/ 9 w 3900"/>
                <a:gd name="T13" fmla="*/ 2629 h 2630"/>
                <a:gd name="T14" fmla="*/ 9 w 3900"/>
                <a:gd name="T15" fmla="*/ 131 h 2630"/>
                <a:gd name="T16" fmla="*/ 9 w 3900"/>
                <a:gd name="T17" fmla="*/ 131 h 2630"/>
                <a:gd name="T18" fmla="*/ 131 w 3900"/>
                <a:gd name="T19" fmla="*/ 10 h 2630"/>
                <a:gd name="T20" fmla="*/ 3768 w 3900"/>
                <a:gd name="T21" fmla="*/ 10 h 2630"/>
                <a:gd name="T22" fmla="*/ 3768 w 3900"/>
                <a:gd name="T23" fmla="*/ 10 h 2630"/>
                <a:gd name="T24" fmla="*/ 3888 w 3900"/>
                <a:gd name="T25" fmla="*/ 131 h 2630"/>
                <a:gd name="T26" fmla="*/ 3888 w 3900"/>
                <a:gd name="T27" fmla="*/ 2629 h 2630"/>
                <a:gd name="T28" fmla="*/ 3894 w 3900"/>
                <a:gd name="T29" fmla="*/ 2629 h 2630"/>
                <a:gd name="T30" fmla="*/ 3899 w 3900"/>
                <a:gd name="T31" fmla="*/ 2629 h 2630"/>
                <a:gd name="T32" fmla="*/ 3899 w 3900"/>
                <a:gd name="T33" fmla="*/ 131 h 2630"/>
                <a:gd name="T34" fmla="*/ 3899 w 3900"/>
                <a:gd name="T35" fmla="*/ 131 h 2630"/>
                <a:gd name="T36" fmla="*/ 3768 w 3900"/>
                <a:gd name="T37" fmla="*/ 0 h 2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00" h="2630">
                  <a:moveTo>
                    <a:pt x="3768" y="0"/>
                  </a:moveTo>
                  <a:lnTo>
                    <a:pt x="131" y="0"/>
                  </a:lnTo>
                  <a:lnTo>
                    <a:pt x="131" y="0"/>
                  </a:lnTo>
                  <a:cubicBezTo>
                    <a:pt x="58" y="0"/>
                    <a:pt x="0" y="59"/>
                    <a:pt x="0" y="131"/>
                  </a:cubicBezTo>
                  <a:lnTo>
                    <a:pt x="0" y="2629"/>
                  </a:lnTo>
                  <a:lnTo>
                    <a:pt x="5" y="2629"/>
                  </a:lnTo>
                  <a:lnTo>
                    <a:pt x="9" y="2629"/>
                  </a:lnTo>
                  <a:lnTo>
                    <a:pt x="9" y="131"/>
                  </a:lnTo>
                  <a:lnTo>
                    <a:pt x="9" y="131"/>
                  </a:lnTo>
                  <a:cubicBezTo>
                    <a:pt x="9" y="64"/>
                    <a:pt x="64" y="10"/>
                    <a:pt x="131" y="10"/>
                  </a:cubicBezTo>
                  <a:lnTo>
                    <a:pt x="3768" y="10"/>
                  </a:lnTo>
                  <a:lnTo>
                    <a:pt x="3768" y="10"/>
                  </a:lnTo>
                  <a:cubicBezTo>
                    <a:pt x="3834" y="10"/>
                    <a:pt x="3888" y="64"/>
                    <a:pt x="3888" y="131"/>
                  </a:cubicBezTo>
                  <a:lnTo>
                    <a:pt x="3888" y="2629"/>
                  </a:lnTo>
                  <a:lnTo>
                    <a:pt x="3894" y="2629"/>
                  </a:lnTo>
                  <a:lnTo>
                    <a:pt x="3899" y="2629"/>
                  </a:lnTo>
                  <a:lnTo>
                    <a:pt x="3899" y="131"/>
                  </a:lnTo>
                  <a:lnTo>
                    <a:pt x="3899" y="131"/>
                  </a:lnTo>
                  <a:cubicBezTo>
                    <a:pt x="3899" y="59"/>
                    <a:pt x="3840" y="0"/>
                    <a:pt x="3768" y="0"/>
                  </a:cubicBezTo>
                </a:path>
              </a:pathLst>
            </a:custGeom>
            <a:solidFill>
              <a:srgbClr val="7F7F8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1" name="Freeform 41">
              <a:extLst>
                <a:ext uri="{FF2B5EF4-FFF2-40B4-BE49-F238E27FC236}">
                  <a16:creationId xmlns:a16="http://schemas.microsoft.com/office/drawing/2014/main" id="{7087A2B4-7F76-D314-6328-6D2BED2B67D0}"/>
                </a:ext>
              </a:extLst>
            </p:cNvPr>
            <p:cNvSpPr>
              <a:spLocks noChangeArrowheads="1"/>
            </p:cNvSpPr>
            <p:nvPr/>
          </p:nvSpPr>
          <p:spPr bwMode="auto">
            <a:xfrm>
              <a:off x="12848246" y="6676662"/>
              <a:ext cx="5934809" cy="131884"/>
            </a:xfrm>
            <a:custGeom>
              <a:avLst/>
              <a:gdLst>
                <a:gd name="T0" fmla="*/ 0 w 4762"/>
                <a:gd name="T1" fmla="*/ 0 h 105"/>
                <a:gd name="T2" fmla="*/ 0 w 4762"/>
                <a:gd name="T3" fmla="*/ 0 h 105"/>
                <a:gd name="T4" fmla="*/ 104 w 4762"/>
                <a:gd name="T5" fmla="*/ 104 h 105"/>
                <a:gd name="T6" fmla="*/ 4656 w 4762"/>
                <a:gd name="T7" fmla="*/ 104 h 105"/>
                <a:gd name="T8" fmla="*/ 4656 w 4762"/>
                <a:gd name="T9" fmla="*/ 104 h 105"/>
                <a:gd name="T10" fmla="*/ 4761 w 4762"/>
                <a:gd name="T11" fmla="*/ 0 h 105"/>
                <a:gd name="T12" fmla="*/ 0 w 4762"/>
                <a:gd name="T13" fmla="*/ 0 h 105"/>
              </a:gdLst>
              <a:ahLst/>
              <a:cxnLst>
                <a:cxn ang="0">
                  <a:pos x="T0" y="T1"/>
                </a:cxn>
                <a:cxn ang="0">
                  <a:pos x="T2" y="T3"/>
                </a:cxn>
                <a:cxn ang="0">
                  <a:pos x="T4" y="T5"/>
                </a:cxn>
                <a:cxn ang="0">
                  <a:pos x="T6" y="T7"/>
                </a:cxn>
                <a:cxn ang="0">
                  <a:pos x="T8" y="T9"/>
                </a:cxn>
                <a:cxn ang="0">
                  <a:pos x="T10" y="T11"/>
                </a:cxn>
                <a:cxn ang="0">
                  <a:pos x="T12" y="T13"/>
                </a:cxn>
              </a:cxnLst>
              <a:rect l="0" t="0" r="r" b="b"/>
              <a:pathLst>
                <a:path w="4762" h="105">
                  <a:moveTo>
                    <a:pt x="0" y="0"/>
                  </a:moveTo>
                  <a:lnTo>
                    <a:pt x="0" y="0"/>
                  </a:lnTo>
                  <a:cubicBezTo>
                    <a:pt x="0" y="58"/>
                    <a:pt x="46" y="104"/>
                    <a:pt x="104" y="104"/>
                  </a:cubicBezTo>
                  <a:lnTo>
                    <a:pt x="4656" y="104"/>
                  </a:lnTo>
                  <a:lnTo>
                    <a:pt x="4656" y="104"/>
                  </a:lnTo>
                  <a:cubicBezTo>
                    <a:pt x="4714" y="104"/>
                    <a:pt x="4761" y="58"/>
                    <a:pt x="4761" y="0"/>
                  </a:cubicBezTo>
                  <a:lnTo>
                    <a:pt x="0" y="0"/>
                  </a:lnTo>
                </a:path>
              </a:pathLst>
            </a:custGeom>
            <a:solidFill>
              <a:srgbClr val="ACAFB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2" name="Freeform 42">
              <a:extLst>
                <a:ext uri="{FF2B5EF4-FFF2-40B4-BE49-F238E27FC236}">
                  <a16:creationId xmlns:a16="http://schemas.microsoft.com/office/drawing/2014/main" id="{A85F6268-B5A5-6374-E751-AB1EA1C9CCCB}"/>
                </a:ext>
              </a:extLst>
            </p:cNvPr>
            <p:cNvSpPr>
              <a:spLocks noChangeArrowheads="1"/>
            </p:cNvSpPr>
            <p:nvPr/>
          </p:nvSpPr>
          <p:spPr bwMode="auto">
            <a:xfrm>
              <a:off x="15310091" y="6676662"/>
              <a:ext cx="1016613" cy="60445"/>
            </a:xfrm>
            <a:custGeom>
              <a:avLst/>
              <a:gdLst>
                <a:gd name="T0" fmla="*/ 0 w 817"/>
                <a:gd name="T1" fmla="*/ 0 h 50"/>
                <a:gd name="T2" fmla="*/ 0 w 817"/>
                <a:gd name="T3" fmla="*/ 0 h 50"/>
                <a:gd name="T4" fmla="*/ 50 w 817"/>
                <a:gd name="T5" fmla="*/ 49 h 50"/>
                <a:gd name="T6" fmla="*/ 767 w 817"/>
                <a:gd name="T7" fmla="*/ 49 h 50"/>
                <a:gd name="T8" fmla="*/ 767 w 817"/>
                <a:gd name="T9" fmla="*/ 49 h 50"/>
                <a:gd name="T10" fmla="*/ 816 w 817"/>
                <a:gd name="T11" fmla="*/ 0 h 50"/>
                <a:gd name="T12" fmla="*/ 0 w 81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817" h="50">
                  <a:moveTo>
                    <a:pt x="0" y="0"/>
                  </a:moveTo>
                  <a:lnTo>
                    <a:pt x="0" y="0"/>
                  </a:lnTo>
                  <a:cubicBezTo>
                    <a:pt x="0" y="28"/>
                    <a:pt x="22" y="49"/>
                    <a:pt x="50" y="49"/>
                  </a:cubicBezTo>
                  <a:lnTo>
                    <a:pt x="767" y="49"/>
                  </a:lnTo>
                  <a:lnTo>
                    <a:pt x="767" y="49"/>
                  </a:lnTo>
                  <a:cubicBezTo>
                    <a:pt x="794" y="49"/>
                    <a:pt x="816" y="28"/>
                    <a:pt x="816" y="0"/>
                  </a:cubicBezTo>
                  <a:lnTo>
                    <a:pt x="0" y="0"/>
                  </a:lnTo>
                </a:path>
              </a:pathLst>
            </a:custGeom>
            <a:solidFill>
              <a:srgbClr val="5C5B6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3" name="Freeform 43">
              <a:extLst>
                <a:ext uri="{FF2B5EF4-FFF2-40B4-BE49-F238E27FC236}">
                  <a16:creationId xmlns:a16="http://schemas.microsoft.com/office/drawing/2014/main" id="{7E1EEBC0-5CFB-9C57-20CE-BE7EC49C9FD4}"/>
                </a:ext>
              </a:extLst>
            </p:cNvPr>
            <p:cNvSpPr>
              <a:spLocks noChangeArrowheads="1"/>
            </p:cNvSpPr>
            <p:nvPr/>
          </p:nvSpPr>
          <p:spPr bwMode="auto">
            <a:xfrm>
              <a:off x="15782678" y="3467470"/>
              <a:ext cx="65943" cy="65943"/>
            </a:xfrm>
            <a:custGeom>
              <a:avLst/>
              <a:gdLst>
                <a:gd name="T0" fmla="*/ 26 w 54"/>
                <a:gd name="T1" fmla="*/ 0 h 54"/>
                <a:gd name="T2" fmla="*/ 26 w 54"/>
                <a:gd name="T3" fmla="*/ 0 h 54"/>
                <a:gd name="T4" fmla="*/ 0 w 54"/>
                <a:gd name="T5" fmla="*/ 27 h 54"/>
                <a:gd name="T6" fmla="*/ 0 w 54"/>
                <a:gd name="T7" fmla="*/ 27 h 54"/>
                <a:gd name="T8" fmla="*/ 26 w 54"/>
                <a:gd name="T9" fmla="*/ 53 h 54"/>
                <a:gd name="T10" fmla="*/ 26 w 54"/>
                <a:gd name="T11" fmla="*/ 53 h 54"/>
                <a:gd name="T12" fmla="*/ 53 w 54"/>
                <a:gd name="T13" fmla="*/ 27 h 54"/>
                <a:gd name="T14" fmla="*/ 53 w 54"/>
                <a:gd name="T15" fmla="*/ 27 h 54"/>
                <a:gd name="T16" fmla="*/ 26 w 54"/>
                <a:gd name="T17"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26" y="0"/>
                  </a:moveTo>
                  <a:lnTo>
                    <a:pt x="26" y="0"/>
                  </a:lnTo>
                  <a:cubicBezTo>
                    <a:pt x="12" y="0"/>
                    <a:pt x="0" y="12"/>
                    <a:pt x="0" y="27"/>
                  </a:cubicBezTo>
                  <a:lnTo>
                    <a:pt x="0" y="27"/>
                  </a:lnTo>
                  <a:cubicBezTo>
                    <a:pt x="0" y="41"/>
                    <a:pt x="12" y="53"/>
                    <a:pt x="26" y="53"/>
                  </a:cubicBezTo>
                  <a:lnTo>
                    <a:pt x="26" y="53"/>
                  </a:lnTo>
                  <a:cubicBezTo>
                    <a:pt x="41" y="53"/>
                    <a:pt x="53" y="41"/>
                    <a:pt x="53" y="27"/>
                  </a:cubicBezTo>
                  <a:lnTo>
                    <a:pt x="53" y="27"/>
                  </a:lnTo>
                  <a:cubicBezTo>
                    <a:pt x="53" y="12"/>
                    <a:pt x="41" y="0"/>
                    <a:pt x="26" y="0"/>
                  </a:cubicBezTo>
                </a:path>
              </a:pathLst>
            </a:custGeom>
            <a:solidFill>
              <a:srgbClr val="5C5B6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4" name="Freeform 44">
              <a:extLst>
                <a:ext uri="{FF2B5EF4-FFF2-40B4-BE49-F238E27FC236}">
                  <a16:creationId xmlns:a16="http://schemas.microsoft.com/office/drawing/2014/main" id="{6401B26A-E025-AED6-5875-5C534ADC7A85}"/>
                </a:ext>
              </a:extLst>
            </p:cNvPr>
            <p:cNvSpPr>
              <a:spLocks noChangeArrowheads="1"/>
            </p:cNvSpPr>
            <p:nvPr/>
          </p:nvSpPr>
          <p:spPr bwMode="auto">
            <a:xfrm>
              <a:off x="15799167" y="3483955"/>
              <a:ext cx="32972" cy="32972"/>
            </a:xfrm>
            <a:custGeom>
              <a:avLst/>
              <a:gdLst>
                <a:gd name="T0" fmla="*/ 12 w 27"/>
                <a:gd name="T1" fmla="*/ 0 h 28"/>
                <a:gd name="T2" fmla="*/ 12 w 27"/>
                <a:gd name="T3" fmla="*/ 0 h 28"/>
                <a:gd name="T4" fmla="*/ 0 w 27"/>
                <a:gd name="T5" fmla="*/ 14 h 28"/>
                <a:gd name="T6" fmla="*/ 0 w 27"/>
                <a:gd name="T7" fmla="*/ 14 h 28"/>
                <a:gd name="T8" fmla="*/ 12 w 27"/>
                <a:gd name="T9" fmla="*/ 27 h 28"/>
                <a:gd name="T10" fmla="*/ 12 w 27"/>
                <a:gd name="T11" fmla="*/ 27 h 28"/>
                <a:gd name="T12" fmla="*/ 26 w 27"/>
                <a:gd name="T13" fmla="*/ 14 h 28"/>
                <a:gd name="T14" fmla="*/ 26 w 27"/>
                <a:gd name="T15" fmla="*/ 14 h 28"/>
                <a:gd name="T16" fmla="*/ 12 w 27"/>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8">
                  <a:moveTo>
                    <a:pt x="12" y="0"/>
                  </a:moveTo>
                  <a:lnTo>
                    <a:pt x="12" y="0"/>
                  </a:lnTo>
                  <a:cubicBezTo>
                    <a:pt x="5" y="0"/>
                    <a:pt x="0" y="6"/>
                    <a:pt x="0" y="14"/>
                  </a:cubicBezTo>
                  <a:lnTo>
                    <a:pt x="0" y="14"/>
                  </a:lnTo>
                  <a:cubicBezTo>
                    <a:pt x="0" y="21"/>
                    <a:pt x="5" y="27"/>
                    <a:pt x="12" y="27"/>
                  </a:cubicBezTo>
                  <a:lnTo>
                    <a:pt x="12" y="27"/>
                  </a:lnTo>
                  <a:cubicBezTo>
                    <a:pt x="20" y="27"/>
                    <a:pt x="26" y="21"/>
                    <a:pt x="26" y="14"/>
                  </a:cubicBezTo>
                  <a:lnTo>
                    <a:pt x="26" y="14"/>
                  </a:lnTo>
                  <a:cubicBezTo>
                    <a:pt x="26" y="6"/>
                    <a:pt x="20" y="0"/>
                    <a:pt x="12" y="0"/>
                  </a:cubicBezTo>
                </a:path>
              </a:pathLst>
            </a:custGeom>
            <a:solidFill>
              <a:srgbClr val="ADACB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5" name="Freeform 45">
              <a:extLst>
                <a:ext uri="{FF2B5EF4-FFF2-40B4-BE49-F238E27FC236}">
                  <a16:creationId xmlns:a16="http://schemas.microsoft.com/office/drawing/2014/main" id="{DBA95479-400B-2679-451D-68F1F8EC6768}"/>
                </a:ext>
              </a:extLst>
            </p:cNvPr>
            <p:cNvSpPr>
              <a:spLocks noChangeArrowheads="1"/>
            </p:cNvSpPr>
            <p:nvPr/>
          </p:nvSpPr>
          <p:spPr bwMode="auto">
            <a:xfrm>
              <a:off x="13524156" y="3610347"/>
              <a:ext cx="4588485" cy="2890471"/>
            </a:xfrm>
            <a:custGeom>
              <a:avLst/>
              <a:gdLst>
                <a:gd name="T0" fmla="*/ 0 w 3682"/>
                <a:gd name="T1" fmla="*/ 2317 h 2318"/>
                <a:gd name="T2" fmla="*/ 3681 w 3682"/>
                <a:gd name="T3" fmla="*/ 2317 h 2318"/>
                <a:gd name="T4" fmla="*/ 3681 w 3682"/>
                <a:gd name="T5" fmla="*/ 0 h 2318"/>
                <a:gd name="T6" fmla="*/ 0 w 3682"/>
                <a:gd name="T7" fmla="*/ 0 h 2318"/>
                <a:gd name="T8" fmla="*/ 0 w 3682"/>
                <a:gd name="T9" fmla="*/ 2317 h 2318"/>
              </a:gdLst>
              <a:ahLst/>
              <a:cxnLst>
                <a:cxn ang="0">
                  <a:pos x="T0" y="T1"/>
                </a:cxn>
                <a:cxn ang="0">
                  <a:pos x="T2" y="T3"/>
                </a:cxn>
                <a:cxn ang="0">
                  <a:pos x="T4" y="T5"/>
                </a:cxn>
                <a:cxn ang="0">
                  <a:pos x="T6" y="T7"/>
                </a:cxn>
                <a:cxn ang="0">
                  <a:pos x="T8" y="T9"/>
                </a:cxn>
              </a:cxnLst>
              <a:rect l="0" t="0" r="r" b="b"/>
              <a:pathLst>
                <a:path w="3682" h="2318">
                  <a:moveTo>
                    <a:pt x="0" y="2317"/>
                  </a:moveTo>
                  <a:lnTo>
                    <a:pt x="3681" y="2317"/>
                  </a:lnTo>
                  <a:lnTo>
                    <a:pt x="3681" y="0"/>
                  </a:lnTo>
                  <a:lnTo>
                    <a:pt x="0" y="0"/>
                  </a:lnTo>
                  <a:lnTo>
                    <a:pt x="0" y="2317"/>
                  </a:lnTo>
                </a:path>
              </a:pathLst>
            </a:custGeom>
            <a:solidFill>
              <a:schemeClr val="tx1">
                <a:lumMod val="95000"/>
              </a:schemeClr>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grpSp>
      <p:sp>
        <p:nvSpPr>
          <p:cNvPr id="3" name="CasellaDiTesto 2">
            <a:extLst>
              <a:ext uri="{FF2B5EF4-FFF2-40B4-BE49-F238E27FC236}">
                <a16:creationId xmlns:a16="http://schemas.microsoft.com/office/drawing/2014/main" id="{DA736961-D5D5-F9F0-5C13-4C5351484AEC}"/>
              </a:ext>
            </a:extLst>
          </p:cNvPr>
          <p:cNvSpPr txBox="1"/>
          <p:nvPr/>
        </p:nvSpPr>
        <p:spPr>
          <a:xfrm>
            <a:off x="1850142" y="1507648"/>
            <a:ext cx="8137138" cy="4001095"/>
          </a:xfrm>
          <a:prstGeom prst="rect">
            <a:avLst/>
          </a:prstGeom>
          <a:noFill/>
        </p:spPr>
        <p:txBody>
          <a:bodyPr wrap="square" lIns="91440" tIns="45720" rIns="91440" bIns="45720" anchor="t">
            <a:spAutoFit/>
          </a:bodyPr>
          <a:lstStyle/>
          <a:p>
            <a:r>
              <a:rPr lang="en-US" sz="2400">
                <a:solidFill>
                  <a:srgbClr val="0070C0"/>
                </a:solidFill>
                <a:latin typeface="Aptos"/>
              </a:rPr>
              <a:t>FAIR ISLE is delivered as a web app with sentence-by-sentence analysis.</a:t>
            </a:r>
          </a:p>
          <a:p>
            <a:endParaRPr lang="en-US">
              <a:solidFill>
                <a:srgbClr val="0070C0"/>
              </a:solidFill>
              <a:latin typeface="Aptos" panose="020B0004020202020204" pitchFamily="34" charset="0"/>
            </a:endParaRPr>
          </a:p>
          <a:p>
            <a:r>
              <a:rPr lang="en-US" sz="2400" i="1">
                <a:solidFill>
                  <a:srgbClr val="0070C0"/>
                </a:solidFill>
                <a:latin typeface="Aptos"/>
              </a:rPr>
              <a:t>UI output:</a:t>
            </a:r>
          </a:p>
          <a:p>
            <a:pPr marL="342900" indent="-342900">
              <a:buFont typeface="Arial" panose="020B0604020202020204" pitchFamily="34" charset="0"/>
              <a:buChar char="•"/>
            </a:pPr>
            <a:r>
              <a:rPr lang="en-US" sz="2000">
                <a:solidFill>
                  <a:srgbClr val="0070C0"/>
                </a:solidFill>
                <a:latin typeface="Aptos"/>
              </a:rPr>
              <a:t>Label (inclusive / not inclusive)</a:t>
            </a:r>
            <a:endParaRPr lang="en-US" sz="2000">
              <a:solidFill>
                <a:srgbClr val="0070C0"/>
              </a:solidFill>
              <a:latin typeface="Aptos" panose="020B0004020202020204" pitchFamily="34" charset="0"/>
            </a:endParaRPr>
          </a:p>
          <a:p>
            <a:pPr marL="342900" indent="-342900">
              <a:buFont typeface="Arial" panose="020B0604020202020204" pitchFamily="34" charset="0"/>
              <a:buChar char="•"/>
            </a:pPr>
            <a:r>
              <a:rPr lang="en-US" sz="2000">
                <a:solidFill>
                  <a:srgbClr val="0070C0"/>
                </a:solidFill>
                <a:latin typeface="Aptos"/>
              </a:rPr>
              <a:t>Confidence score</a:t>
            </a:r>
          </a:p>
          <a:p>
            <a:pPr marL="342900" indent="-342900">
              <a:buFont typeface="Arial" panose="020B0604020202020204" pitchFamily="34" charset="0"/>
              <a:buChar char="•"/>
            </a:pPr>
            <a:r>
              <a:rPr lang="en-US" sz="2000">
                <a:solidFill>
                  <a:srgbClr val="0070C0"/>
                </a:solidFill>
                <a:latin typeface="Aptos"/>
              </a:rPr>
              <a:t>Rewrite suggestion (only when needed)</a:t>
            </a:r>
          </a:p>
          <a:p>
            <a:endParaRPr lang="en-US" sz="2000">
              <a:solidFill>
                <a:srgbClr val="0070C0"/>
              </a:solidFill>
              <a:latin typeface="Aptos"/>
            </a:endParaRPr>
          </a:p>
          <a:p>
            <a:r>
              <a:rPr lang="en-US" sz="2400" i="1">
                <a:solidFill>
                  <a:srgbClr val="0070C0"/>
                </a:solidFill>
                <a:latin typeface="Aptos"/>
              </a:rPr>
              <a:t>Feedback:</a:t>
            </a:r>
          </a:p>
          <a:p>
            <a:pPr marL="342900" indent="-342900">
              <a:buFont typeface="Arial" panose="020B0604020202020204" pitchFamily="34" charset="0"/>
              <a:buChar char="•"/>
            </a:pPr>
            <a:r>
              <a:rPr lang="en-US" sz="2000" i="1">
                <a:solidFill>
                  <a:srgbClr val="0070C0"/>
                </a:solidFill>
                <a:latin typeface="Aptos"/>
              </a:rPr>
              <a:t>Confirm/reject classification</a:t>
            </a:r>
          </a:p>
          <a:p>
            <a:pPr marL="342900" indent="-342900">
              <a:buFont typeface="Arial" panose="020B0604020202020204" pitchFamily="34" charset="0"/>
              <a:buChar char="•"/>
            </a:pPr>
            <a:r>
              <a:rPr lang="en-US" sz="2000" i="1">
                <a:solidFill>
                  <a:srgbClr val="0070C0"/>
                </a:solidFill>
                <a:latin typeface="Aptos"/>
              </a:rPr>
              <a:t>Rate rewrite and propose alternatives</a:t>
            </a:r>
          </a:p>
          <a:p>
            <a:pPr marL="342900" indent="-342900">
              <a:buFont typeface="Arial" panose="020B0604020202020204" pitchFamily="34" charset="0"/>
              <a:buChar char="•"/>
            </a:pPr>
            <a:r>
              <a:rPr lang="en-US" sz="2000" i="1">
                <a:solidFill>
                  <a:srgbClr val="0070C0"/>
                </a:solidFill>
                <a:latin typeface="Aptos"/>
              </a:rPr>
              <a:t>Store feedback in JSON for future retraining</a:t>
            </a:r>
            <a:endParaRPr lang="it-IT" sz="2000" i="1">
              <a:solidFill>
                <a:srgbClr val="0070C0"/>
              </a:solidFill>
              <a:latin typeface="Aptos"/>
            </a:endParaRPr>
          </a:p>
        </p:txBody>
      </p:sp>
    </p:spTree>
    <p:extLst>
      <p:ext uri="{BB962C8B-B14F-4D97-AF65-F5344CB8AC3E}">
        <p14:creationId xmlns:p14="http://schemas.microsoft.com/office/powerpoint/2010/main" val="42611324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053BE-A61C-B8C3-55BF-40F0CDB6E552}"/>
            </a:ext>
          </a:extLst>
        </p:cNvPr>
        <p:cNvGrpSpPr/>
        <p:nvPr/>
      </p:nvGrpSpPr>
      <p:grpSpPr>
        <a:xfrm>
          <a:off x="0" y="0"/>
          <a:ext cx="0" cy="0"/>
          <a:chOff x="0" y="0"/>
          <a:chExt cx="0" cy="0"/>
        </a:xfrm>
      </p:grpSpPr>
      <p:sp>
        <p:nvSpPr>
          <p:cNvPr id="32" name="CuadroTexto 31">
            <a:extLst>
              <a:ext uri="{FF2B5EF4-FFF2-40B4-BE49-F238E27FC236}">
                <a16:creationId xmlns:a16="http://schemas.microsoft.com/office/drawing/2014/main" id="{ED5F7444-C38C-ACCF-6A60-A2DC1B20793E}"/>
              </a:ext>
            </a:extLst>
          </p:cNvPr>
          <p:cNvSpPr txBox="1"/>
          <p:nvPr/>
        </p:nvSpPr>
        <p:spPr>
          <a:xfrm>
            <a:off x="3022248" y="162329"/>
            <a:ext cx="5771636" cy="654320"/>
          </a:xfrm>
          <a:prstGeom prst="rect">
            <a:avLst/>
          </a:prstGeom>
          <a:noFill/>
        </p:spPr>
        <p:txBody>
          <a:bodyPr wrap="square">
            <a:spAutoFit/>
          </a:bodyPr>
          <a:lstStyle/>
          <a:p>
            <a:pPr algn="ctr">
              <a:lnSpc>
                <a:spcPct val="80000"/>
              </a:lnSpc>
            </a:pPr>
            <a:r>
              <a:rPr lang="en-US" sz="4314">
                <a:solidFill>
                  <a:srgbClr val="4D7B9D"/>
                </a:solidFill>
                <a:latin typeface="Staatliches" pitchFamily="2" charset="0"/>
              </a:rPr>
              <a:t>INTERFACE</a:t>
            </a:r>
            <a:endParaRPr lang="es-SV" sz="4314">
              <a:solidFill>
                <a:srgbClr val="4D7B9D"/>
              </a:solidFill>
              <a:latin typeface="Lato Light" panose="020F0302020204030203" pitchFamily="34" charset="77"/>
            </a:endParaRPr>
          </a:p>
        </p:txBody>
      </p:sp>
      <p:grpSp>
        <p:nvGrpSpPr>
          <p:cNvPr id="8" name="Group 38">
            <a:extLst>
              <a:ext uri="{FF2B5EF4-FFF2-40B4-BE49-F238E27FC236}">
                <a16:creationId xmlns:a16="http://schemas.microsoft.com/office/drawing/2014/main" id="{2F1CCF6E-09AE-4FD0-C454-51EC3AFD06B5}"/>
              </a:ext>
            </a:extLst>
          </p:cNvPr>
          <p:cNvGrpSpPr/>
          <p:nvPr/>
        </p:nvGrpSpPr>
        <p:grpSpPr>
          <a:xfrm>
            <a:off x="373224" y="998376"/>
            <a:ext cx="10963470" cy="5262465"/>
            <a:chOff x="12848246" y="3401528"/>
            <a:chExt cx="5934809" cy="3407018"/>
          </a:xfrm>
        </p:grpSpPr>
        <p:sp>
          <p:nvSpPr>
            <p:cNvPr id="9" name="Freeform 39">
              <a:extLst>
                <a:ext uri="{FF2B5EF4-FFF2-40B4-BE49-F238E27FC236}">
                  <a16:creationId xmlns:a16="http://schemas.microsoft.com/office/drawing/2014/main" id="{924C5594-848A-E8CB-A65A-BEACA3DCC2FD}"/>
                </a:ext>
              </a:extLst>
            </p:cNvPr>
            <p:cNvSpPr>
              <a:spLocks noChangeArrowheads="1"/>
            </p:cNvSpPr>
            <p:nvPr/>
          </p:nvSpPr>
          <p:spPr bwMode="auto">
            <a:xfrm>
              <a:off x="13392272" y="3412520"/>
              <a:ext cx="4846761" cy="3264145"/>
            </a:xfrm>
            <a:custGeom>
              <a:avLst/>
              <a:gdLst>
                <a:gd name="T0" fmla="*/ 3883 w 3890"/>
                <a:gd name="T1" fmla="*/ 121 h 2620"/>
                <a:gd name="T2" fmla="*/ 3883 w 3890"/>
                <a:gd name="T3" fmla="*/ 121 h 2620"/>
                <a:gd name="T4" fmla="*/ 3763 w 3890"/>
                <a:gd name="T5" fmla="*/ 0 h 2620"/>
                <a:gd name="T6" fmla="*/ 126 w 3890"/>
                <a:gd name="T7" fmla="*/ 0 h 2620"/>
                <a:gd name="T8" fmla="*/ 126 w 3890"/>
                <a:gd name="T9" fmla="*/ 0 h 2620"/>
                <a:gd name="T10" fmla="*/ 4 w 3890"/>
                <a:gd name="T11" fmla="*/ 121 h 2620"/>
                <a:gd name="T12" fmla="*/ 4 w 3890"/>
                <a:gd name="T13" fmla="*/ 2619 h 2620"/>
                <a:gd name="T14" fmla="*/ 0 w 3890"/>
                <a:gd name="T15" fmla="*/ 2619 h 2620"/>
                <a:gd name="T16" fmla="*/ 0 w 3890"/>
                <a:gd name="T17" fmla="*/ 2619 h 2620"/>
                <a:gd name="T18" fmla="*/ 3889 w 3890"/>
                <a:gd name="T19" fmla="*/ 2619 h 2620"/>
                <a:gd name="T20" fmla="*/ 3889 w 3890"/>
                <a:gd name="T21" fmla="*/ 2619 h 2620"/>
                <a:gd name="T22" fmla="*/ 3883 w 3890"/>
                <a:gd name="T23" fmla="*/ 2619 h 2620"/>
                <a:gd name="T24" fmla="*/ 3883 w 3890"/>
                <a:gd name="T25" fmla="*/ 121 h 2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90" h="2620">
                  <a:moveTo>
                    <a:pt x="3883" y="121"/>
                  </a:moveTo>
                  <a:lnTo>
                    <a:pt x="3883" y="121"/>
                  </a:lnTo>
                  <a:cubicBezTo>
                    <a:pt x="3883" y="54"/>
                    <a:pt x="3829" y="0"/>
                    <a:pt x="3763" y="0"/>
                  </a:cubicBezTo>
                  <a:lnTo>
                    <a:pt x="126" y="0"/>
                  </a:lnTo>
                  <a:lnTo>
                    <a:pt x="126" y="0"/>
                  </a:lnTo>
                  <a:cubicBezTo>
                    <a:pt x="59" y="0"/>
                    <a:pt x="4" y="54"/>
                    <a:pt x="4" y="121"/>
                  </a:cubicBezTo>
                  <a:lnTo>
                    <a:pt x="4" y="2619"/>
                  </a:lnTo>
                  <a:lnTo>
                    <a:pt x="0" y="2619"/>
                  </a:lnTo>
                  <a:lnTo>
                    <a:pt x="0" y="2619"/>
                  </a:lnTo>
                  <a:lnTo>
                    <a:pt x="3889" y="2619"/>
                  </a:lnTo>
                  <a:lnTo>
                    <a:pt x="3889" y="2619"/>
                  </a:lnTo>
                  <a:lnTo>
                    <a:pt x="3883" y="2619"/>
                  </a:lnTo>
                  <a:lnTo>
                    <a:pt x="3883" y="121"/>
                  </a:lnTo>
                </a:path>
              </a:pathLst>
            </a:custGeom>
            <a:solidFill>
              <a:srgbClr val="02020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0" name="Freeform 40">
              <a:extLst>
                <a:ext uri="{FF2B5EF4-FFF2-40B4-BE49-F238E27FC236}">
                  <a16:creationId xmlns:a16="http://schemas.microsoft.com/office/drawing/2014/main" id="{AC61E429-83E8-6872-B978-8870BD83660E}"/>
                </a:ext>
              </a:extLst>
            </p:cNvPr>
            <p:cNvSpPr>
              <a:spLocks noChangeArrowheads="1"/>
            </p:cNvSpPr>
            <p:nvPr/>
          </p:nvSpPr>
          <p:spPr bwMode="auto">
            <a:xfrm>
              <a:off x="13386775" y="3401528"/>
              <a:ext cx="4857750" cy="3275134"/>
            </a:xfrm>
            <a:custGeom>
              <a:avLst/>
              <a:gdLst>
                <a:gd name="T0" fmla="*/ 3768 w 3900"/>
                <a:gd name="T1" fmla="*/ 0 h 2630"/>
                <a:gd name="T2" fmla="*/ 131 w 3900"/>
                <a:gd name="T3" fmla="*/ 0 h 2630"/>
                <a:gd name="T4" fmla="*/ 131 w 3900"/>
                <a:gd name="T5" fmla="*/ 0 h 2630"/>
                <a:gd name="T6" fmla="*/ 0 w 3900"/>
                <a:gd name="T7" fmla="*/ 131 h 2630"/>
                <a:gd name="T8" fmla="*/ 0 w 3900"/>
                <a:gd name="T9" fmla="*/ 2629 h 2630"/>
                <a:gd name="T10" fmla="*/ 5 w 3900"/>
                <a:gd name="T11" fmla="*/ 2629 h 2630"/>
                <a:gd name="T12" fmla="*/ 9 w 3900"/>
                <a:gd name="T13" fmla="*/ 2629 h 2630"/>
                <a:gd name="T14" fmla="*/ 9 w 3900"/>
                <a:gd name="T15" fmla="*/ 131 h 2630"/>
                <a:gd name="T16" fmla="*/ 9 w 3900"/>
                <a:gd name="T17" fmla="*/ 131 h 2630"/>
                <a:gd name="T18" fmla="*/ 131 w 3900"/>
                <a:gd name="T19" fmla="*/ 10 h 2630"/>
                <a:gd name="T20" fmla="*/ 3768 w 3900"/>
                <a:gd name="T21" fmla="*/ 10 h 2630"/>
                <a:gd name="T22" fmla="*/ 3768 w 3900"/>
                <a:gd name="T23" fmla="*/ 10 h 2630"/>
                <a:gd name="T24" fmla="*/ 3888 w 3900"/>
                <a:gd name="T25" fmla="*/ 131 h 2630"/>
                <a:gd name="T26" fmla="*/ 3888 w 3900"/>
                <a:gd name="T27" fmla="*/ 2629 h 2630"/>
                <a:gd name="T28" fmla="*/ 3894 w 3900"/>
                <a:gd name="T29" fmla="*/ 2629 h 2630"/>
                <a:gd name="T30" fmla="*/ 3899 w 3900"/>
                <a:gd name="T31" fmla="*/ 2629 h 2630"/>
                <a:gd name="T32" fmla="*/ 3899 w 3900"/>
                <a:gd name="T33" fmla="*/ 131 h 2630"/>
                <a:gd name="T34" fmla="*/ 3899 w 3900"/>
                <a:gd name="T35" fmla="*/ 131 h 2630"/>
                <a:gd name="T36" fmla="*/ 3768 w 3900"/>
                <a:gd name="T37" fmla="*/ 0 h 2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00" h="2630">
                  <a:moveTo>
                    <a:pt x="3768" y="0"/>
                  </a:moveTo>
                  <a:lnTo>
                    <a:pt x="131" y="0"/>
                  </a:lnTo>
                  <a:lnTo>
                    <a:pt x="131" y="0"/>
                  </a:lnTo>
                  <a:cubicBezTo>
                    <a:pt x="58" y="0"/>
                    <a:pt x="0" y="59"/>
                    <a:pt x="0" y="131"/>
                  </a:cubicBezTo>
                  <a:lnTo>
                    <a:pt x="0" y="2629"/>
                  </a:lnTo>
                  <a:lnTo>
                    <a:pt x="5" y="2629"/>
                  </a:lnTo>
                  <a:lnTo>
                    <a:pt x="9" y="2629"/>
                  </a:lnTo>
                  <a:lnTo>
                    <a:pt x="9" y="131"/>
                  </a:lnTo>
                  <a:lnTo>
                    <a:pt x="9" y="131"/>
                  </a:lnTo>
                  <a:cubicBezTo>
                    <a:pt x="9" y="64"/>
                    <a:pt x="64" y="10"/>
                    <a:pt x="131" y="10"/>
                  </a:cubicBezTo>
                  <a:lnTo>
                    <a:pt x="3768" y="10"/>
                  </a:lnTo>
                  <a:lnTo>
                    <a:pt x="3768" y="10"/>
                  </a:lnTo>
                  <a:cubicBezTo>
                    <a:pt x="3834" y="10"/>
                    <a:pt x="3888" y="64"/>
                    <a:pt x="3888" y="131"/>
                  </a:cubicBezTo>
                  <a:lnTo>
                    <a:pt x="3888" y="2629"/>
                  </a:lnTo>
                  <a:lnTo>
                    <a:pt x="3894" y="2629"/>
                  </a:lnTo>
                  <a:lnTo>
                    <a:pt x="3899" y="2629"/>
                  </a:lnTo>
                  <a:lnTo>
                    <a:pt x="3899" y="131"/>
                  </a:lnTo>
                  <a:lnTo>
                    <a:pt x="3899" y="131"/>
                  </a:lnTo>
                  <a:cubicBezTo>
                    <a:pt x="3899" y="59"/>
                    <a:pt x="3840" y="0"/>
                    <a:pt x="3768" y="0"/>
                  </a:cubicBezTo>
                </a:path>
              </a:pathLst>
            </a:custGeom>
            <a:solidFill>
              <a:srgbClr val="7F7F8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1" name="Freeform 41">
              <a:extLst>
                <a:ext uri="{FF2B5EF4-FFF2-40B4-BE49-F238E27FC236}">
                  <a16:creationId xmlns:a16="http://schemas.microsoft.com/office/drawing/2014/main" id="{9003105A-EA84-6EC2-DC6A-0F815CD61E61}"/>
                </a:ext>
              </a:extLst>
            </p:cNvPr>
            <p:cNvSpPr>
              <a:spLocks noChangeArrowheads="1"/>
            </p:cNvSpPr>
            <p:nvPr/>
          </p:nvSpPr>
          <p:spPr bwMode="auto">
            <a:xfrm>
              <a:off x="12848246" y="6676662"/>
              <a:ext cx="5934809" cy="131884"/>
            </a:xfrm>
            <a:custGeom>
              <a:avLst/>
              <a:gdLst>
                <a:gd name="T0" fmla="*/ 0 w 4762"/>
                <a:gd name="T1" fmla="*/ 0 h 105"/>
                <a:gd name="T2" fmla="*/ 0 w 4762"/>
                <a:gd name="T3" fmla="*/ 0 h 105"/>
                <a:gd name="T4" fmla="*/ 104 w 4762"/>
                <a:gd name="T5" fmla="*/ 104 h 105"/>
                <a:gd name="T6" fmla="*/ 4656 w 4762"/>
                <a:gd name="T7" fmla="*/ 104 h 105"/>
                <a:gd name="T8" fmla="*/ 4656 w 4762"/>
                <a:gd name="T9" fmla="*/ 104 h 105"/>
                <a:gd name="T10" fmla="*/ 4761 w 4762"/>
                <a:gd name="T11" fmla="*/ 0 h 105"/>
                <a:gd name="T12" fmla="*/ 0 w 4762"/>
                <a:gd name="T13" fmla="*/ 0 h 105"/>
              </a:gdLst>
              <a:ahLst/>
              <a:cxnLst>
                <a:cxn ang="0">
                  <a:pos x="T0" y="T1"/>
                </a:cxn>
                <a:cxn ang="0">
                  <a:pos x="T2" y="T3"/>
                </a:cxn>
                <a:cxn ang="0">
                  <a:pos x="T4" y="T5"/>
                </a:cxn>
                <a:cxn ang="0">
                  <a:pos x="T6" y="T7"/>
                </a:cxn>
                <a:cxn ang="0">
                  <a:pos x="T8" y="T9"/>
                </a:cxn>
                <a:cxn ang="0">
                  <a:pos x="T10" y="T11"/>
                </a:cxn>
                <a:cxn ang="0">
                  <a:pos x="T12" y="T13"/>
                </a:cxn>
              </a:cxnLst>
              <a:rect l="0" t="0" r="r" b="b"/>
              <a:pathLst>
                <a:path w="4762" h="105">
                  <a:moveTo>
                    <a:pt x="0" y="0"/>
                  </a:moveTo>
                  <a:lnTo>
                    <a:pt x="0" y="0"/>
                  </a:lnTo>
                  <a:cubicBezTo>
                    <a:pt x="0" y="58"/>
                    <a:pt x="46" y="104"/>
                    <a:pt x="104" y="104"/>
                  </a:cubicBezTo>
                  <a:lnTo>
                    <a:pt x="4656" y="104"/>
                  </a:lnTo>
                  <a:lnTo>
                    <a:pt x="4656" y="104"/>
                  </a:lnTo>
                  <a:cubicBezTo>
                    <a:pt x="4714" y="104"/>
                    <a:pt x="4761" y="58"/>
                    <a:pt x="4761" y="0"/>
                  </a:cubicBezTo>
                  <a:lnTo>
                    <a:pt x="0" y="0"/>
                  </a:lnTo>
                </a:path>
              </a:pathLst>
            </a:custGeom>
            <a:solidFill>
              <a:srgbClr val="ACAFB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2" name="Freeform 42">
              <a:extLst>
                <a:ext uri="{FF2B5EF4-FFF2-40B4-BE49-F238E27FC236}">
                  <a16:creationId xmlns:a16="http://schemas.microsoft.com/office/drawing/2014/main" id="{E1327746-DDBD-FFD9-9524-0F7E39534EC8}"/>
                </a:ext>
              </a:extLst>
            </p:cNvPr>
            <p:cNvSpPr>
              <a:spLocks noChangeArrowheads="1"/>
            </p:cNvSpPr>
            <p:nvPr/>
          </p:nvSpPr>
          <p:spPr bwMode="auto">
            <a:xfrm>
              <a:off x="15310091" y="6676662"/>
              <a:ext cx="1016613" cy="60445"/>
            </a:xfrm>
            <a:custGeom>
              <a:avLst/>
              <a:gdLst>
                <a:gd name="T0" fmla="*/ 0 w 817"/>
                <a:gd name="T1" fmla="*/ 0 h 50"/>
                <a:gd name="T2" fmla="*/ 0 w 817"/>
                <a:gd name="T3" fmla="*/ 0 h 50"/>
                <a:gd name="T4" fmla="*/ 50 w 817"/>
                <a:gd name="T5" fmla="*/ 49 h 50"/>
                <a:gd name="T6" fmla="*/ 767 w 817"/>
                <a:gd name="T7" fmla="*/ 49 h 50"/>
                <a:gd name="T8" fmla="*/ 767 w 817"/>
                <a:gd name="T9" fmla="*/ 49 h 50"/>
                <a:gd name="T10" fmla="*/ 816 w 817"/>
                <a:gd name="T11" fmla="*/ 0 h 50"/>
                <a:gd name="T12" fmla="*/ 0 w 81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817" h="50">
                  <a:moveTo>
                    <a:pt x="0" y="0"/>
                  </a:moveTo>
                  <a:lnTo>
                    <a:pt x="0" y="0"/>
                  </a:lnTo>
                  <a:cubicBezTo>
                    <a:pt x="0" y="28"/>
                    <a:pt x="22" y="49"/>
                    <a:pt x="50" y="49"/>
                  </a:cubicBezTo>
                  <a:lnTo>
                    <a:pt x="767" y="49"/>
                  </a:lnTo>
                  <a:lnTo>
                    <a:pt x="767" y="49"/>
                  </a:lnTo>
                  <a:cubicBezTo>
                    <a:pt x="794" y="49"/>
                    <a:pt x="816" y="28"/>
                    <a:pt x="816" y="0"/>
                  </a:cubicBezTo>
                  <a:lnTo>
                    <a:pt x="0" y="0"/>
                  </a:lnTo>
                </a:path>
              </a:pathLst>
            </a:custGeom>
            <a:solidFill>
              <a:srgbClr val="5C5B6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3" name="Freeform 43">
              <a:extLst>
                <a:ext uri="{FF2B5EF4-FFF2-40B4-BE49-F238E27FC236}">
                  <a16:creationId xmlns:a16="http://schemas.microsoft.com/office/drawing/2014/main" id="{931904A5-9287-9BCF-05E1-7A48EB40D048}"/>
                </a:ext>
              </a:extLst>
            </p:cNvPr>
            <p:cNvSpPr>
              <a:spLocks noChangeArrowheads="1"/>
            </p:cNvSpPr>
            <p:nvPr/>
          </p:nvSpPr>
          <p:spPr bwMode="auto">
            <a:xfrm>
              <a:off x="15782678" y="3467470"/>
              <a:ext cx="65943" cy="65943"/>
            </a:xfrm>
            <a:custGeom>
              <a:avLst/>
              <a:gdLst>
                <a:gd name="T0" fmla="*/ 26 w 54"/>
                <a:gd name="T1" fmla="*/ 0 h 54"/>
                <a:gd name="T2" fmla="*/ 26 w 54"/>
                <a:gd name="T3" fmla="*/ 0 h 54"/>
                <a:gd name="T4" fmla="*/ 0 w 54"/>
                <a:gd name="T5" fmla="*/ 27 h 54"/>
                <a:gd name="T6" fmla="*/ 0 w 54"/>
                <a:gd name="T7" fmla="*/ 27 h 54"/>
                <a:gd name="T8" fmla="*/ 26 w 54"/>
                <a:gd name="T9" fmla="*/ 53 h 54"/>
                <a:gd name="T10" fmla="*/ 26 w 54"/>
                <a:gd name="T11" fmla="*/ 53 h 54"/>
                <a:gd name="T12" fmla="*/ 53 w 54"/>
                <a:gd name="T13" fmla="*/ 27 h 54"/>
                <a:gd name="T14" fmla="*/ 53 w 54"/>
                <a:gd name="T15" fmla="*/ 27 h 54"/>
                <a:gd name="T16" fmla="*/ 26 w 54"/>
                <a:gd name="T17"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26" y="0"/>
                  </a:moveTo>
                  <a:lnTo>
                    <a:pt x="26" y="0"/>
                  </a:lnTo>
                  <a:cubicBezTo>
                    <a:pt x="12" y="0"/>
                    <a:pt x="0" y="12"/>
                    <a:pt x="0" y="27"/>
                  </a:cubicBezTo>
                  <a:lnTo>
                    <a:pt x="0" y="27"/>
                  </a:lnTo>
                  <a:cubicBezTo>
                    <a:pt x="0" y="41"/>
                    <a:pt x="12" y="53"/>
                    <a:pt x="26" y="53"/>
                  </a:cubicBezTo>
                  <a:lnTo>
                    <a:pt x="26" y="53"/>
                  </a:lnTo>
                  <a:cubicBezTo>
                    <a:pt x="41" y="53"/>
                    <a:pt x="53" y="41"/>
                    <a:pt x="53" y="27"/>
                  </a:cubicBezTo>
                  <a:lnTo>
                    <a:pt x="53" y="27"/>
                  </a:lnTo>
                  <a:cubicBezTo>
                    <a:pt x="53" y="12"/>
                    <a:pt x="41" y="0"/>
                    <a:pt x="26" y="0"/>
                  </a:cubicBezTo>
                </a:path>
              </a:pathLst>
            </a:custGeom>
            <a:solidFill>
              <a:srgbClr val="5C5B6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4" name="Freeform 44">
              <a:extLst>
                <a:ext uri="{FF2B5EF4-FFF2-40B4-BE49-F238E27FC236}">
                  <a16:creationId xmlns:a16="http://schemas.microsoft.com/office/drawing/2014/main" id="{0BF1DAFA-6C77-C35E-192D-17B7613847C6}"/>
                </a:ext>
              </a:extLst>
            </p:cNvPr>
            <p:cNvSpPr>
              <a:spLocks noChangeArrowheads="1"/>
            </p:cNvSpPr>
            <p:nvPr/>
          </p:nvSpPr>
          <p:spPr bwMode="auto">
            <a:xfrm>
              <a:off x="15799167" y="3483955"/>
              <a:ext cx="32972" cy="32972"/>
            </a:xfrm>
            <a:custGeom>
              <a:avLst/>
              <a:gdLst>
                <a:gd name="T0" fmla="*/ 12 w 27"/>
                <a:gd name="T1" fmla="*/ 0 h 28"/>
                <a:gd name="T2" fmla="*/ 12 w 27"/>
                <a:gd name="T3" fmla="*/ 0 h 28"/>
                <a:gd name="T4" fmla="*/ 0 w 27"/>
                <a:gd name="T5" fmla="*/ 14 h 28"/>
                <a:gd name="T6" fmla="*/ 0 w 27"/>
                <a:gd name="T7" fmla="*/ 14 h 28"/>
                <a:gd name="T8" fmla="*/ 12 w 27"/>
                <a:gd name="T9" fmla="*/ 27 h 28"/>
                <a:gd name="T10" fmla="*/ 12 w 27"/>
                <a:gd name="T11" fmla="*/ 27 h 28"/>
                <a:gd name="T12" fmla="*/ 26 w 27"/>
                <a:gd name="T13" fmla="*/ 14 h 28"/>
                <a:gd name="T14" fmla="*/ 26 w 27"/>
                <a:gd name="T15" fmla="*/ 14 h 28"/>
                <a:gd name="T16" fmla="*/ 12 w 27"/>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8">
                  <a:moveTo>
                    <a:pt x="12" y="0"/>
                  </a:moveTo>
                  <a:lnTo>
                    <a:pt x="12" y="0"/>
                  </a:lnTo>
                  <a:cubicBezTo>
                    <a:pt x="5" y="0"/>
                    <a:pt x="0" y="6"/>
                    <a:pt x="0" y="14"/>
                  </a:cubicBezTo>
                  <a:lnTo>
                    <a:pt x="0" y="14"/>
                  </a:lnTo>
                  <a:cubicBezTo>
                    <a:pt x="0" y="21"/>
                    <a:pt x="5" y="27"/>
                    <a:pt x="12" y="27"/>
                  </a:cubicBezTo>
                  <a:lnTo>
                    <a:pt x="12" y="27"/>
                  </a:lnTo>
                  <a:cubicBezTo>
                    <a:pt x="20" y="27"/>
                    <a:pt x="26" y="21"/>
                    <a:pt x="26" y="14"/>
                  </a:cubicBezTo>
                  <a:lnTo>
                    <a:pt x="26" y="14"/>
                  </a:lnTo>
                  <a:cubicBezTo>
                    <a:pt x="26" y="6"/>
                    <a:pt x="20" y="0"/>
                    <a:pt x="12" y="0"/>
                  </a:cubicBezTo>
                </a:path>
              </a:pathLst>
            </a:custGeom>
            <a:solidFill>
              <a:srgbClr val="ADACB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5" name="Freeform 45">
              <a:extLst>
                <a:ext uri="{FF2B5EF4-FFF2-40B4-BE49-F238E27FC236}">
                  <a16:creationId xmlns:a16="http://schemas.microsoft.com/office/drawing/2014/main" id="{B3A3CC3C-8C20-9F6C-14C8-DC7F951C2650}"/>
                </a:ext>
              </a:extLst>
            </p:cNvPr>
            <p:cNvSpPr>
              <a:spLocks noChangeArrowheads="1"/>
            </p:cNvSpPr>
            <p:nvPr/>
          </p:nvSpPr>
          <p:spPr bwMode="auto">
            <a:xfrm>
              <a:off x="13524156" y="3610347"/>
              <a:ext cx="4588485" cy="2890471"/>
            </a:xfrm>
            <a:custGeom>
              <a:avLst/>
              <a:gdLst>
                <a:gd name="T0" fmla="*/ 0 w 3682"/>
                <a:gd name="T1" fmla="*/ 2317 h 2318"/>
                <a:gd name="T2" fmla="*/ 3681 w 3682"/>
                <a:gd name="T3" fmla="*/ 2317 h 2318"/>
                <a:gd name="T4" fmla="*/ 3681 w 3682"/>
                <a:gd name="T5" fmla="*/ 0 h 2318"/>
                <a:gd name="T6" fmla="*/ 0 w 3682"/>
                <a:gd name="T7" fmla="*/ 0 h 2318"/>
                <a:gd name="T8" fmla="*/ 0 w 3682"/>
                <a:gd name="T9" fmla="*/ 2317 h 2318"/>
              </a:gdLst>
              <a:ahLst/>
              <a:cxnLst>
                <a:cxn ang="0">
                  <a:pos x="T0" y="T1"/>
                </a:cxn>
                <a:cxn ang="0">
                  <a:pos x="T2" y="T3"/>
                </a:cxn>
                <a:cxn ang="0">
                  <a:pos x="T4" y="T5"/>
                </a:cxn>
                <a:cxn ang="0">
                  <a:pos x="T6" y="T7"/>
                </a:cxn>
                <a:cxn ang="0">
                  <a:pos x="T8" y="T9"/>
                </a:cxn>
              </a:cxnLst>
              <a:rect l="0" t="0" r="r" b="b"/>
              <a:pathLst>
                <a:path w="3682" h="2318">
                  <a:moveTo>
                    <a:pt x="0" y="2317"/>
                  </a:moveTo>
                  <a:lnTo>
                    <a:pt x="3681" y="2317"/>
                  </a:lnTo>
                  <a:lnTo>
                    <a:pt x="3681" y="0"/>
                  </a:lnTo>
                  <a:lnTo>
                    <a:pt x="0" y="0"/>
                  </a:lnTo>
                  <a:lnTo>
                    <a:pt x="0" y="2317"/>
                  </a:lnTo>
                </a:path>
              </a:pathLst>
            </a:custGeom>
            <a:solidFill>
              <a:srgbClr val="EBDD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grpSp>
      <p:pic>
        <p:nvPicPr>
          <p:cNvPr id="4" name="Immagine 3" descr="Immagine che contiene testo, schermata, software, Pagina Web&#10;&#10;Il contenuto generato dall'IA potrebbe non essere corretto.">
            <a:extLst>
              <a:ext uri="{FF2B5EF4-FFF2-40B4-BE49-F238E27FC236}">
                <a16:creationId xmlns:a16="http://schemas.microsoft.com/office/drawing/2014/main" id="{61061A2B-C398-26A0-B2E4-2BE3FE61BA9E}"/>
              </a:ext>
            </a:extLst>
          </p:cNvPr>
          <p:cNvPicPr>
            <a:picLocks noChangeAspect="1"/>
          </p:cNvPicPr>
          <p:nvPr/>
        </p:nvPicPr>
        <p:blipFill>
          <a:blip r:embed="rId3">
            <a:extLst>
              <a:ext uri="{28A0092B-C50C-407E-A947-70E740481C1C}">
                <a14:useLocalDpi xmlns:a14="http://schemas.microsoft.com/office/drawing/2010/main" val="0"/>
              </a:ext>
            </a:extLst>
          </a:blip>
          <a:srcRect l="7696" r="7148" b="2673"/>
          <a:stretch>
            <a:fillRect/>
          </a:stretch>
        </p:blipFill>
        <p:spPr>
          <a:xfrm>
            <a:off x="1621844" y="1320917"/>
            <a:ext cx="8476383" cy="4464609"/>
          </a:xfrm>
          <a:prstGeom prst="rect">
            <a:avLst/>
          </a:prstGeom>
        </p:spPr>
      </p:pic>
    </p:spTree>
    <p:extLst>
      <p:ext uri="{BB962C8B-B14F-4D97-AF65-F5344CB8AC3E}">
        <p14:creationId xmlns:p14="http://schemas.microsoft.com/office/powerpoint/2010/main" val="6924465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C7A64-6649-6DE9-4D7A-BCD315180522}"/>
            </a:ext>
          </a:extLst>
        </p:cNvPr>
        <p:cNvGrpSpPr/>
        <p:nvPr/>
      </p:nvGrpSpPr>
      <p:grpSpPr>
        <a:xfrm>
          <a:off x="0" y="0"/>
          <a:ext cx="0" cy="0"/>
          <a:chOff x="0" y="0"/>
          <a:chExt cx="0" cy="0"/>
        </a:xfrm>
      </p:grpSpPr>
      <p:sp>
        <p:nvSpPr>
          <p:cNvPr id="32" name="CuadroTexto 31">
            <a:extLst>
              <a:ext uri="{FF2B5EF4-FFF2-40B4-BE49-F238E27FC236}">
                <a16:creationId xmlns:a16="http://schemas.microsoft.com/office/drawing/2014/main" id="{9DDAD7C7-A6D8-B513-7E42-BADCEA37C8D5}"/>
              </a:ext>
            </a:extLst>
          </p:cNvPr>
          <p:cNvSpPr txBox="1"/>
          <p:nvPr/>
        </p:nvSpPr>
        <p:spPr>
          <a:xfrm>
            <a:off x="3022248" y="162329"/>
            <a:ext cx="5771636" cy="654320"/>
          </a:xfrm>
          <a:prstGeom prst="rect">
            <a:avLst/>
          </a:prstGeom>
          <a:noFill/>
        </p:spPr>
        <p:txBody>
          <a:bodyPr wrap="square">
            <a:spAutoFit/>
          </a:bodyPr>
          <a:lstStyle/>
          <a:p>
            <a:pPr algn="ctr">
              <a:lnSpc>
                <a:spcPct val="80000"/>
              </a:lnSpc>
            </a:pPr>
            <a:r>
              <a:rPr lang="en-US" sz="4314">
                <a:solidFill>
                  <a:srgbClr val="4D7B9D"/>
                </a:solidFill>
                <a:latin typeface="Staatliches" pitchFamily="2" charset="0"/>
              </a:rPr>
              <a:t>INTERFACE</a:t>
            </a:r>
            <a:endParaRPr lang="es-SV" sz="4314">
              <a:solidFill>
                <a:srgbClr val="4D7B9D"/>
              </a:solidFill>
              <a:latin typeface="Lato Light" panose="020F0302020204030203" pitchFamily="34" charset="77"/>
            </a:endParaRPr>
          </a:p>
        </p:txBody>
      </p:sp>
      <p:grpSp>
        <p:nvGrpSpPr>
          <p:cNvPr id="8" name="Group 38">
            <a:extLst>
              <a:ext uri="{FF2B5EF4-FFF2-40B4-BE49-F238E27FC236}">
                <a16:creationId xmlns:a16="http://schemas.microsoft.com/office/drawing/2014/main" id="{A51236DE-E32E-1088-A37B-B8B035EA88F6}"/>
              </a:ext>
            </a:extLst>
          </p:cNvPr>
          <p:cNvGrpSpPr/>
          <p:nvPr/>
        </p:nvGrpSpPr>
        <p:grpSpPr>
          <a:xfrm>
            <a:off x="373224" y="998376"/>
            <a:ext cx="10963470" cy="5262465"/>
            <a:chOff x="12848246" y="3401528"/>
            <a:chExt cx="5934809" cy="3407018"/>
          </a:xfrm>
        </p:grpSpPr>
        <p:sp>
          <p:nvSpPr>
            <p:cNvPr id="9" name="Freeform 39">
              <a:extLst>
                <a:ext uri="{FF2B5EF4-FFF2-40B4-BE49-F238E27FC236}">
                  <a16:creationId xmlns:a16="http://schemas.microsoft.com/office/drawing/2014/main" id="{77C6B8B0-FA25-7770-64C1-340CFE5E6697}"/>
                </a:ext>
              </a:extLst>
            </p:cNvPr>
            <p:cNvSpPr>
              <a:spLocks noChangeArrowheads="1"/>
            </p:cNvSpPr>
            <p:nvPr/>
          </p:nvSpPr>
          <p:spPr bwMode="auto">
            <a:xfrm>
              <a:off x="13392272" y="3412520"/>
              <a:ext cx="4846761" cy="3264145"/>
            </a:xfrm>
            <a:custGeom>
              <a:avLst/>
              <a:gdLst>
                <a:gd name="T0" fmla="*/ 3883 w 3890"/>
                <a:gd name="T1" fmla="*/ 121 h 2620"/>
                <a:gd name="T2" fmla="*/ 3883 w 3890"/>
                <a:gd name="T3" fmla="*/ 121 h 2620"/>
                <a:gd name="T4" fmla="*/ 3763 w 3890"/>
                <a:gd name="T5" fmla="*/ 0 h 2620"/>
                <a:gd name="T6" fmla="*/ 126 w 3890"/>
                <a:gd name="T7" fmla="*/ 0 h 2620"/>
                <a:gd name="T8" fmla="*/ 126 w 3890"/>
                <a:gd name="T9" fmla="*/ 0 h 2620"/>
                <a:gd name="T10" fmla="*/ 4 w 3890"/>
                <a:gd name="T11" fmla="*/ 121 h 2620"/>
                <a:gd name="T12" fmla="*/ 4 w 3890"/>
                <a:gd name="T13" fmla="*/ 2619 h 2620"/>
                <a:gd name="T14" fmla="*/ 0 w 3890"/>
                <a:gd name="T15" fmla="*/ 2619 h 2620"/>
                <a:gd name="T16" fmla="*/ 0 w 3890"/>
                <a:gd name="T17" fmla="*/ 2619 h 2620"/>
                <a:gd name="T18" fmla="*/ 3889 w 3890"/>
                <a:gd name="T19" fmla="*/ 2619 h 2620"/>
                <a:gd name="T20" fmla="*/ 3889 w 3890"/>
                <a:gd name="T21" fmla="*/ 2619 h 2620"/>
                <a:gd name="T22" fmla="*/ 3883 w 3890"/>
                <a:gd name="T23" fmla="*/ 2619 h 2620"/>
                <a:gd name="T24" fmla="*/ 3883 w 3890"/>
                <a:gd name="T25" fmla="*/ 121 h 2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90" h="2620">
                  <a:moveTo>
                    <a:pt x="3883" y="121"/>
                  </a:moveTo>
                  <a:lnTo>
                    <a:pt x="3883" y="121"/>
                  </a:lnTo>
                  <a:cubicBezTo>
                    <a:pt x="3883" y="54"/>
                    <a:pt x="3829" y="0"/>
                    <a:pt x="3763" y="0"/>
                  </a:cubicBezTo>
                  <a:lnTo>
                    <a:pt x="126" y="0"/>
                  </a:lnTo>
                  <a:lnTo>
                    <a:pt x="126" y="0"/>
                  </a:lnTo>
                  <a:cubicBezTo>
                    <a:pt x="59" y="0"/>
                    <a:pt x="4" y="54"/>
                    <a:pt x="4" y="121"/>
                  </a:cubicBezTo>
                  <a:lnTo>
                    <a:pt x="4" y="2619"/>
                  </a:lnTo>
                  <a:lnTo>
                    <a:pt x="0" y="2619"/>
                  </a:lnTo>
                  <a:lnTo>
                    <a:pt x="0" y="2619"/>
                  </a:lnTo>
                  <a:lnTo>
                    <a:pt x="3889" y="2619"/>
                  </a:lnTo>
                  <a:lnTo>
                    <a:pt x="3889" y="2619"/>
                  </a:lnTo>
                  <a:lnTo>
                    <a:pt x="3883" y="2619"/>
                  </a:lnTo>
                  <a:lnTo>
                    <a:pt x="3883" y="121"/>
                  </a:lnTo>
                </a:path>
              </a:pathLst>
            </a:custGeom>
            <a:solidFill>
              <a:srgbClr val="02020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0" name="Freeform 40">
              <a:extLst>
                <a:ext uri="{FF2B5EF4-FFF2-40B4-BE49-F238E27FC236}">
                  <a16:creationId xmlns:a16="http://schemas.microsoft.com/office/drawing/2014/main" id="{D5B7B0BA-03D0-8000-CDEB-CA68EDF5C471}"/>
                </a:ext>
              </a:extLst>
            </p:cNvPr>
            <p:cNvSpPr>
              <a:spLocks noChangeArrowheads="1"/>
            </p:cNvSpPr>
            <p:nvPr/>
          </p:nvSpPr>
          <p:spPr bwMode="auto">
            <a:xfrm>
              <a:off x="13386775" y="3401528"/>
              <a:ext cx="4857750" cy="3275134"/>
            </a:xfrm>
            <a:custGeom>
              <a:avLst/>
              <a:gdLst>
                <a:gd name="T0" fmla="*/ 3768 w 3900"/>
                <a:gd name="T1" fmla="*/ 0 h 2630"/>
                <a:gd name="T2" fmla="*/ 131 w 3900"/>
                <a:gd name="T3" fmla="*/ 0 h 2630"/>
                <a:gd name="T4" fmla="*/ 131 w 3900"/>
                <a:gd name="T5" fmla="*/ 0 h 2630"/>
                <a:gd name="T6" fmla="*/ 0 w 3900"/>
                <a:gd name="T7" fmla="*/ 131 h 2630"/>
                <a:gd name="T8" fmla="*/ 0 w 3900"/>
                <a:gd name="T9" fmla="*/ 2629 h 2630"/>
                <a:gd name="T10" fmla="*/ 5 w 3900"/>
                <a:gd name="T11" fmla="*/ 2629 h 2630"/>
                <a:gd name="T12" fmla="*/ 9 w 3900"/>
                <a:gd name="T13" fmla="*/ 2629 h 2630"/>
                <a:gd name="T14" fmla="*/ 9 w 3900"/>
                <a:gd name="T15" fmla="*/ 131 h 2630"/>
                <a:gd name="T16" fmla="*/ 9 w 3900"/>
                <a:gd name="T17" fmla="*/ 131 h 2630"/>
                <a:gd name="T18" fmla="*/ 131 w 3900"/>
                <a:gd name="T19" fmla="*/ 10 h 2630"/>
                <a:gd name="T20" fmla="*/ 3768 w 3900"/>
                <a:gd name="T21" fmla="*/ 10 h 2630"/>
                <a:gd name="T22" fmla="*/ 3768 w 3900"/>
                <a:gd name="T23" fmla="*/ 10 h 2630"/>
                <a:gd name="T24" fmla="*/ 3888 w 3900"/>
                <a:gd name="T25" fmla="*/ 131 h 2630"/>
                <a:gd name="T26" fmla="*/ 3888 w 3900"/>
                <a:gd name="T27" fmla="*/ 2629 h 2630"/>
                <a:gd name="T28" fmla="*/ 3894 w 3900"/>
                <a:gd name="T29" fmla="*/ 2629 h 2630"/>
                <a:gd name="T30" fmla="*/ 3899 w 3900"/>
                <a:gd name="T31" fmla="*/ 2629 h 2630"/>
                <a:gd name="T32" fmla="*/ 3899 w 3900"/>
                <a:gd name="T33" fmla="*/ 131 h 2630"/>
                <a:gd name="T34" fmla="*/ 3899 w 3900"/>
                <a:gd name="T35" fmla="*/ 131 h 2630"/>
                <a:gd name="T36" fmla="*/ 3768 w 3900"/>
                <a:gd name="T37" fmla="*/ 0 h 2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00" h="2630">
                  <a:moveTo>
                    <a:pt x="3768" y="0"/>
                  </a:moveTo>
                  <a:lnTo>
                    <a:pt x="131" y="0"/>
                  </a:lnTo>
                  <a:lnTo>
                    <a:pt x="131" y="0"/>
                  </a:lnTo>
                  <a:cubicBezTo>
                    <a:pt x="58" y="0"/>
                    <a:pt x="0" y="59"/>
                    <a:pt x="0" y="131"/>
                  </a:cubicBezTo>
                  <a:lnTo>
                    <a:pt x="0" y="2629"/>
                  </a:lnTo>
                  <a:lnTo>
                    <a:pt x="5" y="2629"/>
                  </a:lnTo>
                  <a:lnTo>
                    <a:pt x="9" y="2629"/>
                  </a:lnTo>
                  <a:lnTo>
                    <a:pt x="9" y="131"/>
                  </a:lnTo>
                  <a:lnTo>
                    <a:pt x="9" y="131"/>
                  </a:lnTo>
                  <a:cubicBezTo>
                    <a:pt x="9" y="64"/>
                    <a:pt x="64" y="10"/>
                    <a:pt x="131" y="10"/>
                  </a:cubicBezTo>
                  <a:lnTo>
                    <a:pt x="3768" y="10"/>
                  </a:lnTo>
                  <a:lnTo>
                    <a:pt x="3768" y="10"/>
                  </a:lnTo>
                  <a:cubicBezTo>
                    <a:pt x="3834" y="10"/>
                    <a:pt x="3888" y="64"/>
                    <a:pt x="3888" y="131"/>
                  </a:cubicBezTo>
                  <a:lnTo>
                    <a:pt x="3888" y="2629"/>
                  </a:lnTo>
                  <a:lnTo>
                    <a:pt x="3894" y="2629"/>
                  </a:lnTo>
                  <a:lnTo>
                    <a:pt x="3899" y="2629"/>
                  </a:lnTo>
                  <a:lnTo>
                    <a:pt x="3899" y="131"/>
                  </a:lnTo>
                  <a:lnTo>
                    <a:pt x="3899" y="131"/>
                  </a:lnTo>
                  <a:cubicBezTo>
                    <a:pt x="3899" y="59"/>
                    <a:pt x="3840" y="0"/>
                    <a:pt x="3768" y="0"/>
                  </a:cubicBezTo>
                </a:path>
              </a:pathLst>
            </a:custGeom>
            <a:solidFill>
              <a:srgbClr val="7F7F8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1" name="Freeform 41">
              <a:extLst>
                <a:ext uri="{FF2B5EF4-FFF2-40B4-BE49-F238E27FC236}">
                  <a16:creationId xmlns:a16="http://schemas.microsoft.com/office/drawing/2014/main" id="{42223592-1378-AF05-550F-6BA1271817CD}"/>
                </a:ext>
              </a:extLst>
            </p:cNvPr>
            <p:cNvSpPr>
              <a:spLocks noChangeArrowheads="1"/>
            </p:cNvSpPr>
            <p:nvPr/>
          </p:nvSpPr>
          <p:spPr bwMode="auto">
            <a:xfrm>
              <a:off x="12848246" y="6676662"/>
              <a:ext cx="5934809" cy="131884"/>
            </a:xfrm>
            <a:custGeom>
              <a:avLst/>
              <a:gdLst>
                <a:gd name="T0" fmla="*/ 0 w 4762"/>
                <a:gd name="T1" fmla="*/ 0 h 105"/>
                <a:gd name="T2" fmla="*/ 0 w 4762"/>
                <a:gd name="T3" fmla="*/ 0 h 105"/>
                <a:gd name="T4" fmla="*/ 104 w 4762"/>
                <a:gd name="T5" fmla="*/ 104 h 105"/>
                <a:gd name="T6" fmla="*/ 4656 w 4762"/>
                <a:gd name="T7" fmla="*/ 104 h 105"/>
                <a:gd name="T8" fmla="*/ 4656 w 4762"/>
                <a:gd name="T9" fmla="*/ 104 h 105"/>
                <a:gd name="T10" fmla="*/ 4761 w 4762"/>
                <a:gd name="T11" fmla="*/ 0 h 105"/>
                <a:gd name="T12" fmla="*/ 0 w 4762"/>
                <a:gd name="T13" fmla="*/ 0 h 105"/>
              </a:gdLst>
              <a:ahLst/>
              <a:cxnLst>
                <a:cxn ang="0">
                  <a:pos x="T0" y="T1"/>
                </a:cxn>
                <a:cxn ang="0">
                  <a:pos x="T2" y="T3"/>
                </a:cxn>
                <a:cxn ang="0">
                  <a:pos x="T4" y="T5"/>
                </a:cxn>
                <a:cxn ang="0">
                  <a:pos x="T6" y="T7"/>
                </a:cxn>
                <a:cxn ang="0">
                  <a:pos x="T8" y="T9"/>
                </a:cxn>
                <a:cxn ang="0">
                  <a:pos x="T10" y="T11"/>
                </a:cxn>
                <a:cxn ang="0">
                  <a:pos x="T12" y="T13"/>
                </a:cxn>
              </a:cxnLst>
              <a:rect l="0" t="0" r="r" b="b"/>
              <a:pathLst>
                <a:path w="4762" h="105">
                  <a:moveTo>
                    <a:pt x="0" y="0"/>
                  </a:moveTo>
                  <a:lnTo>
                    <a:pt x="0" y="0"/>
                  </a:lnTo>
                  <a:cubicBezTo>
                    <a:pt x="0" y="58"/>
                    <a:pt x="46" y="104"/>
                    <a:pt x="104" y="104"/>
                  </a:cubicBezTo>
                  <a:lnTo>
                    <a:pt x="4656" y="104"/>
                  </a:lnTo>
                  <a:lnTo>
                    <a:pt x="4656" y="104"/>
                  </a:lnTo>
                  <a:cubicBezTo>
                    <a:pt x="4714" y="104"/>
                    <a:pt x="4761" y="58"/>
                    <a:pt x="4761" y="0"/>
                  </a:cubicBezTo>
                  <a:lnTo>
                    <a:pt x="0" y="0"/>
                  </a:lnTo>
                </a:path>
              </a:pathLst>
            </a:custGeom>
            <a:solidFill>
              <a:srgbClr val="ACAFB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2" name="Freeform 42">
              <a:extLst>
                <a:ext uri="{FF2B5EF4-FFF2-40B4-BE49-F238E27FC236}">
                  <a16:creationId xmlns:a16="http://schemas.microsoft.com/office/drawing/2014/main" id="{A612B268-530F-9E19-44AF-8759B12611C6}"/>
                </a:ext>
              </a:extLst>
            </p:cNvPr>
            <p:cNvSpPr>
              <a:spLocks noChangeArrowheads="1"/>
            </p:cNvSpPr>
            <p:nvPr/>
          </p:nvSpPr>
          <p:spPr bwMode="auto">
            <a:xfrm>
              <a:off x="15310091" y="6676662"/>
              <a:ext cx="1016613" cy="60445"/>
            </a:xfrm>
            <a:custGeom>
              <a:avLst/>
              <a:gdLst>
                <a:gd name="T0" fmla="*/ 0 w 817"/>
                <a:gd name="T1" fmla="*/ 0 h 50"/>
                <a:gd name="T2" fmla="*/ 0 w 817"/>
                <a:gd name="T3" fmla="*/ 0 h 50"/>
                <a:gd name="T4" fmla="*/ 50 w 817"/>
                <a:gd name="T5" fmla="*/ 49 h 50"/>
                <a:gd name="T6" fmla="*/ 767 w 817"/>
                <a:gd name="T7" fmla="*/ 49 h 50"/>
                <a:gd name="T8" fmla="*/ 767 w 817"/>
                <a:gd name="T9" fmla="*/ 49 h 50"/>
                <a:gd name="T10" fmla="*/ 816 w 817"/>
                <a:gd name="T11" fmla="*/ 0 h 50"/>
                <a:gd name="T12" fmla="*/ 0 w 81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817" h="50">
                  <a:moveTo>
                    <a:pt x="0" y="0"/>
                  </a:moveTo>
                  <a:lnTo>
                    <a:pt x="0" y="0"/>
                  </a:lnTo>
                  <a:cubicBezTo>
                    <a:pt x="0" y="28"/>
                    <a:pt x="22" y="49"/>
                    <a:pt x="50" y="49"/>
                  </a:cubicBezTo>
                  <a:lnTo>
                    <a:pt x="767" y="49"/>
                  </a:lnTo>
                  <a:lnTo>
                    <a:pt x="767" y="49"/>
                  </a:lnTo>
                  <a:cubicBezTo>
                    <a:pt x="794" y="49"/>
                    <a:pt x="816" y="28"/>
                    <a:pt x="816" y="0"/>
                  </a:cubicBezTo>
                  <a:lnTo>
                    <a:pt x="0" y="0"/>
                  </a:lnTo>
                </a:path>
              </a:pathLst>
            </a:custGeom>
            <a:solidFill>
              <a:srgbClr val="5C5B6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3" name="Freeform 43">
              <a:extLst>
                <a:ext uri="{FF2B5EF4-FFF2-40B4-BE49-F238E27FC236}">
                  <a16:creationId xmlns:a16="http://schemas.microsoft.com/office/drawing/2014/main" id="{B009DFE5-A00D-34AA-549C-F0B63D15429C}"/>
                </a:ext>
              </a:extLst>
            </p:cNvPr>
            <p:cNvSpPr>
              <a:spLocks noChangeArrowheads="1"/>
            </p:cNvSpPr>
            <p:nvPr/>
          </p:nvSpPr>
          <p:spPr bwMode="auto">
            <a:xfrm>
              <a:off x="15782678" y="3467470"/>
              <a:ext cx="65943" cy="65943"/>
            </a:xfrm>
            <a:custGeom>
              <a:avLst/>
              <a:gdLst>
                <a:gd name="T0" fmla="*/ 26 w 54"/>
                <a:gd name="T1" fmla="*/ 0 h 54"/>
                <a:gd name="T2" fmla="*/ 26 w 54"/>
                <a:gd name="T3" fmla="*/ 0 h 54"/>
                <a:gd name="T4" fmla="*/ 0 w 54"/>
                <a:gd name="T5" fmla="*/ 27 h 54"/>
                <a:gd name="T6" fmla="*/ 0 w 54"/>
                <a:gd name="T7" fmla="*/ 27 h 54"/>
                <a:gd name="T8" fmla="*/ 26 w 54"/>
                <a:gd name="T9" fmla="*/ 53 h 54"/>
                <a:gd name="T10" fmla="*/ 26 w 54"/>
                <a:gd name="T11" fmla="*/ 53 h 54"/>
                <a:gd name="T12" fmla="*/ 53 w 54"/>
                <a:gd name="T13" fmla="*/ 27 h 54"/>
                <a:gd name="T14" fmla="*/ 53 w 54"/>
                <a:gd name="T15" fmla="*/ 27 h 54"/>
                <a:gd name="T16" fmla="*/ 26 w 54"/>
                <a:gd name="T17"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26" y="0"/>
                  </a:moveTo>
                  <a:lnTo>
                    <a:pt x="26" y="0"/>
                  </a:lnTo>
                  <a:cubicBezTo>
                    <a:pt x="12" y="0"/>
                    <a:pt x="0" y="12"/>
                    <a:pt x="0" y="27"/>
                  </a:cubicBezTo>
                  <a:lnTo>
                    <a:pt x="0" y="27"/>
                  </a:lnTo>
                  <a:cubicBezTo>
                    <a:pt x="0" y="41"/>
                    <a:pt x="12" y="53"/>
                    <a:pt x="26" y="53"/>
                  </a:cubicBezTo>
                  <a:lnTo>
                    <a:pt x="26" y="53"/>
                  </a:lnTo>
                  <a:cubicBezTo>
                    <a:pt x="41" y="53"/>
                    <a:pt x="53" y="41"/>
                    <a:pt x="53" y="27"/>
                  </a:cubicBezTo>
                  <a:lnTo>
                    <a:pt x="53" y="27"/>
                  </a:lnTo>
                  <a:cubicBezTo>
                    <a:pt x="53" y="12"/>
                    <a:pt x="41" y="0"/>
                    <a:pt x="26" y="0"/>
                  </a:cubicBezTo>
                </a:path>
              </a:pathLst>
            </a:custGeom>
            <a:solidFill>
              <a:srgbClr val="5C5B6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4" name="Freeform 44">
              <a:extLst>
                <a:ext uri="{FF2B5EF4-FFF2-40B4-BE49-F238E27FC236}">
                  <a16:creationId xmlns:a16="http://schemas.microsoft.com/office/drawing/2014/main" id="{7D74FA16-811A-C772-9D1E-F1F9436815E8}"/>
                </a:ext>
              </a:extLst>
            </p:cNvPr>
            <p:cNvSpPr>
              <a:spLocks noChangeArrowheads="1"/>
            </p:cNvSpPr>
            <p:nvPr/>
          </p:nvSpPr>
          <p:spPr bwMode="auto">
            <a:xfrm>
              <a:off x="15799167" y="3483955"/>
              <a:ext cx="32972" cy="32972"/>
            </a:xfrm>
            <a:custGeom>
              <a:avLst/>
              <a:gdLst>
                <a:gd name="T0" fmla="*/ 12 w 27"/>
                <a:gd name="T1" fmla="*/ 0 h 28"/>
                <a:gd name="T2" fmla="*/ 12 w 27"/>
                <a:gd name="T3" fmla="*/ 0 h 28"/>
                <a:gd name="T4" fmla="*/ 0 w 27"/>
                <a:gd name="T5" fmla="*/ 14 h 28"/>
                <a:gd name="T6" fmla="*/ 0 w 27"/>
                <a:gd name="T7" fmla="*/ 14 h 28"/>
                <a:gd name="T8" fmla="*/ 12 w 27"/>
                <a:gd name="T9" fmla="*/ 27 h 28"/>
                <a:gd name="T10" fmla="*/ 12 w 27"/>
                <a:gd name="T11" fmla="*/ 27 h 28"/>
                <a:gd name="T12" fmla="*/ 26 w 27"/>
                <a:gd name="T13" fmla="*/ 14 h 28"/>
                <a:gd name="T14" fmla="*/ 26 w 27"/>
                <a:gd name="T15" fmla="*/ 14 h 28"/>
                <a:gd name="T16" fmla="*/ 12 w 27"/>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8">
                  <a:moveTo>
                    <a:pt x="12" y="0"/>
                  </a:moveTo>
                  <a:lnTo>
                    <a:pt x="12" y="0"/>
                  </a:lnTo>
                  <a:cubicBezTo>
                    <a:pt x="5" y="0"/>
                    <a:pt x="0" y="6"/>
                    <a:pt x="0" y="14"/>
                  </a:cubicBezTo>
                  <a:lnTo>
                    <a:pt x="0" y="14"/>
                  </a:lnTo>
                  <a:cubicBezTo>
                    <a:pt x="0" y="21"/>
                    <a:pt x="5" y="27"/>
                    <a:pt x="12" y="27"/>
                  </a:cubicBezTo>
                  <a:lnTo>
                    <a:pt x="12" y="27"/>
                  </a:lnTo>
                  <a:cubicBezTo>
                    <a:pt x="20" y="27"/>
                    <a:pt x="26" y="21"/>
                    <a:pt x="26" y="14"/>
                  </a:cubicBezTo>
                  <a:lnTo>
                    <a:pt x="26" y="14"/>
                  </a:lnTo>
                  <a:cubicBezTo>
                    <a:pt x="26" y="6"/>
                    <a:pt x="20" y="0"/>
                    <a:pt x="12" y="0"/>
                  </a:cubicBezTo>
                </a:path>
              </a:pathLst>
            </a:custGeom>
            <a:solidFill>
              <a:srgbClr val="ADACB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sp>
          <p:nvSpPr>
            <p:cNvPr id="15" name="Freeform 45">
              <a:extLst>
                <a:ext uri="{FF2B5EF4-FFF2-40B4-BE49-F238E27FC236}">
                  <a16:creationId xmlns:a16="http://schemas.microsoft.com/office/drawing/2014/main" id="{95D2D5EB-63F3-E102-304F-B24F66C2A317}"/>
                </a:ext>
              </a:extLst>
            </p:cNvPr>
            <p:cNvSpPr>
              <a:spLocks noChangeArrowheads="1"/>
            </p:cNvSpPr>
            <p:nvPr/>
          </p:nvSpPr>
          <p:spPr bwMode="auto">
            <a:xfrm>
              <a:off x="13524156" y="3610347"/>
              <a:ext cx="4588485" cy="2890471"/>
            </a:xfrm>
            <a:custGeom>
              <a:avLst/>
              <a:gdLst>
                <a:gd name="T0" fmla="*/ 0 w 3682"/>
                <a:gd name="T1" fmla="*/ 2317 h 2318"/>
                <a:gd name="T2" fmla="*/ 3681 w 3682"/>
                <a:gd name="T3" fmla="*/ 2317 h 2318"/>
                <a:gd name="T4" fmla="*/ 3681 w 3682"/>
                <a:gd name="T5" fmla="*/ 0 h 2318"/>
                <a:gd name="T6" fmla="*/ 0 w 3682"/>
                <a:gd name="T7" fmla="*/ 0 h 2318"/>
                <a:gd name="T8" fmla="*/ 0 w 3682"/>
                <a:gd name="T9" fmla="*/ 2317 h 2318"/>
              </a:gdLst>
              <a:ahLst/>
              <a:cxnLst>
                <a:cxn ang="0">
                  <a:pos x="T0" y="T1"/>
                </a:cxn>
                <a:cxn ang="0">
                  <a:pos x="T2" y="T3"/>
                </a:cxn>
                <a:cxn ang="0">
                  <a:pos x="T4" y="T5"/>
                </a:cxn>
                <a:cxn ang="0">
                  <a:pos x="T6" y="T7"/>
                </a:cxn>
                <a:cxn ang="0">
                  <a:pos x="T8" y="T9"/>
                </a:cxn>
              </a:cxnLst>
              <a:rect l="0" t="0" r="r" b="b"/>
              <a:pathLst>
                <a:path w="3682" h="2318">
                  <a:moveTo>
                    <a:pt x="0" y="2317"/>
                  </a:moveTo>
                  <a:lnTo>
                    <a:pt x="3681" y="2317"/>
                  </a:lnTo>
                  <a:lnTo>
                    <a:pt x="3681" y="0"/>
                  </a:lnTo>
                  <a:lnTo>
                    <a:pt x="0" y="0"/>
                  </a:lnTo>
                  <a:lnTo>
                    <a:pt x="0" y="2317"/>
                  </a:lnTo>
                </a:path>
              </a:pathLst>
            </a:custGeom>
            <a:solidFill>
              <a:srgbClr val="EBDD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6532">
                <a:latin typeface="Roboto Light" panose="02000000000000000000" pitchFamily="2" charset="0"/>
              </a:endParaRPr>
            </a:p>
          </p:txBody>
        </p:sp>
      </p:grpSp>
      <p:pic>
        <p:nvPicPr>
          <p:cNvPr id="4" name="Immagine 3">
            <a:extLst>
              <a:ext uri="{FF2B5EF4-FFF2-40B4-BE49-F238E27FC236}">
                <a16:creationId xmlns:a16="http://schemas.microsoft.com/office/drawing/2014/main" id="{512B3EFB-8CF5-A43B-30F0-693BAB40902B}"/>
              </a:ext>
            </a:extLst>
          </p:cNvPr>
          <p:cNvPicPr>
            <a:picLocks noChangeAspect="1"/>
          </p:cNvPicPr>
          <p:nvPr/>
        </p:nvPicPr>
        <p:blipFill>
          <a:blip r:embed="rId3">
            <a:extLst>
              <a:ext uri="{28A0092B-C50C-407E-A947-70E740481C1C}">
                <a14:useLocalDpi xmlns:a14="http://schemas.microsoft.com/office/drawing/2010/main" val="0"/>
              </a:ext>
            </a:extLst>
          </a:blip>
          <a:srcRect t="-106" b="2481"/>
          <a:stretch>
            <a:fillRect/>
          </a:stretch>
        </p:blipFill>
        <p:spPr>
          <a:xfrm>
            <a:off x="1621844" y="1306303"/>
            <a:ext cx="8476383" cy="4479223"/>
          </a:xfrm>
          <a:prstGeom prst="rect">
            <a:avLst/>
          </a:prstGeom>
        </p:spPr>
      </p:pic>
    </p:spTree>
    <p:extLst>
      <p:ext uri="{BB962C8B-B14F-4D97-AF65-F5344CB8AC3E}">
        <p14:creationId xmlns:p14="http://schemas.microsoft.com/office/powerpoint/2010/main" val="2794030686"/>
      </p:ext>
    </p:extLst>
  </p:cSld>
  <p:clrMapOvr>
    <a:masterClrMapping/>
  </p:clrMapOvr>
</p:sld>
</file>

<file path=ppt/theme/theme1.xml><?xml version="1.0" encoding="utf-8"?>
<a:theme xmlns:a="http://schemas.openxmlformats.org/drawingml/2006/main" name="Personalizzata">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332794_TF78853419_Win32" id="{3ED6E92A-08EA-49C8-8CDD-3C359BC72750}" vid="{18A8D122-DF74-4B77-85CD-55A103CD41CE}"/>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F4B194E-8B30-4377-8C59-ECFB902D2A26}">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92DB9E12-8AC3-4138-BF4D-720A5525AB10}">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21FFAC0-05A2-416A-B06C-C248395482C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31</Slides>
  <Notes>31</Notes>
  <HiddenSlides>0</HiddenSlides>
  <ScaleCrop>false</ScaleCrop>
  <HeadingPairs>
    <vt:vector size="4" baseType="variant">
      <vt:variant>
        <vt:lpstr>Tema</vt:lpstr>
      </vt:variant>
      <vt:variant>
        <vt:i4>1</vt:i4>
      </vt:variant>
      <vt:variant>
        <vt:lpstr>Titoli diapositive</vt:lpstr>
      </vt:variant>
      <vt:variant>
        <vt:i4>31</vt:i4>
      </vt:variant>
    </vt:vector>
  </HeadingPairs>
  <TitlesOfParts>
    <vt:vector size="32" baseType="lpstr">
      <vt:lpstr>Personalizzata</vt:lpstr>
      <vt:lpstr>FAIR ISLE — Detect and Rephrase non-inclusive texts</vt:lpstr>
      <vt:lpstr>Why inclusive language matters</vt:lpstr>
      <vt:lpstr>What FAIR ISLE is</vt:lpstr>
      <vt:lpstr>Implemented linguistic rewriting strategies</vt:lpstr>
      <vt:lpstr>Reference frameworks</vt:lpstr>
      <vt:lpstr>Project goals and success criteria</vt:lpstr>
      <vt:lpstr>The data challenge and ethical validation</vt:lpstr>
      <vt:lpstr>Dataset evolution</vt:lpstr>
      <vt:lpstr>Dataset examples </vt:lpstr>
      <vt:lpstr>Analysis pipeline</vt:lpstr>
      <vt:lpstr>Graphic representation</vt:lpstr>
      <vt:lpstr>How we build positive/negative examples for classification</vt:lpstr>
      <vt:lpstr>Development environment and compute</vt:lpstr>
      <vt:lpstr>Evaluation Metrics</vt:lpstr>
      <vt:lpstr>English Classifier (DistilBERT) </vt:lpstr>
      <vt:lpstr>English Rewriter (FLAN-T5)</vt:lpstr>
      <vt:lpstr>English Module</vt:lpstr>
      <vt:lpstr>Italian Classifier (BERTino)</vt:lpstr>
      <vt:lpstr>Italian Rewriter</vt:lpstr>
      <vt:lpstr>Italian Module</vt:lpstr>
      <vt:lpstr>Multilingual Classifier</vt:lpstr>
      <vt:lpstr>Multilingual Rewriter</vt:lpstr>
      <vt:lpstr>Multilingual Module</vt:lpstr>
      <vt:lpstr>Classifier Metrics Analysis</vt:lpstr>
      <vt:lpstr>Rewriter Metrics Analysis</vt:lpstr>
      <vt:lpstr>Scenario 1: Prioritizing "User Experience"</vt:lpstr>
      <vt:lpstr>Scenario 2: Prioritizing Efficiency</vt:lpstr>
      <vt:lpstr>Conclusions</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LAURIOLA MICHELE</dc:creator>
  <cp:revision>16</cp:revision>
  <dcterms:created xsi:type="dcterms:W3CDTF">2026-01-23T10:06:38Z</dcterms:created>
  <dcterms:modified xsi:type="dcterms:W3CDTF">2026-01-29T13:36:15Z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