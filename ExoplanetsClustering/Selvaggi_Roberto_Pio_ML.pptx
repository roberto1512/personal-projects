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33"/>
  </p:notesMasterIdLst>
  <p:sldIdLst>
    <p:sldId id="256" r:id="rId2"/>
    <p:sldId id="257" r:id="rId3"/>
    <p:sldId id="289" r:id="rId4"/>
    <p:sldId id="258" r:id="rId5"/>
    <p:sldId id="259" r:id="rId6"/>
    <p:sldId id="260"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7" r:id="rId27"/>
    <p:sldId id="281" r:id="rId28"/>
    <p:sldId id="282" r:id="rId29"/>
    <p:sldId id="283" r:id="rId30"/>
    <p:sldId id="284" r:id="rId31"/>
    <p:sldId id="286" r:id="rId32"/>
  </p:sldIdLst>
  <p:sldSz cx="16256000" cy="9144000"/>
  <p:notesSz cx="9144000" cy="16256000"/>
  <p:embeddedFontLst>
    <p:embeddedFont>
      <p:font typeface="Cambria Math" panose="02040503050406030204" pitchFamily="18" charset="0"/>
      <p:regular r:id="rId34"/>
    </p:embeddedFont>
    <p:embeddedFont>
      <p:font typeface="Quattrocento Sans" panose="020B0502050000020003" pitchFamily="34" charset="0"/>
      <p:regular r:id="rId35"/>
      <p:bold r:id="rId36"/>
      <p:italic r:id="rId37"/>
      <p:boldItalic r:id="rId38"/>
    </p:embeddedFont>
  </p:embeddedFontLst>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10"/>
  </p:normalViewPr>
  <p:slideViewPr>
    <p:cSldViewPr snapToGrid="0" snapToObjects="1">
      <p:cViewPr varScale="1">
        <p:scale>
          <a:sx n="68" d="100"/>
          <a:sy n="68" d="100"/>
        </p:scale>
        <p:origin x="37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font" Target="fonts/font1.fntdata"/><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793518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AFE"/>
        </a:solidFill>
        <a:effectLst/>
      </p:bgPr>
    </p:bg>
    <p:spTree>
      <p:nvGrpSpPr>
        <p:cNvPr id="1" name=""/>
        <p:cNvGrpSpPr/>
        <p:nvPr/>
      </p:nvGrpSpPr>
      <p:grpSpPr>
        <a:xfrm>
          <a:off x="0" y="0"/>
          <a:ext cx="0" cy="0"/>
          <a:chOff x="0" y="0"/>
          <a:chExt cx="0" cy="0"/>
        </a:xfrm>
      </p:grpSpPr>
      <p:sp>
        <p:nvSpPr>
          <p:cNvPr id="2" name="Shape 0"/>
          <p:cNvSpPr/>
          <p:nvPr/>
        </p:nvSpPr>
        <p:spPr>
          <a:xfrm>
            <a:off x="0" y="0"/>
            <a:ext cx="16256000" cy="1270000"/>
          </a:xfrm>
          <a:prstGeom prst="rect">
            <a:avLst/>
          </a:prstGeom>
          <a:solidFill>
            <a:srgbClr val="F4FAFE"/>
          </a:solidFill>
          <a:ln/>
        </p:spPr>
        <p:txBody>
          <a:bodyPr/>
          <a:lstStyle/>
          <a:p>
            <a:endParaRPr/>
          </a:p>
        </p:txBody>
      </p:sp>
      <p:sp>
        <p:nvSpPr>
          <p:cNvPr id="3" name="Shape 1"/>
          <p:cNvSpPr/>
          <p:nvPr/>
        </p:nvSpPr>
        <p:spPr>
          <a:xfrm>
            <a:off x="635000" y="304800"/>
            <a:ext cx="635000" cy="635000"/>
          </a:xfrm>
          <a:prstGeom prst="ellipse">
            <a:avLst/>
          </a:prstGeom>
          <a:solidFill>
            <a:srgbClr val="E0F4FA"/>
          </a:solidFill>
          <a:ln w="12700">
            <a:solidFill>
              <a:srgbClr val="005C82"/>
            </a:solidFill>
            <a:prstDash val="solid"/>
          </a:ln>
        </p:spPr>
        <p:txBody>
          <a:bodyPr/>
          <a:lstStyle/>
          <a:p>
            <a:endParaRPr/>
          </a:p>
        </p:txBody>
      </p:sp>
      <p:sp>
        <p:nvSpPr>
          <p:cNvPr id="4" name="Text 2"/>
          <p:cNvSpPr/>
          <p:nvPr/>
        </p:nvSpPr>
        <p:spPr>
          <a:xfrm>
            <a:off x="1447800" y="355600"/>
            <a:ext cx="6350000" cy="355600"/>
          </a:xfrm>
          <a:prstGeom prst="rect">
            <a:avLst/>
          </a:prstGeom>
          <a:noFill/>
          <a:ln/>
        </p:spPr>
        <p:txBody>
          <a:bodyPr wrap="none" lIns="0" tIns="0" rIns="0" bIns="0" rtlCol="0" anchor="t"/>
          <a:lstStyle/>
          <a:p>
            <a:pPr algn="l">
              <a:lnSpc>
                <a:spcPct val="120000"/>
              </a:lnSpc>
            </a:pPr>
            <a:r>
              <a:rPr lang="en-US" sz="2000" b="1" dirty="0">
                <a:solidFill>
                  <a:srgbClr val="005C82"/>
                </a:solidFill>
                <a:latin typeface="Quattrocento Sans" pitchFamily="34" charset="0"/>
                <a:ea typeface="Quattrocento Sans" pitchFamily="34" charset="-122"/>
                <a:cs typeface="Quattrocento Sans" pitchFamily="34" charset="-120"/>
              </a:rPr>
              <a:t>Universita degli Studi di Bari Aldo Moro</a:t>
            </a:r>
            <a:endParaRPr lang="en-US" sz="2000" dirty="0"/>
          </a:p>
        </p:txBody>
      </p:sp>
      <p:sp>
        <p:nvSpPr>
          <p:cNvPr id="5" name="Text 3"/>
          <p:cNvSpPr/>
          <p:nvPr/>
        </p:nvSpPr>
        <p:spPr>
          <a:xfrm>
            <a:off x="1447800" y="736600"/>
            <a:ext cx="6350000" cy="254000"/>
          </a:xfrm>
          <a:prstGeom prst="rect">
            <a:avLst/>
          </a:prstGeom>
          <a:noFill/>
          <a:ln/>
        </p:spPr>
        <p:txBody>
          <a:bodyPr wrap="none" lIns="0" tIns="0" rIns="0" bIns="0" rtlCol="0" anchor="t"/>
          <a:lstStyle/>
          <a:p>
            <a:pPr algn="l">
              <a:lnSpc>
                <a:spcPct val="120000"/>
              </a:lnSpc>
            </a:pPr>
            <a:r>
              <a:rPr lang="en-US" sz="1200" dirty="0">
                <a:solidFill>
                  <a:srgbClr val="B0BEC5"/>
                </a:solidFill>
                <a:latin typeface="Quattrocento Sans" pitchFamily="34" charset="0"/>
                <a:ea typeface="Quattrocento Sans" pitchFamily="34" charset="-122"/>
                <a:cs typeface="Quattrocento Sans" pitchFamily="34" charset="-120"/>
              </a:rPr>
              <a:t>Machine Learning Exam - A.A. 2025/2026</a:t>
            </a:r>
            <a:endParaRPr lang="en-US" sz="1200" dirty="0"/>
          </a:p>
        </p:txBody>
      </p:sp>
      <p:sp>
        <p:nvSpPr>
          <p:cNvPr id="6" name="Shape 4"/>
          <p:cNvSpPr/>
          <p:nvPr/>
        </p:nvSpPr>
        <p:spPr>
          <a:xfrm>
            <a:off x="0" y="1371600"/>
            <a:ext cx="16256000" cy="3302000"/>
          </a:xfrm>
          <a:prstGeom prst="rect">
            <a:avLst/>
          </a:prstGeom>
          <a:gradFill flip="none" rotWithShape="1">
            <a:gsLst>
              <a:gs pos="0">
                <a:srgbClr val="004060"/>
              </a:gs>
              <a:gs pos="50000">
                <a:srgbClr val="005C82"/>
              </a:gs>
              <a:gs pos="100000">
                <a:srgbClr val="007AA8"/>
              </a:gs>
            </a:gsLst>
            <a:lin ang="5400000" scaled="1"/>
          </a:gradFill>
          <a:ln/>
        </p:spPr>
        <p:txBody>
          <a:bodyPr/>
          <a:lstStyle/>
          <a:p>
            <a:endParaRPr/>
          </a:p>
        </p:txBody>
      </p:sp>
      <p:sp>
        <p:nvSpPr>
          <p:cNvPr id="7" name="Text 5"/>
          <p:cNvSpPr/>
          <p:nvPr/>
        </p:nvSpPr>
        <p:spPr>
          <a:xfrm>
            <a:off x="762000" y="1752600"/>
            <a:ext cx="14732000" cy="889000"/>
          </a:xfrm>
          <a:prstGeom prst="rect">
            <a:avLst/>
          </a:prstGeom>
          <a:noFill/>
          <a:ln/>
        </p:spPr>
        <p:txBody>
          <a:bodyPr wrap="none" lIns="0" tIns="0" rIns="0" bIns="0" rtlCol="0" anchor="ctr"/>
          <a:lstStyle/>
          <a:p>
            <a:pPr algn="l">
              <a:lnSpc>
                <a:spcPct val="120000"/>
              </a:lnSpc>
            </a:pPr>
            <a:r>
              <a:rPr lang="en-US" sz="3200" b="1" dirty="0">
                <a:solidFill>
                  <a:srgbClr val="FFFFFF"/>
                </a:solidFill>
                <a:latin typeface="Quattrocento Sans" pitchFamily="34" charset="0"/>
                <a:ea typeface="Quattrocento Sans" pitchFamily="34" charset="-122"/>
                <a:cs typeface="Quattrocento Sans" pitchFamily="34" charset="-120"/>
              </a:rPr>
              <a:t>Distance-Based Clustering and Leakage-Aware Classification of NASA Exoplanets</a:t>
            </a:r>
            <a:endParaRPr lang="en-US" sz="3200" dirty="0"/>
          </a:p>
        </p:txBody>
      </p:sp>
      <p:sp>
        <p:nvSpPr>
          <p:cNvPr id="8" name="Text 6"/>
          <p:cNvSpPr/>
          <p:nvPr/>
        </p:nvSpPr>
        <p:spPr>
          <a:xfrm>
            <a:off x="762000" y="2768600"/>
            <a:ext cx="12700000" cy="355600"/>
          </a:xfrm>
          <a:prstGeom prst="rect">
            <a:avLst/>
          </a:prstGeom>
          <a:noFill/>
          <a:ln/>
        </p:spPr>
        <p:txBody>
          <a:bodyPr wrap="none" lIns="0" tIns="0" rIns="0" bIns="0" rtlCol="0" anchor="t"/>
          <a:lstStyle/>
          <a:p>
            <a:pPr algn="l">
              <a:lnSpc>
                <a:spcPct val="120000"/>
              </a:lnSpc>
            </a:pPr>
            <a:r>
              <a:rPr lang="en-US" sz="1600" kern="0" spc="200" dirty="0">
                <a:solidFill>
                  <a:srgbClr val="FFFFFF"/>
                </a:solidFill>
                <a:latin typeface="Quattrocento Sans" pitchFamily="34" charset="0"/>
                <a:ea typeface="Quattrocento Sans" pitchFamily="34" charset="-122"/>
                <a:cs typeface="Quattrocento Sans" pitchFamily="34" charset="-120"/>
              </a:rPr>
              <a:t>CLUSTERING | SUPERVISED CLASSIFICATION</a:t>
            </a:r>
            <a:endParaRPr lang="en-US" sz="1600" dirty="0"/>
          </a:p>
        </p:txBody>
      </p:sp>
      <p:sp>
        <p:nvSpPr>
          <p:cNvPr id="9" name="Shape 7"/>
          <p:cNvSpPr/>
          <p:nvPr/>
        </p:nvSpPr>
        <p:spPr>
          <a:xfrm>
            <a:off x="114275" y="7627811"/>
            <a:ext cx="6883450" cy="1310167"/>
          </a:xfrm>
          <a:prstGeom prst="rect">
            <a:avLst/>
          </a:prstGeom>
          <a:solidFill>
            <a:srgbClr val="F4FAFE"/>
          </a:solidFill>
          <a:ln/>
        </p:spPr>
        <p:txBody>
          <a:bodyPr/>
          <a:lstStyle/>
          <a:p>
            <a:pPr marL="0" marR="0" lvl="0" indent="0" algn="l" defTabSz="914400" rtl="0" eaLnBrk="1" fontAlgn="auto" latinLnBrk="0" hangingPunct="1">
              <a:lnSpc>
                <a:spcPct val="170000"/>
              </a:lnSpc>
              <a:spcBef>
                <a:spcPts val="0"/>
              </a:spcBef>
              <a:spcAft>
                <a:spcPts val="0"/>
              </a:spcAft>
              <a:buClrTx/>
              <a:buSzTx/>
              <a:buFontTx/>
              <a:buNone/>
              <a:tabLst/>
              <a:defRPr/>
            </a:pPr>
            <a:r>
              <a:rPr kumimoji="0" lang="en-US" sz="1200" b="1" i="1" u="none" strike="noStrike" kern="1200" cap="none" spc="0" normalizeH="0" baseline="0" noProof="0" dirty="0">
                <a:ln>
                  <a:noFill/>
                </a:ln>
                <a:solidFill>
                  <a:schemeClr val="bg1">
                    <a:lumMod val="65000"/>
                  </a:schemeClr>
                </a:solidFill>
                <a:effectLst/>
                <a:uLnTx/>
                <a:uFillTx/>
                <a:latin typeface="Quattrocento Sans" pitchFamily="34" charset="0"/>
                <a:ea typeface="Quattrocento Sans" pitchFamily="34" charset="-122"/>
                <a:cs typeface="Quattrocento Sans" pitchFamily="34" charset="-120"/>
              </a:rPr>
              <a:t>Dataset:</a:t>
            </a:r>
            <a:endParaRPr kumimoji="0" lang="en-US" sz="1200" b="0" i="1" u="none" strike="noStrike" kern="1200" cap="none" spc="0" normalizeH="0" baseline="0" noProof="0" dirty="0">
              <a:ln>
                <a:noFill/>
              </a:ln>
              <a:solidFill>
                <a:schemeClr val="bg1">
                  <a:lumMod val="65000"/>
                </a:schemeClr>
              </a:solidFill>
              <a:effectLst/>
              <a:uLnTx/>
              <a:uFillTx/>
              <a:latin typeface="Calibri" panose="020F0502020204030204"/>
              <a:ea typeface="+mn-ea"/>
              <a:cs typeface="+mn-cs"/>
            </a:endParaRPr>
          </a:p>
          <a:p>
            <a:pPr marL="0" marR="0" lvl="0" indent="0" algn="l" defTabSz="914400" rtl="0" eaLnBrk="1" fontAlgn="auto" latinLnBrk="0" hangingPunct="1">
              <a:lnSpc>
                <a:spcPct val="170000"/>
              </a:lnSpc>
              <a:spcBef>
                <a:spcPts val="0"/>
              </a:spcBef>
              <a:spcAft>
                <a:spcPts val="0"/>
              </a:spcAft>
              <a:buClrTx/>
              <a:buSzTx/>
              <a:buFontTx/>
              <a:buNone/>
              <a:tabLst/>
              <a:defRPr/>
            </a:pPr>
            <a:r>
              <a:rPr kumimoji="0" lang="en-US" sz="1200" b="0" i="1" u="none" strike="noStrike" kern="1200" cap="none" spc="0" normalizeH="0" baseline="0" noProof="0" dirty="0">
                <a:ln>
                  <a:noFill/>
                </a:ln>
                <a:solidFill>
                  <a:schemeClr val="bg1">
                    <a:lumMod val="65000"/>
                  </a:schemeClr>
                </a:solidFill>
                <a:effectLst/>
                <a:uLnTx/>
                <a:uFillTx/>
                <a:latin typeface="Quattrocento Sans" pitchFamily="34" charset="0"/>
                <a:ea typeface="Quattrocento Sans" pitchFamily="34" charset="-122"/>
                <a:cs typeface="Quattrocento Sans" pitchFamily="34" charset="-120"/>
              </a:rPr>
              <a:t>NASA Exoplanet Archive Intelligence [Dataset]. </a:t>
            </a:r>
          </a:p>
          <a:p>
            <a:pPr marL="0" marR="0" lvl="0" indent="0" algn="l" defTabSz="914400" rtl="0" eaLnBrk="1" fontAlgn="auto" latinLnBrk="0" hangingPunct="1">
              <a:lnSpc>
                <a:spcPct val="170000"/>
              </a:lnSpc>
              <a:spcBef>
                <a:spcPts val="0"/>
              </a:spcBef>
              <a:spcAft>
                <a:spcPts val="0"/>
              </a:spcAft>
              <a:buClrTx/>
              <a:buSzTx/>
              <a:buFontTx/>
              <a:buNone/>
              <a:tabLst/>
              <a:defRPr/>
            </a:pPr>
            <a:r>
              <a:rPr kumimoji="0" lang="en-US" sz="1200" b="1" i="1" u="none" strike="noStrike" kern="1200" cap="none" spc="0" normalizeH="0" baseline="0" noProof="0" dirty="0">
                <a:ln>
                  <a:noFill/>
                </a:ln>
                <a:solidFill>
                  <a:schemeClr val="bg1">
                    <a:lumMod val="65000"/>
                  </a:schemeClr>
                </a:solidFill>
                <a:effectLst/>
                <a:uLnTx/>
                <a:uFillTx/>
                <a:latin typeface="Quattrocento Sans" pitchFamily="34" charset="0"/>
                <a:ea typeface="Quattrocento Sans" pitchFamily="34" charset="-122"/>
                <a:cs typeface="Quattrocento Sans" pitchFamily="34" charset="-120"/>
              </a:rPr>
              <a:t>Kaggle</a:t>
            </a:r>
            <a:r>
              <a:rPr kumimoji="0" lang="en-US" sz="1200" b="0" i="1" u="none" strike="noStrike" kern="1200" cap="none" spc="0" normalizeH="0" baseline="0" noProof="0" dirty="0">
                <a:ln>
                  <a:noFill/>
                </a:ln>
                <a:solidFill>
                  <a:schemeClr val="bg1">
                    <a:lumMod val="65000"/>
                  </a:schemeClr>
                </a:solidFill>
                <a:effectLst/>
                <a:uLnTx/>
                <a:uFillTx/>
                <a:latin typeface="Quattrocento Sans" pitchFamily="34" charset="0"/>
                <a:ea typeface="Quattrocento Sans" pitchFamily="34" charset="-122"/>
                <a:cs typeface="Quattrocento Sans" pitchFamily="34" charset="-120"/>
              </a:rPr>
              <a:t>. </a:t>
            </a:r>
          </a:p>
          <a:p>
            <a:pPr marL="0" marR="0" lvl="0" indent="0" algn="l" defTabSz="914400" rtl="0" eaLnBrk="1" fontAlgn="auto" latinLnBrk="0" hangingPunct="1">
              <a:lnSpc>
                <a:spcPct val="170000"/>
              </a:lnSpc>
              <a:spcBef>
                <a:spcPts val="0"/>
              </a:spcBef>
              <a:spcAft>
                <a:spcPts val="0"/>
              </a:spcAft>
              <a:buClrTx/>
              <a:buSzTx/>
              <a:buFontTx/>
              <a:buNone/>
              <a:tabLst/>
              <a:defRPr/>
            </a:pPr>
            <a:r>
              <a:rPr kumimoji="0" lang="en-US" sz="1200" b="0" i="1" u="none" strike="noStrike" kern="1200" cap="none" spc="0" normalizeH="0" baseline="0" noProof="0" dirty="0">
                <a:ln>
                  <a:noFill/>
                </a:ln>
                <a:solidFill>
                  <a:schemeClr val="bg1">
                    <a:lumMod val="65000"/>
                  </a:schemeClr>
                </a:solidFill>
                <a:effectLst/>
                <a:uLnTx/>
                <a:uFillTx/>
                <a:latin typeface="Quattrocento Sans" pitchFamily="34" charset="0"/>
                <a:ea typeface="Quattrocento Sans" pitchFamily="34" charset="-122"/>
                <a:cs typeface="Quattrocento Sans" pitchFamily="34" charset="-120"/>
              </a:rPr>
              <a:t>https://www.kaggle.com/datasets/kanchana1990/nasa-exoplanet-archive-intelligence</a:t>
            </a:r>
            <a:endParaRPr kumimoji="0" lang="en-US" sz="1200" b="0" i="1" u="none" strike="noStrike" kern="1200" cap="none" spc="0" normalizeH="0" baseline="0" noProof="0" dirty="0">
              <a:ln>
                <a:noFill/>
              </a:ln>
              <a:solidFill>
                <a:schemeClr val="bg1">
                  <a:lumMod val="65000"/>
                </a:schemeClr>
              </a:solidFill>
              <a:effectLst/>
              <a:uLnTx/>
              <a:uFillTx/>
              <a:latin typeface="Calibri" panose="020F0502020204030204"/>
              <a:ea typeface="+mn-ea"/>
              <a:cs typeface="+mn-cs"/>
            </a:endParaRPr>
          </a:p>
        </p:txBody>
      </p:sp>
      <p:sp>
        <p:nvSpPr>
          <p:cNvPr id="10" name="Shape 8"/>
          <p:cNvSpPr/>
          <p:nvPr/>
        </p:nvSpPr>
        <p:spPr>
          <a:xfrm>
            <a:off x="660400" y="5080000"/>
            <a:ext cx="177800" cy="177800"/>
          </a:xfrm>
          <a:prstGeom prst="diamond">
            <a:avLst/>
          </a:prstGeom>
          <a:solidFill>
            <a:srgbClr val="005C82"/>
          </a:solidFill>
          <a:ln/>
        </p:spPr>
        <p:txBody>
          <a:bodyPr/>
          <a:lstStyle/>
          <a:p>
            <a:endParaRPr/>
          </a:p>
        </p:txBody>
      </p:sp>
      <p:sp>
        <p:nvSpPr>
          <p:cNvPr id="11" name="Text 9"/>
          <p:cNvSpPr/>
          <p:nvPr/>
        </p:nvSpPr>
        <p:spPr>
          <a:xfrm>
            <a:off x="1016000" y="5003800"/>
            <a:ext cx="5080000" cy="355600"/>
          </a:xfrm>
          <a:prstGeom prst="rect">
            <a:avLst/>
          </a:prstGeom>
          <a:noFill/>
          <a:ln/>
        </p:spPr>
        <p:txBody>
          <a:bodyPr wrap="none" lIns="0" tIns="0" rIns="0" bIns="0" rtlCol="0" anchor="t"/>
          <a:lstStyle/>
          <a:p>
            <a:pPr algn="l">
              <a:lnSpc>
                <a:spcPct val="120000"/>
              </a:lnSpc>
            </a:pPr>
            <a:r>
              <a:rPr lang="en-US" sz="1800" b="1" dirty="0">
                <a:solidFill>
                  <a:srgbClr val="333333"/>
                </a:solidFill>
                <a:latin typeface="Quattrocento Sans" pitchFamily="34" charset="0"/>
                <a:ea typeface="Quattrocento Sans" pitchFamily="34" charset="-122"/>
                <a:cs typeface="Quattrocento Sans" pitchFamily="34" charset="-120"/>
              </a:rPr>
              <a:t>Roberto Pio Selvaggi</a:t>
            </a:r>
            <a:endParaRPr lang="en-US" sz="1800" dirty="0"/>
          </a:p>
        </p:txBody>
      </p:sp>
      <p:sp>
        <p:nvSpPr>
          <p:cNvPr id="12" name="Shape 10"/>
          <p:cNvSpPr/>
          <p:nvPr/>
        </p:nvSpPr>
        <p:spPr>
          <a:xfrm>
            <a:off x="660400" y="5588000"/>
            <a:ext cx="177800" cy="177800"/>
          </a:xfrm>
          <a:prstGeom prst="diamond">
            <a:avLst/>
          </a:prstGeom>
          <a:solidFill>
            <a:srgbClr val="005C82"/>
          </a:solidFill>
          <a:ln/>
        </p:spPr>
        <p:txBody>
          <a:bodyPr/>
          <a:lstStyle/>
          <a:p>
            <a:endParaRPr/>
          </a:p>
        </p:txBody>
      </p:sp>
      <p:sp>
        <p:nvSpPr>
          <p:cNvPr id="13" name="Text 11"/>
          <p:cNvSpPr/>
          <p:nvPr/>
        </p:nvSpPr>
        <p:spPr>
          <a:xfrm>
            <a:off x="1016000" y="5511800"/>
            <a:ext cx="6350000" cy="355600"/>
          </a:xfrm>
          <a:prstGeom prst="rect">
            <a:avLst/>
          </a:prstGeom>
          <a:noFill/>
          <a:ln/>
        </p:spPr>
        <p:txBody>
          <a:bodyPr wrap="none" lIns="0" tIns="0" rIns="0" bIns="0" rtlCol="0" anchor="t"/>
          <a:lstStyle/>
          <a:p>
            <a:pPr algn="l">
              <a:lnSpc>
                <a:spcPct val="120000"/>
              </a:lnSpc>
            </a:pPr>
            <a:r>
              <a:rPr lang="en-US" sz="1800" dirty="0">
                <a:solidFill>
                  <a:srgbClr val="333333"/>
                </a:solidFill>
                <a:latin typeface="Quattrocento Sans" pitchFamily="34" charset="0"/>
                <a:ea typeface="Quattrocento Sans" pitchFamily="34" charset="-122"/>
                <a:cs typeface="Quattrocento Sans" pitchFamily="34" charset="-120"/>
              </a:rPr>
              <a:t>Corso di Machine Learning</a:t>
            </a:r>
            <a:endParaRPr lang="en-US" sz="1800" dirty="0"/>
          </a:p>
        </p:txBody>
      </p:sp>
      <p:sp>
        <p:nvSpPr>
          <p:cNvPr id="14" name="Shape 12"/>
          <p:cNvSpPr/>
          <p:nvPr/>
        </p:nvSpPr>
        <p:spPr>
          <a:xfrm>
            <a:off x="660400" y="6096000"/>
            <a:ext cx="177800" cy="177800"/>
          </a:xfrm>
          <a:prstGeom prst="diamond">
            <a:avLst/>
          </a:prstGeom>
          <a:solidFill>
            <a:srgbClr val="007AA8"/>
          </a:solidFill>
          <a:ln/>
        </p:spPr>
        <p:txBody>
          <a:bodyPr/>
          <a:lstStyle/>
          <a:p>
            <a:endParaRPr/>
          </a:p>
        </p:txBody>
      </p:sp>
      <p:sp>
        <p:nvSpPr>
          <p:cNvPr id="15" name="Text 13"/>
          <p:cNvSpPr/>
          <p:nvPr/>
        </p:nvSpPr>
        <p:spPr>
          <a:xfrm>
            <a:off x="1016000" y="6019800"/>
            <a:ext cx="7620000" cy="355600"/>
          </a:xfrm>
          <a:prstGeom prst="rect">
            <a:avLst/>
          </a:prstGeom>
          <a:noFill/>
          <a:ln/>
        </p:spPr>
        <p:txBody>
          <a:bodyPr wrap="none" lIns="0" tIns="0" rIns="0" bIns="0" rtlCol="0" anchor="t"/>
          <a:lstStyle/>
          <a:p>
            <a:pPr algn="l">
              <a:lnSpc>
                <a:spcPct val="120000"/>
              </a:lnSpc>
            </a:pPr>
            <a:r>
              <a:rPr lang="en-US" sz="1600" dirty="0">
                <a:solidFill>
                  <a:srgbClr val="555555"/>
                </a:solidFill>
                <a:latin typeface="Quattrocento Sans" pitchFamily="34" charset="0"/>
                <a:ea typeface="Quattrocento Sans" pitchFamily="34" charset="-122"/>
                <a:cs typeface="Quattrocento Sans" pitchFamily="34" charset="-120"/>
              </a:rPr>
              <a:t>Dipartimento di Informatica</a:t>
            </a:r>
            <a:endParaRPr lang="en-US" sz="1600" dirty="0"/>
          </a:p>
        </p:txBody>
      </p:sp>
      <p:sp>
        <p:nvSpPr>
          <p:cNvPr id="16" name="Shape 14"/>
          <p:cNvSpPr/>
          <p:nvPr/>
        </p:nvSpPr>
        <p:spPr>
          <a:xfrm>
            <a:off x="660400" y="6604000"/>
            <a:ext cx="177800" cy="177800"/>
          </a:xfrm>
          <a:prstGeom prst="diamond">
            <a:avLst/>
          </a:prstGeom>
          <a:solidFill>
            <a:srgbClr val="B0BEC5"/>
          </a:solidFill>
          <a:ln/>
        </p:spPr>
        <p:txBody>
          <a:bodyPr/>
          <a:lstStyle/>
          <a:p>
            <a:endParaRPr/>
          </a:p>
        </p:txBody>
      </p:sp>
      <p:sp>
        <p:nvSpPr>
          <p:cNvPr id="17" name="Text 15"/>
          <p:cNvSpPr/>
          <p:nvPr/>
        </p:nvSpPr>
        <p:spPr>
          <a:xfrm>
            <a:off x="1016000" y="6527800"/>
            <a:ext cx="5080000" cy="355600"/>
          </a:xfrm>
          <a:prstGeom prst="rect">
            <a:avLst/>
          </a:prstGeom>
          <a:noFill/>
          <a:ln/>
        </p:spPr>
        <p:txBody>
          <a:bodyPr wrap="none" lIns="0" tIns="0" rIns="0" bIns="0" rtlCol="0" anchor="t"/>
          <a:lstStyle/>
          <a:p>
            <a:pPr algn="l">
              <a:lnSpc>
                <a:spcPct val="120000"/>
              </a:lnSpc>
            </a:pPr>
            <a:r>
              <a:rPr lang="en-US" sz="1400" dirty="0">
                <a:solidFill>
                  <a:srgbClr val="888888"/>
                </a:solidFill>
                <a:latin typeface="Quattrocento Sans" pitchFamily="34" charset="0"/>
                <a:ea typeface="Quattrocento Sans" pitchFamily="34" charset="-122"/>
                <a:cs typeface="Quattrocento Sans" pitchFamily="34" charset="-120"/>
              </a:rPr>
              <a:t>A.A. 2025/2026</a:t>
            </a:r>
            <a:endParaRPr lang="en-US" sz="1400" dirty="0"/>
          </a:p>
        </p:txBody>
      </p:sp>
      <p:sp>
        <p:nvSpPr>
          <p:cNvPr id="18" name="Shape 16"/>
          <p:cNvSpPr/>
          <p:nvPr/>
        </p:nvSpPr>
        <p:spPr>
          <a:xfrm>
            <a:off x="12316178" y="5082821"/>
            <a:ext cx="3556000" cy="3445933"/>
          </a:xfrm>
          <a:prstGeom prst="rect">
            <a:avLst/>
          </a:prstGeom>
          <a:solidFill>
            <a:srgbClr val="005C82">
              <a:alpha val="3137"/>
            </a:srgbClr>
          </a:solidFill>
          <a:ln w="12700">
            <a:solidFill>
              <a:srgbClr val="005C82"/>
            </a:solidFill>
            <a:prstDash val="solid"/>
          </a:ln>
        </p:spPr>
        <p:txBody>
          <a:bodyPr/>
          <a:lstStyle/>
          <a:p>
            <a:endParaRPr/>
          </a:p>
        </p:txBody>
      </p:sp>
      <p:sp>
        <p:nvSpPr>
          <p:cNvPr id="19" name="Shape 17"/>
          <p:cNvSpPr/>
          <p:nvPr/>
        </p:nvSpPr>
        <p:spPr>
          <a:xfrm>
            <a:off x="12700000" y="5461000"/>
            <a:ext cx="2540000" cy="2540000"/>
          </a:xfrm>
          <a:prstGeom prst="rect">
            <a:avLst/>
          </a:prstGeom>
          <a:solidFill>
            <a:srgbClr val="005C82">
              <a:alpha val="1961"/>
            </a:srgbClr>
          </a:solidFill>
          <a:ln w="12700">
            <a:solidFill>
              <a:srgbClr val="005C82"/>
            </a:solidFill>
            <a:prstDash val="solid"/>
          </a:ln>
        </p:spPr>
        <p:txBody>
          <a:bodyPr/>
          <a:lstStyle/>
          <a:p>
            <a:endParaRPr/>
          </a:p>
        </p:txBody>
      </p:sp>
      <p:sp>
        <p:nvSpPr>
          <p:cNvPr id="20" name="Shape 18"/>
          <p:cNvSpPr/>
          <p:nvPr/>
        </p:nvSpPr>
        <p:spPr>
          <a:xfrm>
            <a:off x="13208000" y="5969000"/>
            <a:ext cx="1524000" cy="1524000"/>
          </a:xfrm>
          <a:prstGeom prst="rect">
            <a:avLst/>
          </a:prstGeom>
          <a:solidFill>
            <a:srgbClr val="005C82">
              <a:alpha val="3922"/>
            </a:srgbClr>
          </a:solidFill>
          <a:ln w="12700">
            <a:solidFill>
              <a:srgbClr val="005C82"/>
            </a:solidFill>
            <a:prstDash val="solid"/>
          </a:ln>
        </p:spPr>
        <p:txBody>
          <a:bodyPr/>
          <a:lstStyle/>
          <a:p>
            <a:endParaRPr/>
          </a:p>
        </p:txBody>
      </p:sp>
      <p:pic>
        <p:nvPicPr>
          <p:cNvPr id="22" name="Immagine 21">
            <a:extLst>
              <a:ext uri="{FF2B5EF4-FFF2-40B4-BE49-F238E27FC236}">
                <a16:creationId xmlns:a16="http://schemas.microsoft.com/office/drawing/2014/main" id="{FAFDEAF8-B226-6D47-FEA5-2BFC45A1F849}"/>
              </a:ext>
            </a:extLst>
          </p:cNvPr>
          <p:cNvPicPr>
            <a:picLocks noChangeAspect="1"/>
          </p:cNvPicPr>
          <p:nvPr/>
        </p:nvPicPr>
        <p:blipFill>
          <a:blip r:embed="rId3"/>
          <a:stretch>
            <a:fillRect/>
          </a:stretch>
        </p:blipFill>
        <p:spPr>
          <a:xfrm>
            <a:off x="9776178" y="4823177"/>
            <a:ext cx="5847644" cy="3556000"/>
          </a:xfrm>
          <a:prstGeom prst="rect">
            <a:avLst/>
          </a:prstGeom>
          <a:ln>
            <a:noFill/>
          </a:ln>
          <a:effectLst>
            <a:softEdge rad="112500"/>
          </a:effectLst>
        </p:spPr>
      </p:pic>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AFE"/>
        </a:solidFill>
        <a:effectLst/>
      </p:bgPr>
    </p:bg>
    <p:spTree>
      <p:nvGrpSpPr>
        <p:cNvPr id="1" name=""/>
        <p:cNvGrpSpPr/>
        <p:nvPr/>
      </p:nvGrpSpPr>
      <p:grpSpPr>
        <a:xfrm>
          <a:off x="0" y="0"/>
          <a:ext cx="0" cy="0"/>
          <a:chOff x="0" y="0"/>
          <a:chExt cx="0" cy="0"/>
        </a:xfrm>
      </p:grpSpPr>
      <p:sp>
        <p:nvSpPr>
          <p:cNvPr id="2" name="Shape 0"/>
          <p:cNvSpPr/>
          <p:nvPr/>
        </p:nvSpPr>
        <p:spPr>
          <a:xfrm>
            <a:off x="0" y="0"/>
            <a:ext cx="4826000" cy="9144000"/>
          </a:xfrm>
          <a:prstGeom prst="rect">
            <a:avLst/>
          </a:prstGeom>
          <a:gradFill flip="none" rotWithShape="1">
            <a:gsLst>
              <a:gs pos="0">
                <a:srgbClr val="004060"/>
              </a:gs>
              <a:gs pos="100000">
                <a:srgbClr val="005C82"/>
              </a:gs>
            </a:gsLst>
            <a:lin ang="10800000" scaled="1"/>
          </a:gradFill>
          <a:ln/>
        </p:spPr>
        <p:txBody>
          <a:bodyPr/>
          <a:lstStyle/>
          <a:p>
            <a:endParaRPr/>
          </a:p>
        </p:txBody>
      </p:sp>
      <p:sp>
        <p:nvSpPr>
          <p:cNvPr id="3" name="Text 1"/>
          <p:cNvSpPr/>
          <p:nvPr/>
        </p:nvSpPr>
        <p:spPr>
          <a:xfrm>
            <a:off x="0" y="4826000"/>
            <a:ext cx="4826000" cy="2032000"/>
          </a:xfrm>
          <a:prstGeom prst="rect">
            <a:avLst/>
          </a:prstGeom>
          <a:noFill/>
          <a:ln/>
        </p:spPr>
        <p:txBody>
          <a:bodyPr wrap="none" lIns="0" tIns="0" rIns="0" bIns="0" rtlCol="0" anchor="ctr"/>
          <a:lstStyle/>
          <a:p>
            <a:pPr algn="l">
              <a:lnSpc>
                <a:spcPct val="120000"/>
              </a:lnSpc>
            </a:pPr>
            <a:endParaRPr lang="en-US" sz="7200" dirty="0"/>
          </a:p>
        </p:txBody>
      </p:sp>
      <p:sp>
        <p:nvSpPr>
          <p:cNvPr id="4" name="Shape 2"/>
          <p:cNvSpPr/>
          <p:nvPr/>
        </p:nvSpPr>
        <p:spPr>
          <a:xfrm>
            <a:off x="381000" y="381000"/>
            <a:ext cx="508000" cy="508000"/>
          </a:xfrm>
          <a:prstGeom prst="ellipse">
            <a:avLst/>
          </a:prstGeom>
          <a:solidFill>
            <a:srgbClr val="FFFFFF">
              <a:alpha val="12549"/>
            </a:srgbClr>
          </a:solidFill>
          <a:ln w="12700">
            <a:solidFill>
              <a:srgbClr val="00ACC1"/>
            </a:solidFill>
            <a:prstDash val="solid"/>
          </a:ln>
        </p:spPr>
        <p:txBody>
          <a:bodyPr/>
          <a:lstStyle/>
          <a:p>
            <a:endParaRPr/>
          </a:p>
        </p:txBody>
      </p:sp>
      <p:sp>
        <p:nvSpPr>
          <p:cNvPr id="5" name="Text 3"/>
          <p:cNvSpPr/>
          <p:nvPr/>
        </p:nvSpPr>
        <p:spPr>
          <a:xfrm>
            <a:off x="381000" y="3556000"/>
            <a:ext cx="4064000" cy="762000"/>
          </a:xfrm>
          <a:prstGeom prst="rect">
            <a:avLst/>
          </a:prstGeom>
          <a:noFill/>
          <a:ln/>
        </p:spPr>
        <p:txBody>
          <a:bodyPr wrap="none" lIns="0" tIns="0" rIns="0" bIns="0" rtlCol="0" anchor="ctr"/>
          <a:lstStyle/>
          <a:p>
            <a:pPr algn="l">
              <a:lnSpc>
                <a:spcPct val="120000"/>
              </a:lnSpc>
            </a:pPr>
            <a:r>
              <a:rPr lang="en-US" sz="4600" b="1" dirty="0">
                <a:solidFill>
                  <a:srgbClr val="FFFFFF"/>
                </a:solidFill>
                <a:latin typeface="Quattrocento Sans" pitchFamily="34" charset="0"/>
                <a:ea typeface="Quattrocento Sans" pitchFamily="34" charset="-122"/>
                <a:cs typeface="Quattrocento Sans" pitchFamily="34" charset="-120"/>
              </a:rPr>
              <a:t>Outline</a:t>
            </a:r>
            <a:endParaRPr lang="en-US" sz="4600" dirty="0"/>
          </a:p>
        </p:txBody>
      </p:sp>
      <p:sp>
        <p:nvSpPr>
          <p:cNvPr id="6" name="Text 4"/>
          <p:cNvSpPr/>
          <p:nvPr/>
        </p:nvSpPr>
        <p:spPr>
          <a:xfrm>
            <a:off x="381000" y="4394200"/>
            <a:ext cx="4064000" cy="304800"/>
          </a:xfrm>
          <a:prstGeom prst="rect">
            <a:avLst/>
          </a:prstGeom>
          <a:noFill/>
          <a:ln/>
        </p:spPr>
        <p:txBody>
          <a:bodyPr wrap="none" lIns="0" tIns="0" rIns="0" bIns="0" rtlCol="0" anchor="t"/>
          <a:lstStyle/>
          <a:p>
            <a:pPr algn="l">
              <a:lnSpc>
                <a:spcPct val="120000"/>
              </a:lnSpc>
            </a:pPr>
            <a:r>
              <a:rPr lang="en-US" sz="1400" kern="0" spc="300" dirty="0">
                <a:solidFill>
                  <a:srgbClr val="00ACC1"/>
                </a:solidFill>
                <a:latin typeface="Quattrocento Sans" pitchFamily="34" charset="0"/>
                <a:ea typeface="Quattrocento Sans" pitchFamily="34" charset="-122"/>
                <a:cs typeface="Quattrocento Sans" pitchFamily="34" charset="-120"/>
              </a:rPr>
              <a:t>CONTENTS</a:t>
            </a:r>
            <a:endParaRPr lang="en-US" sz="1400" dirty="0"/>
          </a:p>
        </p:txBody>
      </p:sp>
      <p:sp>
        <p:nvSpPr>
          <p:cNvPr id="7" name="Shape 5"/>
          <p:cNvSpPr/>
          <p:nvPr/>
        </p:nvSpPr>
        <p:spPr>
          <a:xfrm>
            <a:off x="381000" y="3454400"/>
            <a:ext cx="1016000" cy="25400"/>
          </a:xfrm>
          <a:prstGeom prst="rect">
            <a:avLst/>
          </a:prstGeom>
          <a:solidFill>
            <a:srgbClr val="00ACC1"/>
          </a:solidFill>
          <a:ln/>
        </p:spPr>
        <p:txBody>
          <a:bodyPr/>
          <a:lstStyle/>
          <a:p>
            <a:endParaRPr/>
          </a:p>
        </p:txBody>
      </p:sp>
      <p:sp>
        <p:nvSpPr>
          <p:cNvPr id="8" name="Shape 6"/>
          <p:cNvSpPr/>
          <p:nvPr/>
        </p:nvSpPr>
        <p:spPr>
          <a:xfrm>
            <a:off x="5257800" y="1524000"/>
            <a:ext cx="177800" cy="177800"/>
          </a:xfrm>
          <a:prstGeom prst="diamond">
            <a:avLst/>
          </a:prstGeom>
          <a:solidFill>
            <a:srgbClr val="005C82"/>
          </a:solidFill>
          <a:ln/>
        </p:spPr>
        <p:txBody>
          <a:bodyPr/>
          <a:lstStyle/>
          <a:p>
            <a:endParaRPr/>
          </a:p>
        </p:txBody>
      </p:sp>
      <p:sp>
        <p:nvSpPr>
          <p:cNvPr id="9" name="Text 7"/>
          <p:cNvSpPr/>
          <p:nvPr/>
        </p:nvSpPr>
        <p:spPr>
          <a:xfrm>
            <a:off x="5588000" y="1397000"/>
            <a:ext cx="8890000" cy="355600"/>
          </a:xfrm>
          <a:prstGeom prst="rect">
            <a:avLst/>
          </a:prstGeom>
          <a:noFill/>
          <a:ln/>
        </p:spPr>
        <p:txBody>
          <a:bodyPr wrap="none" lIns="0" tIns="0" rIns="0" bIns="0" rtlCol="0" anchor="ctr"/>
          <a:lstStyle/>
          <a:p>
            <a:pPr algn="l">
              <a:lnSpc>
                <a:spcPct val="120000"/>
              </a:lnSpc>
            </a:pPr>
            <a:r>
              <a:rPr lang="en-US" sz="2400" b="1" dirty="0">
                <a:solidFill>
                  <a:srgbClr val="333333"/>
                </a:solidFill>
                <a:latin typeface="Quattrocento Sans" pitchFamily="34" charset="0"/>
                <a:ea typeface="Quattrocento Sans" pitchFamily="34" charset="-122"/>
                <a:cs typeface="Quattrocento Sans" pitchFamily="34" charset="-120"/>
              </a:rPr>
              <a:t>Introduction &amp; Problem Statement</a:t>
            </a:r>
            <a:endParaRPr lang="en-US" sz="2400" dirty="0"/>
          </a:p>
        </p:txBody>
      </p:sp>
      <p:sp>
        <p:nvSpPr>
          <p:cNvPr id="10" name="Text 8"/>
          <p:cNvSpPr/>
          <p:nvPr/>
        </p:nvSpPr>
        <p:spPr>
          <a:xfrm>
            <a:off x="5588000" y="1790700"/>
            <a:ext cx="8890000" cy="254000"/>
          </a:xfrm>
          <a:prstGeom prst="rect">
            <a:avLst/>
          </a:prstGeom>
          <a:noFill/>
          <a:ln/>
        </p:spPr>
        <p:txBody>
          <a:bodyPr wrap="none" lIns="0" tIns="0" rIns="0" bIns="0" rtlCol="0" anchor="t"/>
          <a:lstStyle/>
          <a:p>
            <a:pPr algn="l">
              <a:lnSpc>
                <a:spcPct val="120000"/>
              </a:lnSpc>
            </a:pPr>
            <a:r>
              <a:rPr lang="en-US" sz="1400" dirty="0">
                <a:solidFill>
                  <a:srgbClr val="B0BEC5"/>
                </a:solidFill>
                <a:latin typeface="Quattrocento Sans" pitchFamily="34" charset="0"/>
                <a:ea typeface="Quattrocento Sans" pitchFamily="34" charset="-122"/>
                <a:cs typeface="Quattrocento Sans" pitchFamily="34" charset="-120"/>
              </a:rPr>
              <a:t>Motivation, research questions, and contributions</a:t>
            </a:r>
            <a:endParaRPr lang="en-US" sz="1400" dirty="0"/>
          </a:p>
        </p:txBody>
      </p:sp>
      <p:sp>
        <p:nvSpPr>
          <p:cNvPr id="11" name="Shape 9"/>
          <p:cNvSpPr/>
          <p:nvPr/>
        </p:nvSpPr>
        <p:spPr>
          <a:xfrm>
            <a:off x="5080000" y="2184400"/>
            <a:ext cx="10668000" cy="12700"/>
          </a:xfrm>
          <a:prstGeom prst="rect">
            <a:avLst/>
          </a:prstGeom>
          <a:solidFill>
            <a:srgbClr val="E0F4FA"/>
          </a:solidFill>
          <a:ln/>
        </p:spPr>
        <p:txBody>
          <a:bodyPr/>
          <a:lstStyle/>
          <a:p>
            <a:endParaRPr/>
          </a:p>
        </p:txBody>
      </p:sp>
      <p:sp>
        <p:nvSpPr>
          <p:cNvPr id="12" name="Shape 10"/>
          <p:cNvSpPr/>
          <p:nvPr/>
        </p:nvSpPr>
        <p:spPr>
          <a:xfrm>
            <a:off x="5257800" y="2514600"/>
            <a:ext cx="177800" cy="177800"/>
          </a:xfrm>
          <a:prstGeom prst="diamond">
            <a:avLst/>
          </a:prstGeom>
          <a:solidFill>
            <a:srgbClr val="005C82"/>
          </a:solidFill>
          <a:ln/>
        </p:spPr>
        <p:txBody>
          <a:bodyPr/>
          <a:lstStyle/>
          <a:p>
            <a:endParaRPr/>
          </a:p>
        </p:txBody>
      </p:sp>
      <p:sp>
        <p:nvSpPr>
          <p:cNvPr id="13" name="Text 11"/>
          <p:cNvSpPr/>
          <p:nvPr/>
        </p:nvSpPr>
        <p:spPr>
          <a:xfrm>
            <a:off x="5588000" y="2387600"/>
            <a:ext cx="8890000" cy="355600"/>
          </a:xfrm>
          <a:prstGeom prst="rect">
            <a:avLst/>
          </a:prstGeom>
          <a:noFill/>
          <a:ln/>
        </p:spPr>
        <p:txBody>
          <a:bodyPr wrap="none" lIns="0" tIns="0" rIns="0" bIns="0" rtlCol="0" anchor="ctr"/>
          <a:lstStyle/>
          <a:p>
            <a:pPr algn="l">
              <a:lnSpc>
                <a:spcPct val="120000"/>
              </a:lnSpc>
            </a:pPr>
            <a:r>
              <a:rPr lang="en-US" sz="2400" b="1" dirty="0">
                <a:solidFill>
                  <a:srgbClr val="333333"/>
                </a:solidFill>
                <a:latin typeface="Quattrocento Sans" pitchFamily="34" charset="0"/>
                <a:ea typeface="Quattrocento Sans" pitchFamily="34" charset="-122"/>
                <a:cs typeface="Quattrocento Sans" pitchFamily="34" charset="-120"/>
              </a:rPr>
              <a:t>Dataset &amp; Methodology</a:t>
            </a:r>
            <a:endParaRPr lang="en-US" sz="2400" dirty="0"/>
          </a:p>
        </p:txBody>
      </p:sp>
      <p:sp>
        <p:nvSpPr>
          <p:cNvPr id="14" name="Text 12"/>
          <p:cNvSpPr/>
          <p:nvPr/>
        </p:nvSpPr>
        <p:spPr>
          <a:xfrm>
            <a:off x="5588000" y="2781300"/>
            <a:ext cx="8890000" cy="254000"/>
          </a:xfrm>
          <a:prstGeom prst="rect">
            <a:avLst/>
          </a:prstGeom>
          <a:noFill/>
          <a:ln/>
        </p:spPr>
        <p:txBody>
          <a:bodyPr wrap="none" lIns="0" tIns="0" rIns="0" bIns="0" rtlCol="0" anchor="t"/>
          <a:lstStyle/>
          <a:p>
            <a:pPr algn="l">
              <a:lnSpc>
                <a:spcPct val="120000"/>
              </a:lnSpc>
            </a:pPr>
            <a:r>
              <a:rPr lang="en-US" sz="1400" dirty="0">
                <a:solidFill>
                  <a:srgbClr val="B0BEC5"/>
                </a:solidFill>
                <a:latin typeface="Quattrocento Sans" pitchFamily="34" charset="0"/>
                <a:ea typeface="Quattrocento Sans" pitchFamily="34" charset="-122"/>
                <a:cs typeface="Quattrocento Sans" pitchFamily="34" charset="-120"/>
              </a:rPr>
              <a:t>Feature audit, preprocessing, and experimental design</a:t>
            </a:r>
            <a:endParaRPr lang="en-US" sz="1400" dirty="0"/>
          </a:p>
        </p:txBody>
      </p:sp>
      <p:sp>
        <p:nvSpPr>
          <p:cNvPr id="15" name="Shape 13"/>
          <p:cNvSpPr/>
          <p:nvPr/>
        </p:nvSpPr>
        <p:spPr>
          <a:xfrm>
            <a:off x="5080000" y="3175000"/>
            <a:ext cx="10668000" cy="12700"/>
          </a:xfrm>
          <a:prstGeom prst="rect">
            <a:avLst/>
          </a:prstGeom>
          <a:solidFill>
            <a:srgbClr val="E0F4FA"/>
          </a:solidFill>
          <a:ln/>
        </p:spPr>
        <p:txBody>
          <a:bodyPr/>
          <a:lstStyle/>
          <a:p>
            <a:endParaRPr/>
          </a:p>
        </p:txBody>
      </p:sp>
      <p:sp>
        <p:nvSpPr>
          <p:cNvPr id="16" name="Shape 14"/>
          <p:cNvSpPr/>
          <p:nvPr/>
        </p:nvSpPr>
        <p:spPr>
          <a:xfrm>
            <a:off x="5257800" y="3505200"/>
            <a:ext cx="177800" cy="177800"/>
          </a:xfrm>
          <a:prstGeom prst="diamond">
            <a:avLst/>
          </a:prstGeom>
          <a:solidFill>
            <a:srgbClr val="005C82"/>
          </a:solidFill>
          <a:ln/>
        </p:spPr>
        <p:txBody>
          <a:bodyPr/>
          <a:lstStyle/>
          <a:p>
            <a:endParaRPr/>
          </a:p>
        </p:txBody>
      </p:sp>
      <p:sp>
        <p:nvSpPr>
          <p:cNvPr id="17" name="Text 15"/>
          <p:cNvSpPr/>
          <p:nvPr/>
        </p:nvSpPr>
        <p:spPr>
          <a:xfrm>
            <a:off x="5588000" y="3378200"/>
            <a:ext cx="8890000" cy="355600"/>
          </a:xfrm>
          <a:prstGeom prst="rect">
            <a:avLst/>
          </a:prstGeom>
          <a:noFill/>
          <a:ln/>
        </p:spPr>
        <p:txBody>
          <a:bodyPr wrap="none" lIns="0" tIns="0" rIns="0" bIns="0" rtlCol="0" anchor="ctr"/>
          <a:lstStyle/>
          <a:p>
            <a:pPr algn="l">
              <a:lnSpc>
                <a:spcPct val="120000"/>
              </a:lnSpc>
            </a:pPr>
            <a:r>
              <a:rPr lang="en-US" sz="2400" b="1" dirty="0">
                <a:solidFill>
                  <a:srgbClr val="333333"/>
                </a:solidFill>
                <a:latin typeface="Quattrocento Sans" pitchFamily="34" charset="0"/>
                <a:ea typeface="Quattrocento Sans" pitchFamily="34" charset="-122"/>
                <a:cs typeface="Quattrocento Sans" pitchFamily="34" charset="-120"/>
              </a:rPr>
              <a:t>Unsupervised Clustering</a:t>
            </a:r>
            <a:endParaRPr lang="en-US" sz="2400" dirty="0"/>
          </a:p>
        </p:txBody>
      </p:sp>
      <p:sp>
        <p:nvSpPr>
          <p:cNvPr id="18" name="Text 16"/>
          <p:cNvSpPr/>
          <p:nvPr/>
        </p:nvSpPr>
        <p:spPr>
          <a:xfrm>
            <a:off x="5588000" y="3771900"/>
            <a:ext cx="8890000" cy="254000"/>
          </a:xfrm>
          <a:prstGeom prst="rect">
            <a:avLst/>
          </a:prstGeom>
          <a:noFill/>
          <a:ln/>
        </p:spPr>
        <p:txBody>
          <a:bodyPr wrap="none" lIns="0" tIns="0" rIns="0" bIns="0" rtlCol="0" anchor="t"/>
          <a:lstStyle/>
          <a:p>
            <a:pPr algn="l">
              <a:lnSpc>
                <a:spcPct val="120000"/>
              </a:lnSpc>
            </a:pPr>
            <a:r>
              <a:rPr lang="en-US" sz="1400" dirty="0">
                <a:solidFill>
                  <a:srgbClr val="B0BEC5"/>
                </a:solidFill>
                <a:latin typeface="Quattrocento Sans" pitchFamily="34" charset="0"/>
                <a:ea typeface="Quattrocento Sans" pitchFamily="34" charset="-122"/>
                <a:cs typeface="Quattrocento Sans" pitchFamily="34" charset="-120"/>
              </a:rPr>
              <a:t>K-Means, hierarchical methods, and cluster interpretation</a:t>
            </a:r>
            <a:endParaRPr lang="en-US" sz="1400" dirty="0"/>
          </a:p>
        </p:txBody>
      </p:sp>
      <p:sp>
        <p:nvSpPr>
          <p:cNvPr id="19" name="Shape 17"/>
          <p:cNvSpPr/>
          <p:nvPr/>
        </p:nvSpPr>
        <p:spPr>
          <a:xfrm>
            <a:off x="5080000" y="4165600"/>
            <a:ext cx="10668000" cy="12700"/>
          </a:xfrm>
          <a:prstGeom prst="rect">
            <a:avLst/>
          </a:prstGeom>
          <a:solidFill>
            <a:srgbClr val="E0F4FA"/>
          </a:solidFill>
          <a:ln/>
        </p:spPr>
        <p:txBody>
          <a:bodyPr/>
          <a:lstStyle/>
          <a:p>
            <a:endParaRPr/>
          </a:p>
        </p:txBody>
      </p:sp>
      <p:sp>
        <p:nvSpPr>
          <p:cNvPr id="20" name="Shape 18"/>
          <p:cNvSpPr/>
          <p:nvPr/>
        </p:nvSpPr>
        <p:spPr>
          <a:xfrm>
            <a:off x="5257800" y="4495800"/>
            <a:ext cx="177800" cy="177800"/>
          </a:xfrm>
          <a:prstGeom prst="diamond">
            <a:avLst/>
          </a:prstGeom>
          <a:solidFill>
            <a:srgbClr val="005C82"/>
          </a:solidFill>
          <a:ln/>
        </p:spPr>
        <p:txBody>
          <a:bodyPr/>
          <a:lstStyle/>
          <a:p>
            <a:endParaRPr/>
          </a:p>
        </p:txBody>
      </p:sp>
      <p:sp>
        <p:nvSpPr>
          <p:cNvPr id="21" name="Text 19"/>
          <p:cNvSpPr/>
          <p:nvPr/>
        </p:nvSpPr>
        <p:spPr>
          <a:xfrm>
            <a:off x="5588000" y="4368800"/>
            <a:ext cx="8890000" cy="355600"/>
          </a:xfrm>
          <a:prstGeom prst="rect">
            <a:avLst/>
          </a:prstGeom>
          <a:noFill/>
          <a:ln/>
        </p:spPr>
        <p:txBody>
          <a:bodyPr wrap="none" lIns="0" tIns="0" rIns="0" bIns="0" rtlCol="0" anchor="ctr"/>
          <a:lstStyle/>
          <a:p>
            <a:pPr algn="l">
              <a:lnSpc>
                <a:spcPct val="120000"/>
              </a:lnSpc>
            </a:pPr>
            <a:r>
              <a:rPr lang="en-US" sz="2400" b="1" dirty="0">
                <a:solidFill>
                  <a:srgbClr val="333333"/>
                </a:solidFill>
                <a:latin typeface="Quattrocento Sans" pitchFamily="34" charset="0"/>
                <a:ea typeface="Quattrocento Sans" pitchFamily="34" charset="-122"/>
                <a:cs typeface="Quattrocento Sans" pitchFamily="34" charset="-120"/>
              </a:rPr>
              <a:t>Supervised Classification</a:t>
            </a:r>
            <a:endParaRPr lang="en-US" sz="2400" dirty="0"/>
          </a:p>
        </p:txBody>
      </p:sp>
      <p:sp>
        <p:nvSpPr>
          <p:cNvPr id="22" name="Text 20"/>
          <p:cNvSpPr/>
          <p:nvPr/>
        </p:nvSpPr>
        <p:spPr>
          <a:xfrm>
            <a:off x="5588000" y="4762500"/>
            <a:ext cx="8890000" cy="254000"/>
          </a:xfrm>
          <a:prstGeom prst="rect">
            <a:avLst/>
          </a:prstGeom>
          <a:noFill/>
          <a:ln/>
        </p:spPr>
        <p:txBody>
          <a:bodyPr wrap="none" lIns="0" tIns="0" rIns="0" bIns="0" rtlCol="0" anchor="t"/>
          <a:lstStyle/>
          <a:p>
            <a:pPr algn="l">
              <a:lnSpc>
                <a:spcPct val="120000"/>
              </a:lnSpc>
            </a:pPr>
            <a:r>
              <a:rPr lang="en-US" sz="1400" dirty="0">
                <a:solidFill>
                  <a:srgbClr val="B0BEC5"/>
                </a:solidFill>
                <a:latin typeface="Quattrocento Sans" pitchFamily="34" charset="0"/>
                <a:ea typeface="Quattrocento Sans" pitchFamily="34" charset="-122"/>
                <a:cs typeface="Quattrocento Sans" pitchFamily="34" charset="-120"/>
              </a:rPr>
              <a:t>Leakage-aware ablation study of planet type classification</a:t>
            </a:r>
            <a:endParaRPr lang="en-US" sz="1400" dirty="0"/>
          </a:p>
        </p:txBody>
      </p:sp>
      <p:sp>
        <p:nvSpPr>
          <p:cNvPr id="23" name="Shape 21"/>
          <p:cNvSpPr/>
          <p:nvPr/>
        </p:nvSpPr>
        <p:spPr>
          <a:xfrm>
            <a:off x="5080000" y="5156200"/>
            <a:ext cx="10668000" cy="12700"/>
          </a:xfrm>
          <a:prstGeom prst="rect">
            <a:avLst/>
          </a:prstGeom>
          <a:solidFill>
            <a:srgbClr val="E0F4FA"/>
          </a:solidFill>
          <a:ln/>
        </p:spPr>
        <p:txBody>
          <a:bodyPr/>
          <a:lstStyle/>
          <a:p>
            <a:endParaRPr/>
          </a:p>
        </p:txBody>
      </p:sp>
      <p:sp>
        <p:nvSpPr>
          <p:cNvPr id="24" name="Shape 22"/>
          <p:cNvSpPr/>
          <p:nvPr/>
        </p:nvSpPr>
        <p:spPr>
          <a:xfrm>
            <a:off x="5257800" y="5486400"/>
            <a:ext cx="177800" cy="177800"/>
          </a:xfrm>
          <a:prstGeom prst="diamond">
            <a:avLst/>
          </a:prstGeom>
          <a:solidFill>
            <a:srgbClr val="005C82"/>
          </a:solidFill>
          <a:ln/>
        </p:spPr>
        <p:txBody>
          <a:bodyPr/>
          <a:lstStyle/>
          <a:p>
            <a:endParaRPr/>
          </a:p>
        </p:txBody>
      </p:sp>
      <p:sp>
        <p:nvSpPr>
          <p:cNvPr id="25" name="Text 23"/>
          <p:cNvSpPr/>
          <p:nvPr/>
        </p:nvSpPr>
        <p:spPr>
          <a:xfrm>
            <a:off x="5588000" y="5359400"/>
            <a:ext cx="8890000" cy="355600"/>
          </a:xfrm>
          <a:prstGeom prst="rect">
            <a:avLst/>
          </a:prstGeom>
          <a:noFill/>
          <a:ln/>
        </p:spPr>
        <p:txBody>
          <a:bodyPr wrap="none" lIns="0" tIns="0" rIns="0" bIns="0" rtlCol="0" anchor="ctr"/>
          <a:lstStyle/>
          <a:p>
            <a:pPr algn="l">
              <a:lnSpc>
                <a:spcPct val="120000"/>
              </a:lnSpc>
            </a:pPr>
            <a:r>
              <a:rPr lang="en-US" sz="2400" b="1" dirty="0">
                <a:solidFill>
                  <a:srgbClr val="333333"/>
                </a:solidFill>
                <a:latin typeface="Quattrocento Sans" pitchFamily="34" charset="0"/>
                <a:ea typeface="Quattrocento Sans" pitchFamily="34" charset="-122"/>
                <a:cs typeface="Quattrocento Sans" pitchFamily="34" charset="-120"/>
              </a:rPr>
              <a:t>Discussion &amp; Conclusions</a:t>
            </a:r>
            <a:endParaRPr lang="en-US" sz="2400" dirty="0"/>
          </a:p>
        </p:txBody>
      </p:sp>
      <p:sp>
        <p:nvSpPr>
          <p:cNvPr id="26" name="Text 24"/>
          <p:cNvSpPr/>
          <p:nvPr/>
        </p:nvSpPr>
        <p:spPr>
          <a:xfrm>
            <a:off x="5588000" y="5753100"/>
            <a:ext cx="8890000" cy="254000"/>
          </a:xfrm>
          <a:prstGeom prst="rect">
            <a:avLst/>
          </a:prstGeom>
          <a:noFill/>
          <a:ln/>
        </p:spPr>
        <p:txBody>
          <a:bodyPr wrap="none" lIns="0" tIns="0" rIns="0" bIns="0" rtlCol="0" anchor="t"/>
          <a:lstStyle/>
          <a:p>
            <a:pPr algn="l">
              <a:lnSpc>
                <a:spcPct val="120000"/>
              </a:lnSpc>
            </a:pPr>
            <a:r>
              <a:rPr lang="en-US" sz="1400" dirty="0">
                <a:solidFill>
                  <a:srgbClr val="B0BEC5"/>
                </a:solidFill>
                <a:latin typeface="Quattrocento Sans" pitchFamily="34" charset="0"/>
                <a:ea typeface="Quattrocento Sans" pitchFamily="34" charset="-122"/>
                <a:cs typeface="Quattrocento Sans" pitchFamily="34" charset="-120"/>
              </a:rPr>
              <a:t>Key findings, limitations, and methodological takeaways</a:t>
            </a:r>
            <a:endParaRPr lang="en-US" sz="1400" dirty="0"/>
          </a:p>
        </p:txBody>
      </p:sp>
      <p:sp>
        <p:nvSpPr>
          <p:cNvPr id="27" name="Text 25"/>
          <p:cNvSpPr/>
          <p:nvPr/>
        </p:nvSpPr>
        <p:spPr>
          <a:xfrm>
            <a:off x="15240000" y="8636000"/>
            <a:ext cx="635000" cy="304800"/>
          </a:xfrm>
          <a:prstGeom prst="rect">
            <a:avLst/>
          </a:prstGeom>
          <a:noFill/>
          <a:ln/>
        </p:spPr>
        <p:txBody>
          <a:bodyPr wrap="square" lIns="0" tIns="0" rIns="0" bIns="0" rtlCol="0" anchor="ctr"/>
          <a:lstStyle/>
          <a:p>
            <a:r>
              <a:t>2</a:t>
            </a: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2286000" cy="9144000"/>
          </a:xfrm>
          <a:prstGeom prst="rect">
            <a:avLst/>
          </a:prstGeom>
          <a:solidFill>
            <a:srgbClr val="004060"/>
          </a:solidFill>
          <a:ln/>
        </p:spPr>
        <p:txBody>
          <a:bodyPr/>
          <a:lstStyle/>
          <a:p>
            <a:endParaRPr/>
          </a:p>
        </p:txBody>
      </p:sp>
      <p:sp>
        <p:nvSpPr>
          <p:cNvPr id="3" name="Shape 1"/>
          <p:cNvSpPr/>
          <p:nvPr/>
        </p:nvSpPr>
        <p:spPr>
          <a:xfrm>
            <a:off x="177800" y="177800"/>
            <a:ext cx="457200" cy="457200"/>
          </a:xfrm>
          <a:prstGeom prst="ellipse">
            <a:avLst/>
          </a:prstGeom>
          <a:solidFill>
            <a:srgbClr val="FFFFFF">
              <a:alpha val="12549"/>
            </a:srgbClr>
          </a:solidFill>
          <a:ln w="12700">
            <a:solidFill>
              <a:srgbClr val="00ACC1"/>
            </a:solidFill>
            <a:prstDash val="solid"/>
          </a:ln>
        </p:spPr>
        <p:txBody>
          <a:bodyPr/>
          <a:lstStyle/>
          <a:p>
            <a:endParaRPr/>
          </a:p>
        </p:txBody>
      </p:sp>
      <p:sp>
        <p:nvSpPr>
          <p:cNvPr id="4" name="Shape 2"/>
          <p:cNvSpPr/>
          <p:nvPr/>
        </p:nvSpPr>
        <p:spPr>
          <a:xfrm>
            <a:off x="0" y="1016000"/>
            <a:ext cx="2286000" cy="1168400"/>
          </a:xfrm>
          <a:prstGeom prst="rect">
            <a:avLst/>
          </a:prstGeom>
          <a:solidFill>
            <a:srgbClr val="005C82"/>
          </a:solidFill>
          <a:ln/>
        </p:spPr>
        <p:txBody>
          <a:bodyPr/>
          <a:lstStyle/>
          <a:p>
            <a:endParaRPr/>
          </a:p>
        </p:txBody>
      </p:sp>
      <p:sp>
        <p:nvSpPr>
          <p:cNvPr id="5" name="Text 3"/>
          <p:cNvSpPr/>
          <p:nvPr/>
        </p:nvSpPr>
        <p:spPr>
          <a:xfrm>
            <a:off x="101600" y="1016000"/>
            <a:ext cx="2082800" cy="1168400"/>
          </a:xfrm>
          <a:prstGeom prst="rect">
            <a:avLst/>
          </a:prstGeom>
          <a:noFill/>
          <a:ln/>
        </p:spPr>
        <p:txBody>
          <a:bodyPr wrap="none" lIns="0" tIns="0" rIns="0" bIns="0" rtlCol="0" anchor="ctr"/>
          <a:lstStyle/>
          <a:p>
            <a:pPr algn="l">
              <a:lnSpc>
                <a:spcPct val="120000"/>
              </a:lnSpc>
            </a:pPr>
            <a:r>
              <a:rPr lang="en-US" sz="1800" b="1" dirty="0">
                <a:solidFill>
                  <a:srgbClr val="FFFFFF"/>
                </a:solidFill>
                <a:latin typeface="Quattrocento Sans" pitchFamily="34" charset="0"/>
                <a:ea typeface="Quattrocento Sans" pitchFamily="34" charset="-122"/>
                <a:cs typeface="Quattrocento Sans" pitchFamily="34" charset="-120"/>
              </a:rPr>
              <a:t>01 Intro</a:t>
            </a:r>
            <a:endParaRPr lang="en-US" sz="1800" dirty="0"/>
          </a:p>
        </p:txBody>
      </p:sp>
      <p:sp>
        <p:nvSpPr>
          <p:cNvPr id="6" name="Text 4"/>
          <p:cNvSpPr/>
          <p:nvPr/>
        </p:nvSpPr>
        <p:spPr>
          <a:xfrm>
            <a:off x="101600" y="21844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02 Dataset</a:t>
            </a:r>
            <a:endParaRPr lang="en-US" sz="1600" dirty="0"/>
          </a:p>
        </p:txBody>
      </p:sp>
      <p:sp>
        <p:nvSpPr>
          <p:cNvPr id="7" name="Text 5"/>
          <p:cNvSpPr/>
          <p:nvPr/>
        </p:nvSpPr>
        <p:spPr>
          <a:xfrm>
            <a:off x="101600" y="33528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03 Clustering</a:t>
            </a:r>
            <a:endParaRPr lang="en-US" sz="1600" dirty="0"/>
          </a:p>
        </p:txBody>
      </p:sp>
      <p:sp>
        <p:nvSpPr>
          <p:cNvPr id="8" name="Text 6"/>
          <p:cNvSpPr/>
          <p:nvPr/>
        </p:nvSpPr>
        <p:spPr>
          <a:xfrm>
            <a:off x="101600" y="45212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04 Supervised</a:t>
            </a:r>
            <a:endParaRPr lang="en-US" sz="1600" dirty="0"/>
          </a:p>
        </p:txBody>
      </p:sp>
      <p:sp>
        <p:nvSpPr>
          <p:cNvPr id="9" name="Text 7"/>
          <p:cNvSpPr/>
          <p:nvPr/>
        </p:nvSpPr>
        <p:spPr>
          <a:xfrm>
            <a:off x="101600" y="56896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05 Conclusions</a:t>
            </a:r>
            <a:endParaRPr lang="en-US" sz="1600" dirty="0"/>
          </a:p>
        </p:txBody>
      </p:sp>
      <p:sp>
        <p:nvSpPr>
          <p:cNvPr id="10" name="Shape 8"/>
          <p:cNvSpPr/>
          <p:nvPr/>
        </p:nvSpPr>
        <p:spPr>
          <a:xfrm>
            <a:off x="1066800" y="7493000"/>
            <a:ext cx="152400" cy="152400"/>
          </a:xfrm>
          <a:prstGeom prst="diamond">
            <a:avLst/>
          </a:prstGeom>
          <a:solidFill>
            <a:srgbClr val="00ACC1"/>
          </a:solidFill>
          <a:ln/>
        </p:spPr>
        <p:txBody>
          <a:bodyPr/>
          <a:lstStyle/>
          <a:p>
            <a:endParaRPr/>
          </a:p>
        </p:txBody>
      </p:sp>
      <p:sp>
        <p:nvSpPr>
          <p:cNvPr id="11" name="Shape 9"/>
          <p:cNvSpPr/>
          <p:nvPr/>
        </p:nvSpPr>
        <p:spPr>
          <a:xfrm>
            <a:off x="2286000" y="0"/>
            <a:ext cx="13970000" cy="635000"/>
          </a:xfrm>
          <a:prstGeom prst="rect">
            <a:avLst/>
          </a:prstGeom>
          <a:solidFill>
            <a:srgbClr val="E0F4FA"/>
          </a:solidFill>
          <a:ln/>
        </p:spPr>
        <p:txBody>
          <a:bodyPr/>
          <a:lstStyle/>
          <a:p>
            <a:endParaRPr/>
          </a:p>
        </p:txBody>
      </p:sp>
      <p:sp>
        <p:nvSpPr>
          <p:cNvPr id="12" name="Text 10"/>
          <p:cNvSpPr/>
          <p:nvPr/>
        </p:nvSpPr>
        <p:spPr>
          <a:xfrm>
            <a:off x="2540000" y="0"/>
            <a:ext cx="12827000" cy="635000"/>
          </a:xfrm>
          <a:prstGeom prst="rect">
            <a:avLst/>
          </a:prstGeom>
          <a:noFill/>
          <a:ln/>
        </p:spPr>
        <p:txBody>
          <a:bodyPr wrap="none" lIns="0" tIns="0" rIns="0" bIns="0" rtlCol="0" anchor="ctr"/>
          <a:lstStyle/>
          <a:p>
            <a:pPr algn="l">
              <a:lnSpc>
                <a:spcPct val="120000"/>
              </a:lnSpc>
            </a:pPr>
            <a:r>
              <a:rPr sz="1400" b="1">
                <a:solidFill>
                  <a:srgbClr val="005C82"/>
                </a:solidFill>
                <a:latin typeface="Quattrocento Sans"/>
              </a:rPr>
              <a:t>01 Introduction  &gt;  1.0  What Are Exoplanets?</a:t>
            </a:r>
            <a:endParaRPr lang="en-US" sz="1400" dirty="0"/>
          </a:p>
        </p:txBody>
      </p:sp>
      <p:sp>
        <p:nvSpPr>
          <p:cNvPr id="13" name="Text 11"/>
          <p:cNvSpPr/>
          <p:nvPr/>
        </p:nvSpPr>
        <p:spPr>
          <a:xfrm>
            <a:off x="15621000" y="0"/>
            <a:ext cx="635000" cy="635000"/>
          </a:xfrm>
          <a:prstGeom prst="rect">
            <a:avLst/>
          </a:prstGeom>
          <a:noFill/>
          <a:ln/>
        </p:spPr>
        <p:txBody>
          <a:bodyPr wrap="square" lIns="0" tIns="0" rIns="0" bIns="0" rtlCol="0" anchor="ctr"/>
          <a:lstStyle/>
          <a:p>
            <a:r>
              <a:t>3</a:t>
            </a:r>
          </a:p>
        </p:txBody>
      </p:sp>
      <p:sp>
        <p:nvSpPr>
          <p:cNvPr id="14" name="Text 12"/>
          <p:cNvSpPr/>
          <p:nvPr/>
        </p:nvSpPr>
        <p:spPr>
          <a:xfrm>
            <a:off x="2540000" y="863600"/>
            <a:ext cx="13208000" cy="457200"/>
          </a:xfrm>
          <a:prstGeom prst="rect">
            <a:avLst/>
          </a:prstGeom>
          <a:noFill/>
          <a:ln/>
        </p:spPr>
        <p:txBody>
          <a:bodyPr wrap="none" lIns="0" tIns="0" rIns="0" bIns="0" rtlCol="0" anchor="t"/>
          <a:lstStyle/>
          <a:p>
            <a:pPr algn="l">
              <a:lnSpc>
                <a:spcPct val="120000"/>
              </a:lnSpc>
            </a:pPr>
            <a:r>
              <a:rPr sz="2400" b="1">
                <a:solidFill>
                  <a:srgbClr val="005C82"/>
                </a:solidFill>
                <a:latin typeface="Quattrocento Sans"/>
              </a:rPr>
              <a:t>What Are Exoplanets?</a:t>
            </a:r>
            <a:endParaRPr lang="en-US" sz="2400" dirty="0"/>
          </a:p>
        </p:txBody>
      </p:sp>
      <p:sp>
        <p:nvSpPr>
          <p:cNvPr id="15" name="Shape 13"/>
          <p:cNvSpPr/>
          <p:nvPr/>
        </p:nvSpPr>
        <p:spPr>
          <a:xfrm>
            <a:off x="2540000" y="1397000"/>
            <a:ext cx="13208000" cy="12700"/>
          </a:xfrm>
          <a:prstGeom prst="rect">
            <a:avLst/>
          </a:prstGeom>
          <a:solidFill>
            <a:srgbClr val="B0BEC5"/>
          </a:solidFill>
          <a:ln/>
        </p:spPr>
        <p:txBody>
          <a:bodyPr/>
          <a:lstStyle/>
          <a:p>
            <a:endParaRPr/>
          </a:p>
        </p:txBody>
      </p:sp>
      <p:sp>
        <p:nvSpPr>
          <p:cNvPr id="16" name="Shape 14"/>
          <p:cNvSpPr/>
          <p:nvPr/>
        </p:nvSpPr>
        <p:spPr>
          <a:xfrm>
            <a:off x="2540000" y="1676400"/>
            <a:ext cx="177800" cy="177800"/>
          </a:xfrm>
          <a:prstGeom prst="diamond">
            <a:avLst/>
          </a:prstGeom>
          <a:solidFill>
            <a:srgbClr val="005C82"/>
          </a:solidFill>
          <a:ln/>
        </p:spPr>
        <p:txBody>
          <a:bodyPr/>
          <a:lstStyle/>
          <a:p>
            <a:endParaRPr/>
          </a:p>
        </p:txBody>
      </p:sp>
      <p:sp>
        <p:nvSpPr>
          <p:cNvPr id="17" name="Text 15"/>
          <p:cNvSpPr/>
          <p:nvPr/>
        </p:nvSpPr>
        <p:spPr>
          <a:xfrm>
            <a:off x="2870200" y="1600200"/>
            <a:ext cx="13081000" cy="355600"/>
          </a:xfrm>
          <a:prstGeom prst="rect">
            <a:avLst/>
          </a:prstGeom>
          <a:noFill/>
          <a:ln/>
        </p:spPr>
        <p:txBody>
          <a:bodyPr wrap="none" lIns="0" tIns="0" rIns="0" bIns="0" rtlCol="0" anchor="t"/>
          <a:lstStyle/>
          <a:p>
            <a:pPr algn="l">
              <a:lnSpc>
                <a:spcPct val="120000"/>
              </a:lnSpc>
            </a:pPr>
            <a:r>
              <a:rPr sz="2000" b="1">
                <a:solidFill>
                  <a:srgbClr val="005C82"/>
                </a:solidFill>
                <a:latin typeface="Quattrocento Sans"/>
              </a:rPr>
              <a:t>Definition</a:t>
            </a:r>
            <a:endParaRPr lang="en-US" sz="2000" dirty="0"/>
          </a:p>
        </p:txBody>
      </p:sp>
      <p:sp>
        <p:nvSpPr>
          <p:cNvPr id="18" name="Text 16"/>
          <p:cNvSpPr/>
          <p:nvPr/>
        </p:nvSpPr>
        <p:spPr>
          <a:xfrm>
            <a:off x="2870200" y="2006600"/>
            <a:ext cx="13081000" cy="889000"/>
          </a:xfrm>
          <a:prstGeom prst="rect">
            <a:avLst/>
          </a:prstGeom>
          <a:noFill/>
          <a:ln/>
        </p:spPr>
        <p:txBody>
          <a:bodyPr wrap="square" lIns="0" tIns="0" rIns="0" bIns="0" rtlCol="0" anchor="t"/>
          <a:lstStyle/>
          <a:p>
            <a:pPr algn="l">
              <a:lnSpc>
                <a:spcPct val="150000"/>
              </a:lnSpc>
            </a:pPr>
            <a:r>
              <a:rPr sz="1700">
                <a:solidFill>
                  <a:srgbClr val="333333"/>
                </a:solidFill>
                <a:latin typeface="Quattrocento Sans"/>
              </a:rPr>
              <a:t>Exoplanets are planets outside our Solar System. They orbit stars other than the Sun and span a wide range of sizes, masses, orbital periods, and physical environments.</a:t>
            </a:r>
            <a:endParaRPr lang="en-US" sz="1700" dirty="0"/>
          </a:p>
        </p:txBody>
      </p:sp>
      <p:sp>
        <p:nvSpPr>
          <p:cNvPr id="19" name="Shape 17"/>
          <p:cNvSpPr/>
          <p:nvPr/>
        </p:nvSpPr>
        <p:spPr>
          <a:xfrm>
            <a:off x="2540000" y="2895600"/>
            <a:ext cx="13208000" cy="12700"/>
          </a:xfrm>
          <a:prstGeom prst="rect">
            <a:avLst/>
          </a:prstGeom>
          <a:solidFill>
            <a:srgbClr val="E0F4FA"/>
          </a:solidFill>
          <a:ln/>
        </p:spPr>
        <p:txBody>
          <a:bodyPr/>
          <a:lstStyle/>
          <a:p>
            <a:endParaRPr/>
          </a:p>
        </p:txBody>
      </p:sp>
      <p:sp>
        <p:nvSpPr>
          <p:cNvPr id="20" name="Shape 18"/>
          <p:cNvSpPr/>
          <p:nvPr/>
        </p:nvSpPr>
        <p:spPr>
          <a:xfrm>
            <a:off x="2540000" y="3200400"/>
            <a:ext cx="177800" cy="177800"/>
          </a:xfrm>
          <a:prstGeom prst="diamond">
            <a:avLst/>
          </a:prstGeom>
          <a:solidFill>
            <a:srgbClr val="005C82"/>
          </a:solidFill>
          <a:ln/>
        </p:spPr>
        <p:txBody>
          <a:bodyPr/>
          <a:lstStyle/>
          <a:p>
            <a:endParaRPr/>
          </a:p>
        </p:txBody>
      </p:sp>
      <p:sp>
        <p:nvSpPr>
          <p:cNvPr id="21" name="Text 19"/>
          <p:cNvSpPr/>
          <p:nvPr/>
        </p:nvSpPr>
        <p:spPr>
          <a:xfrm>
            <a:off x="2870200" y="3124200"/>
            <a:ext cx="13081000" cy="355600"/>
          </a:xfrm>
          <a:prstGeom prst="rect">
            <a:avLst/>
          </a:prstGeom>
          <a:noFill/>
          <a:ln/>
        </p:spPr>
        <p:txBody>
          <a:bodyPr wrap="none" lIns="0" tIns="0" rIns="0" bIns="0" rtlCol="0" anchor="t"/>
          <a:lstStyle/>
          <a:p>
            <a:pPr algn="l">
              <a:lnSpc>
                <a:spcPct val="120000"/>
              </a:lnSpc>
            </a:pPr>
            <a:r>
              <a:rPr sz="2000" b="1">
                <a:solidFill>
                  <a:srgbClr val="005C82"/>
                </a:solidFill>
                <a:latin typeface="Quattrocento Sans"/>
              </a:rPr>
              <a:t>How They Are Detected</a:t>
            </a:r>
            <a:endParaRPr lang="en-US" sz="2000" dirty="0"/>
          </a:p>
        </p:txBody>
      </p:sp>
      <p:sp>
        <p:nvSpPr>
          <p:cNvPr id="22" name="Text 20"/>
          <p:cNvSpPr/>
          <p:nvPr/>
        </p:nvSpPr>
        <p:spPr>
          <a:xfrm>
            <a:off x="2870200" y="3530600"/>
            <a:ext cx="13081000" cy="889000"/>
          </a:xfrm>
          <a:prstGeom prst="rect">
            <a:avLst/>
          </a:prstGeom>
          <a:noFill/>
          <a:ln/>
        </p:spPr>
        <p:txBody>
          <a:bodyPr wrap="square" lIns="0" tIns="0" rIns="0" bIns="0" rtlCol="0" anchor="t"/>
          <a:lstStyle/>
          <a:p>
            <a:pPr algn="l">
              <a:lnSpc>
                <a:spcPct val="140000"/>
              </a:lnSpc>
            </a:pPr>
            <a:r>
              <a:rPr sz="1600">
                <a:solidFill>
                  <a:srgbClr val="333333"/>
                </a:solidFill>
                <a:latin typeface="Quattrocento Sans"/>
              </a:rPr>
              <a:t>Major detection methods include transit photometry, radial velocity, direct imaging, microlensing, and timing techniques. These methods generate heterogeneous catalogues with different levels of completeness and uncertainty.</a:t>
            </a:r>
            <a:endParaRPr lang="en-US" sz="1600" dirty="0"/>
          </a:p>
        </p:txBody>
      </p:sp>
      <p:sp>
        <p:nvSpPr>
          <p:cNvPr id="23" name="Shape 21"/>
          <p:cNvSpPr/>
          <p:nvPr/>
        </p:nvSpPr>
        <p:spPr>
          <a:xfrm>
            <a:off x="2540000" y="4419600"/>
            <a:ext cx="13208000" cy="12700"/>
          </a:xfrm>
          <a:prstGeom prst="rect">
            <a:avLst/>
          </a:prstGeom>
          <a:solidFill>
            <a:srgbClr val="E0F4FA"/>
          </a:solidFill>
          <a:ln/>
        </p:spPr>
        <p:txBody>
          <a:bodyPr/>
          <a:lstStyle/>
          <a:p>
            <a:endParaRPr/>
          </a:p>
        </p:txBody>
      </p:sp>
      <p:sp>
        <p:nvSpPr>
          <p:cNvPr id="24" name="Shape 22"/>
          <p:cNvSpPr/>
          <p:nvPr/>
        </p:nvSpPr>
        <p:spPr>
          <a:xfrm>
            <a:off x="2540000" y="4724400"/>
            <a:ext cx="177800" cy="177800"/>
          </a:xfrm>
          <a:prstGeom prst="diamond">
            <a:avLst/>
          </a:prstGeom>
          <a:solidFill>
            <a:srgbClr val="007AA8"/>
          </a:solidFill>
          <a:ln/>
        </p:spPr>
        <p:txBody>
          <a:bodyPr/>
          <a:lstStyle/>
          <a:p>
            <a:endParaRPr/>
          </a:p>
        </p:txBody>
      </p:sp>
      <p:sp>
        <p:nvSpPr>
          <p:cNvPr id="25" name="Text 23"/>
          <p:cNvSpPr/>
          <p:nvPr/>
        </p:nvSpPr>
        <p:spPr>
          <a:xfrm>
            <a:off x="2870200" y="4648200"/>
            <a:ext cx="13081000" cy="355600"/>
          </a:xfrm>
          <a:prstGeom prst="rect">
            <a:avLst/>
          </a:prstGeom>
          <a:noFill/>
          <a:ln/>
        </p:spPr>
        <p:txBody>
          <a:bodyPr wrap="none" lIns="0" tIns="0" rIns="0" bIns="0" rtlCol="0" anchor="t"/>
          <a:lstStyle/>
          <a:p>
            <a:pPr algn="l">
              <a:lnSpc>
                <a:spcPct val="120000"/>
              </a:lnSpc>
            </a:pPr>
            <a:r>
              <a:rPr sz="2000" b="1">
                <a:solidFill>
                  <a:srgbClr val="005C82"/>
                </a:solidFill>
                <a:latin typeface="Quattrocento Sans"/>
              </a:rPr>
              <a:t>Why They Matter for Machine Learning</a:t>
            </a:r>
            <a:endParaRPr lang="en-US" sz="2000" dirty="0"/>
          </a:p>
        </p:txBody>
      </p:sp>
      <p:sp>
        <p:nvSpPr>
          <p:cNvPr id="26" name="Text 24"/>
          <p:cNvSpPr/>
          <p:nvPr/>
        </p:nvSpPr>
        <p:spPr>
          <a:xfrm>
            <a:off x="2870200" y="5054600"/>
            <a:ext cx="13081000" cy="889000"/>
          </a:xfrm>
          <a:prstGeom prst="rect">
            <a:avLst/>
          </a:prstGeom>
          <a:noFill/>
          <a:ln/>
        </p:spPr>
        <p:txBody>
          <a:bodyPr wrap="square" lIns="0" tIns="0" rIns="0" bIns="0" rtlCol="0" anchor="t"/>
          <a:lstStyle/>
          <a:p>
            <a:pPr algn="l">
              <a:lnSpc>
                <a:spcPct val="150000"/>
              </a:lnSpc>
            </a:pPr>
            <a:r>
              <a:rPr sz="1700">
                <a:solidFill>
                  <a:srgbClr val="333333"/>
                </a:solidFill>
                <a:latin typeface="Quattrocento Sans"/>
              </a:rPr>
              <a:t>Exoplanet catalogues combine physical, orbital, stellar, and observational information. This makes them useful for exploratory analysis, but also risky because some categorical labels are derived from the same quantities used as model features.</a:t>
            </a:r>
            <a:endParaRPr lang="en-US" sz="1700" dirty="0"/>
          </a:p>
        </p:txBody>
      </p:sp>
      <p:sp>
        <p:nvSpPr>
          <p:cNvPr id="27" name="Shape 25"/>
          <p:cNvSpPr/>
          <p:nvPr/>
        </p:nvSpPr>
        <p:spPr>
          <a:xfrm>
            <a:off x="2540000" y="5943600"/>
            <a:ext cx="13208000" cy="12700"/>
          </a:xfrm>
          <a:prstGeom prst="rect">
            <a:avLst/>
          </a:prstGeom>
          <a:solidFill>
            <a:srgbClr val="E0F4FA"/>
          </a:solidFill>
          <a:ln/>
        </p:spPr>
        <p:txBody>
          <a:bodyPr/>
          <a:lstStyle/>
          <a:p>
            <a:endParaRPr/>
          </a:p>
        </p:txBody>
      </p:sp>
      <p:sp>
        <p:nvSpPr>
          <p:cNvPr id="28" name="Shape 26"/>
          <p:cNvSpPr/>
          <p:nvPr/>
        </p:nvSpPr>
        <p:spPr>
          <a:xfrm>
            <a:off x="2540000" y="6248400"/>
            <a:ext cx="177800" cy="177800"/>
          </a:xfrm>
          <a:prstGeom prst="diamond">
            <a:avLst/>
          </a:prstGeom>
          <a:solidFill>
            <a:srgbClr val="00ACC1"/>
          </a:solidFill>
          <a:ln/>
        </p:spPr>
        <p:txBody>
          <a:bodyPr/>
          <a:lstStyle/>
          <a:p>
            <a:endParaRPr/>
          </a:p>
        </p:txBody>
      </p:sp>
      <p:sp>
        <p:nvSpPr>
          <p:cNvPr id="29" name="Text 27"/>
          <p:cNvSpPr/>
          <p:nvPr/>
        </p:nvSpPr>
        <p:spPr>
          <a:xfrm>
            <a:off x="2870200" y="6172200"/>
            <a:ext cx="13081000" cy="355600"/>
          </a:xfrm>
          <a:prstGeom prst="rect">
            <a:avLst/>
          </a:prstGeom>
          <a:noFill/>
          <a:ln/>
        </p:spPr>
        <p:txBody>
          <a:bodyPr wrap="none" lIns="0" tIns="0" rIns="0" bIns="0" rtlCol="0" anchor="t"/>
          <a:lstStyle/>
          <a:p>
            <a:pPr algn="l">
              <a:lnSpc>
                <a:spcPct val="120000"/>
              </a:lnSpc>
            </a:pPr>
            <a:r>
              <a:rPr sz="2000" b="1">
                <a:solidFill>
                  <a:srgbClr val="005C82"/>
                </a:solidFill>
                <a:latin typeface="Quattrocento Sans"/>
              </a:rPr>
              <a:t>In This Project</a:t>
            </a:r>
            <a:endParaRPr lang="en-US" sz="2000" dirty="0"/>
          </a:p>
        </p:txBody>
      </p:sp>
      <p:sp>
        <p:nvSpPr>
          <p:cNvPr id="30" name="Text 28"/>
          <p:cNvSpPr/>
          <p:nvPr/>
        </p:nvSpPr>
        <p:spPr>
          <a:xfrm>
            <a:off x="2870200" y="6578600"/>
            <a:ext cx="13081000" cy="889000"/>
          </a:xfrm>
          <a:prstGeom prst="rect">
            <a:avLst/>
          </a:prstGeom>
          <a:noFill/>
          <a:ln/>
        </p:spPr>
        <p:txBody>
          <a:bodyPr wrap="square" lIns="0" tIns="0" rIns="0" bIns="0" rtlCol="0" anchor="t"/>
          <a:lstStyle/>
          <a:p>
            <a:pPr algn="l">
              <a:lnSpc>
                <a:spcPct val="150000"/>
              </a:lnSpc>
            </a:pPr>
            <a:r>
              <a:rPr sz="1700" dirty="0">
                <a:solidFill>
                  <a:srgbClr val="333333"/>
                </a:solidFill>
                <a:latin typeface="Quattrocento Sans"/>
              </a:rPr>
              <a:t>The goal is </a:t>
            </a:r>
            <a:r>
              <a:rPr lang="it-IT" sz="1700" dirty="0">
                <a:solidFill>
                  <a:srgbClr val="333333"/>
                </a:solidFill>
                <a:latin typeface="Quattrocento Sans"/>
              </a:rPr>
              <a:t>to</a:t>
            </a:r>
            <a:r>
              <a:rPr sz="1700" dirty="0">
                <a:solidFill>
                  <a:srgbClr val="333333"/>
                </a:solidFill>
                <a:latin typeface="Quattrocento Sans"/>
              </a:rPr>
              <a:t> stud</a:t>
            </a:r>
            <a:r>
              <a:rPr lang="it-IT" sz="1700" dirty="0">
                <a:solidFill>
                  <a:srgbClr val="333333"/>
                </a:solidFill>
                <a:latin typeface="Quattrocento Sans"/>
              </a:rPr>
              <a:t>y</a:t>
            </a:r>
            <a:r>
              <a:rPr sz="1700" dirty="0">
                <a:solidFill>
                  <a:srgbClr val="333333"/>
                </a:solidFill>
                <a:latin typeface="Quattrocento Sans"/>
              </a:rPr>
              <a:t> whether exoplanets form meaningful groups and how much supervised </a:t>
            </a:r>
            <a:r>
              <a:rPr sz="1700" dirty="0" err="1">
                <a:solidFill>
                  <a:srgbClr val="333333"/>
                </a:solidFill>
                <a:latin typeface="Quattrocento Sans"/>
              </a:rPr>
              <a:t>planet_type</a:t>
            </a:r>
            <a:r>
              <a:rPr sz="1700" dirty="0">
                <a:solidFill>
                  <a:srgbClr val="333333"/>
                </a:solidFill>
                <a:latin typeface="Quattrocento Sans"/>
              </a:rPr>
              <a:t> classification depends on near-definitional features such as mass and radius.</a:t>
            </a:r>
            <a:endParaRPr lang="en-US" sz="1700" dirty="0"/>
          </a:p>
        </p:txBody>
      </p:sp>
      <p:sp>
        <p:nvSpPr>
          <p:cNvPr id="31" name="Shape 29"/>
          <p:cNvSpPr/>
          <p:nvPr/>
        </p:nvSpPr>
        <p:spPr>
          <a:xfrm>
            <a:off x="2540000" y="7620000"/>
            <a:ext cx="13208000" cy="762000"/>
          </a:xfrm>
          <a:prstGeom prst="rect">
            <a:avLst/>
          </a:prstGeom>
          <a:solidFill>
            <a:srgbClr val="005C82"/>
          </a:solidFill>
          <a:ln/>
        </p:spPr>
        <p:txBody>
          <a:bodyPr/>
          <a:lstStyle/>
          <a:p>
            <a:endParaRPr/>
          </a:p>
        </p:txBody>
      </p:sp>
      <p:sp>
        <p:nvSpPr>
          <p:cNvPr id="32" name="Shape 30"/>
          <p:cNvSpPr/>
          <p:nvPr/>
        </p:nvSpPr>
        <p:spPr>
          <a:xfrm>
            <a:off x="2717800" y="7886700"/>
            <a:ext cx="152400" cy="152400"/>
          </a:xfrm>
          <a:prstGeom prst="diamond">
            <a:avLst/>
          </a:prstGeom>
          <a:solidFill>
            <a:srgbClr val="00ACC1"/>
          </a:solidFill>
          <a:ln/>
        </p:spPr>
        <p:txBody>
          <a:bodyPr/>
          <a:lstStyle/>
          <a:p>
            <a:endParaRPr/>
          </a:p>
        </p:txBody>
      </p:sp>
      <p:sp>
        <p:nvSpPr>
          <p:cNvPr id="33" name="Text 31"/>
          <p:cNvSpPr/>
          <p:nvPr/>
        </p:nvSpPr>
        <p:spPr>
          <a:xfrm>
            <a:off x="3022600" y="7721600"/>
            <a:ext cx="12522200" cy="304800"/>
          </a:xfrm>
          <a:prstGeom prst="rect">
            <a:avLst/>
          </a:prstGeom>
          <a:noFill/>
          <a:ln/>
        </p:spPr>
        <p:txBody>
          <a:bodyPr wrap="square" lIns="0" tIns="0" rIns="0" bIns="0" rtlCol="0" anchor="ctr"/>
          <a:lstStyle/>
          <a:p>
            <a:pPr algn="l">
              <a:lnSpc>
                <a:spcPct val="120000"/>
              </a:lnSpc>
            </a:pP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4FAFE"/>
        </a:solidFill>
        <a:effectLst/>
      </p:bgPr>
    </p:bg>
    <p:spTree>
      <p:nvGrpSpPr>
        <p:cNvPr id="1" name=""/>
        <p:cNvGrpSpPr/>
        <p:nvPr/>
      </p:nvGrpSpPr>
      <p:grpSpPr>
        <a:xfrm>
          <a:off x="0" y="0"/>
          <a:ext cx="0" cy="0"/>
          <a:chOff x="0" y="0"/>
          <a:chExt cx="0" cy="0"/>
        </a:xfrm>
      </p:grpSpPr>
      <p:sp>
        <p:nvSpPr>
          <p:cNvPr id="2" name="Shape 0"/>
          <p:cNvSpPr/>
          <p:nvPr/>
        </p:nvSpPr>
        <p:spPr>
          <a:xfrm>
            <a:off x="2032000" y="1778000"/>
            <a:ext cx="4826000" cy="4826000"/>
          </a:xfrm>
          <a:prstGeom prst="rect">
            <a:avLst/>
          </a:prstGeom>
          <a:solidFill>
            <a:srgbClr val="005C82">
              <a:alpha val="3922"/>
            </a:srgbClr>
          </a:solidFill>
          <a:ln w="12700">
            <a:solidFill>
              <a:srgbClr val="005C82"/>
            </a:solidFill>
            <a:prstDash val="solid"/>
          </a:ln>
        </p:spPr>
        <p:txBody>
          <a:bodyPr/>
          <a:lstStyle/>
          <a:p>
            <a:endParaRPr/>
          </a:p>
        </p:txBody>
      </p:sp>
      <p:sp>
        <p:nvSpPr>
          <p:cNvPr id="3" name="Shape 1"/>
          <p:cNvSpPr/>
          <p:nvPr/>
        </p:nvSpPr>
        <p:spPr>
          <a:xfrm>
            <a:off x="2540000" y="2286000"/>
            <a:ext cx="3810000" cy="3810000"/>
          </a:xfrm>
          <a:prstGeom prst="rect">
            <a:avLst/>
          </a:prstGeom>
          <a:solidFill>
            <a:srgbClr val="005C82">
              <a:alpha val="3922"/>
            </a:srgbClr>
          </a:solidFill>
          <a:ln w="12700">
            <a:solidFill>
              <a:srgbClr val="005C82"/>
            </a:solidFill>
            <a:prstDash val="solid"/>
          </a:ln>
        </p:spPr>
        <p:txBody>
          <a:bodyPr/>
          <a:lstStyle/>
          <a:p>
            <a:endParaRPr/>
          </a:p>
        </p:txBody>
      </p:sp>
      <p:sp>
        <p:nvSpPr>
          <p:cNvPr id="4" name="Shape 2"/>
          <p:cNvSpPr/>
          <p:nvPr/>
        </p:nvSpPr>
        <p:spPr>
          <a:xfrm>
            <a:off x="3048000" y="2794000"/>
            <a:ext cx="2794000" cy="2794000"/>
          </a:xfrm>
          <a:prstGeom prst="rect">
            <a:avLst/>
          </a:prstGeom>
          <a:solidFill>
            <a:srgbClr val="FFFFFF"/>
          </a:solidFill>
          <a:ln w="12700">
            <a:solidFill>
              <a:srgbClr val="005C82"/>
            </a:solidFill>
            <a:prstDash val="solid"/>
          </a:ln>
        </p:spPr>
        <p:txBody>
          <a:bodyPr/>
          <a:lstStyle/>
          <a:p>
            <a:endParaRPr/>
          </a:p>
        </p:txBody>
      </p:sp>
      <p:sp>
        <p:nvSpPr>
          <p:cNvPr id="5" name="Text 3"/>
          <p:cNvSpPr/>
          <p:nvPr/>
        </p:nvSpPr>
        <p:spPr>
          <a:xfrm>
            <a:off x="3048000" y="2794000"/>
            <a:ext cx="2794000" cy="2794000"/>
          </a:xfrm>
          <a:prstGeom prst="rect">
            <a:avLst/>
          </a:prstGeom>
          <a:noFill/>
          <a:ln/>
        </p:spPr>
        <p:txBody>
          <a:bodyPr wrap="none" lIns="0" tIns="0" rIns="0" bIns="0" rtlCol="0" anchor="ctr"/>
          <a:lstStyle/>
          <a:p>
            <a:pPr algn="ctr">
              <a:lnSpc>
                <a:spcPct val="120000"/>
              </a:lnSpc>
            </a:pPr>
            <a:r>
              <a:rPr lang="en-US" sz="8000" b="1" dirty="0">
                <a:solidFill>
                  <a:srgbClr val="005C82"/>
                </a:solidFill>
                <a:latin typeface="Quattrocento Sans" pitchFamily="34" charset="0"/>
                <a:ea typeface="Quattrocento Sans" pitchFamily="34" charset="-122"/>
                <a:cs typeface="Quattrocento Sans" pitchFamily="34" charset="-120"/>
              </a:rPr>
              <a:t>01</a:t>
            </a:r>
            <a:endParaRPr lang="en-US" sz="8000" dirty="0"/>
          </a:p>
        </p:txBody>
      </p:sp>
      <p:sp>
        <p:nvSpPr>
          <p:cNvPr id="6" name="Shape 4"/>
          <p:cNvSpPr/>
          <p:nvPr/>
        </p:nvSpPr>
        <p:spPr>
          <a:xfrm>
            <a:off x="7620000" y="2794000"/>
            <a:ext cx="12700" cy="2794000"/>
          </a:xfrm>
          <a:prstGeom prst="rect">
            <a:avLst/>
          </a:prstGeom>
          <a:solidFill>
            <a:srgbClr val="B0BEC5"/>
          </a:solidFill>
          <a:ln/>
        </p:spPr>
        <p:txBody>
          <a:bodyPr/>
          <a:lstStyle/>
          <a:p>
            <a:endParaRPr/>
          </a:p>
        </p:txBody>
      </p:sp>
      <p:sp>
        <p:nvSpPr>
          <p:cNvPr id="7" name="Text 5"/>
          <p:cNvSpPr/>
          <p:nvPr/>
        </p:nvSpPr>
        <p:spPr>
          <a:xfrm>
            <a:off x="8128000" y="2921000"/>
            <a:ext cx="7112000" cy="304800"/>
          </a:xfrm>
          <a:prstGeom prst="rect">
            <a:avLst/>
          </a:prstGeom>
          <a:noFill/>
          <a:ln/>
        </p:spPr>
        <p:txBody>
          <a:bodyPr wrap="none" lIns="0" tIns="0" rIns="0" bIns="0" rtlCol="0" anchor="t"/>
          <a:lstStyle/>
          <a:p>
            <a:pPr algn="l">
              <a:lnSpc>
                <a:spcPct val="120000"/>
              </a:lnSpc>
            </a:pPr>
            <a:r>
              <a:rPr lang="en-US" sz="1400" kern="0" spc="400" dirty="0">
                <a:solidFill>
                  <a:srgbClr val="00ACC1"/>
                </a:solidFill>
                <a:latin typeface="Quattrocento Sans" pitchFamily="34" charset="0"/>
                <a:ea typeface="Quattrocento Sans" pitchFamily="34" charset="-122"/>
                <a:cs typeface="Quattrocento Sans" pitchFamily="34" charset="-120"/>
              </a:rPr>
              <a:t>CHAPTER ONE</a:t>
            </a:r>
            <a:endParaRPr lang="en-US" sz="1400" dirty="0"/>
          </a:p>
        </p:txBody>
      </p:sp>
      <p:sp>
        <p:nvSpPr>
          <p:cNvPr id="8" name="Text 6"/>
          <p:cNvSpPr/>
          <p:nvPr/>
        </p:nvSpPr>
        <p:spPr>
          <a:xfrm>
            <a:off x="8128000" y="3403600"/>
            <a:ext cx="7366000" cy="889000"/>
          </a:xfrm>
          <a:prstGeom prst="rect">
            <a:avLst/>
          </a:prstGeom>
          <a:noFill/>
          <a:ln/>
        </p:spPr>
        <p:txBody>
          <a:bodyPr wrap="none" lIns="0" tIns="0" rIns="0" bIns="0" rtlCol="0" anchor="ctr"/>
          <a:lstStyle/>
          <a:p>
            <a:pPr algn="l">
              <a:lnSpc>
                <a:spcPct val="120000"/>
              </a:lnSpc>
            </a:pPr>
            <a:r>
              <a:rPr lang="en-US" sz="3600" b="1" dirty="0">
                <a:solidFill>
                  <a:srgbClr val="005C82"/>
                </a:solidFill>
                <a:latin typeface="Quattrocento Sans" pitchFamily="34" charset="0"/>
                <a:ea typeface="Quattrocento Sans" pitchFamily="34" charset="-122"/>
                <a:cs typeface="Quattrocento Sans" pitchFamily="34" charset="-120"/>
              </a:rPr>
              <a:t>Introduction &amp; Problem Statement</a:t>
            </a:r>
            <a:endParaRPr lang="en-US" sz="3600" dirty="0"/>
          </a:p>
        </p:txBody>
      </p:sp>
      <p:sp>
        <p:nvSpPr>
          <p:cNvPr id="9" name="Text 7"/>
          <p:cNvSpPr/>
          <p:nvPr/>
        </p:nvSpPr>
        <p:spPr>
          <a:xfrm>
            <a:off x="8128000" y="4419600"/>
            <a:ext cx="7366000" cy="355600"/>
          </a:xfrm>
          <a:prstGeom prst="rect">
            <a:avLst/>
          </a:prstGeom>
          <a:noFill/>
          <a:ln/>
        </p:spPr>
        <p:txBody>
          <a:bodyPr wrap="none" lIns="0" tIns="0" rIns="0" bIns="0" rtlCol="0" anchor="t"/>
          <a:lstStyle/>
          <a:p>
            <a:pPr algn="l">
              <a:lnSpc>
                <a:spcPct val="120000"/>
              </a:lnSpc>
            </a:pPr>
            <a:r>
              <a:rPr lang="en-US" sz="1600" dirty="0">
                <a:solidFill>
                  <a:srgbClr val="B0BEC5"/>
                </a:solidFill>
                <a:latin typeface="Quattrocento Sans" pitchFamily="34" charset="0"/>
                <a:ea typeface="Quattrocento Sans" pitchFamily="34" charset="-122"/>
                <a:cs typeface="Quattrocento Sans" pitchFamily="34" charset="-120"/>
              </a:rPr>
              <a:t>Motivation, research questions, and contributions</a:t>
            </a:r>
            <a:endParaRPr lang="en-US" sz="1600" dirty="0"/>
          </a:p>
        </p:txBody>
      </p:sp>
      <p:sp>
        <p:nvSpPr>
          <p:cNvPr id="10" name="Shape 8"/>
          <p:cNvSpPr/>
          <p:nvPr/>
        </p:nvSpPr>
        <p:spPr>
          <a:xfrm>
            <a:off x="8128000" y="5029200"/>
            <a:ext cx="2540000" cy="25400"/>
          </a:xfrm>
          <a:prstGeom prst="rect">
            <a:avLst/>
          </a:prstGeom>
          <a:solidFill>
            <a:srgbClr val="00ACC1"/>
          </a:solidFill>
          <a:ln/>
        </p:spPr>
        <p:txBody>
          <a:bodyPr/>
          <a:lstStyle/>
          <a:p>
            <a:endParaRPr/>
          </a:p>
        </p:txBody>
      </p:sp>
      <p:sp>
        <p:nvSpPr>
          <p:cNvPr id="11" name="Text 9"/>
          <p:cNvSpPr/>
          <p:nvPr/>
        </p:nvSpPr>
        <p:spPr>
          <a:xfrm>
            <a:off x="8128000" y="5283200"/>
            <a:ext cx="7366000" cy="355600"/>
          </a:xfrm>
          <a:prstGeom prst="rect">
            <a:avLst/>
          </a:prstGeom>
          <a:noFill/>
          <a:ln/>
        </p:spPr>
        <p:txBody>
          <a:bodyPr wrap="none" lIns="0" tIns="0" rIns="0" bIns="0" rtlCol="0" anchor="t"/>
          <a:lstStyle/>
          <a:p>
            <a:pPr algn="l">
              <a:lnSpc>
                <a:spcPct val="120000"/>
              </a:lnSpc>
            </a:pPr>
            <a:r>
              <a:rPr lang="en-US" sz="1500" dirty="0">
                <a:solidFill>
                  <a:srgbClr val="333333"/>
                </a:solidFill>
                <a:latin typeface="Quattrocento Sans" pitchFamily="34" charset="0"/>
                <a:ea typeface="Quattrocento Sans" pitchFamily="34" charset="-122"/>
                <a:cs typeface="Quattrocento Sans" pitchFamily="34" charset="-120"/>
              </a:rPr>
              <a:t>1.1  The derived-label problem in exoplanet catalogues</a:t>
            </a:r>
            <a:endParaRPr lang="en-US" sz="1500" dirty="0"/>
          </a:p>
        </p:txBody>
      </p:sp>
      <p:sp>
        <p:nvSpPr>
          <p:cNvPr id="12" name="Text 10"/>
          <p:cNvSpPr/>
          <p:nvPr/>
        </p:nvSpPr>
        <p:spPr>
          <a:xfrm>
            <a:off x="8128000" y="5740400"/>
            <a:ext cx="7366000" cy="355600"/>
          </a:xfrm>
          <a:prstGeom prst="rect">
            <a:avLst/>
          </a:prstGeom>
          <a:noFill/>
          <a:ln/>
        </p:spPr>
        <p:txBody>
          <a:bodyPr wrap="none" lIns="0" tIns="0" rIns="0" bIns="0" rtlCol="0" anchor="t"/>
          <a:lstStyle/>
          <a:p>
            <a:pPr algn="l">
              <a:lnSpc>
                <a:spcPct val="120000"/>
              </a:lnSpc>
            </a:pPr>
            <a:r>
              <a:rPr lang="en-US" sz="1500" dirty="0">
                <a:solidFill>
                  <a:srgbClr val="333333"/>
                </a:solidFill>
                <a:latin typeface="Quattrocento Sans" pitchFamily="34" charset="0"/>
                <a:ea typeface="Quattrocento Sans" pitchFamily="34" charset="-122"/>
                <a:cs typeface="Quattrocento Sans" pitchFamily="34" charset="-120"/>
              </a:rPr>
              <a:t>1.2  Research questions &amp; contributions</a:t>
            </a:r>
            <a:endParaRPr lang="en-US" sz="1500" dirty="0"/>
          </a:p>
        </p:txBody>
      </p:sp>
      <p:sp>
        <p:nvSpPr>
          <p:cNvPr id="13" name="Text 11"/>
          <p:cNvSpPr/>
          <p:nvPr/>
        </p:nvSpPr>
        <p:spPr>
          <a:xfrm>
            <a:off x="8128000" y="6197600"/>
            <a:ext cx="7366000" cy="355600"/>
          </a:xfrm>
          <a:prstGeom prst="rect">
            <a:avLst/>
          </a:prstGeom>
          <a:noFill/>
          <a:ln/>
        </p:spPr>
        <p:txBody>
          <a:bodyPr wrap="none" lIns="0" tIns="0" rIns="0" bIns="0" rtlCol="0" anchor="t"/>
          <a:lstStyle/>
          <a:p>
            <a:pPr algn="l">
              <a:lnSpc>
                <a:spcPct val="120000"/>
              </a:lnSpc>
            </a:pPr>
            <a:endParaRPr lang="en-US" sz="1500" dirty="0"/>
          </a:p>
        </p:txBody>
      </p:sp>
      <p:sp>
        <p:nvSpPr>
          <p:cNvPr id="14" name="Text 12"/>
          <p:cNvSpPr/>
          <p:nvPr/>
        </p:nvSpPr>
        <p:spPr>
          <a:xfrm>
            <a:off x="15240000" y="8636000"/>
            <a:ext cx="635000" cy="304800"/>
          </a:xfrm>
          <a:prstGeom prst="rect">
            <a:avLst/>
          </a:prstGeom>
          <a:noFill/>
          <a:ln/>
        </p:spPr>
        <p:txBody>
          <a:bodyPr wrap="square" lIns="0" tIns="0" rIns="0" bIns="0" rtlCol="0" anchor="ctr"/>
          <a:lstStyle/>
          <a:p>
            <a:r>
              <a:t>4</a:t>
            </a: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4FAFE"/>
        </a:solidFill>
        <a:effectLst/>
      </p:bgPr>
    </p:bg>
    <p:spTree>
      <p:nvGrpSpPr>
        <p:cNvPr id="1" name=""/>
        <p:cNvGrpSpPr/>
        <p:nvPr/>
      </p:nvGrpSpPr>
      <p:grpSpPr>
        <a:xfrm>
          <a:off x="0" y="0"/>
          <a:ext cx="0" cy="0"/>
          <a:chOff x="0" y="0"/>
          <a:chExt cx="0" cy="0"/>
        </a:xfrm>
      </p:grpSpPr>
      <p:sp>
        <p:nvSpPr>
          <p:cNvPr id="2" name="Shape 0"/>
          <p:cNvSpPr/>
          <p:nvPr/>
        </p:nvSpPr>
        <p:spPr>
          <a:xfrm>
            <a:off x="0" y="0"/>
            <a:ext cx="2286000" cy="9144000"/>
          </a:xfrm>
          <a:prstGeom prst="rect">
            <a:avLst/>
          </a:prstGeom>
          <a:solidFill>
            <a:srgbClr val="004060"/>
          </a:solidFill>
          <a:ln/>
        </p:spPr>
        <p:txBody>
          <a:bodyPr/>
          <a:lstStyle/>
          <a:p>
            <a:endParaRPr/>
          </a:p>
        </p:txBody>
      </p:sp>
      <p:sp>
        <p:nvSpPr>
          <p:cNvPr id="3" name="Shape 1"/>
          <p:cNvSpPr/>
          <p:nvPr/>
        </p:nvSpPr>
        <p:spPr>
          <a:xfrm>
            <a:off x="177800" y="177800"/>
            <a:ext cx="457200" cy="457200"/>
          </a:xfrm>
          <a:prstGeom prst="ellipse">
            <a:avLst/>
          </a:prstGeom>
          <a:solidFill>
            <a:srgbClr val="FFFFFF">
              <a:alpha val="12549"/>
            </a:srgbClr>
          </a:solidFill>
          <a:ln w="12700">
            <a:solidFill>
              <a:srgbClr val="00ACC1"/>
            </a:solidFill>
            <a:prstDash val="solid"/>
          </a:ln>
        </p:spPr>
        <p:txBody>
          <a:bodyPr/>
          <a:lstStyle/>
          <a:p>
            <a:endParaRPr/>
          </a:p>
        </p:txBody>
      </p:sp>
      <p:sp>
        <p:nvSpPr>
          <p:cNvPr id="4" name="Shape 2"/>
          <p:cNvSpPr/>
          <p:nvPr/>
        </p:nvSpPr>
        <p:spPr>
          <a:xfrm>
            <a:off x="0" y="1016000"/>
            <a:ext cx="2286000" cy="1168400"/>
          </a:xfrm>
          <a:prstGeom prst="rect">
            <a:avLst/>
          </a:prstGeom>
          <a:solidFill>
            <a:srgbClr val="005C82"/>
          </a:solidFill>
          <a:ln/>
        </p:spPr>
        <p:txBody>
          <a:bodyPr/>
          <a:lstStyle/>
          <a:p>
            <a:endParaRPr/>
          </a:p>
        </p:txBody>
      </p:sp>
      <p:sp>
        <p:nvSpPr>
          <p:cNvPr id="5" name="Text 3"/>
          <p:cNvSpPr/>
          <p:nvPr/>
        </p:nvSpPr>
        <p:spPr>
          <a:xfrm>
            <a:off x="101600" y="1016000"/>
            <a:ext cx="2082800" cy="1168400"/>
          </a:xfrm>
          <a:prstGeom prst="rect">
            <a:avLst/>
          </a:prstGeom>
          <a:noFill/>
          <a:ln/>
        </p:spPr>
        <p:txBody>
          <a:bodyPr wrap="none" lIns="0" tIns="0" rIns="0" bIns="0" rtlCol="0" anchor="ctr"/>
          <a:lstStyle/>
          <a:p>
            <a:pPr algn="l">
              <a:lnSpc>
                <a:spcPct val="120000"/>
              </a:lnSpc>
            </a:pPr>
            <a:r>
              <a:rPr lang="en-US" sz="1800" b="1" dirty="0">
                <a:solidFill>
                  <a:srgbClr val="FFFFFF"/>
                </a:solidFill>
                <a:latin typeface="Quattrocento Sans" pitchFamily="34" charset="0"/>
                <a:ea typeface="Quattrocento Sans" pitchFamily="34" charset="-122"/>
                <a:cs typeface="Quattrocento Sans" pitchFamily="34" charset="-120"/>
              </a:rPr>
              <a:t>01 Intro</a:t>
            </a:r>
            <a:endParaRPr lang="en-US" sz="1800" dirty="0"/>
          </a:p>
        </p:txBody>
      </p:sp>
      <p:sp>
        <p:nvSpPr>
          <p:cNvPr id="6" name="Text 4"/>
          <p:cNvSpPr/>
          <p:nvPr/>
        </p:nvSpPr>
        <p:spPr>
          <a:xfrm>
            <a:off x="101600" y="21844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02 Dataset</a:t>
            </a:r>
            <a:endParaRPr lang="en-US" sz="1600" dirty="0"/>
          </a:p>
        </p:txBody>
      </p:sp>
      <p:sp>
        <p:nvSpPr>
          <p:cNvPr id="7" name="Text 5"/>
          <p:cNvSpPr/>
          <p:nvPr/>
        </p:nvSpPr>
        <p:spPr>
          <a:xfrm>
            <a:off x="101600" y="33528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03 Clustering</a:t>
            </a:r>
            <a:endParaRPr lang="en-US" sz="1600" dirty="0"/>
          </a:p>
        </p:txBody>
      </p:sp>
      <p:sp>
        <p:nvSpPr>
          <p:cNvPr id="8" name="Text 6"/>
          <p:cNvSpPr/>
          <p:nvPr/>
        </p:nvSpPr>
        <p:spPr>
          <a:xfrm>
            <a:off x="101600" y="45212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04 Supervised</a:t>
            </a:r>
            <a:endParaRPr lang="en-US" sz="1600" dirty="0"/>
          </a:p>
        </p:txBody>
      </p:sp>
      <p:sp>
        <p:nvSpPr>
          <p:cNvPr id="9" name="Text 7"/>
          <p:cNvSpPr/>
          <p:nvPr/>
        </p:nvSpPr>
        <p:spPr>
          <a:xfrm>
            <a:off x="101600" y="56896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05 Conclusions</a:t>
            </a:r>
            <a:endParaRPr lang="en-US" sz="1600" dirty="0"/>
          </a:p>
        </p:txBody>
      </p:sp>
      <p:sp>
        <p:nvSpPr>
          <p:cNvPr id="10" name="Shape 8"/>
          <p:cNvSpPr/>
          <p:nvPr/>
        </p:nvSpPr>
        <p:spPr>
          <a:xfrm>
            <a:off x="1066800" y="7493000"/>
            <a:ext cx="152400" cy="152400"/>
          </a:xfrm>
          <a:prstGeom prst="diamond">
            <a:avLst/>
          </a:prstGeom>
          <a:solidFill>
            <a:srgbClr val="00ACC1"/>
          </a:solidFill>
          <a:ln/>
        </p:spPr>
        <p:txBody>
          <a:bodyPr/>
          <a:lstStyle/>
          <a:p>
            <a:endParaRPr/>
          </a:p>
        </p:txBody>
      </p:sp>
      <p:sp>
        <p:nvSpPr>
          <p:cNvPr id="11" name="Shape 9"/>
          <p:cNvSpPr/>
          <p:nvPr/>
        </p:nvSpPr>
        <p:spPr>
          <a:xfrm>
            <a:off x="2286000" y="0"/>
            <a:ext cx="13970000" cy="635000"/>
          </a:xfrm>
          <a:prstGeom prst="rect">
            <a:avLst/>
          </a:prstGeom>
          <a:solidFill>
            <a:srgbClr val="E0F4FA"/>
          </a:solidFill>
          <a:ln/>
        </p:spPr>
        <p:txBody>
          <a:bodyPr/>
          <a:lstStyle/>
          <a:p>
            <a:endParaRPr/>
          </a:p>
        </p:txBody>
      </p:sp>
      <p:sp>
        <p:nvSpPr>
          <p:cNvPr id="12" name="Text 10"/>
          <p:cNvSpPr/>
          <p:nvPr/>
        </p:nvSpPr>
        <p:spPr>
          <a:xfrm>
            <a:off x="2540000" y="0"/>
            <a:ext cx="12827000" cy="635000"/>
          </a:xfrm>
          <a:prstGeom prst="rect">
            <a:avLst/>
          </a:prstGeom>
          <a:noFill/>
          <a:ln/>
        </p:spPr>
        <p:txBody>
          <a:bodyPr wrap="none" lIns="0" tIns="0" rIns="0" bIns="0" rtlCol="0" anchor="ctr"/>
          <a:lstStyle/>
          <a:p>
            <a:pPr algn="l">
              <a:lnSpc>
                <a:spcPct val="120000"/>
              </a:lnSpc>
            </a:pPr>
            <a:r>
              <a:rPr lang="en-US" sz="1400" b="1" dirty="0">
                <a:solidFill>
                  <a:srgbClr val="005C82"/>
                </a:solidFill>
                <a:latin typeface="Quattrocento Sans" pitchFamily="34" charset="0"/>
                <a:ea typeface="Quattrocento Sans" pitchFamily="34" charset="-122"/>
                <a:cs typeface="Quattrocento Sans" pitchFamily="34" charset="-120"/>
              </a:rPr>
              <a:t>01 Introduction</a:t>
            </a:r>
            <a:r>
              <a:rPr lang="en-US" sz="1400" dirty="0">
                <a:solidFill>
                  <a:srgbClr val="005C82"/>
                </a:solidFill>
                <a:latin typeface="Quattrocento Sans" pitchFamily="34" charset="0"/>
                <a:ea typeface="Quattrocento Sans" pitchFamily="34" charset="-122"/>
                <a:cs typeface="Quattrocento Sans" pitchFamily="34" charset="-120"/>
              </a:rPr>
              <a:t>  &gt;  1.1  Motivation</a:t>
            </a:r>
            <a:endParaRPr lang="en-US" sz="1400" dirty="0"/>
          </a:p>
        </p:txBody>
      </p:sp>
      <p:sp>
        <p:nvSpPr>
          <p:cNvPr id="13" name="Text 11"/>
          <p:cNvSpPr/>
          <p:nvPr/>
        </p:nvSpPr>
        <p:spPr>
          <a:xfrm>
            <a:off x="15621000" y="0"/>
            <a:ext cx="635000" cy="635000"/>
          </a:xfrm>
          <a:prstGeom prst="rect">
            <a:avLst/>
          </a:prstGeom>
          <a:noFill/>
          <a:ln/>
        </p:spPr>
        <p:txBody>
          <a:bodyPr wrap="square" lIns="0" tIns="0" rIns="0" bIns="0" rtlCol="0" anchor="ctr"/>
          <a:lstStyle/>
          <a:p>
            <a:r>
              <a:t>5</a:t>
            </a:r>
          </a:p>
        </p:txBody>
      </p:sp>
      <p:sp>
        <p:nvSpPr>
          <p:cNvPr id="14" name="Text 12"/>
          <p:cNvSpPr/>
          <p:nvPr/>
        </p:nvSpPr>
        <p:spPr>
          <a:xfrm>
            <a:off x="2540000" y="863600"/>
            <a:ext cx="13208000" cy="457200"/>
          </a:xfrm>
          <a:prstGeom prst="rect">
            <a:avLst/>
          </a:prstGeom>
          <a:noFill/>
          <a:ln/>
        </p:spPr>
        <p:txBody>
          <a:bodyPr wrap="none" lIns="0" tIns="0" rIns="0" bIns="0" rtlCol="0" anchor="t"/>
          <a:lstStyle/>
          <a:p>
            <a:pPr algn="l">
              <a:lnSpc>
                <a:spcPct val="120000"/>
              </a:lnSpc>
            </a:pPr>
            <a:r>
              <a:rPr lang="en-US" sz="2400" b="1" dirty="0">
                <a:solidFill>
                  <a:srgbClr val="005C82"/>
                </a:solidFill>
                <a:latin typeface="Quattrocento Sans" pitchFamily="34" charset="0"/>
                <a:ea typeface="Quattrocento Sans" pitchFamily="34" charset="-122"/>
                <a:cs typeface="Quattrocento Sans" pitchFamily="34" charset="-120"/>
              </a:rPr>
              <a:t>Motivation: The Derived-Label Problem</a:t>
            </a:r>
            <a:endParaRPr lang="en-US" sz="2400" dirty="0"/>
          </a:p>
        </p:txBody>
      </p:sp>
      <p:sp>
        <p:nvSpPr>
          <p:cNvPr id="15" name="Shape 13"/>
          <p:cNvSpPr/>
          <p:nvPr/>
        </p:nvSpPr>
        <p:spPr>
          <a:xfrm>
            <a:off x="2540000" y="1397000"/>
            <a:ext cx="13208000" cy="12700"/>
          </a:xfrm>
          <a:prstGeom prst="rect">
            <a:avLst/>
          </a:prstGeom>
          <a:solidFill>
            <a:srgbClr val="B0BEC5"/>
          </a:solidFill>
          <a:ln/>
        </p:spPr>
        <p:txBody>
          <a:bodyPr/>
          <a:lstStyle/>
          <a:p>
            <a:endParaRPr/>
          </a:p>
        </p:txBody>
      </p:sp>
      <p:sp>
        <p:nvSpPr>
          <p:cNvPr id="16" name="Shape 14"/>
          <p:cNvSpPr/>
          <p:nvPr/>
        </p:nvSpPr>
        <p:spPr>
          <a:xfrm>
            <a:off x="2540000" y="1676400"/>
            <a:ext cx="177800" cy="177800"/>
          </a:xfrm>
          <a:prstGeom prst="diamond">
            <a:avLst/>
          </a:prstGeom>
          <a:solidFill>
            <a:srgbClr val="005C82"/>
          </a:solidFill>
          <a:ln/>
        </p:spPr>
        <p:txBody>
          <a:bodyPr/>
          <a:lstStyle/>
          <a:p>
            <a:endParaRPr/>
          </a:p>
        </p:txBody>
      </p:sp>
      <p:sp>
        <p:nvSpPr>
          <p:cNvPr id="17" name="Text 15"/>
          <p:cNvSpPr/>
          <p:nvPr/>
        </p:nvSpPr>
        <p:spPr>
          <a:xfrm>
            <a:off x="2870200" y="1600200"/>
            <a:ext cx="13081000" cy="355600"/>
          </a:xfrm>
          <a:prstGeom prst="rect">
            <a:avLst/>
          </a:prstGeom>
          <a:noFill/>
          <a:ln/>
        </p:spPr>
        <p:txBody>
          <a:bodyPr wrap="none" lIns="0" tIns="0" rIns="0" bIns="0" rtlCol="0" anchor="t"/>
          <a:lstStyle/>
          <a:p>
            <a:pPr algn="l">
              <a:lnSpc>
                <a:spcPct val="120000"/>
              </a:lnSpc>
            </a:pPr>
            <a:r>
              <a:rPr lang="en-US" sz="2000" b="1" dirty="0">
                <a:solidFill>
                  <a:srgbClr val="005C82"/>
                </a:solidFill>
                <a:latin typeface="Quattrocento Sans" pitchFamily="34" charset="0"/>
                <a:ea typeface="Quattrocento Sans" pitchFamily="34" charset="-122"/>
                <a:cs typeface="Quattrocento Sans" pitchFamily="34" charset="-120"/>
              </a:rPr>
              <a:t>The Dataset: NASA Exoplanet Archive</a:t>
            </a:r>
            <a:endParaRPr lang="en-US" sz="2000" dirty="0"/>
          </a:p>
        </p:txBody>
      </p:sp>
      <p:sp>
        <p:nvSpPr>
          <p:cNvPr id="18" name="Text 16"/>
          <p:cNvSpPr/>
          <p:nvPr/>
        </p:nvSpPr>
        <p:spPr>
          <a:xfrm>
            <a:off x="2870200" y="2006600"/>
            <a:ext cx="13081000" cy="889000"/>
          </a:xfrm>
          <a:prstGeom prst="rect">
            <a:avLst/>
          </a:prstGeom>
          <a:noFill/>
          <a:ln/>
        </p:spPr>
        <p:txBody>
          <a:bodyPr wrap="square" lIns="0" tIns="0" rIns="0" bIns="0" rtlCol="0" anchor="t"/>
          <a:lstStyle/>
          <a:p>
            <a:pPr algn="l">
              <a:lnSpc>
                <a:spcPct val="150000"/>
              </a:lnSpc>
            </a:pPr>
            <a:r>
              <a:rPr lang="en-US" sz="1700" dirty="0">
                <a:solidFill>
                  <a:srgbClr val="333333"/>
                </a:solidFill>
                <a:latin typeface="Quattrocento Sans" pitchFamily="34" charset="0"/>
                <a:ea typeface="Quattrocento Sans" pitchFamily="34" charset="-122"/>
                <a:cs typeface="Quattrocento Sans" pitchFamily="34" charset="-120"/>
              </a:rPr>
              <a:t>6,150 confirmed exoplanets with 31 columns spanning physical measurements (radius, mass, temperature), orbital properties (period, eccentricity, semi-major axis), stellar characteristics, and </a:t>
            </a:r>
            <a:r>
              <a:rPr lang="en-US" sz="1700" b="1" dirty="0">
                <a:solidFill>
                  <a:srgbClr val="333333"/>
                </a:solidFill>
                <a:latin typeface="Quattrocento Sans" pitchFamily="34" charset="0"/>
                <a:ea typeface="Quattrocento Sans" pitchFamily="34" charset="-122"/>
                <a:cs typeface="Quattrocento Sans" pitchFamily="34" charset="-120"/>
              </a:rPr>
              <a:t>derived categorical labels</a:t>
            </a:r>
            <a:r>
              <a:rPr lang="en-US" sz="1700" dirty="0">
                <a:solidFill>
                  <a:srgbClr val="333333"/>
                </a:solidFill>
                <a:latin typeface="Quattrocento Sans" pitchFamily="34" charset="0"/>
                <a:ea typeface="Quattrocento Sans" pitchFamily="34" charset="-122"/>
                <a:cs typeface="Quattrocento Sans" pitchFamily="34" charset="-120"/>
              </a:rPr>
              <a:t> (planet_type, star_type, habitable_zone_flag).</a:t>
            </a:r>
            <a:endParaRPr lang="en-US" sz="1700" dirty="0"/>
          </a:p>
        </p:txBody>
      </p:sp>
      <p:sp>
        <p:nvSpPr>
          <p:cNvPr id="19" name="Shape 17"/>
          <p:cNvSpPr/>
          <p:nvPr/>
        </p:nvSpPr>
        <p:spPr>
          <a:xfrm>
            <a:off x="2540000" y="2895600"/>
            <a:ext cx="13208000" cy="12700"/>
          </a:xfrm>
          <a:prstGeom prst="rect">
            <a:avLst/>
          </a:prstGeom>
          <a:solidFill>
            <a:srgbClr val="E0F4FA"/>
          </a:solidFill>
          <a:ln/>
        </p:spPr>
        <p:txBody>
          <a:bodyPr/>
          <a:lstStyle/>
          <a:p>
            <a:endParaRPr/>
          </a:p>
        </p:txBody>
      </p:sp>
      <p:sp>
        <p:nvSpPr>
          <p:cNvPr id="20" name="Shape 18"/>
          <p:cNvSpPr/>
          <p:nvPr/>
        </p:nvSpPr>
        <p:spPr>
          <a:xfrm>
            <a:off x="2540000" y="3200400"/>
            <a:ext cx="177800" cy="177800"/>
          </a:xfrm>
          <a:prstGeom prst="diamond">
            <a:avLst/>
          </a:prstGeom>
          <a:solidFill>
            <a:srgbClr val="005C82"/>
          </a:solidFill>
          <a:ln/>
        </p:spPr>
        <p:txBody>
          <a:bodyPr/>
          <a:lstStyle/>
          <a:p>
            <a:endParaRPr/>
          </a:p>
        </p:txBody>
      </p:sp>
      <p:sp>
        <p:nvSpPr>
          <p:cNvPr id="21" name="Text 19"/>
          <p:cNvSpPr/>
          <p:nvPr/>
        </p:nvSpPr>
        <p:spPr>
          <a:xfrm>
            <a:off x="2870200" y="3124200"/>
            <a:ext cx="13081000" cy="355600"/>
          </a:xfrm>
          <a:prstGeom prst="rect">
            <a:avLst/>
          </a:prstGeom>
          <a:noFill/>
          <a:ln/>
        </p:spPr>
        <p:txBody>
          <a:bodyPr wrap="none" lIns="0" tIns="0" rIns="0" bIns="0" rtlCol="0" anchor="t"/>
          <a:lstStyle/>
          <a:p>
            <a:pPr algn="l">
              <a:lnSpc>
                <a:spcPct val="120000"/>
              </a:lnSpc>
            </a:pPr>
            <a:r>
              <a:rPr lang="en-US" sz="2000" b="1" dirty="0">
                <a:solidFill>
                  <a:srgbClr val="005C82"/>
                </a:solidFill>
                <a:latin typeface="Quattrocento Sans" pitchFamily="34" charset="0"/>
                <a:ea typeface="Quattrocento Sans" pitchFamily="34" charset="-122"/>
                <a:cs typeface="Quattrocento Sans" pitchFamily="34" charset="-120"/>
              </a:rPr>
              <a:t>The Core Problem: Semantic Leakage</a:t>
            </a:r>
            <a:endParaRPr lang="en-US" sz="2000" dirty="0"/>
          </a:p>
        </p:txBody>
      </p:sp>
      <p:sp>
        <p:nvSpPr>
          <p:cNvPr id="22" name="Text 20"/>
          <p:cNvSpPr/>
          <p:nvPr/>
        </p:nvSpPr>
        <p:spPr>
          <a:xfrm>
            <a:off x="2870200" y="3530600"/>
            <a:ext cx="13081000" cy="889000"/>
          </a:xfrm>
          <a:prstGeom prst="rect">
            <a:avLst/>
          </a:prstGeom>
          <a:noFill/>
          <a:ln/>
        </p:spPr>
        <p:txBody>
          <a:bodyPr wrap="square" lIns="0" tIns="0" rIns="0" bIns="0" rtlCol="0" anchor="t"/>
          <a:lstStyle/>
          <a:p>
            <a:pPr algn="l">
              <a:lnSpc>
                <a:spcPct val="140000"/>
              </a:lnSpc>
            </a:pPr>
            <a:r>
              <a:rPr lang="en-US" sz="1600" dirty="0">
                <a:solidFill>
                  <a:srgbClr val="333333"/>
                </a:solidFill>
                <a:latin typeface="Quattrocento Sans" pitchFamily="34" charset="0"/>
                <a:ea typeface="Quattrocento Sans" pitchFamily="34" charset="-122"/>
                <a:cs typeface="Quattrocento Sans" pitchFamily="34" charset="-120"/>
              </a:rPr>
              <a:t>Catalogues mix raw physical measurements with </a:t>
            </a:r>
            <a:r>
              <a:rPr lang="en-US" sz="1600" b="1" dirty="0">
                <a:solidFill>
                  <a:srgbClr val="333333"/>
                </a:solidFill>
                <a:latin typeface="Quattrocento Sans" pitchFamily="34" charset="0"/>
                <a:ea typeface="Quattrocento Sans" pitchFamily="34" charset="-122"/>
                <a:cs typeface="Quattrocento Sans" pitchFamily="34" charset="-120"/>
              </a:rPr>
              <a:t>derived labels</a:t>
            </a:r>
            <a:r>
              <a:rPr lang="en-US" sz="1600" dirty="0">
                <a:solidFill>
                  <a:srgbClr val="333333"/>
                </a:solidFill>
                <a:latin typeface="Quattrocento Sans" pitchFamily="34" charset="0"/>
                <a:ea typeface="Quattrocento Sans" pitchFamily="34" charset="-122"/>
                <a:cs typeface="Quattrocento Sans" pitchFamily="34" charset="-120"/>
              </a:rPr>
              <a:t> that conflate observation and classification. ML applied naively produces misleading results: classifiers reconstruct </a:t>
            </a:r>
            <a:r>
              <a:rPr lang="en-US" sz="1600" b="1" dirty="0">
                <a:solidFill>
                  <a:srgbClr val="005C82"/>
                </a:solidFill>
                <a:latin typeface="Quattrocento Sans" pitchFamily="34" charset="0"/>
                <a:ea typeface="Quattrocento Sans" pitchFamily="34" charset="-122"/>
                <a:cs typeface="Quattrocento Sans" pitchFamily="34" charset="-120"/>
              </a:rPr>
              <a:t>definitional rules</a:t>
            </a:r>
            <a:r>
              <a:rPr lang="en-US" sz="1600" dirty="0">
                <a:solidFill>
                  <a:srgbClr val="333333"/>
                </a:solidFill>
                <a:latin typeface="Quattrocento Sans" pitchFamily="34" charset="0"/>
                <a:ea typeface="Quattrocento Sans" pitchFamily="34" charset="-122"/>
                <a:cs typeface="Quattrocento Sans" pitchFamily="34" charset="-120"/>
              </a:rPr>
              <a:t> rather than learning genuine predictive structure (Kapoor &amp; Narayanan, 2023).</a:t>
            </a:r>
            <a:endParaRPr lang="en-US" sz="1600" dirty="0"/>
          </a:p>
        </p:txBody>
      </p:sp>
      <p:sp>
        <p:nvSpPr>
          <p:cNvPr id="23" name="Shape 21"/>
          <p:cNvSpPr/>
          <p:nvPr/>
        </p:nvSpPr>
        <p:spPr>
          <a:xfrm>
            <a:off x="2540000" y="4419600"/>
            <a:ext cx="13208000" cy="12700"/>
          </a:xfrm>
          <a:prstGeom prst="rect">
            <a:avLst/>
          </a:prstGeom>
          <a:solidFill>
            <a:srgbClr val="E0F4FA"/>
          </a:solidFill>
          <a:ln/>
        </p:spPr>
        <p:txBody>
          <a:bodyPr/>
          <a:lstStyle/>
          <a:p>
            <a:endParaRPr/>
          </a:p>
        </p:txBody>
      </p:sp>
      <p:sp>
        <p:nvSpPr>
          <p:cNvPr id="24" name="Shape 22"/>
          <p:cNvSpPr/>
          <p:nvPr/>
        </p:nvSpPr>
        <p:spPr>
          <a:xfrm>
            <a:off x="2540000" y="4724400"/>
            <a:ext cx="177800" cy="177800"/>
          </a:xfrm>
          <a:prstGeom prst="diamond">
            <a:avLst/>
          </a:prstGeom>
          <a:solidFill>
            <a:srgbClr val="007AA8"/>
          </a:solidFill>
          <a:ln/>
        </p:spPr>
        <p:txBody>
          <a:bodyPr/>
          <a:lstStyle/>
          <a:p>
            <a:endParaRPr/>
          </a:p>
        </p:txBody>
      </p:sp>
      <p:sp>
        <p:nvSpPr>
          <p:cNvPr id="25" name="Text 23"/>
          <p:cNvSpPr/>
          <p:nvPr/>
        </p:nvSpPr>
        <p:spPr>
          <a:xfrm>
            <a:off x="2870200" y="4648200"/>
            <a:ext cx="13081000" cy="355600"/>
          </a:xfrm>
          <a:prstGeom prst="rect">
            <a:avLst/>
          </a:prstGeom>
          <a:noFill/>
          <a:ln/>
        </p:spPr>
        <p:txBody>
          <a:bodyPr wrap="none" lIns="0" tIns="0" rIns="0" bIns="0" rtlCol="0" anchor="t"/>
          <a:lstStyle/>
          <a:p>
            <a:pPr algn="l">
              <a:lnSpc>
                <a:spcPct val="120000"/>
              </a:lnSpc>
            </a:pPr>
            <a:r>
              <a:rPr lang="en-US" sz="2000" b="1" dirty="0">
                <a:solidFill>
                  <a:srgbClr val="005C82"/>
                </a:solidFill>
                <a:latin typeface="Quattrocento Sans" pitchFamily="34" charset="0"/>
                <a:ea typeface="Quattrocento Sans" pitchFamily="34" charset="-122"/>
                <a:cs typeface="Quattrocento Sans" pitchFamily="34" charset="-120"/>
              </a:rPr>
              <a:t>Why Clustering as the Core?</a:t>
            </a:r>
            <a:endParaRPr lang="en-US" sz="2000" dirty="0"/>
          </a:p>
        </p:txBody>
      </p:sp>
      <p:sp>
        <p:nvSpPr>
          <p:cNvPr id="26" name="Text 24"/>
          <p:cNvSpPr/>
          <p:nvPr/>
        </p:nvSpPr>
        <p:spPr>
          <a:xfrm>
            <a:off x="2870200" y="5054600"/>
            <a:ext cx="13081000" cy="889000"/>
          </a:xfrm>
          <a:prstGeom prst="rect">
            <a:avLst/>
          </a:prstGeom>
          <a:noFill/>
          <a:ln/>
        </p:spPr>
        <p:txBody>
          <a:bodyPr wrap="square" lIns="0" tIns="0" rIns="0" bIns="0" rtlCol="0" anchor="t"/>
          <a:lstStyle/>
          <a:p>
            <a:pPr algn="l">
              <a:lnSpc>
                <a:spcPct val="150000"/>
              </a:lnSpc>
            </a:pPr>
            <a:r>
              <a:rPr lang="en-US" sz="1700" dirty="0">
                <a:solidFill>
                  <a:srgbClr val="333333"/>
                </a:solidFill>
                <a:latin typeface="Quattrocento Sans" pitchFamily="34" charset="0"/>
                <a:ea typeface="Quattrocento Sans" pitchFamily="34" charset="-122"/>
                <a:cs typeface="Quattrocento Sans" pitchFamily="34" charset="-120"/>
              </a:rPr>
              <a:t>Unsupervised clustering discovers natural groupings from </a:t>
            </a:r>
            <a:r>
              <a:rPr lang="en-US" sz="1700" b="1" dirty="0">
                <a:solidFill>
                  <a:srgbClr val="333333"/>
                </a:solidFill>
                <a:latin typeface="Quattrocento Sans" pitchFamily="34" charset="0"/>
                <a:ea typeface="Quattrocento Sans" pitchFamily="34" charset="-122"/>
                <a:cs typeface="Quattrocento Sans" pitchFamily="34" charset="-120"/>
              </a:rPr>
              <a:t>physical properties alone</a:t>
            </a:r>
            <a:r>
              <a:rPr lang="en-US" sz="1700" dirty="0">
                <a:solidFill>
                  <a:srgbClr val="333333"/>
                </a:solidFill>
                <a:latin typeface="Quattrocento Sans" pitchFamily="34" charset="0"/>
                <a:ea typeface="Quattrocento Sans" pitchFamily="34" charset="-122"/>
                <a:cs typeface="Quattrocento Sans" pitchFamily="34" charset="-120"/>
              </a:rPr>
              <a:t>, without reference to any pre-existing taxonomy. Derived labels are deliberately excluded from the fit and used only post-hoc for interpretation.</a:t>
            </a:r>
            <a:endParaRPr lang="en-US" sz="1700" dirty="0"/>
          </a:p>
        </p:txBody>
      </p:sp>
      <p:sp>
        <p:nvSpPr>
          <p:cNvPr id="27" name="Shape 25"/>
          <p:cNvSpPr/>
          <p:nvPr/>
        </p:nvSpPr>
        <p:spPr>
          <a:xfrm>
            <a:off x="2540000" y="5943600"/>
            <a:ext cx="13208000" cy="12700"/>
          </a:xfrm>
          <a:prstGeom prst="rect">
            <a:avLst/>
          </a:prstGeom>
          <a:solidFill>
            <a:srgbClr val="E0F4FA"/>
          </a:solidFill>
          <a:ln/>
        </p:spPr>
        <p:txBody>
          <a:bodyPr/>
          <a:lstStyle/>
          <a:p>
            <a:endParaRPr/>
          </a:p>
        </p:txBody>
      </p:sp>
      <p:sp>
        <p:nvSpPr>
          <p:cNvPr id="28" name="Shape 26"/>
          <p:cNvSpPr/>
          <p:nvPr/>
        </p:nvSpPr>
        <p:spPr>
          <a:xfrm>
            <a:off x="2540000" y="6248400"/>
            <a:ext cx="177800" cy="177800"/>
          </a:xfrm>
          <a:prstGeom prst="diamond">
            <a:avLst/>
          </a:prstGeom>
          <a:solidFill>
            <a:srgbClr val="00ACC1"/>
          </a:solidFill>
          <a:ln/>
        </p:spPr>
        <p:txBody>
          <a:bodyPr/>
          <a:lstStyle/>
          <a:p>
            <a:endParaRPr/>
          </a:p>
        </p:txBody>
      </p:sp>
      <p:sp>
        <p:nvSpPr>
          <p:cNvPr id="29" name="Text 27"/>
          <p:cNvSpPr/>
          <p:nvPr/>
        </p:nvSpPr>
        <p:spPr>
          <a:xfrm>
            <a:off x="2870200" y="6172200"/>
            <a:ext cx="13081000" cy="355600"/>
          </a:xfrm>
          <a:prstGeom prst="rect">
            <a:avLst/>
          </a:prstGeom>
          <a:noFill/>
          <a:ln/>
        </p:spPr>
        <p:txBody>
          <a:bodyPr wrap="none" lIns="0" tIns="0" rIns="0" bIns="0" rtlCol="0" anchor="t"/>
          <a:lstStyle/>
          <a:p>
            <a:pPr algn="l">
              <a:lnSpc>
                <a:spcPct val="120000"/>
              </a:lnSpc>
            </a:pPr>
            <a:r>
              <a:rPr lang="en-US" sz="2000" b="1" dirty="0">
                <a:solidFill>
                  <a:srgbClr val="005C82"/>
                </a:solidFill>
                <a:latin typeface="Quattrocento Sans" pitchFamily="34" charset="0"/>
                <a:ea typeface="Quattrocento Sans" pitchFamily="34" charset="-122"/>
                <a:cs typeface="Quattrocento Sans" pitchFamily="34" charset="-120"/>
              </a:rPr>
              <a:t>Pipeline Overview</a:t>
            </a:r>
            <a:endParaRPr lang="en-US" sz="2000" dirty="0"/>
          </a:p>
        </p:txBody>
      </p:sp>
      <p:sp>
        <p:nvSpPr>
          <p:cNvPr id="30" name="Text 28"/>
          <p:cNvSpPr/>
          <p:nvPr/>
        </p:nvSpPr>
        <p:spPr>
          <a:xfrm>
            <a:off x="2870200" y="6578600"/>
            <a:ext cx="13081000" cy="889000"/>
          </a:xfrm>
          <a:prstGeom prst="rect">
            <a:avLst/>
          </a:prstGeom>
          <a:noFill/>
          <a:ln/>
        </p:spPr>
        <p:txBody>
          <a:bodyPr wrap="square" lIns="0" tIns="0" rIns="0" bIns="0" rtlCol="0" anchor="t"/>
          <a:lstStyle/>
          <a:p>
            <a:pPr algn="l">
              <a:lnSpc>
                <a:spcPct val="150000"/>
              </a:lnSpc>
            </a:pPr>
            <a:r>
              <a:rPr lang="en-US" sz="1700" dirty="0">
                <a:solidFill>
                  <a:srgbClr val="333333"/>
                </a:solidFill>
                <a:latin typeface="Quattrocento Sans" pitchFamily="34" charset="0"/>
                <a:ea typeface="Quattrocento Sans" pitchFamily="34" charset="-122"/>
                <a:cs typeface="Quattrocento Sans" pitchFamily="34" charset="-120"/>
              </a:rPr>
              <a:t>A two-part pipeline: (1) </a:t>
            </a:r>
            <a:r>
              <a:rPr lang="en-US" sz="1700" b="1" dirty="0">
                <a:solidFill>
                  <a:srgbClr val="333333"/>
                </a:solidFill>
                <a:latin typeface="Quattrocento Sans" pitchFamily="34" charset="0"/>
                <a:ea typeface="Quattrocento Sans" pitchFamily="34" charset="-122"/>
                <a:cs typeface="Quattrocento Sans" pitchFamily="34" charset="-120"/>
              </a:rPr>
              <a:t>Distance-based clustering</a:t>
            </a:r>
            <a:r>
              <a:rPr lang="en-US" sz="1700" dirty="0">
                <a:solidFill>
                  <a:srgbClr val="333333"/>
                </a:solidFill>
                <a:latin typeface="Quattrocento Sans" pitchFamily="34" charset="0"/>
                <a:ea typeface="Quattrocento Sans" pitchFamily="34" charset="-122"/>
                <a:cs typeface="Quattrocento Sans" pitchFamily="34" charset="-120"/>
              </a:rPr>
              <a:t> with K-Means and hierarchical methods on planetary/orbital features; (2) </a:t>
            </a:r>
            <a:r>
              <a:rPr lang="en-US" sz="1700" b="1" dirty="0">
                <a:solidFill>
                  <a:srgbClr val="333333"/>
                </a:solidFill>
                <a:latin typeface="Quattrocento Sans" pitchFamily="34" charset="0"/>
                <a:ea typeface="Quattrocento Sans" pitchFamily="34" charset="-122"/>
                <a:cs typeface="Quattrocento Sans" pitchFamily="34" charset="-120"/>
              </a:rPr>
              <a:t>Leakage-aware supervised extension</a:t>
            </a:r>
            <a:r>
              <a:rPr lang="en-US" sz="1700" dirty="0">
                <a:solidFill>
                  <a:srgbClr val="333333"/>
                </a:solidFill>
                <a:latin typeface="Quattrocento Sans" pitchFamily="34" charset="0"/>
                <a:ea typeface="Quattrocento Sans" pitchFamily="34" charset="-122"/>
                <a:cs typeface="Quattrocento Sans" pitchFamily="34" charset="-120"/>
              </a:rPr>
              <a:t> measuring how much planet_type classification depends on near-definitional features (mass, radius).</a:t>
            </a:r>
            <a:endParaRPr lang="en-US" sz="1700" dirty="0"/>
          </a:p>
        </p:txBody>
      </p:sp>
      <p:sp>
        <p:nvSpPr>
          <p:cNvPr id="31" name="Shape 29"/>
          <p:cNvSpPr/>
          <p:nvPr/>
        </p:nvSpPr>
        <p:spPr>
          <a:xfrm>
            <a:off x="2540000" y="7620000"/>
            <a:ext cx="13208000" cy="762000"/>
          </a:xfrm>
          <a:prstGeom prst="rect">
            <a:avLst/>
          </a:prstGeom>
          <a:solidFill>
            <a:srgbClr val="005C82"/>
          </a:solidFill>
          <a:ln/>
        </p:spPr>
        <p:txBody>
          <a:bodyPr/>
          <a:lstStyle/>
          <a:p>
            <a:endParaRPr/>
          </a:p>
        </p:txBody>
      </p:sp>
      <p:sp>
        <p:nvSpPr>
          <p:cNvPr id="32" name="Shape 30"/>
          <p:cNvSpPr/>
          <p:nvPr/>
        </p:nvSpPr>
        <p:spPr>
          <a:xfrm>
            <a:off x="2717800" y="7886700"/>
            <a:ext cx="152400" cy="152400"/>
          </a:xfrm>
          <a:prstGeom prst="diamond">
            <a:avLst/>
          </a:prstGeom>
          <a:solidFill>
            <a:srgbClr val="00ACC1"/>
          </a:solidFill>
          <a:ln/>
        </p:spPr>
        <p:txBody>
          <a:bodyPr/>
          <a:lstStyle/>
          <a:p>
            <a:endParaRPr/>
          </a:p>
        </p:txBody>
      </p:sp>
      <p:sp>
        <p:nvSpPr>
          <p:cNvPr id="33" name="Text 31"/>
          <p:cNvSpPr/>
          <p:nvPr/>
        </p:nvSpPr>
        <p:spPr>
          <a:xfrm>
            <a:off x="3022600" y="7721600"/>
            <a:ext cx="12522200" cy="304800"/>
          </a:xfrm>
          <a:prstGeom prst="rect">
            <a:avLst/>
          </a:prstGeom>
          <a:noFill/>
          <a:ln/>
        </p:spPr>
        <p:txBody>
          <a:bodyPr wrap="squar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Derived labels must be excluded from unsupervised fitting to avoid reasoning and inflated performance metrics.</a:t>
            </a:r>
            <a:endParaRPr lang="en-US" sz="1600" dirty="0"/>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4FAFE"/>
        </a:solidFill>
        <a:effectLst/>
      </p:bgPr>
    </p:bg>
    <p:spTree>
      <p:nvGrpSpPr>
        <p:cNvPr id="1" name=""/>
        <p:cNvGrpSpPr/>
        <p:nvPr/>
      </p:nvGrpSpPr>
      <p:grpSpPr>
        <a:xfrm>
          <a:off x="0" y="0"/>
          <a:ext cx="0" cy="0"/>
          <a:chOff x="0" y="0"/>
          <a:chExt cx="0" cy="0"/>
        </a:xfrm>
      </p:grpSpPr>
      <p:sp>
        <p:nvSpPr>
          <p:cNvPr id="2" name="Shape 0"/>
          <p:cNvSpPr/>
          <p:nvPr/>
        </p:nvSpPr>
        <p:spPr>
          <a:xfrm>
            <a:off x="0" y="0"/>
            <a:ext cx="2286000" cy="9144000"/>
          </a:xfrm>
          <a:prstGeom prst="rect">
            <a:avLst/>
          </a:prstGeom>
          <a:solidFill>
            <a:srgbClr val="004060"/>
          </a:solidFill>
          <a:ln/>
        </p:spPr>
        <p:txBody>
          <a:bodyPr/>
          <a:lstStyle/>
          <a:p>
            <a:endParaRPr/>
          </a:p>
        </p:txBody>
      </p:sp>
      <p:sp>
        <p:nvSpPr>
          <p:cNvPr id="3" name="Shape 1"/>
          <p:cNvSpPr/>
          <p:nvPr/>
        </p:nvSpPr>
        <p:spPr>
          <a:xfrm>
            <a:off x="177800" y="177800"/>
            <a:ext cx="457200" cy="457200"/>
          </a:xfrm>
          <a:prstGeom prst="ellipse">
            <a:avLst/>
          </a:prstGeom>
          <a:solidFill>
            <a:srgbClr val="FFFFFF">
              <a:alpha val="12549"/>
            </a:srgbClr>
          </a:solidFill>
          <a:ln w="12700">
            <a:solidFill>
              <a:srgbClr val="00ACC1"/>
            </a:solidFill>
            <a:prstDash val="solid"/>
          </a:ln>
        </p:spPr>
        <p:txBody>
          <a:bodyPr/>
          <a:lstStyle/>
          <a:p>
            <a:endParaRPr/>
          </a:p>
        </p:txBody>
      </p:sp>
      <p:sp>
        <p:nvSpPr>
          <p:cNvPr id="4" name="Shape 2"/>
          <p:cNvSpPr/>
          <p:nvPr/>
        </p:nvSpPr>
        <p:spPr>
          <a:xfrm>
            <a:off x="0" y="1016000"/>
            <a:ext cx="2286000" cy="1168400"/>
          </a:xfrm>
          <a:prstGeom prst="rect">
            <a:avLst/>
          </a:prstGeom>
          <a:solidFill>
            <a:srgbClr val="005C82"/>
          </a:solidFill>
          <a:ln/>
        </p:spPr>
        <p:txBody>
          <a:bodyPr/>
          <a:lstStyle/>
          <a:p>
            <a:endParaRPr/>
          </a:p>
        </p:txBody>
      </p:sp>
      <p:sp>
        <p:nvSpPr>
          <p:cNvPr id="5" name="Text 3"/>
          <p:cNvSpPr/>
          <p:nvPr/>
        </p:nvSpPr>
        <p:spPr>
          <a:xfrm>
            <a:off x="101600" y="1016000"/>
            <a:ext cx="2082800" cy="1168400"/>
          </a:xfrm>
          <a:prstGeom prst="rect">
            <a:avLst/>
          </a:prstGeom>
          <a:noFill/>
          <a:ln/>
        </p:spPr>
        <p:txBody>
          <a:bodyPr wrap="none" lIns="0" tIns="0" rIns="0" bIns="0" rtlCol="0" anchor="ctr"/>
          <a:lstStyle/>
          <a:p>
            <a:pPr algn="l">
              <a:lnSpc>
                <a:spcPct val="120000"/>
              </a:lnSpc>
            </a:pPr>
            <a:r>
              <a:rPr lang="en-US" sz="1800" b="1" dirty="0">
                <a:solidFill>
                  <a:srgbClr val="FFFFFF"/>
                </a:solidFill>
                <a:latin typeface="Quattrocento Sans" pitchFamily="34" charset="0"/>
                <a:ea typeface="Quattrocento Sans" pitchFamily="34" charset="-122"/>
                <a:cs typeface="Quattrocento Sans" pitchFamily="34" charset="-120"/>
              </a:rPr>
              <a:t>01 Intro</a:t>
            </a:r>
            <a:endParaRPr lang="en-US" sz="1800" dirty="0"/>
          </a:p>
        </p:txBody>
      </p:sp>
      <p:sp>
        <p:nvSpPr>
          <p:cNvPr id="6" name="Text 4"/>
          <p:cNvSpPr/>
          <p:nvPr/>
        </p:nvSpPr>
        <p:spPr>
          <a:xfrm>
            <a:off x="101600" y="21844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02 Dataset</a:t>
            </a:r>
            <a:endParaRPr lang="en-US" sz="1600" dirty="0"/>
          </a:p>
        </p:txBody>
      </p:sp>
      <p:sp>
        <p:nvSpPr>
          <p:cNvPr id="7" name="Text 5"/>
          <p:cNvSpPr/>
          <p:nvPr/>
        </p:nvSpPr>
        <p:spPr>
          <a:xfrm>
            <a:off x="101600" y="33528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03 Clustering</a:t>
            </a:r>
            <a:endParaRPr lang="en-US" sz="1600" dirty="0"/>
          </a:p>
        </p:txBody>
      </p:sp>
      <p:sp>
        <p:nvSpPr>
          <p:cNvPr id="8" name="Text 6"/>
          <p:cNvSpPr/>
          <p:nvPr/>
        </p:nvSpPr>
        <p:spPr>
          <a:xfrm>
            <a:off x="101600" y="45212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04 Supervised</a:t>
            </a:r>
            <a:endParaRPr lang="en-US" sz="1600" dirty="0"/>
          </a:p>
        </p:txBody>
      </p:sp>
      <p:sp>
        <p:nvSpPr>
          <p:cNvPr id="9" name="Text 7"/>
          <p:cNvSpPr/>
          <p:nvPr/>
        </p:nvSpPr>
        <p:spPr>
          <a:xfrm>
            <a:off x="101600" y="56896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05 Conclusions</a:t>
            </a:r>
            <a:endParaRPr lang="en-US" sz="1600" dirty="0"/>
          </a:p>
        </p:txBody>
      </p:sp>
      <p:sp>
        <p:nvSpPr>
          <p:cNvPr id="10" name="Shape 8"/>
          <p:cNvSpPr/>
          <p:nvPr/>
        </p:nvSpPr>
        <p:spPr>
          <a:xfrm>
            <a:off x="1066800" y="7493000"/>
            <a:ext cx="152400" cy="152400"/>
          </a:xfrm>
          <a:prstGeom prst="diamond">
            <a:avLst/>
          </a:prstGeom>
          <a:solidFill>
            <a:srgbClr val="00ACC1"/>
          </a:solidFill>
          <a:ln/>
        </p:spPr>
        <p:txBody>
          <a:bodyPr/>
          <a:lstStyle/>
          <a:p>
            <a:endParaRPr/>
          </a:p>
        </p:txBody>
      </p:sp>
      <p:sp>
        <p:nvSpPr>
          <p:cNvPr id="11" name="Shape 9"/>
          <p:cNvSpPr/>
          <p:nvPr/>
        </p:nvSpPr>
        <p:spPr>
          <a:xfrm>
            <a:off x="2286000" y="0"/>
            <a:ext cx="13970000" cy="635000"/>
          </a:xfrm>
          <a:prstGeom prst="rect">
            <a:avLst/>
          </a:prstGeom>
          <a:solidFill>
            <a:srgbClr val="E0F4FA"/>
          </a:solidFill>
          <a:ln/>
        </p:spPr>
        <p:txBody>
          <a:bodyPr/>
          <a:lstStyle/>
          <a:p>
            <a:endParaRPr/>
          </a:p>
        </p:txBody>
      </p:sp>
      <p:sp>
        <p:nvSpPr>
          <p:cNvPr id="12" name="Text 10"/>
          <p:cNvSpPr/>
          <p:nvPr/>
        </p:nvSpPr>
        <p:spPr>
          <a:xfrm>
            <a:off x="2540000" y="0"/>
            <a:ext cx="12827000" cy="635000"/>
          </a:xfrm>
          <a:prstGeom prst="rect">
            <a:avLst/>
          </a:prstGeom>
          <a:noFill/>
          <a:ln/>
        </p:spPr>
        <p:txBody>
          <a:bodyPr wrap="none" lIns="0" tIns="0" rIns="0" bIns="0" rtlCol="0" anchor="ctr"/>
          <a:lstStyle/>
          <a:p>
            <a:pPr algn="l">
              <a:lnSpc>
                <a:spcPct val="120000"/>
              </a:lnSpc>
            </a:pPr>
            <a:r>
              <a:rPr lang="en-US" sz="1400" b="1" dirty="0">
                <a:solidFill>
                  <a:srgbClr val="005C82"/>
                </a:solidFill>
                <a:latin typeface="Quattrocento Sans" pitchFamily="34" charset="0"/>
                <a:ea typeface="Quattrocento Sans" pitchFamily="34" charset="-122"/>
                <a:cs typeface="Quattrocento Sans" pitchFamily="34" charset="-120"/>
              </a:rPr>
              <a:t>01 Introduction</a:t>
            </a:r>
            <a:r>
              <a:rPr lang="en-US" sz="1400" dirty="0">
                <a:solidFill>
                  <a:srgbClr val="005C82"/>
                </a:solidFill>
                <a:latin typeface="Quattrocento Sans" pitchFamily="34" charset="0"/>
                <a:ea typeface="Quattrocento Sans" pitchFamily="34" charset="-122"/>
                <a:cs typeface="Quattrocento Sans" pitchFamily="34" charset="-120"/>
              </a:rPr>
              <a:t>  &gt;  1.2  Research Questions &amp; Contributions</a:t>
            </a:r>
            <a:endParaRPr lang="en-US" sz="1400" dirty="0"/>
          </a:p>
        </p:txBody>
      </p:sp>
      <p:sp>
        <p:nvSpPr>
          <p:cNvPr id="13" name="Text 11"/>
          <p:cNvSpPr/>
          <p:nvPr/>
        </p:nvSpPr>
        <p:spPr>
          <a:xfrm>
            <a:off x="15621000" y="0"/>
            <a:ext cx="635000" cy="635000"/>
          </a:xfrm>
          <a:prstGeom prst="rect">
            <a:avLst/>
          </a:prstGeom>
          <a:noFill/>
          <a:ln/>
        </p:spPr>
        <p:txBody>
          <a:bodyPr wrap="square" lIns="0" tIns="0" rIns="0" bIns="0" rtlCol="0" anchor="ctr"/>
          <a:lstStyle/>
          <a:p>
            <a:r>
              <a:t>6</a:t>
            </a:r>
          </a:p>
        </p:txBody>
      </p:sp>
      <p:sp>
        <p:nvSpPr>
          <p:cNvPr id="14" name="Text 12"/>
          <p:cNvSpPr/>
          <p:nvPr/>
        </p:nvSpPr>
        <p:spPr>
          <a:xfrm>
            <a:off x="2540000" y="863600"/>
            <a:ext cx="13208000" cy="457200"/>
          </a:xfrm>
          <a:prstGeom prst="rect">
            <a:avLst/>
          </a:prstGeom>
          <a:noFill/>
          <a:ln/>
        </p:spPr>
        <p:txBody>
          <a:bodyPr wrap="none" lIns="0" tIns="0" rIns="0" bIns="0" rtlCol="0" anchor="t"/>
          <a:lstStyle/>
          <a:p>
            <a:pPr algn="l">
              <a:lnSpc>
                <a:spcPct val="120000"/>
              </a:lnSpc>
            </a:pPr>
            <a:r>
              <a:rPr lang="en-US" sz="2400" b="1" dirty="0">
                <a:solidFill>
                  <a:srgbClr val="005C82"/>
                </a:solidFill>
                <a:latin typeface="Quattrocento Sans" pitchFamily="34" charset="0"/>
                <a:ea typeface="Quattrocento Sans" pitchFamily="34" charset="-122"/>
                <a:cs typeface="Quattrocento Sans" pitchFamily="34" charset="-120"/>
              </a:rPr>
              <a:t>Research Questions &amp; Contributions</a:t>
            </a:r>
            <a:endParaRPr lang="en-US" sz="2400" dirty="0"/>
          </a:p>
        </p:txBody>
      </p:sp>
      <p:sp>
        <p:nvSpPr>
          <p:cNvPr id="15" name="Shape 13"/>
          <p:cNvSpPr/>
          <p:nvPr/>
        </p:nvSpPr>
        <p:spPr>
          <a:xfrm>
            <a:off x="2540000" y="1397000"/>
            <a:ext cx="13208000" cy="12700"/>
          </a:xfrm>
          <a:prstGeom prst="rect">
            <a:avLst/>
          </a:prstGeom>
          <a:solidFill>
            <a:srgbClr val="B0BEC5"/>
          </a:solidFill>
          <a:ln/>
        </p:spPr>
        <p:txBody>
          <a:bodyPr/>
          <a:lstStyle/>
          <a:p>
            <a:endParaRPr/>
          </a:p>
        </p:txBody>
      </p:sp>
      <p:sp>
        <p:nvSpPr>
          <p:cNvPr id="16" name="Shape 14"/>
          <p:cNvSpPr/>
          <p:nvPr/>
        </p:nvSpPr>
        <p:spPr>
          <a:xfrm>
            <a:off x="2540000" y="1574800"/>
            <a:ext cx="6350000" cy="2540000"/>
          </a:xfrm>
          <a:prstGeom prst="roundRect">
            <a:avLst>
              <a:gd name="adj" fmla="val 4000"/>
            </a:avLst>
          </a:prstGeom>
          <a:solidFill>
            <a:srgbClr val="E0F4FA"/>
          </a:solidFill>
          <a:ln/>
        </p:spPr>
        <p:txBody>
          <a:bodyPr/>
          <a:lstStyle/>
          <a:p>
            <a:endParaRPr/>
          </a:p>
        </p:txBody>
      </p:sp>
      <p:sp>
        <p:nvSpPr>
          <p:cNvPr id="17" name="Text 15"/>
          <p:cNvSpPr/>
          <p:nvPr/>
        </p:nvSpPr>
        <p:spPr>
          <a:xfrm>
            <a:off x="2743200" y="1727200"/>
            <a:ext cx="2540000" cy="304800"/>
          </a:xfrm>
          <a:prstGeom prst="rect">
            <a:avLst/>
          </a:prstGeom>
          <a:noFill/>
          <a:ln/>
        </p:spPr>
        <p:txBody>
          <a:bodyPr wrap="none" lIns="0" tIns="0" rIns="0" bIns="0" rtlCol="0" anchor="t"/>
          <a:lstStyle/>
          <a:p>
            <a:pPr algn="l">
              <a:lnSpc>
                <a:spcPct val="120000"/>
              </a:lnSpc>
            </a:pPr>
            <a:r>
              <a:rPr lang="en-US" sz="1400" b="1" dirty="0">
                <a:solidFill>
                  <a:srgbClr val="00ACC1"/>
                </a:solidFill>
                <a:latin typeface="Quattrocento Sans" pitchFamily="34" charset="0"/>
                <a:ea typeface="Quattrocento Sans" pitchFamily="34" charset="-122"/>
                <a:cs typeface="Quattrocento Sans" pitchFamily="34" charset="-120"/>
              </a:rPr>
              <a:t>RESEARCH QUESTION 1</a:t>
            </a:r>
            <a:endParaRPr lang="en-US" sz="1400" dirty="0"/>
          </a:p>
        </p:txBody>
      </p:sp>
      <p:sp>
        <p:nvSpPr>
          <p:cNvPr id="18" name="Text 16"/>
          <p:cNvSpPr/>
          <p:nvPr/>
        </p:nvSpPr>
        <p:spPr>
          <a:xfrm>
            <a:off x="2743200" y="2082800"/>
            <a:ext cx="5943600" cy="1879600"/>
          </a:xfrm>
          <a:prstGeom prst="rect">
            <a:avLst/>
          </a:prstGeom>
          <a:noFill/>
          <a:ln/>
        </p:spPr>
        <p:txBody>
          <a:bodyPr wrap="square" lIns="0" tIns="0" rIns="0" bIns="0" rtlCol="0" anchor="t"/>
          <a:lstStyle/>
          <a:p>
            <a:pPr algn="l">
              <a:lnSpc>
                <a:spcPct val="160000"/>
              </a:lnSpc>
            </a:pPr>
            <a:r>
              <a:rPr lang="en-US" sz="1700" dirty="0">
                <a:solidFill>
                  <a:srgbClr val="333333"/>
                </a:solidFill>
                <a:latin typeface="Quattrocento Sans" pitchFamily="34" charset="0"/>
                <a:ea typeface="Quattrocento Sans" pitchFamily="34" charset="-122"/>
                <a:cs typeface="Quattrocento Sans" pitchFamily="34" charset="-120"/>
              </a:rPr>
              <a:t>Do confirmed exoplanets form </a:t>
            </a:r>
            <a:r>
              <a:rPr lang="en-US" sz="1700" b="1" dirty="0">
                <a:solidFill>
                  <a:srgbClr val="333333"/>
                </a:solidFill>
                <a:latin typeface="Quattrocento Sans" pitchFamily="34" charset="0"/>
                <a:ea typeface="Quattrocento Sans" pitchFamily="34" charset="-122"/>
                <a:cs typeface="Quattrocento Sans" pitchFamily="34" charset="-120"/>
              </a:rPr>
              <a:t>natural groupings</a:t>
            </a:r>
            <a:r>
              <a:rPr lang="en-US" sz="1700" dirty="0">
                <a:solidFill>
                  <a:srgbClr val="333333"/>
                </a:solidFill>
                <a:latin typeface="Quattrocento Sans" pitchFamily="34" charset="0"/>
                <a:ea typeface="Quattrocento Sans" pitchFamily="34" charset="-122"/>
                <a:cs typeface="Quattrocento Sans" pitchFamily="34" charset="-120"/>
              </a:rPr>
              <a:t> based on physical and orbital properties alone, without reference to any pre-existing taxonomy?</a:t>
            </a:r>
            <a:endParaRPr lang="en-US" sz="1700" dirty="0"/>
          </a:p>
        </p:txBody>
      </p:sp>
      <p:sp>
        <p:nvSpPr>
          <p:cNvPr id="19" name="Shape 17"/>
          <p:cNvSpPr/>
          <p:nvPr/>
        </p:nvSpPr>
        <p:spPr>
          <a:xfrm>
            <a:off x="9144000" y="1574800"/>
            <a:ext cx="6350000" cy="2540000"/>
          </a:xfrm>
          <a:prstGeom prst="roundRect">
            <a:avLst>
              <a:gd name="adj" fmla="val 4000"/>
            </a:avLst>
          </a:prstGeom>
          <a:solidFill>
            <a:srgbClr val="E0F4FA"/>
          </a:solidFill>
          <a:ln/>
        </p:spPr>
        <p:txBody>
          <a:bodyPr/>
          <a:lstStyle/>
          <a:p>
            <a:endParaRPr/>
          </a:p>
        </p:txBody>
      </p:sp>
      <p:sp>
        <p:nvSpPr>
          <p:cNvPr id="20" name="Text 18"/>
          <p:cNvSpPr/>
          <p:nvPr/>
        </p:nvSpPr>
        <p:spPr>
          <a:xfrm>
            <a:off x="9347200" y="1727200"/>
            <a:ext cx="2540000" cy="304800"/>
          </a:xfrm>
          <a:prstGeom prst="rect">
            <a:avLst/>
          </a:prstGeom>
          <a:noFill/>
          <a:ln/>
        </p:spPr>
        <p:txBody>
          <a:bodyPr wrap="none" lIns="0" tIns="0" rIns="0" bIns="0" rtlCol="0" anchor="t"/>
          <a:lstStyle/>
          <a:p>
            <a:pPr algn="l">
              <a:lnSpc>
                <a:spcPct val="120000"/>
              </a:lnSpc>
            </a:pPr>
            <a:r>
              <a:rPr lang="en-US" sz="1400" b="1" dirty="0">
                <a:solidFill>
                  <a:srgbClr val="00ACC1"/>
                </a:solidFill>
                <a:latin typeface="Quattrocento Sans" pitchFamily="34" charset="0"/>
                <a:ea typeface="Quattrocento Sans" pitchFamily="34" charset="-122"/>
                <a:cs typeface="Quattrocento Sans" pitchFamily="34" charset="-120"/>
              </a:rPr>
              <a:t>RESEARCH QUESTION 2</a:t>
            </a:r>
            <a:endParaRPr lang="en-US" sz="1400" dirty="0"/>
          </a:p>
        </p:txBody>
      </p:sp>
      <p:sp>
        <p:nvSpPr>
          <p:cNvPr id="21" name="Text 19"/>
          <p:cNvSpPr/>
          <p:nvPr/>
        </p:nvSpPr>
        <p:spPr>
          <a:xfrm>
            <a:off x="9347200" y="2082800"/>
            <a:ext cx="5943600" cy="1879600"/>
          </a:xfrm>
          <a:prstGeom prst="rect">
            <a:avLst/>
          </a:prstGeom>
          <a:noFill/>
          <a:ln/>
        </p:spPr>
        <p:txBody>
          <a:bodyPr wrap="square" lIns="0" tIns="0" rIns="0" bIns="0" rtlCol="0" anchor="t"/>
          <a:lstStyle/>
          <a:p>
            <a:pPr algn="l">
              <a:lnSpc>
                <a:spcPct val="160000"/>
              </a:lnSpc>
            </a:pPr>
            <a:r>
              <a:rPr lang="en-US" sz="1700" dirty="0">
                <a:solidFill>
                  <a:srgbClr val="333333"/>
                </a:solidFill>
                <a:latin typeface="Quattrocento Sans" pitchFamily="34" charset="0"/>
                <a:ea typeface="Quattrocento Sans" pitchFamily="34" charset="-122"/>
                <a:cs typeface="Quattrocento Sans" pitchFamily="34" charset="-120"/>
              </a:rPr>
              <a:t>How much </a:t>
            </a:r>
            <a:r>
              <a:rPr lang="en-US" sz="1700" b="1" dirty="0">
                <a:solidFill>
                  <a:srgbClr val="333333"/>
                </a:solidFill>
                <a:latin typeface="Quattrocento Sans" pitchFamily="34" charset="0"/>
                <a:ea typeface="Quattrocento Sans" pitchFamily="34" charset="-122"/>
                <a:cs typeface="Quattrocento Sans" pitchFamily="34" charset="-120"/>
              </a:rPr>
              <a:t>predictive signal</a:t>
            </a:r>
            <a:r>
              <a:rPr lang="en-US" sz="1700" dirty="0">
                <a:solidFill>
                  <a:srgbClr val="333333"/>
                </a:solidFill>
                <a:latin typeface="Quattrocento Sans" pitchFamily="34" charset="0"/>
                <a:ea typeface="Quattrocento Sans" pitchFamily="34" charset="-122"/>
                <a:cs typeface="Quattrocento Sans" pitchFamily="34" charset="-120"/>
              </a:rPr>
              <a:t> for planet_type survives the removal of near-definitional features, namely planetary mass and radius?</a:t>
            </a:r>
            <a:endParaRPr lang="en-US" sz="1700" dirty="0"/>
          </a:p>
        </p:txBody>
      </p:sp>
      <p:sp>
        <p:nvSpPr>
          <p:cNvPr id="22" name="Text 20"/>
          <p:cNvSpPr/>
          <p:nvPr/>
        </p:nvSpPr>
        <p:spPr>
          <a:xfrm>
            <a:off x="2540000" y="4318000"/>
            <a:ext cx="13208000" cy="355600"/>
          </a:xfrm>
          <a:prstGeom prst="rect">
            <a:avLst/>
          </a:prstGeom>
          <a:noFill/>
          <a:ln/>
        </p:spPr>
        <p:txBody>
          <a:bodyPr wrap="none" lIns="0" tIns="0" rIns="0" bIns="0" rtlCol="0" anchor="t"/>
          <a:lstStyle/>
          <a:p>
            <a:pPr algn="l">
              <a:lnSpc>
                <a:spcPct val="120000"/>
              </a:lnSpc>
            </a:pPr>
            <a:r>
              <a:rPr lang="en-US" sz="2000" b="1" dirty="0">
                <a:solidFill>
                  <a:srgbClr val="005C82"/>
                </a:solidFill>
                <a:latin typeface="Quattrocento Sans" pitchFamily="34" charset="0"/>
                <a:ea typeface="Quattrocento Sans" pitchFamily="34" charset="-122"/>
                <a:cs typeface="Quattrocento Sans" pitchFamily="34" charset="-120"/>
              </a:rPr>
              <a:t>Four Main Contributions</a:t>
            </a:r>
            <a:endParaRPr lang="en-US" sz="2000" dirty="0"/>
          </a:p>
        </p:txBody>
      </p:sp>
      <p:sp>
        <p:nvSpPr>
          <p:cNvPr id="23" name="Shape 21"/>
          <p:cNvSpPr/>
          <p:nvPr/>
        </p:nvSpPr>
        <p:spPr>
          <a:xfrm>
            <a:off x="2540000" y="4724400"/>
            <a:ext cx="13208000" cy="12700"/>
          </a:xfrm>
          <a:prstGeom prst="rect">
            <a:avLst/>
          </a:prstGeom>
          <a:solidFill>
            <a:srgbClr val="E0F4FA"/>
          </a:solidFill>
          <a:ln/>
        </p:spPr>
        <p:txBody>
          <a:bodyPr/>
          <a:lstStyle/>
          <a:p>
            <a:endParaRPr/>
          </a:p>
        </p:txBody>
      </p:sp>
      <p:sp>
        <p:nvSpPr>
          <p:cNvPr id="24" name="Shape 22"/>
          <p:cNvSpPr/>
          <p:nvPr/>
        </p:nvSpPr>
        <p:spPr>
          <a:xfrm>
            <a:off x="2540000" y="4978400"/>
            <a:ext cx="177800" cy="177800"/>
          </a:xfrm>
          <a:prstGeom prst="diamond">
            <a:avLst/>
          </a:prstGeom>
          <a:solidFill>
            <a:srgbClr val="005C82"/>
          </a:solidFill>
          <a:ln/>
        </p:spPr>
        <p:txBody>
          <a:bodyPr/>
          <a:lstStyle/>
          <a:p>
            <a:endParaRPr/>
          </a:p>
        </p:txBody>
      </p:sp>
      <p:sp>
        <p:nvSpPr>
          <p:cNvPr id="25" name="Text 23"/>
          <p:cNvSpPr/>
          <p:nvPr/>
        </p:nvSpPr>
        <p:spPr>
          <a:xfrm>
            <a:off x="2870200" y="4902200"/>
            <a:ext cx="12877800" cy="635000"/>
          </a:xfrm>
          <a:prstGeom prst="rect">
            <a:avLst/>
          </a:prstGeom>
          <a:noFill/>
          <a:ln/>
        </p:spPr>
        <p:txBody>
          <a:bodyPr wrap="square" lIns="0" tIns="0" rIns="0" bIns="0" rtlCol="0" anchor="t"/>
          <a:lstStyle/>
          <a:p>
            <a:pPr algn="l">
              <a:lnSpc>
                <a:spcPct val="150000"/>
              </a:lnSpc>
            </a:pPr>
            <a:r>
              <a:rPr lang="en-US" sz="1700" b="1" dirty="0">
                <a:solidFill>
                  <a:srgbClr val="333333"/>
                </a:solidFill>
                <a:latin typeface="Quattrocento Sans" pitchFamily="34" charset="0"/>
                <a:ea typeface="Quattrocento Sans" pitchFamily="34" charset="-122"/>
                <a:cs typeface="Quattrocento Sans" pitchFamily="34" charset="-120"/>
              </a:rPr>
              <a:t>Feature audit</a:t>
            </a:r>
            <a:r>
              <a:rPr lang="en-US" sz="1700" dirty="0">
                <a:solidFill>
                  <a:srgbClr val="333333"/>
                </a:solidFill>
                <a:latin typeface="Quattrocento Sans" pitchFamily="34" charset="0"/>
                <a:ea typeface="Quattrocento Sans" pitchFamily="34" charset="-122"/>
                <a:cs typeface="Quattrocento Sans" pitchFamily="34" charset="-120"/>
              </a:rPr>
              <a:t> separating physical measurements, derived labels, and observational metadata with explicit exclusion criteria</a:t>
            </a:r>
            <a:endParaRPr lang="en-US" sz="1700" dirty="0"/>
          </a:p>
        </p:txBody>
      </p:sp>
      <p:sp>
        <p:nvSpPr>
          <p:cNvPr id="26" name="Shape 24"/>
          <p:cNvSpPr/>
          <p:nvPr/>
        </p:nvSpPr>
        <p:spPr>
          <a:xfrm>
            <a:off x="2540000" y="5664200"/>
            <a:ext cx="177800" cy="177800"/>
          </a:xfrm>
          <a:prstGeom prst="diamond">
            <a:avLst/>
          </a:prstGeom>
          <a:solidFill>
            <a:srgbClr val="005C82"/>
          </a:solidFill>
          <a:ln/>
        </p:spPr>
        <p:txBody>
          <a:bodyPr/>
          <a:lstStyle/>
          <a:p>
            <a:endParaRPr/>
          </a:p>
        </p:txBody>
      </p:sp>
      <p:sp>
        <p:nvSpPr>
          <p:cNvPr id="27" name="Text 25"/>
          <p:cNvSpPr/>
          <p:nvPr/>
        </p:nvSpPr>
        <p:spPr>
          <a:xfrm>
            <a:off x="2870200" y="5588000"/>
            <a:ext cx="12877800" cy="635000"/>
          </a:xfrm>
          <a:prstGeom prst="rect">
            <a:avLst/>
          </a:prstGeom>
          <a:noFill/>
          <a:ln/>
        </p:spPr>
        <p:txBody>
          <a:bodyPr wrap="square" lIns="0" tIns="0" rIns="0" bIns="0" rtlCol="0" anchor="t"/>
          <a:lstStyle/>
          <a:p>
            <a:pPr algn="l">
              <a:lnSpc>
                <a:spcPct val="130000"/>
              </a:lnSpc>
            </a:pPr>
            <a:r>
              <a:rPr lang="en-US" sz="1500" b="1" dirty="0">
                <a:solidFill>
                  <a:srgbClr val="333333"/>
                </a:solidFill>
                <a:latin typeface="Quattrocento Sans" pitchFamily="34" charset="0"/>
                <a:ea typeface="Quattrocento Sans" pitchFamily="34" charset="-122"/>
                <a:cs typeface="Quattrocento Sans" pitchFamily="34" charset="-120"/>
              </a:rPr>
              <a:t>Clustering comparison</a:t>
            </a:r>
            <a:r>
              <a:rPr lang="en-US" sz="1500" dirty="0">
                <a:solidFill>
                  <a:srgbClr val="333333"/>
                </a:solidFill>
                <a:latin typeface="Quattrocento Sans" pitchFamily="34" charset="0"/>
                <a:ea typeface="Quattrocento Sans" pitchFamily="34" charset="-122"/>
                <a:cs typeface="Quattrocento Sans" pitchFamily="34" charset="-120"/>
              </a:rPr>
              <a:t> of K-Means with single and complete linkage across two feature spaces, with Silhouette and cluster-size diagnostics</a:t>
            </a:r>
            <a:endParaRPr lang="en-US" sz="1500" dirty="0"/>
          </a:p>
        </p:txBody>
      </p:sp>
      <p:sp>
        <p:nvSpPr>
          <p:cNvPr id="28" name="Shape 26"/>
          <p:cNvSpPr/>
          <p:nvPr/>
        </p:nvSpPr>
        <p:spPr>
          <a:xfrm>
            <a:off x="2540000" y="6350000"/>
            <a:ext cx="177800" cy="177800"/>
          </a:xfrm>
          <a:prstGeom prst="diamond">
            <a:avLst/>
          </a:prstGeom>
          <a:solidFill>
            <a:srgbClr val="007AA8"/>
          </a:solidFill>
          <a:ln/>
        </p:spPr>
        <p:txBody>
          <a:bodyPr/>
          <a:lstStyle/>
          <a:p>
            <a:endParaRPr/>
          </a:p>
        </p:txBody>
      </p:sp>
      <p:sp>
        <p:nvSpPr>
          <p:cNvPr id="29" name="Text 27"/>
          <p:cNvSpPr/>
          <p:nvPr/>
        </p:nvSpPr>
        <p:spPr>
          <a:xfrm>
            <a:off x="2870200" y="6273800"/>
            <a:ext cx="12877800" cy="635000"/>
          </a:xfrm>
          <a:prstGeom prst="rect">
            <a:avLst/>
          </a:prstGeom>
          <a:noFill/>
          <a:ln/>
        </p:spPr>
        <p:txBody>
          <a:bodyPr wrap="square" lIns="0" tIns="0" rIns="0" bIns="0" rtlCol="0" anchor="t"/>
          <a:lstStyle/>
          <a:p>
            <a:pPr algn="l">
              <a:lnSpc>
                <a:spcPct val="140000"/>
              </a:lnSpc>
            </a:pPr>
            <a:r>
              <a:rPr lang="en-US" sz="1600" b="1" dirty="0">
                <a:solidFill>
                  <a:srgbClr val="333333"/>
                </a:solidFill>
                <a:latin typeface="Quattrocento Sans" pitchFamily="34" charset="0"/>
                <a:ea typeface="Quattrocento Sans" pitchFamily="34" charset="-122"/>
                <a:cs typeface="Quattrocento Sans" pitchFamily="34" charset="-120"/>
              </a:rPr>
              <a:t>Bootstrap stability</a:t>
            </a:r>
            <a:r>
              <a:rPr lang="en-US" sz="1600" dirty="0">
                <a:solidFill>
                  <a:srgbClr val="333333"/>
                </a:solidFill>
                <a:latin typeface="Quattrocento Sans" pitchFamily="34" charset="0"/>
                <a:ea typeface="Quattrocento Sans" pitchFamily="34" charset="-122"/>
                <a:cs typeface="Quattrocento Sans" pitchFamily="34" charset="-120"/>
              </a:rPr>
              <a:t> analysis and post-hoc Adjusted Rand comparison for clustering, plus leakage-aware ablation study for supervised task</a:t>
            </a:r>
            <a:endParaRPr lang="en-US" sz="1600" dirty="0"/>
          </a:p>
        </p:txBody>
      </p:sp>
      <p:sp>
        <p:nvSpPr>
          <p:cNvPr id="30" name="Shape 28"/>
          <p:cNvSpPr/>
          <p:nvPr/>
        </p:nvSpPr>
        <p:spPr>
          <a:xfrm>
            <a:off x="2540000" y="7035800"/>
            <a:ext cx="177800" cy="177800"/>
          </a:xfrm>
          <a:prstGeom prst="diamond">
            <a:avLst/>
          </a:prstGeom>
          <a:solidFill>
            <a:srgbClr val="00ACC1"/>
          </a:solidFill>
          <a:ln/>
        </p:spPr>
        <p:txBody>
          <a:bodyPr/>
          <a:lstStyle/>
          <a:p>
            <a:endParaRPr/>
          </a:p>
        </p:txBody>
      </p:sp>
      <p:sp>
        <p:nvSpPr>
          <p:cNvPr id="31" name="Text 29"/>
          <p:cNvSpPr/>
          <p:nvPr/>
        </p:nvSpPr>
        <p:spPr>
          <a:xfrm>
            <a:off x="2870200" y="6959600"/>
            <a:ext cx="12877800" cy="635000"/>
          </a:xfrm>
          <a:prstGeom prst="rect">
            <a:avLst/>
          </a:prstGeom>
          <a:noFill/>
          <a:ln/>
        </p:spPr>
        <p:txBody>
          <a:bodyPr wrap="square" lIns="0" tIns="0" rIns="0" bIns="0" rtlCol="0" anchor="t"/>
          <a:lstStyle/>
          <a:p>
            <a:pPr algn="l">
              <a:lnSpc>
                <a:spcPct val="140000"/>
              </a:lnSpc>
            </a:pPr>
            <a:r>
              <a:rPr lang="en-US" sz="1600" b="1" dirty="0">
                <a:solidFill>
                  <a:srgbClr val="333333"/>
                </a:solidFill>
                <a:latin typeface="Quattrocento Sans" pitchFamily="34" charset="0"/>
                <a:ea typeface="Quattrocento Sans" pitchFamily="34" charset="-122"/>
                <a:cs typeface="Quattrocento Sans" pitchFamily="34" charset="-120"/>
              </a:rPr>
              <a:t>Bootstrap confidence intervals</a:t>
            </a:r>
            <a:r>
              <a:rPr lang="en-US" sz="1600" dirty="0">
                <a:solidFill>
                  <a:srgbClr val="333333"/>
                </a:solidFill>
                <a:latin typeface="Quattrocento Sans" pitchFamily="34" charset="0"/>
                <a:ea typeface="Quattrocento Sans" pitchFamily="34" charset="-122"/>
                <a:cs typeface="Quattrocento Sans" pitchFamily="34" charset="-120"/>
              </a:rPr>
              <a:t> and corrected resampled t-tests providing dependence-aware statistical context for supervised comparison</a:t>
            </a:r>
            <a:endParaRPr lang="en-US" sz="1600" dirty="0"/>
          </a:p>
        </p:txBody>
      </p:sp>
      <p:sp>
        <p:nvSpPr>
          <p:cNvPr id="32" name="Shape 30"/>
          <p:cNvSpPr/>
          <p:nvPr/>
        </p:nvSpPr>
        <p:spPr>
          <a:xfrm>
            <a:off x="2540000" y="7747000"/>
            <a:ext cx="13208000" cy="635000"/>
          </a:xfrm>
          <a:prstGeom prst="rect">
            <a:avLst/>
          </a:prstGeom>
          <a:solidFill>
            <a:srgbClr val="005C82"/>
          </a:solidFill>
          <a:ln/>
        </p:spPr>
        <p:txBody>
          <a:bodyPr/>
          <a:lstStyle/>
          <a:p>
            <a:endParaRPr/>
          </a:p>
        </p:txBody>
      </p:sp>
      <p:sp>
        <p:nvSpPr>
          <p:cNvPr id="33" name="Shape 31"/>
          <p:cNvSpPr/>
          <p:nvPr/>
        </p:nvSpPr>
        <p:spPr>
          <a:xfrm>
            <a:off x="2717800" y="7962900"/>
            <a:ext cx="152400" cy="152400"/>
          </a:xfrm>
          <a:prstGeom prst="diamond">
            <a:avLst/>
          </a:prstGeom>
          <a:solidFill>
            <a:srgbClr val="00ACC1"/>
          </a:solidFill>
          <a:ln/>
        </p:spPr>
        <p:txBody>
          <a:bodyPr/>
          <a:lstStyle/>
          <a:p>
            <a:endParaRPr/>
          </a:p>
        </p:txBody>
      </p:sp>
      <p:sp>
        <p:nvSpPr>
          <p:cNvPr id="34" name="Text 32"/>
          <p:cNvSpPr/>
          <p:nvPr/>
        </p:nvSpPr>
        <p:spPr>
          <a:xfrm>
            <a:off x="3022600" y="7848600"/>
            <a:ext cx="12522200" cy="304800"/>
          </a:xfrm>
          <a:prstGeom prst="rect">
            <a:avLst/>
          </a:prstGeom>
          <a:noFill/>
          <a:ln/>
        </p:spPr>
        <p:txBody>
          <a:bodyPr wrap="square" lIns="0" tIns="0" rIns="0" bIns="0" rtlCol="0" anchor="ctr"/>
          <a:lstStyle/>
          <a:p>
            <a:pPr algn="l">
              <a:lnSpc>
                <a:spcPct val="120000"/>
              </a:lnSpc>
            </a:pPr>
            <a:endParaRPr lang="en-US" sz="1600" dirty="0"/>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AFE"/>
        </a:solidFill>
        <a:effectLst/>
      </p:bgPr>
    </p:bg>
    <p:spTree>
      <p:nvGrpSpPr>
        <p:cNvPr id="1" name=""/>
        <p:cNvGrpSpPr/>
        <p:nvPr/>
      </p:nvGrpSpPr>
      <p:grpSpPr>
        <a:xfrm>
          <a:off x="0" y="0"/>
          <a:ext cx="0" cy="0"/>
          <a:chOff x="0" y="0"/>
          <a:chExt cx="0" cy="0"/>
        </a:xfrm>
      </p:grpSpPr>
      <p:sp>
        <p:nvSpPr>
          <p:cNvPr id="2" name="Shape 0"/>
          <p:cNvSpPr/>
          <p:nvPr/>
        </p:nvSpPr>
        <p:spPr>
          <a:xfrm>
            <a:off x="2032000" y="1778000"/>
            <a:ext cx="4826000" cy="4826000"/>
          </a:xfrm>
          <a:prstGeom prst="rect">
            <a:avLst/>
          </a:prstGeom>
          <a:solidFill>
            <a:srgbClr val="005C82">
              <a:alpha val="3922"/>
            </a:srgbClr>
          </a:solidFill>
          <a:ln w="12700">
            <a:solidFill>
              <a:srgbClr val="005C82"/>
            </a:solidFill>
            <a:prstDash val="solid"/>
          </a:ln>
        </p:spPr>
        <p:txBody>
          <a:bodyPr/>
          <a:lstStyle/>
          <a:p>
            <a:endParaRPr/>
          </a:p>
        </p:txBody>
      </p:sp>
      <p:sp>
        <p:nvSpPr>
          <p:cNvPr id="3" name="Shape 1"/>
          <p:cNvSpPr/>
          <p:nvPr/>
        </p:nvSpPr>
        <p:spPr>
          <a:xfrm>
            <a:off x="2540000" y="2286000"/>
            <a:ext cx="3810000" cy="3810000"/>
          </a:xfrm>
          <a:prstGeom prst="rect">
            <a:avLst/>
          </a:prstGeom>
          <a:solidFill>
            <a:srgbClr val="005C82">
              <a:alpha val="3922"/>
            </a:srgbClr>
          </a:solidFill>
          <a:ln w="12700">
            <a:solidFill>
              <a:srgbClr val="005C82"/>
            </a:solidFill>
            <a:prstDash val="solid"/>
          </a:ln>
        </p:spPr>
        <p:txBody>
          <a:bodyPr/>
          <a:lstStyle/>
          <a:p>
            <a:endParaRPr/>
          </a:p>
        </p:txBody>
      </p:sp>
      <p:sp>
        <p:nvSpPr>
          <p:cNvPr id="4" name="Shape 2"/>
          <p:cNvSpPr/>
          <p:nvPr/>
        </p:nvSpPr>
        <p:spPr>
          <a:xfrm>
            <a:off x="3048000" y="2794000"/>
            <a:ext cx="2794000" cy="2794000"/>
          </a:xfrm>
          <a:prstGeom prst="rect">
            <a:avLst/>
          </a:prstGeom>
          <a:solidFill>
            <a:srgbClr val="FFFFFF"/>
          </a:solidFill>
          <a:ln w="12700">
            <a:solidFill>
              <a:srgbClr val="005C82"/>
            </a:solidFill>
            <a:prstDash val="solid"/>
          </a:ln>
        </p:spPr>
        <p:txBody>
          <a:bodyPr/>
          <a:lstStyle/>
          <a:p>
            <a:endParaRPr/>
          </a:p>
        </p:txBody>
      </p:sp>
      <p:sp>
        <p:nvSpPr>
          <p:cNvPr id="5" name="Text 3"/>
          <p:cNvSpPr/>
          <p:nvPr/>
        </p:nvSpPr>
        <p:spPr>
          <a:xfrm>
            <a:off x="3048000" y="2794000"/>
            <a:ext cx="2794000" cy="2794000"/>
          </a:xfrm>
          <a:prstGeom prst="rect">
            <a:avLst/>
          </a:prstGeom>
          <a:noFill/>
          <a:ln/>
        </p:spPr>
        <p:txBody>
          <a:bodyPr wrap="none" lIns="0" tIns="0" rIns="0" bIns="0" rtlCol="0" anchor="ctr"/>
          <a:lstStyle/>
          <a:p>
            <a:pPr algn="ctr">
              <a:lnSpc>
                <a:spcPct val="120000"/>
              </a:lnSpc>
            </a:pPr>
            <a:r>
              <a:rPr lang="en-US" sz="8000" b="1" dirty="0">
                <a:solidFill>
                  <a:srgbClr val="005C82"/>
                </a:solidFill>
                <a:latin typeface="Quattrocento Sans" pitchFamily="34" charset="0"/>
                <a:ea typeface="Quattrocento Sans" pitchFamily="34" charset="-122"/>
                <a:cs typeface="Quattrocento Sans" pitchFamily="34" charset="-120"/>
              </a:rPr>
              <a:t>02</a:t>
            </a:r>
            <a:endParaRPr lang="en-US" sz="8000" dirty="0"/>
          </a:p>
        </p:txBody>
      </p:sp>
      <p:sp>
        <p:nvSpPr>
          <p:cNvPr id="6" name="Shape 4"/>
          <p:cNvSpPr/>
          <p:nvPr/>
        </p:nvSpPr>
        <p:spPr>
          <a:xfrm>
            <a:off x="7620000" y="2794000"/>
            <a:ext cx="12700" cy="2794000"/>
          </a:xfrm>
          <a:prstGeom prst="rect">
            <a:avLst/>
          </a:prstGeom>
          <a:solidFill>
            <a:srgbClr val="B0BEC5"/>
          </a:solidFill>
          <a:ln/>
        </p:spPr>
        <p:txBody>
          <a:bodyPr/>
          <a:lstStyle/>
          <a:p>
            <a:endParaRPr/>
          </a:p>
        </p:txBody>
      </p:sp>
      <p:sp>
        <p:nvSpPr>
          <p:cNvPr id="7" name="Text 5"/>
          <p:cNvSpPr/>
          <p:nvPr/>
        </p:nvSpPr>
        <p:spPr>
          <a:xfrm>
            <a:off x="8128000" y="2921000"/>
            <a:ext cx="7112000" cy="304800"/>
          </a:xfrm>
          <a:prstGeom prst="rect">
            <a:avLst/>
          </a:prstGeom>
          <a:noFill/>
          <a:ln/>
        </p:spPr>
        <p:txBody>
          <a:bodyPr wrap="none" lIns="0" tIns="0" rIns="0" bIns="0" rtlCol="0" anchor="t"/>
          <a:lstStyle/>
          <a:p>
            <a:pPr algn="l">
              <a:lnSpc>
                <a:spcPct val="120000"/>
              </a:lnSpc>
            </a:pPr>
            <a:r>
              <a:rPr lang="en-US" sz="1400" kern="0" spc="400" dirty="0">
                <a:solidFill>
                  <a:srgbClr val="00ACC1"/>
                </a:solidFill>
                <a:latin typeface="Quattrocento Sans" pitchFamily="34" charset="0"/>
                <a:ea typeface="Quattrocento Sans" pitchFamily="34" charset="-122"/>
                <a:cs typeface="Quattrocento Sans" pitchFamily="34" charset="-120"/>
              </a:rPr>
              <a:t>CHAPTER TWO</a:t>
            </a:r>
            <a:endParaRPr lang="en-US" sz="1400" dirty="0"/>
          </a:p>
        </p:txBody>
      </p:sp>
      <p:sp>
        <p:nvSpPr>
          <p:cNvPr id="8" name="Text 6"/>
          <p:cNvSpPr/>
          <p:nvPr/>
        </p:nvSpPr>
        <p:spPr>
          <a:xfrm>
            <a:off x="8128000" y="3403600"/>
            <a:ext cx="7366000" cy="889000"/>
          </a:xfrm>
          <a:prstGeom prst="rect">
            <a:avLst/>
          </a:prstGeom>
          <a:noFill/>
          <a:ln/>
        </p:spPr>
        <p:txBody>
          <a:bodyPr wrap="none" lIns="0" tIns="0" rIns="0" bIns="0" rtlCol="0" anchor="ctr"/>
          <a:lstStyle/>
          <a:p>
            <a:pPr algn="l">
              <a:lnSpc>
                <a:spcPct val="120000"/>
              </a:lnSpc>
            </a:pPr>
            <a:r>
              <a:rPr lang="en-US" sz="3600" b="1" dirty="0">
                <a:solidFill>
                  <a:srgbClr val="005C82"/>
                </a:solidFill>
                <a:latin typeface="Quattrocento Sans" pitchFamily="34" charset="0"/>
                <a:ea typeface="Quattrocento Sans" pitchFamily="34" charset="-122"/>
                <a:cs typeface="Quattrocento Sans" pitchFamily="34" charset="-120"/>
              </a:rPr>
              <a:t>Dataset &amp; Methodology</a:t>
            </a:r>
            <a:endParaRPr lang="en-US" sz="3600" dirty="0"/>
          </a:p>
        </p:txBody>
      </p:sp>
      <p:sp>
        <p:nvSpPr>
          <p:cNvPr id="9" name="Text 7"/>
          <p:cNvSpPr/>
          <p:nvPr/>
        </p:nvSpPr>
        <p:spPr>
          <a:xfrm>
            <a:off x="8128000" y="4419600"/>
            <a:ext cx="7366000" cy="355600"/>
          </a:xfrm>
          <a:prstGeom prst="rect">
            <a:avLst/>
          </a:prstGeom>
          <a:noFill/>
          <a:ln/>
        </p:spPr>
        <p:txBody>
          <a:bodyPr wrap="none" lIns="0" tIns="0" rIns="0" bIns="0" rtlCol="0" anchor="t"/>
          <a:lstStyle/>
          <a:p>
            <a:pPr algn="l">
              <a:lnSpc>
                <a:spcPct val="120000"/>
              </a:lnSpc>
            </a:pPr>
            <a:r>
              <a:rPr lang="en-US" sz="1600" dirty="0">
                <a:solidFill>
                  <a:srgbClr val="B0BEC5"/>
                </a:solidFill>
                <a:latin typeface="Quattrocento Sans" pitchFamily="34" charset="0"/>
                <a:ea typeface="Quattrocento Sans" pitchFamily="34" charset="-122"/>
                <a:cs typeface="Quattrocento Sans" pitchFamily="34" charset="-120"/>
              </a:rPr>
              <a:t>Feature audit, preprocessing, and experimental design</a:t>
            </a:r>
            <a:endParaRPr lang="en-US" sz="1600" dirty="0"/>
          </a:p>
        </p:txBody>
      </p:sp>
      <p:sp>
        <p:nvSpPr>
          <p:cNvPr id="10" name="Shape 8"/>
          <p:cNvSpPr/>
          <p:nvPr/>
        </p:nvSpPr>
        <p:spPr>
          <a:xfrm>
            <a:off x="8128000" y="5029200"/>
            <a:ext cx="2540000" cy="25400"/>
          </a:xfrm>
          <a:prstGeom prst="rect">
            <a:avLst/>
          </a:prstGeom>
          <a:solidFill>
            <a:srgbClr val="00ACC1"/>
          </a:solidFill>
          <a:ln/>
        </p:spPr>
        <p:txBody>
          <a:bodyPr/>
          <a:lstStyle/>
          <a:p>
            <a:endParaRPr/>
          </a:p>
        </p:txBody>
      </p:sp>
      <p:sp>
        <p:nvSpPr>
          <p:cNvPr id="11" name="Text 9"/>
          <p:cNvSpPr/>
          <p:nvPr/>
        </p:nvSpPr>
        <p:spPr>
          <a:xfrm>
            <a:off x="8128000" y="5283200"/>
            <a:ext cx="7366000" cy="355600"/>
          </a:xfrm>
          <a:prstGeom prst="rect">
            <a:avLst/>
          </a:prstGeom>
          <a:noFill/>
          <a:ln/>
        </p:spPr>
        <p:txBody>
          <a:bodyPr wrap="none" lIns="0" tIns="0" rIns="0" bIns="0" rtlCol="0" anchor="t"/>
          <a:lstStyle/>
          <a:p>
            <a:pPr algn="l">
              <a:lnSpc>
                <a:spcPct val="120000"/>
              </a:lnSpc>
            </a:pPr>
            <a:r>
              <a:rPr lang="en-US" sz="1500" dirty="0">
                <a:solidFill>
                  <a:srgbClr val="333333"/>
                </a:solidFill>
                <a:latin typeface="Quattrocento Sans" pitchFamily="34" charset="0"/>
                <a:ea typeface="Quattrocento Sans" pitchFamily="34" charset="-122"/>
                <a:cs typeface="Quattrocento Sans" pitchFamily="34" charset="-120"/>
              </a:rPr>
              <a:t>2.1  Dataset overview &amp; feature audit</a:t>
            </a:r>
            <a:endParaRPr lang="en-US" sz="1500" dirty="0"/>
          </a:p>
        </p:txBody>
      </p:sp>
      <p:sp>
        <p:nvSpPr>
          <p:cNvPr id="12" name="Text 10"/>
          <p:cNvSpPr/>
          <p:nvPr/>
        </p:nvSpPr>
        <p:spPr>
          <a:xfrm>
            <a:off x="8128000" y="5740400"/>
            <a:ext cx="7366000" cy="355600"/>
          </a:xfrm>
          <a:prstGeom prst="rect">
            <a:avLst/>
          </a:prstGeom>
          <a:noFill/>
          <a:ln/>
        </p:spPr>
        <p:txBody>
          <a:bodyPr wrap="none" lIns="0" tIns="0" rIns="0" bIns="0" rtlCol="0" anchor="t"/>
          <a:lstStyle/>
          <a:p>
            <a:pPr algn="l">
              <a:lnSpc>
                <a:spcPct val="120000"/>
              </a:lnSpc>
            </a:pPr>
            <a:r>
              <a:rPr lang="en-US" sz="1500" dirty="0">
                <a:solidFill>
                  <a:srgbClr val="333333"/>
                </a:solidFill>
                <a:latin typeface="Quattrocento Sans" pitchFamily="34" charset="0"/>
                <a:ea typeface="Quattrocento Sans" pitchFamily="34" charset="-122"/>
                <a:cs typeface="Quattrocento Sans" pitchFamily="34" charset="-120"/>
              </a:rPr>
              <a:t>2.2  Preprocessing pipeline</a:t>
            </a:r>
            <a:endParaRPr lang="en-US" sz="1500" dirty="0"/>
          </a:p>
        </p:txBody>
      </p:sp>
      <p:sp>
        <p:nvSpPr>
          <p:cNvPr id="13" name="Text 11"/>
          <p:cNvSpPr/>
          <p:nvPr/>
        </p:nvSpPr>
        <p:spPr>
          <a:xfrm>
            <a:off x="8128000" y="6197600"/>
            <a:ext cx="7366000" cy="355600"/>
          </a:xfrm>
          <a:prstGeom prst="rect">
            <a:avLst/>
          </a:prstGeom>
          <a:noFill/>
          <a:ln/>
        </p:spPr>
        <p:txBody>
          <a:bodyPr wrap="none" lIns="0" tIns="0" rIns="0" bIns="0" rtlCol="0" anchor="t"/>
          <a:lstStyle/>
          <a:p>
            <a:pPr algn="l">
              <a:lnSpc>
                <a:spcPct val="120000"/>
              </a:lnSpc>
            </a:pPr>
            <a:r>
              <a:rPr lang="en-US" sz="1500" dirty="0">
                <a:solidFill>
                  <a:srgbClr val="333333"/>
                </a:solidFill>
                <a:latin typeface="Quattrocento Sans" pitchFamily="34" charset="0"/>
                <a:ea typeface="Quattrocento Sans" pitchFamily="34" charset="-122"/>
                <a:cs typeface="Quattrocento Sans" pitchFamily="34" charset="-120"/>
              </a:rPr>
              <a:t>2.3  Feature sets &amp; clustering design</a:t>
            </a:r>
            <a:endParaRPr lang="en-US" sz="1500" dirty="0"/>
          </a:p>
        </p:txBody>
      </p:sp>
      <p:sp>
        <p:nvSpPr>
          <p:cNvPr id="14" name="Text 12"/>
          <p:cNvSpPr/>
          <p:nvPr/>
        </p:nvSpPr>
        <p:spPr>
          <a:xfrm>
            <a:off x="15240000" y="8636000"/>
            <a:ext cx="635000" cy="304800"/>
          </a:xfrm>
          <a:prstGeom prst="rect">
            <a:avLst/>
          </a:prstGeom>
          <a:noFill/>
          <a:ln/>
        </p:spPr>
        <p:txBody>
          <a:bodyPr wrap="square" lIns="0" tIns="0" rIns="0" bIns="0" rtlCol="0" anchor="ctr"/>
          <a:lstStyle/>
          <a:p>
            <a:r>
              <a:t>8</a:t>
            </a: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AFE"/>
        </a:solidFill>
        <a:effectLst/>
      </p:bgPr>
    </p:bg>
    <p:spTree>
      <p:nvGrpSpPr>
        <p:cNvPr id="1" name=""/>
        <p:cNvGrpSpPr/>
        <p:nvPr/>
      </p:nvGrpSpPr>
      <p:grpSpPr>
        <a:xfrm>
          <a:off x="0" y="0"/>
          <a:ext cx="0" cy="0"/>
          <a:chOff x="0" y="0"/>
          <a:chExt cx="0" cy="0"/>
        </a:xfrm>
      </p:grpSpPr>
      <p:sp>
        <p:nvSpPr>
          <p:cNvPr id="2" name="Shape 0"/>
          <p:cNvSpPr/>
          <p:nvPr/>
        </p:nvSpPr>
        <p:spPr>
          <a:xfrm>
            <a:off x="0" y="0"/>
            <a:ext cx="2286000" cy="9144000"/>
          </a:xfrm>
          <a:prstGeom prst="rect">
            <a:avLst/>
          </a:prstGeom>
          <a:solidFill>
            <a:srgbClr val="004060"/>
          </a:solidFill>
          <a:ln/>
        </p:spPr>
        <p:txBody>
          <a:bodyPr/>
          <a:lstStyle/>
          <a:p>
            <a:endParaRPr/>
          </a:p>
        </p:txBody>
      </p:sp>
      <p:sp>
        <p:nvSpPr>
          <p:cNvPr id="3" name="Shape 1"/>
          <p:cNvSpPr/>
          <p:nvPr/>
        </p:nvSpPr>
        <p:spPr>
          <a:xfrm>
            <a:off x="177800" y="177800"/>
            <a:ext cx="457200" cy="457200"/>
          </a:xfrm>
          <a:prstGeom prst="ellipse">
            <a:avLst/>
          </a:prstGeom>
          <a:solidFill>
            <a:srgbClr val="FFFFFF">
              <a:alpha val="12549"/>
            </a:srgbClr>
          </a:solidFill>
          <a:ln w="12700">
            <a:solidFill>
              <a:srgbClr val="00ACC1"/>
            </a:solidFill>
            <a:prstDash val="solid"/>
          </a:ln>
        </p:spPr>
        <p:txBody>
          <a:bodyPr/>
          <a:lstStyle/>
          <a:p>
            <a:endParaRPr/>
          </a:p>
        </p:txBody>
      </p:sp>
      <p:sp>
        <p:nvSpPr>
          <p:cNvPr id="4" name="Shape 2"/>
          <p:cNvSpPr/>
          <p:nvPr/>
        </p:nvSpPr>
        <p:spPr>
          <a:xfrm>
            <a:off x="0" y="2184400"/>
            <a:ext cx="2286000" cy="1168400"/>
          </a:xfrm>
          <a:prstGeom prst="rect">
            <a:avLst/>
          </a:prstGeom>
          <a:solidFill>
            <a:srgbClr val="005C82"/>
          </a:solidFill>
          <a:ln/>
        </p:spPr>
        <p:txBody>
          <a:bodyPr/>
          <a:lstStyle/>
          <a:p>
            <a:endParaRPr/>
          </a:p>
        </p:txBody>
      </p:sp>
      <p:sp>
        <p:nvSpPr>
          <p:cNvPr id="5" name="Text 3"/>
          <p:cNvSpPr/>
          <p:nvPr/>
        </p:nvSpPr>
        <p:spPr>
          <a:xfrm>
            <a:off x="101600" y="10160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01 Intro</a:t>
            </a:r>
            <a:endParaRPr lang="en-US" sz="1600" dirty="0"/>
          </a:p>
        </p:txBody>
      </p:sp>
      <p:sp>
        <p:nvSpPr>
          <p:cNvPr id="6" name="Text 4"/>
          <p:cNvSpPr/>
          <p:nvPr/>
        </p:nvSpPr>
        <p:spPr>
          <a:xfrm>
            <a:off x="101600" y="2184400"/>
            <a:ext cx="2082800" cy="1168400"/>
          </a:xfrm>
          <a:prstGeom prst="rect">
            <a:avLst/>
          </a:prstGeom>
          <a:noFill/>
          <a:ln/>
        </p:spPr>
        <p:txBody>
          <a:bodyPr wrap="none" lIns="0" tIns="0" rIns="0" bIns="0" rtlCol="0" anchor="ctr"/>
          <a:lstStyle/>
          <a:p>
            <a:pPr algn="l">
              <a:lnSpc>
                <a:spcPct val="120000"/>
              </a:lnSpc>
            </a:pPr>
            <a:r>
              <a:rPr lang="en-US" sz="1800" b="1" dirty="0">
                <a:solidFill>
                  <a:srgbClr val="FFFFFF"/>
                </a:solidFill>
                <a:latin typeface="Quattrocento Sans" pitchFamily="34" charset="0"/>
                <a:ea typeface="Quattrocento Sans" pitchFamily="34" charset="-122"/>
                <a:cs typeface="Quattrocento Sans" pitchFamily="34" charset="-120"/>
              </a:rPr>
              <a:t>02 Dataset</a:t>
            </a:r>
            <a:endParaRPr lang="en-US" sz="1800" dirty="0"/>
          </a:p>
        </p:txBody>
      </p:sp>
      <p:sp>
        <p:nvSpPr>
          <p:cNvPr id="7" name="Text 5"/>
          <p:cNvSpPr/>
          <p:nvPr/>
        </p:nvSpPr>
        <p:spPr>
          <a:xfrm>
            <a:off x="101600" y="33528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03 Clustering</a:t>
            </a:r>
            <a:endParaRPr lang="en-US" sz="1600" dirty="0"/>
          </a:p>
        </p:txBody>
      </p:sp>
      <p:sp>
        <p:nvSpPr>
          <p:cNvPr id="8" name="Text 6"/>
          <p:cNvSpPr/>
          <p:nvPr/>
        </p:nvSpPr>
        <p:spPr>
          <a:xfrm>
            <a:off x="101600" y="45212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04 Supervised</a:t>
            </a:r>
            <a:endParaRPr lang="en-US" sz="1600" dirty="0"/>
          </a:p>
        </p:txBody>
      </p:sp>
      <p:sp>
        <p:nvSpPr>
          <p:cNvPr id="9" name="Text 7"/>
          <p:cNvSpPr/>
          <p:nvPr/>
        </p:nvSpPr>
        <p:spPr>
          <a:xfrm>
            <a:off x="101600" y="56896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05 Conclusions</a:t>
            </a:r>
            <a:endParaRPr lang="en-US" sz="1600" dirty="0"/>
          </a:p>
        </p:txBody>
      </p:sp>
      <p:sp>
        <p:nvSpPr>
          <p:cNvPr id="10" name="Shape 8"/>
          <p:cNvSpPr/>
          <p:nvPr/>
        </p:nvSpPr>
        <p:spPr>
          <a:xfrm>
            <a:off x="1066800" y="7493000"/>
            <a:ext cx="152400" cy="152400"/>
          </a:xfrm>
          <a:prstGeom prst="diamond">
            <a:avLst/>
          </a:prstGeom>
          <a:solidFill>
            <a:srgbClr val="00ACC1"/>
          </a:solidFill>
          <a:ln/>
        </p:spPr>
        <p:txBody>
          <a:bodyPr/>
          <a:lstStyle/>
          <a:p>
            <a:endParaRPr/>
          </a:p>
        </p:txBody>
      </p:sp>
      <p:sp>
        <p:nvSpPr>
          <p:cNvPr id="11" name="Shape 9"/>
          <p:cNvSpPr/>
          <p:nvPr/>
        </p:nvSpPr>
        <p:spPr>
          <a:xfrm>
            <a:off x="2286000" y="0"/>
            <a:ext cx="13970000" cy="635000"/>
          </a:xfrm>
          <a:prstGeom prst="rect">
            <a:avLst/>
          </a:prstGeom>
          <a:solidFill>
            <a:srgbClr val="E0F4FA"/>
          </a:solidFill>
          <a:ln/>
        </p:spPr>
        <p:txBody>
          <a:bodyPr/>
          <a:lstStyle/>
          <a:p>
            <a:endParaRPr/>
          </a:p>
        </p:txBody>
      </p:sp>
      <p:sp>
        <p:nvSpPr>
          <p:cNvPr id="12" name="Text 10"/>
          <p:cNvSpPr/>
          <p:nvPr/>
        </p:nvSpPr>
        <p:spPr>
          <a:xfrm>
            <a:off x="2540000" y="0"/>
            <a:ext cx="12827000" cy="635000"/>
          </a:xfrm>
          <a:prstGeom prst="rect">
            <a:avLst/>
          </a:prstGeom>
          <a:noFill/>
          <a:ln/>
        </p:spPr>
        <p:txBody>
          <a:bodyPr wrap="none" lIns="0" tIns="0" rIns="0" bIns="0" rtlCol="0" anchor="ctr"/>
          <a:lstStyle/>
          <a:p>
            <a:pPr algn="l">
              <a:lnSpc>
                <a:spcPct val="120000"/>
              </a:lnSpc>
            </a:pPr>
            <a:r>
              <a:rPr lang="en-US" sz="1400" b="1" dirty="0">
                <a:solidFill>
                  <a:srgbClr val="005C82"/>
                </a:solidFill>
                <a:latin typeface="Quattrocento Sans" pitchFamily="34" charset="0"/>
                <a:ea typeface="Quattrocento Sans" pitchFamily="34" charset="-122"/>
                <a:cs typeface="Quattrocento Sans" pitchFamily="34" charset="-120"/>
              </a:rPr>
              <a:t>02 Dataset</a:t>
            </a:r>
            <a:r>
              <a:rPr lang="en-US" sz="1400" dirty="0">
                <a:solidFill>
                  <a:srgbClr val="005C82"/>
                </a:solidFill>
                <a:latin typeface="Quattrocento Sans" pitchFamily="34" charset="0"/>
                <a:ea typeface="Quattrocento Sans" pitchFamily="34" charset="-122"/>
                <a:cs typeface="Quattrocento Sans" pitchFamily="34" charset="-120"/>
              </a:rPr>
              <a:t>  &gt;  2.1  Dataset Overview &amp; Feature Audit</a:t>
            </a:r>
            <a:endParaRPr lang="en-US" sz="1400" dirty="0"/>
          </a:p>
        </p:txBody>
      </p:sp>
      <p:sp>
        <p:nvSpPr>
          <p:cNvPr id="13" name="Text 11"/>
          <p:cNvSpPr/>
          <p:nvPr/>
        </p:nvSpPr>
        <p:spPr>
          <a:xfrm>
            <a:off x="15621000" y="0"/>
            <a:ext cx="635000" cy="635000"/>
          </a:xfrm>
          <a:prstGeom prst="rect">
            <a:avLst/>
          </a:prstGeom>
          <a:noFill/>
          <a:ln/>
        </p:spPr>
        <p:txBody>
          <a:bodyPr wrap="square" lIns="0" tIns="0" rIns="0" bIns="0" rtlCol="0" anchor="ctr"/>
          <a:lstStyle/>
          <a:p>
            <a:r>
              <a:t>9</a:t>
            </a:r>
          </a:p>
        </p:txBody>
      </p:sp>
      <p:sp>
        <p:nvSpPr>
          <p:cNvPr id="14" name="Text 12"/>
          <p:cNvSpPr/>
          <p:nvPr/>
        </p:nvSpPr>
        <p:spPr>
          <a:xfrm>
            <a:off x="2540000" y="863600"/>
            <a:ext cx="13208000" cy="457200"/>
          </a:xfrm>
          <a:prstGeom prst="rect">
            <a:avLst/>
          </a:prstGeom>
          <a:noFill/>
          <a:ln/>
        </p:spPr>
        <p:txBody>
          <a:bodyPr wrap="none" lIns="0" tIns="0" rIns="0" bIns="0" rtlCol="0" anchor="t"/>
          <a:lstStyle/>
          <a:p>
            <a:pPr algn="l">
              <a:lnSpc>
                <a:spcPct val="120000"/>
              </a:lnSpc>
            </a:pPr>
            <a:r>
              <a:rPr lang="en-US" sz="2400" b="1" dirty="0">
                <a:solidFill>
                  <a:srgbClr val="005C82"/>
                </a:solidFill>
                <a:latin typeface="Quattrocento Sans" pitchFamily="34" charset="0"/>
                <a:ea typeface="Quattrocento Sans" pitchFamily="34" charset="-122"/>
                <a:cs typeface="Quattrocento Sans" pitchFamily="34" charset="-120"/>
              </a:rPr>
              <a:t>Dataset Overview &amp; Feature Audit</a:t>
            </a:r>
            <a:endParaRPr lang="en-US" sz="2400" dirty="0"/>
          </a:p>
        </p:txBody>
      </p:sp>
      <p:sp>
        <p:nvSpPr>
          <p:cNvPr id="15" name="Shape 13"/>
          <p:cNvSpPr/>
          <p:nvPr/>
        </p:nvSpPr>
        <p:spPr>
          <a:xfrm>
            <a:off x="2540000" y="1397000"/>
            <a:ext cx="13208000" cy="12700"/>
          </a:xfrm>
          <a:prstGeom prst="rect">
            <a:avLst/>
          </a:prstGeom>
          <a:solidFill>
            <a:srgbClr val="B0BEC5"/>
          </a:solidFill>
          <a:ln/>
        </p:spPr>
        <p:txBody>
          <a:bodyPr/>
          <a:lstStyle/>
          <a:p>
            <a:endParaRPr/>
          </a:p>
        </p:txBody>
      </p:sp>
      <p:sp>
        <p:nvSpPr>
          <p:cNvPr id="16" name="Shape 14"/>
          <p:cNvSpPr/>
          <p:nvPr/>
        </p:nvSpPr>
        <p:spPr>
          <a:xfrm>
            <a:off x="2540000" y="1574800"/>
            <a:ext cx="3022600" cy="1524000"/>
          </a:xfrm>
          <a:prstGeom prst="rect">
            <a:avLst/>
          </a:prstGeom>
          <a:solidFill>
            <a:srgbClr val="005C82"/>
          </a:solidFill>
          <a:ln/>
        </p:spPr>
        <p:txBody>
          <a:bodyPr/>
          <a:lstStyle/>
          <a:p>
            <a:endParaRPr/>
          </a:p>
        </p:txBody>
      </p:sp>
      <p:sp>
        <p:nvSpPr>
          <p:cNvPr id="17" name="Text 15"/>
          <p:cNvSpPr/>
          <p:nvPr/>
        </p:nvSpPr>
        <p:spPr>
          <a:xfrm>
            <a:off x="2540000" y="1676400"/>
            <a:ext cx="3022600" cy="711200"/>
          </a:xfrm>
          <a:prstGeom prst="rect">
            <a:avLst/>
          </a:prstGeom>
          <a:noFill/>
          <a:ln/>
        </p:spPr>
        <p:txBody>
          <a:bodyPr wrap="none" lIns="0" tIns="0" rIns="0" bIns="0" rtlCol="0" anchor="ctr"/>
          <a:lstStyle/>
          <a:p>
            <a:pPr algn="ctr">
              <a:lnSpc>
                <a:spcPct val="120000"/>
              </a:lnSpc>
            </a:pPr>
            <a:r>
              <a:rPr lang="en-US" sz="4000" b="1" dirty="0">
                <a:solidFill>
                  <a:srgbClr val="FFFFFF"/>
                </a:solidFill>
                <a:latin typeface="Quattrocento Sans" pitchFamily="34" charset="0"/>
                <a:ea typeface="Quattrocento Sans" pitchFamily="34" charset="-122"/>
                <a:cs typeface="Quattrocento Sans" pitchFamily="34" charset="-120"/>
              </a:rPr>
              <a:t>6,150</a:t>
            </a:r>
            <a:endParaRPr lang="en-US" sz="4000" dirty="0"/>
          </a:p>
        </p:txBody>
      </p:sp>
      <p:sp>
        <p:nvSpPr>
          <p:cNvPr id="18" name="Text 16"/>
          <p:cNvSpPr/>
          <p:nvPr/>
        </p:nvSpPr>
        <p:spPr>
          <a:xfrm>
            <a:off x="2540000" y="2438400"/>
            <a:ext cx="3022600" cy="457200"/>
          </a:xfrm>
          <a:prstGeom prst="rect">
            <a:avLst/>
          </a:prstGeom>
          <a:noFill/>
          <a:ln/>
        </p:spPr>
        <p:txBody>
          <a:bodyPr wrap="none" lIns="0" tIns="0" rIns="0" bIns="0" rtlCol="0" anchor="ctr"/>
          <a:lstStyle/>
          <a:p>
            <a:pPr algn="ctr">
              <a:lnSpc>
                <a:spcPct val="120000"/>
              </a:lnSpc>
            </a:pPr>
            <a:r>
              <a:rPr lang="en-US" sz="1400" dirty="0">
                <a:solidFill>
                  <a:srgbClr val="E0F4FA"/>
                </a:solidFill>
                <a:latin typeface="Quattrocento Sans" pitchFamily="34" charset="0"/>
                <a:ea typeface="Quattrocento Sans" pitchFamily="34" charset="-122"/>
                <a:cs typeface="Quattrocento Sans" pitchFamily="34" charset="-120"/>
              </a:rPr>
              <a:t>Confirmed Exoplanets</a:t>
            </a:r>
            <a:endParaRPr lang="en-US" sz="1400" dirty="0"/>
          </a:p>
        </p:txBody>
      </p:sp>
      <p:sp>
        <p:nvSpPr>
          <p:cNvPr id="19" name="Shape 17"/>
          <p:cNvSpPr/>
          <p:nvPr/>
        </p:nvSpPr>
        <p:spPr>
          <a:xfrm>
            <a:off x="5791200" y="1574800"/>
            <a:ext cx="3022600" cy="1524000"/>
          </a:xfrm>
          <a:prstGeom prst="rect">
            <a:avLst/>
          </a:prstGeom>
          <a:solidFill>
            <a:srgbClr val="007AA8"/>
          </a:solidFill>
          <a:ln/>
        </p:spPr>
        <p:txBody>
          <a:bodyPr/>
          <a:lstStyle/>
          <a:p>
            <a:endParaRPr/>
          </a:p>
        </p:txBody>
      </p:sp>
      <p:sp>
        <p:nvSpPr>
          <p:cNvPr id="20" name="Text 18"/>
          <p:cNvSpPr/>
          <p:nvPr/>
        </p:nvSpPr>
        <p:spPr>
          <a:xfrm>
            <a:off x="5791200" y="1676400"/>
            <a:ext cx="3022600" cy="711200"/>
          </a:xfrm>
          <a:prstGeom prst="rect">
            <a:avLst/>
          </a:prstGeom>
          <a:noFill/>
          <a:ln/>
        </p:spPr>
        <p:txBody>
          <a:bodyPr wrap="none" lIns="0" tIns="0" rIns="0" bIns="0" rtlCol="0" anchor="ctr"/>
          <a:lstStyle/>
          <a:p>
            <a:pPr algn="ctr">
              <a:lnSpc>
                <a:spcPct val="120000"/>
              </a:lnSpc>
            </a:pPr>
            <a:r>
              <a:rPr lang="en-US" sz="4000" b="1" dirty="0">
                <a:solidFill>
                  <a:srgbClr val="FFFFFF"/>
                </a:solidFill>
                <a:latin typeface="Quattrocento Sans" pitchFamily="34" charset="0"/>
                <a:ea typeface="Quattrocento Sans" pitchFamily="34" charset="-122"/>
                <a:cs typeface="Quattrocento Sans" pitchFamily="34" charset="-120"/>
              </a:rPr>
              <a:t>31</a:t>
            </a:r>
            <a:endParaRPr lang="en-US" sz="4000" dirty="0"/>
          </a:p>
        </p:txBody>
      </p:sp>
      <p:sp>
        <p:nvSpPr>
          <p:cNvPr id="21" name="Text 19"/>
          <p:cNvSpPr/>
          <p:nvPr/>
        </p:nvSpPr>
        <p:spPr>
          <a:xfrm>
            <a:off x="5791200" y="2438400"/>
            <a:ext cx="3022600" cy="457200"/>
          </a:xfrm>
          <a:prstGeom prst="rect">
            <a:avLst/>
          </a:prstGeom>
          <a:noFill/>
          <a:ln/>
        </p:spPr>
        <p:txBody>
          <a:bodyPr wrap="none" lIns="0" tIns="0" rIns="0" bIns="0" rtlCol="0" anchor="ctr"/>
          <a:lstStyle/>
          <a:p>
            <a:pPr algn="ctr">
              <a:lnSpc>
                <a:spcPct val="120000"/>
              </a:lnSpc>
            </a:pPr>
            <a:r>
              <a:rPr lang="en-US" sz="1400" dirty="0">
                <a:solidFill>
                  <a:srgbClr val="E0F4FA"/>
                </a:solidFill>
                <a:latin typeface="Quattrocento Sans" pitchFamily="34" charset="0"/>
                <a:ea typeface="Quattrocento Sans" pitchFamily="34" charset="-122"/>
                <a:cs typeface="Quattrocento Sans" pitchFamily="34" charset="-120"/>
              </a:rPr>
              <a:t>Columns</a:t>
            </a:r>
            <a:endParaRPr lang="en-US" sz="1400" dirty="0"/>
          </a:p>
        </p:txBody>
      </p:sp>
      <p:sp>
        <p:nvSpPr>
          <p:cNvPr id="22" name="Shape 20"/>
          <p:cNvSpPr/>
          <p:nvPr/>
        </p:nvSpPr>
        <p:spPr>
          <a:xfrm>
            <a:off x="9042400" y="1574800"/>
            <a:ext cx="3022600" cy="1524000"/>
          </a:xfrm>
          <a:prstGeom prst="rect">
            <a:avLst/>
          </a:prstGeom>
          <a:solidFill>
            <a:srgbClr val="00ACC1"/>
          </a:solidFill>
          <a:ln/>
        </p:spPr>
        <p:txBody>
          <a:bodyPr/>
          <a:lstStyle/>
          <a:p>
            <a:endParaRPr/>
          </a:p>
        </p:txBody>
      </p:sp>
      <p:sp>
        <p:nvSpPr>
          <p:cNvPr id="23" name="Text 21"/>
          <p:cNvSpPr/>
          <p:nvPr/>
        </p:nvSpPr>
        <p:spPr>
          <a:xfrm>
            <a:off x="9042400" y="1676400"/>
            <a:ext cx="3022600" cy="711200"/>
          </a:xfrm>
          <a:prstGeom prst="rect">
            <a:avLst/>
          </a:prstGeom>
          <a:noFill/>
          <a:ln/>
        </p:spPr>
        <p:txBody>
          <a:bodyPr wrap="none" lIns="0" tIns="0" rIns="0" bIns="0" rtlCol="0" anchor="ctr"/>
          <a:lstStyle/>
          <a:p>
            <a:pPr algn="ctr">
              <a:lnSpc>
                <a:spcPct val="120000"/>
              </a:lnSpc>
            </a:pPr>
            <a:r>
              <a:rPr lang="en-US" sz="4000" b="1" dirty="0">
                <a:solidFill>
                  <a:srgbClr val="FFFFFF"/>
                </a:solidFill>
                <a:latin typeface="Quattrocento Sans" pitchFamily="34" charset="0"/>
                <a:ea typeface="Quattrocento Sans" pitchFamily="34" charset="-122"/>
                <a:cs typeface="Quattrocento Sans" pitchFamily="34" charset="-120"/>
              </a:rPr>
              <a:t>6</a:t>
            </a:r>
            <a:endParaRPr lang="en-US" sz="4000" dirty="0"/>
          </a:p>
        </p:txBody>
      </p:sp>
      <p:sp>
        <p:nvSpPr>
          <p:cNvPr id="24" name="Text 22"/>
          <p:cNvSpPr/>
          <p:nvPr/>
        </p:nvSpPr>
        <p:spPr>
          <a:xfrm>
            <a:off x="9042400" y="2438400"/>
            <a:ext cx="3022600" cy="457200"/>
          </a:xfrm>
          <a:prstGeom prst="rect">
            <a:avLst/>
          </a:prstGeom>
          <a:noFill/>
          <a:ln/>
        </p:spPr>
        <p:txBody>
          <a:bodyPr wrap="none" lIns="0" tIns="0" rIns="0" bIns="0" rtlCol="0" anchor="ctr"/>
          <a:lstStyle/>
          <a:p>
            <a:pPr algn="ctr">
              <a:lnSpc>
                <a:spcPct val="120000"/>
              </a:lnSpc>
            </a:pPr>
            <a:r>
              <a:rPr lang="en-US" sz="1400" dirty="0">
                <a:solidFill>
                  <a:srgbClr val="E0F4FA"/>
                </a:solidFill>
                <a:latin typeface="Quattrocento Sans" pitchFamily="34" charset="0"/>
                <a:ea typeface="Quattrocento Sans" pitchFamily="34" charset="-122"/>
                <a:cs typeface="Quattrocento Sans" pitchFamily="34" charset="-120"/>
              </a:rPr>
              <a:t>Planet Type Classes</a:t>
            </a:r>
            <a:endParaRPr lang="en-US" sz="1400" dirty="0"/>
          </a:p>
        </p:txBody>
      </p:sp>
      <p:sp>
        <p:nvSpPr>
          <p:cNvPr id="25" name="Shape 23"/>
          <p:cNvSpPr/>
          <p:nvPr/>
        </p:nvSpPr>
        <p:spPr>
          <a:xfrm>
            <a:off x="12293600" y="1574800"/>
            <a:ext cx="3200400" cy="1524000"/>
          </a:xfrm>
          <a:prstGeom prst="rect">
            <a:avLst/>
          </a:prstGeom>
          <a:solidFill>
            <a:srgbClr val="E0F4FA"/>
          </a:solidFill>
          <a:ln w="12700">
            <a:solidFill>
              <a:srgbClr val="005C82"/>
            </a:solidFill>
            <a:prstDash val="solid"/>
          </a:ln>
        </p:spPr>
        <p:txBody>
          <a:bodyPr/>
          <a:lstStyle/>
          <a:p>
            <a:endParaRPr/>
          </a:p>
        </p:txBody>
      </p:sp>
      <p:sp>
        <p:nvSpPr>
          <p:cNvPr id="26" name="Text 24"/>
          <p:cNvSpPr/>
          <p:nvPr/>
        </p:nvSpPr>
        <p:spPr>
          <a:xfrm>
            <a:off x="12293600" y="1676400"/>
            <a:ext cx="3200400" cy="711200"/>
          </a:xfrm>
          <a:prstGeom prst="rect">
            <a:avLst/>
          </a:prstGeom>
          <a:noFill/>
          <a:ln/>
        </p:spPr>
        <p:txBody>
          <a:bodyPr wrap="none" lIns="0" tIns="0" rIns="0" bIns="0" rtlCol="0" anchor="ctr"/>
          <a:lstStyle/>
          <a:p>
            <a:pPr algn="ctr">
              <a:lnSpc>
                <a:spcPct val="120000"/>
              </a:lnSpc>
            </a:pPr>
            <a:r>
              <a:rPr lang="en-US" sz="4000" b="1" dirty="0">
                <a:solidFill>
                  <a:srgbClr val="005C82"/>
                </a:solidFill>
                <a:latin typeface="Quattrocento Sans" pitchFamily="34" charset="0"/>
                <a:ea typeface="Quattrocento Sans" pitchFamily="34" charset="-122"/>
                <a:cs typeface="Quattrocento Sans" pitchFamily="34" charset="-120"/>
              </a:rPr>
              <a:t>3</a:t>
            </a:r>
            <a:endParaRPr lang="en-US" sz="4000" dirty="0"/>
          </a:p>
        </p:txBody>
      </p:sp>
      <p:sp>
        <p:nvSpPr>
          <p:cNvPr id="27" name="Text 25"/>
          <p:cNvSpPr/>
          <p:nvPr/>
        </p:nvSpPr>
        <p:spPr>
          <a:xfrm>
            <a:off x="12293600" y="2438400"/>
            <a:ext cx="3200400" cy="457200"/>
          </a:xfrm>
          <a:prstGeom prst="rect">
            <a:avLst/>
          </a:prstGeom>
          <a:noFill/>
          <a:ln/>
        </p:spPr>
        <p:txBody>
          <a:bodyPr wrap="none" lIns="0" tIns="0" rIns="0" bIns="0" rtlCol="0" anchor="ctr"/>
          <a:lstStyle/>
          <a:p>
            <a:pPr algn="ctr">
              <a:lnSpc>
                <a:spcPct val="120000"/>
              </a:lnSpc>
            </a:pPr>
            <a:r>
              <a:rPr lang="en-US" sz="1400" dirty="0">
                <a:solidFill>
                  <a:srgbClr val="005C82"/>
                </a:solidFill>
                <a:latin typeface="Quattrocento Sans" pitchFamily="34" charset="0"/>
                <a:ea typeface="Quattrocento Sans" pitchFamily="34" charset="-122"/>
                <a:cs typeface="Quattrocento Sans" pitchFamily="34" charset="-120"/>
              </a:rPr>
              <a:t>Feature Categories</a:t>
            </a:r>
            <a:endParaRPr lang="en-US" sz="1400" dirty="0"/>
          </a:p>
        </p:txBody>
      </p:sp>
      <p:sp>
        <p:nvSpPr>
          <p:cNvPr id="28" name="Text 26"/>
          <p:cNvSpPr/>
          <p:nvPr/>
        </p:nvSpPr>
        <p:spPr>
          <a:xfrm>
            <a:off x="2540000" y="3302000"/>
            <a:ext cx="13208000" cy="355600"/>
          </a:xfrm>
          <a:prstGeom prst="rect">
            <a:avLst/>
          </a:prstGeom>
          <a:noFill/>
          <a:ln/>
        </p:spPr>
        <p:txBody>
          <a:bodyPr wrap="none" lIns="0" tIns="0" rIns="0" bIns="0" rtlCol="0" anchor="t"/>
          <a:lstStyle/>
          <a:p>
            <a:pPr algn="l">
              <a:lnSpc>
                <a:spcPct val="120000"/>
              </a:lnSpc>
            </a:pPr>
            <a:r>
              <a:rPr lang="en-US" sz="1800" b="1" dirty="0">
                <a:solidFill>
                  <a:srgbClr val="005C82"/>
                </a:solidFill>
                <a:latin typeface="Quattrocento Sans" pitchFamily="34" charset="0"/>
                <a:ea typeface="Quattrocento Sans" pitchFamily="34" charset="-122"/>
                <a:cs typeface="Quattrocento Sans" pitchFamily="34" charset="-120"/>
              </a:rPr>
              <a:t>Feature Categories and Exclusion Rationale</a:t>
            </a:r>
            <a:endParaRPr lang="en-US" sz="18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2540000" y="3759200"/>
          <a:ext cx="13208000" cy="4572000"/>
        </p:xfrm>
        <a:graphic>
          <a:graphicData uri="http://schemas.openxmlformats.org/drawingml/2006/table">
            <a:tbl>
              <a:tblPr/>
              <a:tblGrid>
                <a:gridCol w="2905760">
                  <a:extLst>
                    <a:ext uri="{9D8B030D-6E8A-4147-A177-3AD203B41FA5}">
                      <a16:colId xmlns:a16="http://schemas.microsoft.com/office/drawing/2014/main" val="20000"/>
                    </a:ext>
                  </a:extLst>
                </a:gridCol>
                <a:gridCol w="5019040">
                  <a:extLst>
                    <a:ext uri="{9D8B030D-6E8A-4147-A177-3AD203B41FA5}">
                      <a16:colId xmlns:a16="http://schemas.microsoft.com/office/drawing/2014/main" val="20001"/>
                    </a:ext>
                  </a:extLst>
                </a:gridCol>
                <a:gridCol w="5283200">
                  <a:extLst>
                    <a:ext uri="{9D8B030D-6E8A-4147-A177-3AD203B41FA5}">
                      <a16:colId xmlns:a16="http://schemas.microsoft.com/office/drawing/2014/main" val="20002"/>
                    </a:ext>
                  </a:extLst>
                </a:gridCol>
              </a:tblGrid>
              <a:tr h="548640">
                <a:tc>
                  <a:txBody>
                    <a:bodyPr/>
                    <a:lstStyle/>
                    <a:p>
                      <a:pPr algn="ctr"/>
                      <a:r>
                        <a:rPr lang="en-US" sz="1600" b="1" dirty="0">
                          <a:solidFill>
                            <a:srgbClr val="FFFFFF"/>
                          </a:solidFill>
                        </a:rPr>
                        <a:t>Category</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005C82"/>
                    </a:solidFill>
                  </a:tcPr>
                </a:tc>
                <a:tc>
                  <a:txBody>
                    <a:bodyPr/>
                    <a:lstStyle/>
                    <a:p>
                      <a:pPr algn="ctr"/>
                      <a:r>
                        <a:rPr lang="en-US" sz="1600" b="1" dirty="0">
                          <a:solidFill>
                            <a:srgbClr val="FFFFFF"/>
                          </a:solidFill>
                        </a:rPr>
                        <a:t>Features</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005C82"/>
                    </a:solidFill>
                  </a:tcPr>
                </a:tc>
                <a:tc>
                  <a:txBody>
                    <a:bodyPr/>
                    <a:lstStyle/>
                    <a:p>
                      <a:pPr algn="ctr"/>
                      <a:r>
                        <a:rPr lang="en-US" sz="1600" b="1" dirty="0">
                          <a:solidFill>
                            <a:srgbClr val="FFFFFF"/>
                          </a:solidFill>
                        </a:rPr>
                        <a:t>Status</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005C82"/>
                    </a:solidFill>
                  </a:tcPr>
                </a:tc>
                <a:extLst>
                  <a:ext uri="{0D108BD9-81ED-4DB2-BD59-A6C34878D82A}">
                    <a16:rowId xmlns:a16="http://schemas.microsoft.com/office/drawing/2014/main" val="10000"/>
                  </a:ext>
                </a:extLst>
              </a:tr>
              <a:tr h="1005840">
                <a:tc>
                  <a:txBody>
                    <a:bodyPr/>
                    <a:lstStyle/>
                    <a:p>
                      <a:pPr algn="ctr"/>
                      <a:r>
                        <a:rPr lang="en-US" sz="1600" b="1" dirty="0">
                          <a:solidFill>
                            <a:srgbClr val="333333"/>
                          </a:solidFill>
                        </a:rPr>
                        <a:t>Physical / Orbital</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a:r>
                        <a:rPr lang="en-US" sz="1600" dirty="0">
                          <a:solidFill>
                            <a:srgbClr val="333333"/>
                          </a:solidFill>
                        </a:rPr>
                        <a:t>period, radius, mass, temp, eccentricity, semi-major axis</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a:r>
                        <a:rPr lang="en-US" sz="1600" b="1" dirty="0">
                          <a:solidFill>
                            <a:srgbClr val="005C82"/>
                          </a:solidFill>
                        </a:rPr>
                        <a:t>Used for clustering</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005840">
                <a:tc>
                  <a:txBody>
                    <a:bodyPr/>
                    <a:lstStyle/>
                    <a:p>
                      <a:pPr algn="ctr"/>
                      <a:r>
                        <a:rPr lang="en-US" sz="1600" b="1" dirty="0">
                          <a:solidFill>
                            <a:srgbClr val="333333"/>
                          </a:solidFill>
                        </a:rPr>
                        <a:t>Stellar</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0F4FA"/>
                    </a:solidFill>
                  </a:tcPr>
                </a:tc>
                <a:tc>
                  <a:txBody>
                    <a:bodyPr/>
                    <a:lstStyle/>
                    <a:p>
                      <a:pPr algn="l"/>
                      <a:r>
                        <a:rPr lang="en-US" sz="1600" dirty="0">
                          <a:solidFill>
                            <a:srgbClr val="333333"/>
                          </a:solidFill>
                        </a:rPr>
                        <a:t>star temp, radius, mass, age, surface gravity, metallicity</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0F4FA"/>
                    </a:solidFill>
                  </a:tcPr>
                </a:tc>
                <a:tc>
                  <a:txBody>
                    <a:bodyPr/>
                    <a:lstStyle/>
                    <a:p>
                      <a:pPr algn="ctr"/>
                      <a:r>
                        <a:rPr lang="en-US" sz="1600" b="1" dirty="0">
                          <a:solidFill>
                            <a:srgbClr val="005C82"/>
                          </a:solidFill>
                        </a:rPr>
                        <a:t>Set B only</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0F4FA"/>
                    </a:solidFill>
                  </a:tcPr>
                </a:tc>
                <a:extLst>
                  <a:ext uri="{0D108BD9-81ED-4DB2-BD59-A6C34878D82A}">
                    <a16:rowId xmlns:a16="http://schemas.microsoft.com/office/drawing/2014/main" val="10002"/>
                  </a:ext>
                </a:extLst>
              </a:tr>
              <a:tr h="1005840">
                <a:tc>
                  <a:txBody>
                    <a:bodyPr/>
                    <a:lstStyle/>
                    <a:p>
                      <a:pPr algn="ctr"/>
                      <a:r>
                        <a:rPr lang="en-US" sz="1600" b="1" dirty="0">
                          <a:solidFill>
                            <a:srgbClr val="333333"/>
                          </a:solidFill>
                        </a:rPr>
                        <a:t>Derived Labels</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a:r>
                        <a:rPr lang="en-US" sz="1600" dirty="0">
                          <a:solidFill>
                            <a:srgbClr val="333333"/>
                          </a:solidFill>
                        </a:rPr>
                        <a:t>planet_type, star_type, orbital_period_cat, habitable_zone_flag</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a:r>
                        <a:rPr lang="en-US" sz="1600" b="1" dirty="0">
                          <a:solidFill>
                            <a:srgbClr val="CC0000"/>
                          </a:solidFill>
                        </a:rPr>
                        <a:t>Excluded - post-hoc only</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005840">
                <a:tc>
                  <a:txBody>
                    <a:bodyPr/>
                    <a:lstStyle/>
                    <a:p>
                      <a:pPr algn="ctr"/>
                      <a:r>
                        <a:rPr lang="en-US" sz="1600" b="1" dirty="0">
                          <a:solidFill>
                            <a:srgbClr val="333333"/>
                          </a:solidFill>
                        </a:rPr>
                        <a:t>Metadata</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0F4FA"/>
                    </a:solidFill>
                  </a:tcPr>
                </a:tc>
                <a:tc>
                  <a:txBody>
                    <a:bodyPr/>
                    <a:lstStyle/>
                    <a:p>
                      <a:pPr algn="l"/>
                      <a:r>
                        <a:rPr lang="en-US" sz="1600" dirty="0">
                          <a:solidFill>
                            <a:srgbClr val="333333"/>
                          </a:solidFill>
                        </a:rPr>
                        <a:t>planet_name, host_star, discovery_method, ra, dec, disc_year</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0F4FA"/>
                    </a:solidFill>
                  </a:tcPr>
                </a:tc>
                <a:tc>
                  <a:txBody>
                    <a:bodyPr/>
                    <a:lstStyle/>
                    <a:p>
                      <a:pPr algn="ctr"/>
                      <a:r>
                        <a:rPr lang="en-US" sz="1600" b="1" dirty="0">
                          <a:solidFill>
                            <a:srgbClr val="CC0000"/>
                          </a:solidFill>
                        </a:rPr>
                        <a:t>Excluded</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0F4FA"/>
                    </a:solidFill>
                  </a:tcPr>
                </a:tc>
                <a:extLst>
                  <a:ext uri="{0D108BD9-81ED-4DB2-BD59-A6C34878D82A}">
                    <a16:rowId xmlns:a16="http://schemas.microsoft.com/office/drawing/2014/main" val="10004"/>
                  </a:ext>
                </a:extLst>
              </a:tr>
            </a:tbl>
          </a:graphicData>
        </a:graphic>
      </p:graphicFrame>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AFE"/>
        </a:solidFill>
        <a:effectLst/>
      </p:bgPr>
    </p:bg>
    <p:spTree>
      <p:nvGrpSpPr>
        <p:cNvPr id="1" name=""/>
        <p:cNvGrpSpPr/>
        <p:nvPr/>
      </p:nvGrpSpPr>
      <p:grpSpPr>
        <a:xfrm>
          <a:off x="0" y="0"/>
          <a:ext cx="0" cy="0"/>
          <a:chOff x="0" y="0"/>
          <a:chExt cx="0" cy="0"/>
        </a:xfrm>
      </p:grpSpPr>
      <p:sp>
        <p:nvSpPr>
          <p:cNvPr id="2" name="Shape 0"/>
          <p:cNvSpPr/>
          <p:nvPr/>
        </p:nvSpPr>
        <p:spPr>
          <a:xfrm>
            <a:off x="0" y="0"/>
            <a:ext cx="2286000" cy="9144000"/>
          </a:xfrm>
          <a:prstGeom prst="rect">
            <a:avLst/>
          </a:prstGeom>
          <a:solidFill>
            <a:srgbClr val="004060"/>
          </a:solidFill>
          <a:ln/>
        </p:spPr>
        <p:txBody>
          <a:bodyPr/>
          <a:lstStyle/>
          <a:p>
            <a:endParaRPr/>
          </a:p>
        </p:txBody>
      </p:sp>
      <p:sp>
        <p:nvSpPr>
          <p:cNvPr id="3" name="Shape 1"/>
          <p:cNvSpPr/>
          <p:nvPr/>
        </p:nvSpPr>
        <p:spPr>
          <a:xfrm>
            <a:off x="177800" y="177800"/>
            <a:ext cx="457200" cy="457200"/>
          </a:xfrm>
          <a:prstGeom prst="ellipse">
            <a:avLst/>
          </a:prstGeom>
          <a:solidFill>
            <a:srgbClr val="FFFFFF">
              <a:alpha val="12549"/>
            </a:srgbClr>
          </a:solidFill>
          <a:ln w="12700">
            <a:solidFill>
              <a:srgbClr val="00ACC1"/>
            </a:solidFill>
            <a:prstDash val="solid"/>
          </a:ln>
        </p:spPr>
        <p:txBody>
          <a:bodyPr/>
          <a:lstStyle/>
          <a:p>
            <a:endParaRPr/>
          </a:p>
        </p:txBody>
      </p:sp>
      <p:sp>
        <p:nvSpPr>
          <p:cNvPr id="4" name="Shape 2"/>
          <p:cNvSpPr/>
          <p:nvPr/>
        </p:nvSpPr>
        <p:spPr>
          <a:xfrm>
            <a:off x="0" y="2184400"/>
            <a:ext cx="2286000" cy="1168400"/>
          </a:xfrm>
          <a:prstGeom prst="rect">
            <a:avLst/>
          </a:prstGeom>
          <a:solidFill>
            <a:srgbClr val="005C82"/>
          </a:solidFill>
          <a:ln/>
        </p:spPr>
        <p:txBody>
          <a:bodyPr/>
          <a:lstStyle/>
          <a:p>
            <a:endParaRPr/>
          </a:p>
        </p:txBody>
      </p:sp>
      <p:sp>
        <p:nvSpPr>
          <p:cNvPr id="5" name="Text 3"/>
          <p:cNvSpPr/>
          <p:nvPr/>
        </p:nvSpPr>
        <p:spPr>
          <a:xfrm>
            <a:off x="101600" y="10160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01 Intro</a:t>
            </a:r>
            <a:endParaRPr lang="en-US" sz="1600" dirty="0"/>
          </a:p>
        </p:txBody>
      </p:sp>
      <p:sp>
        <p:nvSpPr>
          <p:cNvPr id="6" name="Text 4"/>
          <p:cNvSpPr/>
          <p:nvPr/>
        </p:nvSpPr>
        <p:spPr>
          <a:xfrm>
            <a:off x="101600" y="2184400"/>
            <a:ext cx="2082800" cy="1168400"/>
          </a:xfrm>
          <a:prstGeom prst="rect">
            <a:avLst/>
          </a:prstGeom>
          <a:noFill/>
          <a:ln/>
        </p:spPr>
        <p:txBody>
          <a:bodyPr wrap="none" lIns="0" tIns="0" rIns="0" bIns="0" rtlCol="0" anchor="ctr"/>
          <a:lstStyle/>
          <a:p>
            <a:pPr algn="l">
              <a:lnSpc>
                <a:spcPct val="120000"/>
              </a:lnSpc>
            </a:pPr>
            <a:r>
              <a:rPr lang="en-US" sz="1800" b="1" dirty="0">
                <a:solidFill>
                  <a:srgbClr val="FFFFFF"/>
                </a:solidFill>
                <a:latin typeface="Quattrocento Sans" pitchFamily="34" charset="0"/>
                <a:ea typeface="Quattrocento Sans" pitchFamily="34" charset="-122"/>
                <a:cs typeface="Quattrocento Sans" pitchFamily="34" charset="-120"/>
              </a:rPr>
              <a:t>02 Dataset</a:t>
            </a:r>
            <a:endParaRPr lang="en-US" sz="1800" dirty="0"/>
          </a:p>
        </p:txBody>
      </p:sp>
      <p:sp>
        <p:nvSpPr>
          <p:cNvPr id="7" name="Text 5"/>
          <p:cNvSpPr/>
          <p:nvPr/>
        </p:nvSpPr>
        <p:spPr>
          <a:xfrm>
            <a:off x="101600" y="33528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03 Clustering</a:t>
            </a:r>
            <a:endParaRPr lang="en-US" sz="1600" dirty="0"/>
          </a:p>
        </p:txBody>
      </p:sp>
      <p:sp>
        <p:nvSpPr>
          <p:cNvPr id="8" name="Text 6"/>
          <p:cNvSpPr/>
          <p:nvPr/>
        </p:nvSpPr>
        <p:spPr>
          <a:xfrm>
            <a:off x="101600" y="45212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04 Supervised</a:t>
            </a:r>
            <a:endParaRPr lang="en-US" sz="1600" dirty="0"/>
          </a:p>
        </p:txBody>
      </p:sp>
      <p:sp>
        <p:nvSpPr>
          <p:cNvPr id="9" name="Text 7"/>
          <p:cNvSpPr/>
          <p:nvPr/>
        </p:nvSpPr>
        <p:spPr>
          <a:xfrm>
            <a:off x="101600" y="56896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05 Conclusions</a:t>
            </a:r>
            <a:endParaRPr lang="en-US" sz="1600" dirty="0"/>
          </a:p>
        </p:txBody>
      </p:sp>
      <p:sp>
        <p:nvSpPr>
          <p:cNvPr id="10" name="Shape 8"/>
          <p:cNvSpPr/>
          <p:nvPr/>
        </p:nvSpPr>
        <p:spPr>
          <a:xfrm>
            <a:off x="1066800" y="7493000"/>
            <a:ext cx="152400" cy="152400"/>
          </a:xfrm>
          <a:prstGeom prst="diamond">
            <a:avLst/>
          </a:prstGeom>
          <a:solidFill>
            <a:srgbClr val="00ACC1"/>
          </a:solidFill>
          <a:ln/>
        </p:spPr>
        <p:txBody>
          <a:bodyPr/>
          <a:lstStyle/>
          <a:p>
            <a:endParaRPr/>
          </a:p>
        </p:txBody>
      </p:sp>
      <p:sp>
        <p:nvSpPr>
          <p:cNvPr id="11" name="Shape 9"/>
          <p:cNvSpPr/>
          <p:nvPr/>
        </p:nvSpPr>
        <p:spPr>
          <a:xfrm>
            <a:off x="2286000" y="0"/>
            <a:ext cx="13970000" cy="635000"/>
          </a:xfrm>
          <a:prstGeom prst="rect">
            <a:avLst/>
          </a:prstGeom>
          <a:solidFill>
            <a:srgbClr val="E0F4FA"/>
          </a:solidFill>
          <a:ln/>
        </p:spPr>
        <p:txBody>
          <a:bodyPr/>
          <a:lstStyle/>
          <a:p>
            <a:endParaRPr/>
          </a:p>
        </p:txBody>
      </p:sp>
      <p:sp>
        <p:nvSpPr>
          <p:cNvPr id="12" name="Text 10"/>
          <p:cNvSpPr/>
          <p:nvPr/>
        </p:nvSpPr>
        <p:spPr>
          <a:xfrm>
            <a:off x="2540000" y="0"/>
            <a:ext cx="12827000" cy="635000"/>
          </a:xfrm>
          <a:prstGeom prst="rect">
            <a:avLst/>
          </a:prstGeom>
          <a:noFill/>
          <a:ln/>
        </p:spPr>
        <p:txBody>
          <a:bodyPr wrap="none" lIns="0" tIns="0" rIns="0" bIns="0" rtlCol="0" anchor="ctr"/>
          <a:lstStyle/>
          <a:p>
            <a:pPr algn="l">
              <a:lnSpc>
                <a:spcPct val="120000"/>
              </a:lnSpc>
            </a:pPr>
            <a:r>
              <a:rPr lang="en-US" sz="1400" b="1" dirty="0">
                <a:solidFill>
                  <a:srgbClr val="005C82"/>
                </a:solidFill>
                <a:latin typeface="Quattrocento Sans" pitchFamily="34" charset="0"/>
                <a:ea typeface="Quattrocento Sans" pitchFamily="34" charset="-122"/>
                <a:cs typeface="Quattrocento Sans" pitchFamily="34" charset="-120"/>
              </a:rPr>
              <a:t>02 Dataset</a:t>
            </a:r>
            <a:r>
              <a:rPr lang="en-US" sz="1400" dirty="0">
                <a:solidFill>
                  <a:srgbClr val="005C82"/>
                </a:solidFill>
                <a:latin typeface="Quattrocento Sans" pitchFamily="34" charset="0"/>
                <a:ea typeface="Quattrocento Sans" pitchFamily="34" charset="-122"/>
                <a:cs typeface="Quattrocento Sans" pitchFamily="34" charset="-120"/>
              </a:rPr>
              <a:t>  &gt;  2.2  Preprocessing Pipeline</a:t>
            </a:r>
            <a:endParaRPr lang="en-US" sz="1400" dirty="0"/>
          </a:p>
        </p:txBody>
      </p:sp>
      <p:sp>
        <p:nvSpPr>
          <p:cNvPr id="13" name="Text 11"/>
          <p:cNvSpPr/>
          <p:nvPr/>
        </p:nvSpPr>
        <p:spPr>
          <a:xfrm>
            <a:off x="15621000" y="0"/>
            <a:ext cx="635000" cy="635000"/>
          </a:xfrm>
          <a:prstGeom prst="rect">
            <a:avLst/>
          </a:prstGeom>
          <a:noFill/>
          <a:ln/>
        </p:spPr>
        <p:txBody>
          <a:bodyPr wrap="square" lIns="0" tIns="0" rIns="0" bIns="0" rtlCol="0" anchor="ctr"/>
          <a:lstStyle/>
          <a:p>
            <a:r>
              <a:t>10</a:t>
            </a:r>
          </a:p>
        </p:txBody>
      </p:sp>
      <p:sp>
        <p:nvSpPr>
          <p:cNvPr id="14" name="Text 12"/>
          <p:cNvSpPr/>
          <p:nvPr/>
        </p:nvSpPr>
        <p:spPr>
          <a:xfrm>
            <a:off x="2540000" y="863600"/>
            <a:ext cx="13208000" cy="457200"/>
          </a:xfrm>
          <a:prstGeom prst="rect">
            <a:avLst/>
          </a:prstGeom>
          <a:noFill/>
          <a:ln/>
        </p:spPr>
        <p:txBody>
          <a:bodyPr wrap="none" lIns="0" tIns="0" rIns="0" bIns="0" rtlCol="0" anchor="t"/>
          <a:lstStyle/>
          <a:p>
            <a:pPr algn="l">
              <a:lnSpc>
                <a:spcPct val="120000"/>
              </a:lnSpc>
            </a:pPr>
            <a:r>
              <a:rPr lang="en-US" sz="2400" b="1" dirty="0">
                <a:solidFill>
                  <a:srgbClr val="005C82"/>
                </a:solidFill>
                <a:latin typeface="Quattrocento Sans" pitchFamily="34" charset="0"/>
                <a:ea typeface="Quattrocento Sans" pitchFamily="34" charset="-122"/>
                <a:cs typeface="Quattrocento Sans" pitchFamily="34" charset="-120"/>
              </a:rPr>
              <a:t>Preprocessing Pipeline</a:t>
            </a:r>
            <a:endParaRPr lang="en-US" sz="2400" dirty="0"/>
          </a:p>
        </p:txBody>
      </p:sp>
      <p:sp>
        <p:nvSpPr>
          <p:cNvPr id="15" name="Shape 13"/>
          <p:cNvSpPr/>
          <p:nvPr/>
        </p:nvSpPr>
        <p:spPr>
          <a:xfrm>
            <a:off x="2540000" y="1397000"/>
            <a:ext cx="13208000" cy="12700"/>
          </a:xfrm>
          <a:prstGeom prst="rect">
            <a:avLst/>
          </a:prstGeom>
          <a:solidFill>
            <a:srgbClr val="B0BEC5"/>
          </a:solidFill>
          <a:ln/>
        </p:spPr>
        <p:txBody>
          <a:bodyPr/>
          <a:lstStyle/>
          <a:p>
            <a:endParaRPr/>
          </a:p>
        </p:txBody>
      </p:sp>
      <p:sp>
        <p:nvSpPr>
          <p:cNvPr id="16" name="Shape 14"/>
          <p:cNvSpPr/>
          <p:nvPr/>
        </p:nvSpPr>
        <p:spPr>
          <a:xfrm>
            <a:off x="2921000" y="1778000"/>
            <a:ext cx="762000" cy="762000"/>
          </a:xfrm>
          <a:prstGeom prst="ellipse">
            <a:avLst/>
          </a:prstGeom>
          <a:solidFill>
            <a:srgbClr val="005C82"/>
          </a:solidFill>
          <a:ln/>
        </p:spPr>
        <p:txBody>
          <a:bodyPr/>
          <a:lstStyle/>
          <a:p>
            <a:endParaRPr/>
          </a:p>
        </p:txBody>
      </p:sp>
      <p:sp>
        <p:nvSpPr>
          <p:cNvPr id="17" name="Text 15"/>
          <p:cNvSpPr/>
          <p:nvPr/>
        </p:nvSpPr>
        <p:spPr>
          <a:xfrm>
            <a:off x="2921000" y="1778000"/>
            <a:ext cx="762000" cy="762000"/>
          </a:xfrm>
          <a:prstGeom prst="rect">
            <a:avLst/>
          </a:prstGeom>
          <a:noFill/>
          <a:ln/>
        </p:spPr>
        <p:txBody>
          <a:bodyPr wrap="square" lIns="0" tIns="0" rIns="0" bIns="0" rtlCol="0" anchor="ctr"/>
          <a:lstStyle/>
          <a:p>
            <a:pPr algn="ctr"/>
            <a:r>
              <a:rPr sz="1000" b="0">
                <a:solidFill>
                  <a:srgbClr val="005C82"/>
                </a:solidFill>
                <a:latin typeface="Quattrocento Sans"/>
              </a:rPr>
              <a:t>9</a:t>
            </a:r>
          </a:p>
        </p:txBody>
      </p:sp>
      <p:sp>
        <p:nvSpPr>
          <p:cNvPr id="18" name="Shape 16"/>
          <p:cNvSpPr/>
          <p:nvPr/>
        </p:nvSpPr>
        <p:spPr>
          <a:xfrm>
            <a:off x="3683000" y="2133600"/>
            <a:ext cx="2032000" cy="25400"/>
          </a:xfrm>
          <a:prstGeom prst="rect">
            <a:avLst/>
          </a:prstGeom>
          <a:solidFill>
            <a:srgbClr val="005C82"/>
          </a:solidFill>
          <a:ln/>
        </p:spPr>
        <p:txBody>
          <a:bodyPr/>
          <a:lstStyle/>
          <a:p>
            <a:endParaRPr/>
          </a:p>
        </p:txBody>
      </p:sp>
      <p:sp>
        <p:nvSpPr>
          <p:cNvPr id="19" name="Shape 17"/>
          <p:cNvSpPr/>
          <p:nvPr/>
        </p:nvSpPr>
        <p:spPr>
          <a:xfrm>
            <a:off x="5715000" y="1778000"/>
            <a:ext cx="762000" cy="762000"/>
          </a:xfrm>
          <a:prstGeom prst="ellipse">
            <a:avLst/>
          </a:prstGeom>
          <a:solidFill>
            <a:srgbClr val="007AA8"/>
          </a:solidFill>
          <a:ln/>
        </p:spPr>
        <p:txBody>
          <a:bodyPr/>
          <a:lstStyle/>
          <a:p>
            <a:endParaRPr/>
          </a:p>
        </p:txBody>
      </p:sp>
      <p:sp>
        <p:nvSpPr>
          <p:cNvPr id="20" name="Text 18"/>
          <p:cNvSpPr/>
          <p:nvPr/>
        </p:nvSpPr>
        <p:spPr>
          <a:xfrm>
            <a:off x="5715000" y="1778000"/>
            <a:ext cx="762000" cy="762000"/>
          </a:xfrm>
          <a:prstGeom prst="rect">
            <a:avLst/>
          </a:prstGeom>
          <a:noFill/>
          <a:ln/>
        </p:spPr>
        <p:txBody>
          <a:bodyPr wrap="square" lIns="0" tIns="0" rIns="0" bIns="0" rtlCol="0" anchor="ctr"/>
          <a:lstStyle/>
          <a:p>
            <a:pPr algn="ctr"/>
            <a:endParaRPr sz="1000" b="0" dirty="0">
              <a:solidFill>
                <a:srgbClr val="005C82"/>
              </a:solidFill>
              <a:latin typeface="Quattrocento Sans"/>
            </a:endParaRPr>
          </a:p>
        </p:txBody>
      </p:sp>
      <p:sp>
        <p:nvSpPr>
          <p:cNvPr id="21" name="Shape 19"/>
          <p:cNvSpPr/>
          <p:nvPr/>
        </p:nvSpPr>
        <p:spPr>
          <a:xfrm>
            <a:off x="6477000" y="2133600"/>
            <a:ext cx="2032000" cy="25400"/>
          </a:xfrm>
          <a:prstGeom prst="rect">
            <a:avLst/>
          </a:prstGeom>
          <a:solidFill>
            <a:srgbClr val="007AA8"/>
          </a:solidFill>
          <a:ln/>
        </p:spPr>
        <p:txBody>
          <a:bodyPr/>
          <a:lstStyle/>
          <a:p>
            <a:endParaRPr/>
          </a:p>
        </p:txBody>
      </p:sp>
      <p:sp>
        <p:nvSpPr>
          <p:cNvPr id="22" name="Shape 20"/>
          <p:cNvSpPr/>
          <p:nvPr/>
        </p:nvSpPr>
        <p:spPr>
          <a:xfrm>
            <a:off x="8509000" y="1778000"/>
            <a:ext cx="762000" cy="762000"/>
          </a:xfrm>
          <a:prstGeom prst="ellipse">
            <a:avLst/>
          </a:prstGeom>
          <a:solidFill>
            <a:srgbClr val="00ACC1"/>
          </a:solidFill>
          <a:ln/>
        </p:spPr>
        <p:txBody>
          <a:bodyPr/>
          <a:lstStyle/>
          <a:p>
            <a:endParaRPr/>
          </a:p>
        </p:txBody>
      </p:sp>
      <p:sp>
        <p:nvSpPr>
          <p:cNvPr id="23" name="Text 21"/>
          <p:cNvSpPr/>
          <p:nvPr/>
        </p:nvSpPr>
        <p:spPr>
          <a:xfrm>
            <a:off x="8509000" y="1778000"/>
            <a:ext cx="762000" cy="762000"/>
          </a:xfrm>
          <a:prstGeom prst="rect">
            <a:avLst/>
          </a:prstGeom>
          <a:noFill/>
          <a:ln/>
        </p:spPr>
        <p:txBody>
          <a:bodyPr wrap="square" lIns="0" tIns="0" rIns="0" bIns="0" rtlCol="0" anchor="ctr"/>
          <a:lstStyle/>
          <a:p>
            <a:pPr algn="ctr"/>
            <a:endParaRPr sz="1000" b="0" dirty="0">
              <a:solidFill>
                <a:srgbClr val="005C82"/>
              </a:solidFill>
              <a:latin typeface="Quattrocento Sans"/>
            </a:endParaRPr>
          </a:p>
        </p:txBody>
      </p:sp>
      <p:sp>
        <p:nvSpPr>
          <p:cNvPr id="24" name="Shape 22"/>
          <p:cNvSpPr/>
          <p:nvPr/>
        </p:nvSpPr>
        <p:spPr>
          <a:xfrm>
            <a:off x="9271000" y="2133600"/>
            <a:ext cx="2032000" cy="25400"/>
          </a:xfrm>
          <a:prstGeom prst="rect">
            <a:avLst/>
          </a:prstGeom>
          <a:solidFill>
            <a:srgbClr val="00ACC1"/>
          </a:solidFill>
          <a:ln/>
        </p:spPr>
        <p:txBody>
          <a:bodyPr/>
          <a:lstStyle/>
          <a:p>
            <a:endParaRPr/>
          </a:p>
        </p:txBody>
      </p:sp>
      <p:sp>
        <p:nvSpPr>
          <p:cNvPr id="25" name="Shape 23"/>
          <p:cNvSpPr/>
          <p:nvPr/>
        </p:nvSpPr>
        <p:spPr>
          <a:xfrm>
            <a:off x="11303000" y="1778000"/>
            <a:ext cx="762000" cy="762000"/>
          </a:xfrm>
          <a:prstGeom prst="ellipse">
            <a:avLst/>
          </a:prstGeom>
          <a:solidFill>
            <a:srgbClr val="004060"/>
          </a:solidFill>
          <a:ln/>
        </p:spPr>
        <p:txBody>
          <a:bodyPr/>
          <a:lstStyle/>
          <a:p>
            <a:endParaRPr/>
          </a:p>
        </p:txBody>
      </p:sp>
      <p:sp>
        <p:nvSpPr>
          <p:cNvPr id="26" name="Text 24"/>
          <p:cNvSpPr/>
          <p:nvPr/>
        </p:nvSpPr>
        <p:spPr>
          <a:xfrm>
            <a:off x="11303000" y="1778000"/>
            <a:ext cx="762000" cy="762000"/>
          </a:xfrm>
          <a:prstGeom prst="rect">
            <a:avLst/>
          </a:prstGeom>
          <a:noFill/>
          <a:ln/>
        </p:spPr>
        <p:txBody>
          <a:bodyPr wrap="square" lIns="0" tIns="0" rIns="0" bIns="0" rtlCol="0" anchor="ctr"/>
          <a:lstStyle/>
          <a:p>
            <a:pPr algn="ctr"/>
            <a:endParaRPr sz="1000" b="0" dirty="0">
              <a:solidFill>
                <a:srgbClr val="005C82"/>
              </a:solidFill>
              <a:latin typeface="Quattrocento Sans"/>
            </a:endParaRPr>
          </a:p>
        </p:txBody>
      </p:sp>
      <p:sp>
        <p:nvSpPr>
          <p:cNvPr id="27" name="Text 25"/>
          <p:cNvSpPr/>
          <p:nvPr/>
        </p:nvSpPr>
        <p:spPr>
          <a:xfrm>
            <a:off x="2540000" y="2616200"/>
            <a:ext cx="1524000" cy="508000"/>
          </a:xfrm>
          <a:prstGeom prst="rect">
            <a:avLst/>
          </a:prstGeom>
          <a:noFill/>
          <a:ln/>
        </p:spPr>
        <p:txBody>
          <a:bodyPr wrap="square" lIns="0" tIns="0" rIns="0" bIns="0" rtlCol="0" anchor="t"/>
          <a:lstStyle/>
          <a:p>
            <a:pPr algn="ctr">
              <a:lnSpc>
                <a:spcPct val="120000"/>
              </a:lnSpc>
            </a:pPr>
            <a:r>
              <a:rPr lang="en-US" sz="1300" b="1" dirty="0">
                <a:solidFill>
                  <a:srgbClr val="005C82"/>
                </a:solidFill>
                <a:latin typeface="Quattrocento Sans" pitchFamily="34" charset="0"/>
                <a:ea typeface="Quattrocento Sans" pitchFamily="34" charset="-122"/>
                <a:cs typeface="Quattrocento Sans" pitchFamily="34" charset="-120"/>
              </a:rPr>
              <a:t>Log1p Transform</a:t>
            </a:r>
            <a:endParaRPr lang="en-US" sz="1300" dirty="0"/>
          </a:p>
        </p:txBody>
      </p:sp>
      <p:sp>
        <p:nvSpPr>
          <p:cNvPr id="28" name="Text 26"/>
          <p:cNvSpPr/>
          <p:nvPr/>
        </p:nvSpPr>
        <p:spPr>
          <a:xfrm>
            <a:off x="5334000" y="2616200"/>
            <a:ext cx="1524000" cy="508000"/>
          </a:xfrm>
          <a:prstGeom prst="rect">
            <a:avLst/>
          </a:prstGeom>
          <a:noFill/>
          <a:ln/>
        </p:spPr>
        <p:txBody>
          <a:bodyPr wrap="square" lIns="0" tIns="0" rIns="0" bIns="0" rtlCol="0" anchor="t"/>
          <a:lstStyle/>
          <a:p>
            <a:pPr algn="ctr">
              <a:lnSpc>
                <a:spcPct val="120000"/>
              </a:lnSpc>
            </a:pPr>
            <a:r>
              <a:rPr lang="en-US" sz="1300" b="1" dirty="0">
                <a:solidFill>
                  <a:srgbClr val="007AA8"/>
                </a:solidFill>
                <a:latin typeface="Quattrocento Sans" pitchFamily="34" charset="0"/>
                <a:ea typeface="Quattrocento Sans" pitchFamily="34" charset="-122"/>
                <a:cs typeface="Quattrocento Sans" pitchFamily="34" charset="-120"/>
              </a:rPr>
              <a:t>Median Imputation</a:t>
            </a:r>
            <a:endParaRPr lang="en-US" sz="1300" dirty="0"/>
          </a:p>
        </p:txBody>
      </p:sp>
      <p:sp>
        <p:nvSpPr>
          <p:cNvPr id="29" name="Text 27"/>
          <p:cNvSpPr/>
          <p:nvPr/>
        </p:nvSpPr>
        <p:spPr>
          <a:xfrm>
            <a:off x="8128000" y="2616200"/>
            <a:ext cx="1524000" cy="508000"/>
          </a:xfrm>
          <a:prstGeom prst="rect">
            <a:avLst/>
          </a:prstGeom>
          <a:noFill/>
          <a:ln/>
        </p:spPr>
        <p:txBody>
          <a:bodyPr wrap="square" lIns="0" tIns="0" rIns="0" bIns="0" rtlCol="0" anchor="t"/>
          <a:lstStyle/>
          <a:p>
            <a:pPr algn="ctr">
              <a:lnSpc>
                <a:spcPct val="120000"/>
              </a:lnSpc>
            </a:pPr>
            <a:r>
              <a:rPr lang="en-US" sz="1300" b="1" dirty="0">
                <a:solidFill>
                  <a:srgbClr val="00ACC1"/>
                </a:solidFill>
                <a:latin typeface="Quattrocento Sans" pitchFamily="34" charset="0"/>
                <a:ea typeface="Quattrocento Sans" pitchFamily="34" charset="-122"/>
                <a:cs typeface="Quattrocento Sans" pitchFamily="34" charset="-120"/>
              </a:rPr>
              <a:t>Standardization</a:t>
            </a:r>
            <a:endParaRPr lang="en-US" sz="1300" dirty="0"/>
          </a:p>
        </p:txBody>
      </p:sp>
      <p:sp>
        <p:nvSpPr>
          <p:cNvPr id="30" name="Text 28"/>
          <p:cNvSpPr/>
          <p:nvPr/>
        </p:nvSpPr>
        <p:spPr>
          <a:xfrm>
            <a:off x="10922000" y="2616200"/>
            <a:ext cx="1524000" cy="508000"/>
          </a:xfrm>
          <a:prstGeom prst="rect">
            <a:avLst/>
          </a:prstGeom>
          <a:noFill/>
          <a:ln/>
        </p:spPr>
        <p:txBody>
          <a:bodyPr wrap="square" lIns="0" tIns="0" rIns="0" bIns="0" rtlCol="0" anchor="t"/>
          <a:lstStyle/>
          <a:p>
            <a:pPr algn="ctr">
              <a:lnSpc>
                <a:spcPct val="120000"/>
              </a:lnSpc>
            </a:pPr>
            <a:r>
              <a:rPr lang="en-US" sz="1300" b="1" dirty="0">
                <a:solidFill>
                  <a:srgbClr val="004060"/>
                </a:solidFill>
                <a:latin typeface="Quattrocento Sans" pitchFamily="34" charset="0"/>
                <a:ea typeface="Quattrocento Sans" pitchFamily="34" charset="-122"/>
                <a:cs typeface="Quattrocento Sans" pitchFamily="34" charset="-120"/>
              </a:rPr>
              <a:t>Pipeline CV</a:t>
            </a:r>
            <a:endParaRPr lang="en-US" sz="1300" dirty="0"/>
          </a:p>
        </p:txBody>
      </p:sp>
      <p:sp>
        <p:nvSpPr>
          <p:cNvPr id="31" name="Shape 29"/>
          <p:cNvSpPr/>
          <p:nvPr/>
        </p:nvSpPr>
        <p:spPr>
          <a:xfrm>
            <a:off x="2540000" y="3302000"/>
            <a:ext cx="13462000" cy="5080000"/>
          </a:xfrm>
          <a:prstGeom prst="rect">
            <a:avLst/>
          </a:prstGeom>
          <a:solidFill>
            <a:srgbClr val="E0F4FA"/>
          </a:solidFill>
          <a:ln w="12700">
            <a:solidFill>
              <a:srgbClr val="B0BEC5"/>
            </a:solidFill>
            <a:prstDash val="solid"/>
          </a:ln>
        </p:spPr>
        <p:txBody>
          <a:bodyPr/>
          <a:lstStyle/>
          <a:p>
            <a:endParaRPr/>
          </a:p>
        </p:txBody>
      </p:sp>
      <p:sp>
        <p:nvSpPr>
          <p:cNvPr id="32" name="Text 30"/>
          <p:cNvSpPr/>
          <p:nvPr/>
        </p:nvSpPr>
        <p:spPr>
          <a:xfrm>
            <a:off x="3578828" y="3518382"/>
            <a:ext cx="6350000" cy="4673600"/>
          </a:xfrm>
          <a:prstGeom prst="rect">
            <a:avLst/>
          </a:prstGeom>
          <a:noFill/>
          <a:ln/>
        </p:spPr>
        <p:txBody>
          <a:bodyPr wrap="square" lIns="0" tIns="0" rIns="0" bIns="0" rtlCol="0" anchor="t"/>
          <a:lstStyle/>
          <a:p>
            <a:pPr algn="l">
              <a:lnSpc>
                <a:spcPct val="160000"/>
              </a:lnSpc>
            </a:pPr>
            <a:r>
              <a:rPr lang="en-US" sz="1500" b="1" dirty="0">
                <a:solidFill>
                  <a:srgbClr val="333333"/>
                </a:solidFill>
                <a:latin typeface="Quattrocento Sans" pitchFamily="34" charset="0"/>
                <a:ea typeface="Quattrocento Sans" pitchFamily="34" charset="-122"/>
                <a:cs typeface="Quattrocento Sans" pitchFamily="34" charset="-120"/>
              </a:rPr>
              <a:t>Log1p Transform</a:t>
            </a:r>
            <a:endParaRPr lang="en-US" sz="1500" dirty="0"/>
          </a:p>
          <a:p>
            <a:pPr algn="l">
              <a:lnSpc>
                <a:spcPct val="160000"/>
              </a:lnSpc>
            </a:pPr>
            <a:r>
              <a:rPr lang="en-US" sz="1500" dirty="0">
                <a:solidFill>
                  <a:srgbClr val="333333"/>
                </a:solidFill>
                <a:latin typeface="Quattrocento Sans" pitchFamily="34" charset="0"/>
                <a:ea typeface="Quattrocento Sans" pitchFamily="34" charset="-122"/>
                <a:cs typeface="Quattrocento Sans" pitchFamily="34" charset="-120"/>
              </a:rPr>
              <a:t>Five variables with heavy right skew:</a:t>
            </a:r>
            <a:endParaRPr lang="en-US" sz="1500" dirty="0"/>
          </a:p>
          <a:p>
            <a:pPr algn="l">
              <a:lnSpc>
                <a:spcPct val="160000"/>
              </a:lnSpc>
            </a:pPr>
            <a:r>
              <a:rPr lang="en-US" sz="1500" dirty="0">
                <a:solidFill>
                  <a:srgbClr val="333333"/>
                </a:solidFill>
                <a:latin typeface="Quattrocento Sans" pitchFamily="34" charset="0"/>
                <a:ea typeface="Quattrocento Sans" pitchFamily="34" charset="-122"/>
                <a:cs typeface="Quattrocento Sans" pitchFamily="34" charset="-120"/>
              </a:rPr>
              <a:t>orbital_period, planet_radius, planet_mass, semi_major_axis, dist_from_earth</a:t>
            </a:r>
            <a:endParaRPr lang="en-US" sz="1500" dirty="0"/>
          </a:p>
          <a:p>
            <a:pPr algn="l">
              <a:lnSpc>
                <a:spcPct val="160000"/>
              </a:lnSpc>
            </a:pPr>
            <a:r>
              <a:rPr lang="en-US" sz="1500" dirty="0">
                <a:solidFill>
                  <a:srgbClr val="333333"/>
                </a:solidFill>
                <a:latin typeface="Quattrocento Sans" pitchFamily="34" charset="0"/>
                <a:ea typeface="Quattrocento Sans" pitchFamily="34" charset="-122"/>
                <a:cs typeface="Quattrocento Sans" pitchFamily="34" charset="-120"/>
              </a:rPr>
              <a:t> </a:t>
            </a:r>
            <a:endParaRPr lang="en-US" sz="1500" dirty="0"/>
          </a:p>
          <a:p>
            <a:pPr algn="l">
              <a:lnSpc>
                <a:spcPct val="160000"/>
              </a:lnSpc>
            </a:pPr>
            <a:r>
              <a:rPr lang="en-US" sz="1500" b="1" dirty="0">
                <a:solidFill>
                  <a:srgbClr val="333333"/>
                </a:solidFill>
                <a:latin typeface="Quattrocento Sans" pitchFamily="34" charset="0"/>
                <a:ea typeface="Quattrocento Sans" pitchFamily="34" charset="-122"/>
                <a:cs typeface="Quattrocento Sans" pitchFamily="34" charset="-120"/>
              </a:rPr>
              <a:t>Median Imputation for missing value</a:t>
            </a:r>
            <a:endParaRPr lang="en-US" sz="1500" dirty="0"/>
          </a:p>
          <a:p>
            <a:pPr algn="l">
              <a:lnSpc>
                <a:spcPct val="160000"/>
              </a:lnSpc>
            </a:pPr>
            <a:r>
              <a:rPr lang="en-US" sz="1500" dirty="0">
                <a:solidFill>
                  <a:srgbClr val="333333"/>
                </a:solidFill>
                <a:latin typeface="Quattrocento Sans" pitchFamily="34" charset="0"/>
                <a:ea typeface="Quattrocento Sans" pitchFamily="34" charset="-122"/>
                <a:cs typeface="Quattrocento Sans" pitchFamily="34" charset="-120"/>
              </a:rPr>
              <a:t>SimpleImputer(strategy="median")</a:t>
            </a:r>
          </a:p>
          <a:p>
            <a:pPr algn="l">
              <a:lnSpc>
                <a:spcPct val="160000"/>
              </a:lnSpc>
            </a:pPr>
            <a:endParaRPr lang="en-US" sz="1500" dirty="0"/>
          </a:p>
          <a:p>
            <a:pPr algn="l">
              <a:lnSpc>
                <a:spcPct val="160000"/>
              </a:lnSpc>
            </a:pPr>
            <a:r>
              <a:rPr lang="en-US" sz="1500" b="1" dirty="0" err="1">
                <a:solidFill>
                  <a:srgbClr val="333333"/>
                </a:solidFill>
                <a:latin typeface="Quattrocento Sans" pitchFamily="34" charset="0"/>
                <a:ea typeface="Quattrocento Sans" pitchFamily="34" charset="-122"/>
                <a:cs typeface="Quattrocento Sans" pitchFamily="34" charset="-120"/>
              </a:rPr>
              <a:t>StandardScaler</a:t>
            </a:r>
            <a:endParaRPr lang="en-US" sz="1500" dirty="0"/>
          </a:p>
          <a:p>
            <a:pPr algn="l">
              <a:lnSpc>
                <a:spcPct val="160000"/>
              </a:lnSpc>
            </a:pPr>
            <a:r>
              <a:rPr lang="en-US" sz="1500" dirty="0">
                <a:solidFill>
                  <a:srgbClr val="333333"/>
                </a:solidFill>
                <a:latin typeface="Quattrocento Sans" pitchFamily="34" charset="0"/>
                <a:ea typeface="Quattrocento Sans" pitchFamily="34" charset="-122"/>
                <a:cs typeface="Quattrocento Sans" pitchFamily="34" charset="-120"/>
              </a:rPr>
              <a:t>Required for distance-based methods</a:t>
            </a:r>
          </a:p>
          <a:p>
            <a:pPr algn="l">
              <a:lnSpc>
                <a:spcPct val="160000"/>
              </a:lnSpc>
            </a:pPr>
            <a:endParaRPr lang="en-US" sz="1500" dirty="0">
              <a:solidFill>
                <a:srgbClr val="333333"/>
              </a:solidFill>
              <a:latin typeface="Quattrocento Sans" pitchFamily="34" charset="0"/>
            </a:endParaRPr>
          </a:p>
          <a:p>
            <a:pPr>
              <a:lnSpc>
                <a:spcPct val="160000"/>
              </a:lnSpc>
            </a:pPr>
            <a:r>
              <a:rPr lang="en-US" sz="1500" b="1" dirty="0">
                <a:solidFill>
                  <a:srgbClr val="333333"/>
                </a:solidFill>
                <a:latin typeface="Quattrocento Sans" pitchFamily="34" charset="0"/>
                <a:ea typeface="Quattrocento Sans" pitchFamily="34" charset="-122"/>
                <a:cs typeface="Quattrocento Sans" pitchFamily="34" charset="-120"/>
              </a:rPr>
              <a:t>Cross Validation</a:t>
            </a:r>
          </a:p>
          <a:p>
            <a:pPr>
              <a:lnSpc>
                <a:spcPct val="160000"/>
              </a:lnSpc>
            </a:pPr>
            <a:r>
              <a:rPr lang="en-US" sz="1500" dirty="0" err="1">
                <a:solidFill>
                  <a:srgbClr val="333333"/>
                </a:solidFill>
                <a:latin typeface="Quattrocento Sans" pitchFamily="34" charset="0"/>
                <a:ea typeface="Quattrocento Sans" pitchFamily="34" charset="-122"/>
                <a:cs typeface="Quattrocento Sans" pitchFamily="34" charset="-120"/>
              </a:rPr>
              <a:t>GridSearchCV</a:t>
            </a:r>
            <a:r>
              <a:rPr lang="en-US" sz="1500" dirty="0">
                <a:solidFill>
                  <a:srgbClr val="333333"/>
                </a:solidFill>
                <a:latin typeface="Quattrocento Sans" pitchFamily="34" charset="0"/>
                <a:ea typeface="Quattrocento Sans" pitchFamily="34" charset="-122"/>
                <a:cs typeface="Quattrocento Sans" pitchFamily="34" charset="-120"/>
              </a:rPr>
              <a:t> iteration with 5-fold </a:t>
            </a:r>
            <a:r>
              <a:rPr lang="en-US" sz="1500" dirty="0" err="1">
                <a:solidFill>
                  <a:srgbClr val="333333"/>
                </a:solidFill>
                <a:latin typeface="Quattrocento Sans" pitchFamily="34" charset="0"/>
                <a:ea typeface="Quattrocento Sans" pitchFamily="34" charset="-122"/>
                <a:cs typeface="Quattrocento Sans" pitchFamily="34" charset="-120"/>
              </a:rPr>
              <a:t>StratifiedKFold</a:t>
            </a:r>
            <a:r>
              <a:rPr lang="en-US" sz="1500" dirty="0">
                <a:solidFill>
                  <a:srgbClr val="333333"/>
                </a:solidFill>
                <a:latin typeface="Quattrocento Sans" pitchFamily="34" charset="0"/>
                <a:ea typeface="Quattrocento Sans" pitchFamily="34" charset="-122"/>
                <a:cs typeface="Quattrocento Sans" pitchFamily="34" charset="-120"/>
              </a:rPr>
              <a:t>, preventing test-set information from contaminating preprocessing statistics.</a:t>
            </a:r>
            <a:endParaRPr lang="en-US" sz="1500" dirty="0"/>
          </a:p>
          <a:p>
            <a:pPr algn="l">
              <a:lnSpc>
                <a:spcPct val="160000"/>
              </a:lnSpc>
            </a:pPr>
            <a:endParaRPr lang="en-US" sz="1500" dirty="0"/>
          </a:p>
        </p:txBody>
      </p:sp>
      <mc:AlternateContent xmlns:mc="http://schemas.openxmlformats.org/markup-compatibility/2006" xmlns:a14="http://schemas.microsoft.com/office/drawing/2010/main">
        <mc:Choice Requires="a14">
          <p:sp>
            <p:nvSpPr>
              <p:cNvPr id="33" name="Text 31"/>
              <p:cNvSpPr/>
              <p:nvPr/>
            </p:nvSpPr>
            <p:spPr>
              <a:xfrm>
                <a:off x="11098996" y="3594582"/>
                <a:ext cx="2271532" cy="3352800"/>
              </a:xfrm>
              <a:prstGeom prst="rect">
                <a:avLst/>
              </a:prstGeom>
              <a:noFill/>
              <a:ln/>
            </p:spPr>
            <p:txBody>
              <a:bodyPr wrap="square" lIns="0" tIns="0" rIns="0" bIns="0" rtlCol="0" anchor="t"/>
              <a:lstStyle/>
              <a:p>
                <a:pPr algn="l">
                  <a:lnSpc>
                    <a:spcPct val="160000"/>
                  </a:lnSpc>
                </a:pPr>
                <a:r>
                  <a:rPr lang="en-US" sz="1500" b="1" dirty="0">
                    <a:solidFill>
                      <a:srgbClr val="333333"/>
                    </a:solidFill>
                    <a:latin typeface="Quattrocento Sans" pitchFamily="34" charset="0"/>
                    <a:ea typeface="Quattrocento Sans" pitchFamily="34" charset="-122"/>
                    <a:cs typeface="Quattrocento Sans" pitchFamily="34" charset="-120"/>
                  </a:rPr>
                  <a:t>Key Formulas</a:t>
                </a:r>
                <a:endParaRPr lang="en-US" sz="1500" dirty="0"/>
              </a:p>
              <a:p>
                <a:pPr algn="l">
                  <a:lnSpc>
                    <a:spcPct val="160000"/>
                  </a:lnSpc>
                </a:pPr>
                <a:r>
                  <a:rPr lang="en-US" sz="1500" dirty="0">
                    <a:solidFill>
                      <a:srgbClr val="333333"/>
                    </a:solidFill>
                    <a:latin typeface="Quattrocento Sans" pitchFamily="34" charset="0"/>
                    <a:ea typeface="Quattrocento Sans" pitchFamily="34" charset="-122"/>
                    <a:cs typeface="Quattrocento Sans" pitchFamily="34" charset="-120"/>
                  </a:rPr>
                  <a:t> </a:t>
                </a:r>
                <a:endParaRPr lang="en-US" sz="1500" dirty="0"/>
              </a:p>
              <a:p>
                <a:pPr algn="l">
                  <a:lnSpc>
                    <a:spcPct val="160000"/>
                  </a:lnSpc>
                </a:pPr>
                <a:r>
                  <a:rPr lang="en-US" sz="1500" dirty="0">
                    <a:solidFill>
                      <a:srgbClr val="333333"/>
                    </a:solidFill>
                    <a:latin typeface="Quattrocento Sans" pitchFamily="34" charset="0"/>
                    <a:ea typeface="Quattrocento Sans" pitchFamily="34" charset="-122"/>
                    <a:cs typeface="Quattrocento Sans" pitchFamily="34" charset="-120"/>
                  </a:rPr>
                  <a:t>Log1p transform:</a:t>
                </a:r>
                <a:endParaRPr lang="en-US" sz="1500" dirty="0"/>
              </a:p>
              <a:p>
                <a:pPr algn="l">
                  <a:lnSpc>
                    <a:spcPct val="160000"/>
                  </a:lnSpc>
                </a:pPr>
                <a14:m>
                  <m:oMathPara xmlns:m="http://schemas.openxmlformats.org/officeDocument/2006/math">
                    <m:oMathParaPr>
                      <m:jc m:val="left"/>
                    </m:oMathParaPr>
                    <m:oMath xmlns:m="http://schemas.openxmlformats.org/officeDocument/2006/math">
                      <m:sSup>
                        <m:sSupPr>
                          <m:ctrlPr>
                            <a:rPr lang="en-US" sz="1100" i="1" dirty="0">
                              <a:solidFill>
                                <a:srgbClr val="333333"/>
                              </a:solidFill>
                              <a:latin typeface="Cambria Math" panose="02040503050406030204" pitchFamily="18" charset="0"/>
                              <a:ea typeface="Quattrocento Sans" pitchFamily="34" charset="-122"/>
                              <a:cs typeface="Quattrocento Sans" pitchFamily="34" charset="-120"/>
                            </a:rPr>
                          </m:ctrlPr>
                        </m:sSupPr>
                        <m:e>
                          <m:r>
                            <a:rPr lang="en-US" sz="1100" i="1" dirty="0">
                              <a:solidFill>
                                <a:srgbClr val="333333"/>
                              </a:solidFill>
                              <a:latin typeface="Cambria Math" panose="02040503050406030204" pitchFamily="18" charset="0"/>
                              <a:ea typeface="Quattrocento Sans" pitchFamily="34" charset="-122"/>
                              <a:cs typeface="Quattrocento Sans" pitchFamily="34" charset="-120"/>
                            </a:rPr>
                            <m:t>𝑥</m:t>
                          </m:r>
                        </m:e>
                        <m:sup>
                          <m:r>
                            <a:rPr lang="en-US" sz="1100" dirty="0">
                              <a:solidFill>
                                <a:srgbClr val="333333"/>
                              </a:solidFill>
                              <a:latin typeface="Cambria Math" panose="02040503050406030204" pitchFamily="18" charset="0"/>
                              <a:ea typeface="Quattrocento Sans" pitchFamily="34" charset="-122"/>
                              <a:cs typeface="Quattrocento Sans" pitchFamily="34" charset="-120"/>
                            </a:rPr>
                            <m:t>′</m:t>
                          </m:r>
                        </m:sup>
                      </m:sSup>
                      <m:r>
                        <a:rPr lang="en-US" sz="1500" dirty="0">
                          <a:solidFill>
                            <a:srgbClr val="333333"/>
                          </a:solidFill>
                          <a:latin typeface="Cambria Math" panose="02040503050406030204" pitchFamily="18" charset="0"/>
                          <a:ea typeface="Quattrocento Sans" pitchFamily="34" charset="-122"/>
                          <a:cs typeface="Quattrocento Sans" pitchFamily="34" charset="-120"/>
                        </a:rPr>
                        <m:t>=</m:t>
                      </m:r>
                      <m:r>
                        <a:rPr lang="en-US" sz="1500" i="1" dirty="0">
                          <a:solidFill>
                            <a:srgbClr val="333333"/>
                          </a:solidFill>
                          <a:latin typeface="Cambria Math" panose="02040503050406030204" pitchFamily="18" charset="0"/>
                          <a:ea typeface="Quattrocento Sans" pitchFamily="34" charset="-122"/>
                          <a:cs typeface="Quattrocento Sans" pitchFamily="34" charset="-120"/>
                        </a:rPr>
                        <m:t>𝑙𝑜𝑔</m:t>
                      </m:r>
                      <m:r>
                        <a:rPr lang="en-US" sz="1500" dirty="0">
                          <a:solidFill>
                            <a:srgbClr val="333333"/>
                          </a:solidFill>
                          <a:latin typeface="Cambria Math" panose="02040503050406030204" pitchFamily="18" charset="0"/>
                          <a:ea typeface="Quattrocento Sans" pitchFamily="34" charset="-122"/>
                          <a:cs typeface="Quattrocento Sans" pitchFamily="34" charset="-120"/>
                        </a:rPr>
                        <m:t>⁡(1+</m:t>
                      </m:r>
                      <m:r>
                        <a:rPr lang="en-US" sz="1500" i="1" dirty="0">
                          <a:solidFill>
                            <a:srgbClr val="333333"/>
                          </a:solidFill>
                          <a:latin typeface="Cambria Math" panose="02040503050406030204" pitchFamily="18" charset="0"/>
                          <a:ea typeface="Quattrocento Sans" pitchFamily="34" charset="-122"/>
                          <a:cs typeface="Quattrocento Sans" pitchFamily="34" charset="-120"/>
                        </a:rPr>
                        <m:t>𝑥</m:t>
                      </m:r>
                      <m:r>
                        <a:rPr lang="en-US" sz="1500" dirty="0">
                          <a:solidFill>
                            <a:srgbClr val="333333"/>
                          </a:solidFill>
                          <a:latin typeface="Cambria Math" panose="02040503050406030204" pitchFamily="18" charset="0"/>
                          <a:ea typeface="Quattrocento Sans" pitchFamily="34" charset="-122"/>
                          <a:cs typeface="Quattrocento Sans" pitchFamily="34" charset="-120"/>
                        </a:rPr>
                        <m:t>)</m:t>
                      </m:r>
                    </m:oMath>
                  </m:oMathPara>
                </a14:m>
                <a:endParaRPr lang="en-US" sz="1500" dirty="0"/>
              </a:p>
              <a:p>
                <a:pPr algn="l">
                  <a:lnSpc>
                    <a:spcPct val="160000"/>
                  </a:lnSpc>
                </a:pPr>
                <a:r>
                  <a:rPr lang="en-US" sz="1500" dirty="0">
                    <a:solidFill>
                      <a:srgbClr val="333333"/>
                    </a:solidFill>
                    <a:latin typeface="Quattrocento Sans" pitchFamily="34" charset="0"/>
                    <a:ea typeface="Quattrocento Sans" pitchFamily="34" charset="-122"/>
                    <a:cs typeface="Quattrocento Sans" pitchFamily="34" charset="-120"/>
                  </a:rPr>
                  <a:t> </a:t>
                </a:r>
                <a:endParaRPr lang="en-US" sz="1500" dirty="0"/>
              </a:p>
              <a:p>
                <a:pPr algn="l">
                  <a:lnSpc>
                    <a:spcPct val="160000"/>
                  </a:lnSpc>
                </a:pPr>
                <a:r>
                  <a:rPr lang="en-US" sz="1500" dirty="0">
                    <a:solidFill>
                      <a:srgbClr val="333333"/>
                    </a:solidFill>
                    <a:latin typeface="Quattrocento Sans" pitchFamily="34" charset="0"/>
                    <a:ea typeface="Quattrocento Sans" pitchFamily="34" charset="-122"/>
                    <a:cs typeface="Quattrocento Sans" pitchFamily="34" charset="-120"/>
                  </a:rPr>
                  <a:t>Standardization (z-score):</a:t>
                </a:r>
                <a:endParaRPr lang="en-US" sz="1500" dirty="0"/>
              </a:p>
              <a:p>
                <a:pPr algn="l">
                  <a:lnSpc>
                    <a:spcPct val="160000"/>
                  </a:lnSpc>
                </a:pPr>
                <a14:m>
                  <m:oMathPara xmlns:m="http://schemas.openxmlformats.org/officeDocument/2006/math">
                    <m:oMathParaPr>
                      <m:jc m:val="left"/>
                    </m:oMathParaPr>
                    <m:oMath xmlns:m="http://schemas.openxmlformats.org/officeDocument/2006/math">
                      <m:r>
                        <a:rPr lang="en-US" sz="1500" i="1" dirty="0">
                          <a:solidFill>
                            <a:srgbClr val="333333"/>
                          </a:solidFill>
                          <a:latin typeface="Cambria Math" panose="02040503050406030204" pitchFamily="18" charset="0"/>
                          <a:ea typeface="Quattrocento Sans" pitchFamily="34" charset="-122"/>
                          <a:cs typeface="Quattrocento Sans" pitchFamily="34" charset="-120"/>
                        </a:rPr>
                        <m:t>𝑧</m:t>
                      </m:r>
                      <m:r>
                        <a:rPr lang="en-US" sz="1500" dirty="0">
                          <a:solidFill>
                            <a:srgbClr val="333333"/>
                          </a:solidFill>
                          <a:latin typeface="Cambria Math" panose="02040503050406030204" pitchFamily="18" charset="0"/>
                          <a:ea typeface="Quattrocento Sans" pitchFamily="34" charset="-122"/>
                          <a:cs typeface="Quattrocento Sans" pitchFamily="34" charset="-120"/>
                        </a:rPr>
                        <m:t>=</m:t>
                      </m:r>
                      <m:f>
                        <m:fPr>
                          <m:ctrlPr>
                            <a:rPr lang="en-US" sz="1500" i="1" dirty="0">
                              <a:solidFill>
                                <a:srgbClr val="333333"/>
                              </a:solidFill>
                              <a:latin typeface="Cambria Math" panose="02040503050406030204" pitchFamily="18" charset="0"/>
                              <a:ea typeface="Quattrocento Sans" pitchFamily="34" charset="-122"/>
                              <a:cs typeface="Quattrocento Sans" pitchFamily="34" charset="-120"/>
                            </a:rPr>
                          </m:ctrlPr>
                        </m:fPr>
                        <m:num>
                          <m:r>
                            <a:rPr lang="en-US" sz="1100" i="1" dirty="0">
                              <a:solidFill>
                                <a:srgbClr val="333333"/>
                              </a:solidFill>
                              <a:latin typeface="Cambria Math" panose="02040503050406030204" pitchFamily="18" charset="0"/>
                              <a:ea typeface="Quattrocento Sans" pitchFamily="34" charset="-122"/>
                              <a:cs typeface="Quattrocento Sans" pitchFamily="34" charset="-120"/>
                            </a:rPr>
                            <m:t>𝑥</m:t>
                          </m:r>
                          <m:r>
                            <a:rPr lang="en-US" sz="1100" dirty="0">
                              <a:solidFill>
                                <a:srgbClr val="333333"/>
                              </a:solidFill>
                              <a:latin typeface="Cambria Math" panose="02040503050406030204" pitchFamily="18" charset="0"/>
                              <a:ea typeface="Quattrocento Sans" pitchFamily="34" charset="-122"/>
                              <a:cs typeface="Quattrocento Sans" pitchFamily="34" charset="-120"/>
                            </a:rPr>
                            <m:t>−</m:t>
                          </m:r>
                          <m:r>
                            <a:rPr lang="en-US" sz="1100" i="1" dirty="0">
                              <a:solidFill>
                                <a:srgbClr val="333333"/>
                              </a:solidFill>
                              <a:latin typeface="Cambria Math" panose="02040503050406030204" pitchFamily="18" charset="0"/>
                              <a:ea typeface="Quattrocento Sans" pitchFamily="34" charset="-122"/>
                              <a:cs typeface="Quattrocento Sans" pitchFamily="34" charset="-120"/>
                            </a:rPr>
                            <m:t>𝜇</m:t>
                          </m:r>
                        </m:num>
                        <m:den>
                          <m:r>
                            <a:rPr lang="en-US" sz="1100" i="1" dirty="0">
                              <a:solidFill>
                                <a:srgbClr val="333333"/>
                              </a:solidFill>
                              <a:latin typeface="Cambria Math" panose="02040503050406030204" pitchFamily="18" charset="0"/>
                              <a:ea typeface="Quattrocento Sans" pitchFamily="34" charset="-122"/>
                              <a:cs typeface="Quattrocento Sans" pitchFamily="34" charset="-120"/>
                            </a:rPr>
                            <m:t>𝜎</m:t>
                          </m:r>
                        </m:den>
                      </m:f>
                    </m:oMath>
                  </m:oMathPara>
                </a14:m>
                <a:endParaRPr lang="en-US" sz="1500" dirty="0"/>
              </a:p>
              <a:p>
                <a:pPr algn="l">
                  <a:lnSpc>
                    <a:spcPct val="160000"/>
                  </a:lnSpc>
                </a:pPr>
                <a:r>
                  <a:rPr lang="en-US" sz="1500" dirty="0">
                    <a:solidFill>
                      <a:srgbClr val="333333"/>
                    </a:solidFill>
                    <a:latin typeface="Quattrocento Sans" pitchFamily="34" charset="0"/>
                    <a:ea typeface="Quattrocento Sans" pitchFamily="34" charset="-122"/>
                    <a:cs typeface="Quattrocento Sans" pitchFamily="34" charset="-120"/>
                  </a:rPr>
                  <a:t> </a:t>
                </a:r>
                <a:endParaRPr lang="en-US" sz="1500" dirty="0"/>
              </a:p>
            </p:txBody>
          </p:sp>
        </mc:Choice>
        <mc:Fallback xmlns="">
          <p:sp>
            <p:nvSpPr>
              <p:cNvPr id="33" name="Text 31"/>
              <p:cNvSpPr>
                <a:spLocks noRot="1" noChangeAspect="1" noMove="1" noResize="1" noEditPoints="1" noAdjustHandles="1" noChangeArrowheads="1" noChangeShapeType="1" noTextEdit="1"/>
              </p:cNvSpPr>
              <p:nvPr/>
            </p:nvSpPr>
            <p:spPr>
              <a:xfrm>
                <a:off x="11098996" y="3594582"/>
                <a:ext cx="2271532" cy="3352800"/>
              </a:xfrm>
              <a:prstGeom prst="rect">
                <a:avLst/>
              </a:prstGeom>
              <a:blipFill>
                <a:blip r:embed="rId3"/>
                <a:stretch>
                  <a:fillRect l="-5108"/>
                </a:stretch>
              </a:blipFill>
              <a:ln/>
            </p:spPr>
            <p:txBody>
              <a:bodyPr/>
              <a:lstStyle/>
              <a:p>
                <a:r>
                  <a:rPr lang="it-IT">
                    <a:noFill/>
                  </a:rPr>
                  <a:t> </a:t>
                </a:r>
              </a:p>
            </p:txBody>
          </p:sp>
        </mc:Fallback>
      </mc:AlternateContent>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AFE"/>
        </a:solidFill>
        <a:effectLst/>
      </p:bgPr>
    </p:bg>
    <p:spTree>
      <p:nvGrpSpPr>
        <p:cNvPr id="1" name=""/>
        <p:cNvGrpSpPr/>
        <p:nvPr/>
      </p:nvGrpSpPr>
      <p:grpSpPr>
        <a:xfrm>
          <a:off x="0" y="0"/>
          <a:ext cx="0" cy="0"/>
          <a:chOff x="0" y="0"/>
          <a:chExt cx="0" cy="0"/>
        </a:xfrm>
      </p:grpSpPr>
      <p:sp>
        <p:nvSpPr>
          <p:cNvPr id="2" name="Shape 0"/>
          <p:cNvSpPr/>
          <p:nvPr/>
        </p:nvSpPr>
        <p:spPr>
          <a:xfrm>
            <a:off x="0" y="0"/>
            <a:ext cx="2286000" cy="9144000"/>
          </a:xfrm>
          <a:prstGeom prst="rect">
            <a:avLst/>
          </a:prstGeom>
          <a:solidFill>
            <a:srgbClr val="004060"/>
          </a:solidFill>
          <a:ln/>
        </p:spPr>
        <p:txBody>
          <a:bodyPr/>
          <a:lstStyle/>
          <a:p>
            <a:endParaRPr/>
          </a:p>
        </p:txBody>
      </p:sp>
      <p:sp>
        <p:nvSpPr>
          <p:cNvPr id="3" name="Shape 1"/>
          <p:cNvSpPr/>
          <p:nvPr/>
        </p:nvSpPr>
        <p:spPr>
          <a:xfrm>
            <a:off x="177800" y="177800"/>
            <a:ext cx="457200" cy="457200"/>
          </a:xfrm>
          <a:prstGeom prst="ellipse">
            <a:avLst/>
          </a:prstGeom>
          <a:solidFill>
            <a:srgbClr val="FFFFFF">
              <a:alpha val="12549"/>
            </a:srgbClr>
          </a:solidFill>
          <a:ln w="12700">
            <a:solidFill>
              <a:srgbClr val="00ACC1"/>
            </a:solidFill>
            <a:prstDash val="solid"/>
          </a:ln>
        </p:spPr>
        <p:txBody>
          <a:bodyPr/>
          <a:lstStyle/>
          <a:p>
            <a:endParaRPr/>
          </a:p>
        </p:txBody>
      </p:sp>
      <p:sp>
        <p:nvSpPr>
          <p:cNvPr id="4" name="Shape 2"/>
          <p:cNvSpPr/>
          <p:nvPr/>
        </p:nvSpPr>
        <p:spPr>
          <a:xfrm>
            <a:off x="0" y="2184400"/>
            <a:ext cx="2286000" cy="1168400"/>
          </a:xfrm>
          <a:prstGeom prst="rect">
            <a:avLst/>
          </a:prstGeom>
          <a:solidFill>
            <a:srgbClr val="005C82"/>
          </a:solidFill>
          <a:ln/>
        </p:spPr>
        <p:txBody>
          <a:bodyPr/>
          <a:lstStyle/>
          <a:p>
            <a:endParaRPr/>
          </a:p>
        </p:txBody>
      </p:sp>
      <p:sp>
        <p:nvSpPr>
          <p:cNvPr id="5" name="Text 3"/>
          <p:cNvSpPr/>
          <p:nvPr/>
        </p:nvSpPr>
        <p:spPr>
          <a:xfrm>
            <a:off x="101600" y="10160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01 Intro</a:t>
            </a:r>
            <a:endParaRPr lang="en-US" sz="1600" dirty="0"/>
          </a:p>
        </p:txBody>
      </p:sp>
      <p:sp>
        <p:nvSpPr>
          <p:cNvPr id="6" name="Text 4"/>
          <p:cNvSpPr/>
          <p:nvPr/>
        </p:nvSpPr>
        <p:spPr>
          <a:xfrm>
            <a:off x="101600" y="2184400"/>
            <a:ext cx="2082800" cy="1168400"/>
          </a:xfrm>
          <a:prstGeom prst="rect">
            <a:avLst/>
          </a:prstGeom>
          <a:noFill/>
          <a:ln/>
        </p:spPr>
        <p:txBody>
          <a:bodyPr wrap="none" lIns="0" tIns="0" rIns="0" bIns="0" rtlCol="0" anchor="ctr"/>
          <a:lstStyle/>
          <a:p>
            <a:pPr algn="l">
              <a:lnSpc>
                <a:spcPct val="120000"/>
              </a:lnSpc>
            </a:pPr>
            <a:r>
              <a:rPr lang="en-US" sz="1800" b="1" dirty="0">
                <a:solidFill>
                  <a:srgbClr val="FFFFFF"/>
                </a:solidFill>
                <a:latin typeface="Quattrocento Sans" pitchFamily="34" charset="0"/>
                <a:ea typeface="Quattrocento Sans" pitchFamily="34" charset="-122"/>
                <a:cs typeface="Quattrocento Sans" pitchFamily="34" charset="-120"/>
              </a:rPr>
              <a:t>02 Dataset</a:t>
            </a:r>
            <a:endParaRPr lang="en-US" sz="1800" dirty="0"/>
          </a:p>
        </p:txBody>
      </p:sp>
      <p:sp>
        <p:nvSpPr>
          <p:cNvPr id="7" name="Text 5"/>
          <p:cNvSpPr/>
          <p:nvPr/>
        </p:nvSpPr>
        <p:spPr>
          <a:xfrm>
            <a:off x="101600" y="33528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03 Clustering</a:t>
            </a:r>
            <a:endParaRPr lang="en-US" sz="1600" dirty="0"/>
          </a:p>
        </p:txBody>
      </p:sp>
      <p:sp>
        <p:nvSpPr>
          <p:cNvPr id="8" name="Text 6"/>
          <p:cNvSpPr/>
          <p:nvPr/>
        </p:nvSpPr>
        <p:spPr>
          <a:xfrm>
            <a:off x="101600" y="45212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04 Supervised</a:t>
            </a:r>
            <a:endParaRPr lang="en-US" sz="1600" dirty="0"/>
          </a:p>
        </p:txBody>
      </p:sp>
      <p:sp>
        <p:nvSpPr>
          <p:cNvPr id="9" name="Text 7"/>
          <p:cNvSpPr/>
          <p:nvPr/>
        </p:nvSpPr>
        <p:spPr>
          <a:xfrm>
            <a:off x="101600" y="56896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05 Conclusions</a:t>
            </a:r>
            <a:endParaRPr lang="en-US" sz="1600" dirty="0"/>
          </a:p>
        </p:txBody>
      </p:sp>
      <p:sp>
        <p:nvSpPr>
          <p:cNvPr id="10" name="Shape 8"/>
          <p:cNvSpPr/>
          <p:nvPr/>
        </p:nvSpPr>
        <p:spPr>
          <a:xfrm>
            <a:off x="1066800" y="7493000"/>
            <a:ext cx="152400" cy="152400"/>
          </a:xfrm>
          <a:prstGeom prst="diamond">
            <a:avLst/>
          </a:prstGeom>
          <a:solidFill>
            <a:srgbClr val="00ACC1"/>
          </a:solidFill>
          <a:ln/>
        </p:spPr>
        <p:txBody>
          <a:bodyPr/>
          <a:lstStyle/>
          <a:p>
            <a:endParaRPr/>
          </a:p>
        </p:txBody>
      </p:sp>
      <p:sp>
        <p:nvSpPr>
          <p:cNvPr id="11" name="Shape 9"/>
          <p:cNvSpPr/>
          <p:nvPr/>
        </p:nvSpPr>
        <p:spPr>
          <a:xfrm>
            <a:off x="2286000" y="0"/>
            <a:ext cx="13970000" cy="635000"/>
          </a:xfrm>
          <a:prstGeom prst="rect">
            <a:avLst/>
          </a:prstGeom>
          <a:solidFill>
            <a:srgbClr val="E0F4FA"/>
          </a:solidFill>
          <a:ln/>
        </p:spPr>
        <p:txBody>
          <a:bodyPr/>
          <a:lstStyle/>
          <a:p>
            <a:endParaRPr/>
          </a:p>
        </p:txBody>
      </p:sp>
      <p:sp>
        <p:nvSpPr>
          <p:cNvPr id="12" name="Text 10"/>
          <p:cNvSpPr/>
          <p:nvPr/>
        </p:nvSpPr>
        <p:spPr>
          <a:xfrm>
            <a:off x="2540000" y="0"/>
            <a:ext cx="12827000" cy="635000"/>
          </a:xfrm>
          <a:prstGeom prst="rect">
            <a:avLst/>
          </a:prstGeom>
          <a:noFill/>
          <a:ln/>
        </p:spPr>
        <p:txBody>
          <a:bodyPr wrap="none" lIns="0" tIns="0" rIns="0" bIns="0" rtlCol="0" anchor="ctr"/>
          <a:lstStyle/>
          <a:p>
            <a:pPr algn="l">
              <a:lnSpc>
                <a:spcPct val="120000"/>
              </a:lnSpc>
            </a:pPr>
            <a:r>
              <a:rPr lang="en-US" sz="1400" b="1" dirty="0">
                <a:solidFill>
                  <a:srgbClr val="005C82"/>
                </a:solidFill>
                <a:latin typeface="Quattrocento Sans" pitchFamily="34" charset="0"/>
                <a:ea typeface="Quattrocento Sans" pitchFamily="34" charset="-122"/>
                <a:cs typeface="Quattrocento Sans" pitchFamily="34" charset="-120"/>
              </a:rPr>
              <a:t>02 Dataset</a:t>
            </a:r>
            <a:r>
              <a:rPr lang="en-US" sz="1400" dirty="0">
                <a:solidFill>
                  <a:srgbClr val="005C82"/>
                </a:solidFill>
                <a:latin typeface="Quattrocento Sans" pitchFamily="34" charset="0"/>
                <a:ea typeface="Quattrocento Sans" pitchFamily="34" charset="-122"/>
                <a:cs typeface="Quattrocento Sans" pitchFamily="34" charset="-120"/>
              </a:rPr>
              <a:t>  &gt;  2.3  Feature Sets &amp; Clustering Design</a:t>
            </a:r>
            <a:endParaRPr lang="en-US" sz="1400" dirty="0"/>
          </a:p>
        </p:txBody>
      </p:sp>
      <p:sp>
        <p:nvSpPr>
          <p:cNvPr id="13" name="Text 11"/>
          <p:cNvSpPr/>
          <p:nvPr/>
        </p:nvSpPr>
        <p:spPr>
          <a:xfrm>
            <a:off x="15621000" y="0"/>
            <a:ext cx="635000" cy="635000"/>
          </a:xfrm>
          <a:prstGeom prst="rect">
            <a:avLst/>
          </a:prstGeom>
          <a:noFill/>
          <a:ln/>
        </p:spPr>
        <p:txBody>
          <a:bodyPr wrap="square" lIns="0" tIns="0" rIns="0" bIns="0" rtlCol="0" anchor="ctr"/>
          <a:lstStyle/>
          <a:p>
            <a:r>
              <a:t>11</a:t>
            </a:r>
          </a:p>
        </p:txBody>
      </p:sp>
      <p:sp>
        <p:nvSpPr>
          <p:cNvPr id="14" name="Text 12"/>
          <p:cNvSpPr/>
          <p:nvPr/>
        </p:nvSpPr>
        <p:spPr>
          <a:xfrm>
            <a:off x="2540000" y="863600"/>
            <a:ext cx="13208000" cy="457200"/>
          </a:xfrm>
          <a:prstGeom prst="rect">
            <a:avLst/>
          </a:prstGeom>
          <a:noFill/>
          <a:ln/>
        </p:spPr>
        <p:txBody>
          <a:bodyPr wrap="none" lIns="0" tIns="0" rIns="0" bIns="0" rtlCol="0" anchor="t"/>
          <a:lstStyle/>
          <a:p>
            <a:pPr algn="l">
              <a:lnSpc>
                <a:spcPct val="120000"/>
              </a:lnSpc>
            </a:pPr>
            <a:r>
              <a:rPr lang="en-US" sz="2400" b="1" dirty="0">
                <a:solidFill>
                  <a:srgbClr val="005C82"/>
                </a:solidFill>
                <a:latin typeface="Quattrocento Sans" pitchFamily="34" charset="0"/>
                <a:ea typeface="Quattrocento Sans" pitchFamily="34" charset="-122"/>
                <a:cs typeface="Quattrocento Sans" pitchFamily="34" charset="-120"/>
              </a:rPr>
              <a:t>Feature Sets &amp; Clustering Design</a:t>
            </a:r>
            <a:endParaRPr lang="en-US" sz="2400" dirty="0"/>
          </a:p>
        </p:txBody>
      </p:sp>
      <p:sp>
        <p:nvSpPr>
          <p:cNvPr id="15" name="Shape 13"/>
          <p:cNvSpPr/>
          <p:nvPr/>
        </p:nvSpPr>
        <p:spPr>
          <a:xfrm>
            <a:off x="2540000" y="1397000"/>
            <a:ext cx="13208000" cy="12700"/>
          </a:xfrm>
          <a:prstGeom prst="rect">
            <a:avLst/>
          </a:prstGeom>
          <a:solidFill>
            <a:srgbClr val="B0BEC5"/>
          </a:solidFill>
          <a:ln/>
        </p:spPr>
        <p:txBody>
          <a:bodyPr/>
          <a:lstStyle/>
          <a:p>
            <a:endParaRPr/>
          </a:p>
        </p:txBody>
      </p:sp>
      <p:sp>
        <p:nvSpPr>
          <p:cNvPr id="16" name="Shape 14"/>
          <p:cNvSpPr/>
          <p:nvPr/>
        </p:nvSpPr>
        <p:spPr>
          <a:xfrm>
            <a:off x="2540000" y="1574800"/>
            <a:ext cx="6350000" cy="482600"/>
          </a:xfrm>
          <a:prstGeom prst="rect">
            <a:avLst/>
          </a:prstGeom>
          <a:solidFill>
            <a:srgbClr val="005C82"/>
          </a:solidFill>
          <a:ln/>
        </p:spPr>
        <p:txBody>
          <a:bodyPr/>
          <a:lstStyle/>
          <a:p>
            <a:endParaRPr/>
          </a:p>
        </p:txBody>
      </p:sp>
      <p:sp>
        <p:nvSpPr>
          <p:cNvPr id="17" name="Text 15"/>
          <p:cNvSpPr/>
          <p:nvPr/>
        </p:nvSpPr>
        <p:spPr>
          <a:xfrm>
            <a:off x="2540000" y="1574800"/>
            <a:ext cx="6350000" cy="482600"/>
          </a:xfrm>
          <a:prstGeom prst="rect">
            <a:avLst/>
          </a:prstGeom>
          <a:noFill/>
          <a:ln/>
        </p:spPr>
        <p:txBody>
          <a:bodyPr wrap="none" lIns="0" tIns="0" rIns="0" bIns="0" rtlCol="0" anchor="ctr"/>
          <a:lstStyle/>
          <a:p>
            <a:pPr algn="ctr">
              <a:lnSpc>
                <a:spcPct val="120000"/>
              </a:lnSpc>
            </a:pPr>
            <a:r>
              <a:rPr lang="en-US" sz="1500" b="1" dirty="0">
                <a:solidFill>
                  <a:srgbClr val="FFFFFF"/>
                </a:solidFill>
                <a:latin typeface="Quattrocento Sans" pitchFamily="34" charset="0"/>
                <a:ea typeface="Quattrocento Sans" pitchFamily="34" charset="-122"/>
                <a:cs typeface="Quattrocento Sans" pitchFamily="34" charset="-120"/>
              </a:rPr>
              <a:t>Set A: Planetary / Orbital (6 features)</a:t>
            </a:r>
            <a:endParaRPr lang="en-US" sz="1500" dirty="0"/>
          </a:p>
        </p:txBody>
      </p:sp>
      <p:sp>
        <p:nvSpPr>
          <p:cNvPr id="18" name="Shape 16"/>
          <p:cNvSpPr/>
          <p:nvPr/>
        </p:nvSpPr>
        <p:spPr>
          <a:xfrm>
            <a:off x="2540000" y="2057400"/>
            <a:ext cx="6350000" cy="3048000"/>
          </a:xfrm>
          <a:prstGeom prst="rect">
            <a:avLst/>
          </a:prstGeom>
          <a:solidFill>
            <a:srgbClr val="E0F4FA"/>
          </a:solidFill>
          <a:ln/>
        </p:spPr>
        <p:txBody>
          <a:bodyPr/>
          <a:lstStyle/>
          <a:p>
            <a:endParaRPr/>
          </a:p>
        </p:txBody>
      </p:sp>
      <p:sp>
        <p:nvSpPr>
          <p:cNvPr id="19" name="Text 17"/>
          <p:cNvSpPr/>
          <p:nvPr/>
        </p:nvSpPr>
        <p:spPr>
          <a:xfrm>
            <a:off x="2768600" y="2209800"/>
            <a:ext cx="5892800" cy="2743200"/>
          </a:xfrm>
          <a:prstGeom prst="rect">
            <a:avLst/>
          </a:prstGeom>
          <a:noFill/>
          <a:ln/>
        </p:spPr>
        <p:txBody>
          <a:bodyPr wrap="square" lIns="0" tIns="0" rIns="0" bIns="0" rtlCol="0" anchor="t"/>
          <a:lstStyle/>
          <a:p>
            <a:pPr algn="l">
              <a:lnSpc>
                <a:spcPct val="170000"/>
              </a:lnSpc>
            </a:pPr>
            <a:r>
              <a:rPr lang="en-US" sz="1600" dirty="0">
                <a:solidFill>
                  <a:srgbClr val="333333"/>
                </a:solidFill>
                <a:latin typeface="Quattrocento Sans" pitchFamily="34" charset="0"/>
                <a:ea typeface="Quattrocento Sans" pitchFamily="34" charset="-122"/>
                <a:cs typeface="Quattrocento Sans" pitchFamily="34" charset="-120"/>
              </a:rPr>
              <a:t> equilibrium_temp_k</a:t>
            </a:r>
            <a:endParaRPr lang="en-US" sz="1600" dirty="0"/>
          </a:p>
          <a:p>
            <a:pPr algn="l">
              <a:lnSpc>
                <a:spcPct val="170000"/>
              </a:lnSpc>
            </a:pPr>
            <a:r>
              <a:rPr lang="en-US" sz="1600" dirty="0">
                <a:solidFill>
                  <a:srgbClr val="333333"/>
                </a:solidFill>
                <a:latin typeface="Quattrocento Sans" pitchFamily="34" charset="0"/>
                <a:ea typeface="Quattrocento Sans" pitchFamily="34" charset="-122"/>
                <a:cs typeface="Quattrocento Sans" pitchFamily="34" charset="-120"/>
              </a:rPr>
              <a:t> orbital_eccentricity</a:t>
            </a:r>
            <a:endParaRPr lang="en-US" sz="1600" dirty="0"/>
          </a:p>
          <a:p>
            <a:pPr algn="l">
              <a:lnSpc>
                <a:spcPct val="170000"/>
              </a:lnSpc>
            </a:pPr>
            <a:r>
              <a:rPr lang="en-US" sz="1600" dirty="0">
                <a:solidFill>
                  <a:srgbClr val="333333"/>
                </a:solidFill>
                <a:latin typeface="Quattrocento Sans" pitchFamily="34" charset="0"/>
                <a:ea typeface="Quattrocento Sans" pitchFamily="34" charset="-122"/>
                <a:cs typeface="Quattrocento Sans" pitchFamily="34" charset="-120"/>
              </a:rPr>
              <a:t> orbital_period_days_log</a:t>
            </a:r>
            <a:endParaRPr lang="en-US" sz="1600" dirty="0"/>
          </a:p>
          <a:p>
            <a:pPr algn="l">
              <a:lnSpc>
                <a:spcPct val="170000"/>
              </a:lnSpc>
            </a:pPr>
            <a:r>
              <a:rPr lang="en-US" sz="1600" dirty="0">
                <a:solidFill>
                  <a:srgbClr val="333333"/>
                </a:solidFill>
                <a:latin typeface="Quattrocento Sans" pitchFamily="34" charset="0"/>
                <a:ea typeface="Quattrocento Sans" pitchFamily="34" charset="-122"/>
                <a:cs typeface="Quattrocento Sans" pitchFamily="34" charset="-120"/>
              </a:rPr>
              <a:t> planet_radius_earth_log</a:t>
            </a:r>
            <a:endParaRPr lang="en-US" sz="1600" dirty="0"/>
          </a:p>
          <a:p>
            <a:pPr algn="l">
              <a:lnSpc>
                <a:spcPct val="170000"/>
              </a:lnSpc>
            </a:pPr>
            <a:r>
              <a:rPr lang="en-US" sz="1600" dirty="0">
                <a:solidFill>
                  <a:srgbClr val="333333"/>
                </a:solidFill>
                <a:latin typeface="Quattrocento Sans" pitchFamily="34" charset="0"/>
                <a:ea typeface="Quattrocento Sans" pitchFamily="34" charset="-122"/>
                <a:cs typeface="Quattrocento Sans" pitchFamily="34" charset="-120"/>
              </a:rPr>
              <a:t> planet_mass_earth_log</a:t>
            </a:r>
            <a:endParaRPr lang="en-US" sz="1600" dirty="0"/>
          </a:p>
          <a:p>
            <a:pPr algn="l">
              <a:lnSpc>
                <a:spcPct val="170000"/>
              </a:lnSpc>
            </a:pPr>
            <a:r>
              <a:rPr lang="en-US" sz="1600" dirty="0">
                <a:solidFill>
                  <a:srgbClr val="333333"/>
                </a:solidFill>
                <a:latin typeface="Quattrocento Sans" pitchFamily="34" charset="0"/>
                <a:ea typeface="Quattrocento Sans" pitchFamily="34" charset="-122"/>
                <a:cs typeface="Quattrocento Sans" pitchFamily="34" charset="-120"/>
              </a:rPr>
              <a:t> semi_major_axis_au_log</a:t>
            </a:r>
            <a:endParaRPr lang="en-US" sz="1600" dirty="0"/>
          </a:p>
        </p:txBody>
      </p:sp>
      <p:sp>
        <p:nvSpPr>
          <p:cNvPr id="20" name="Shape 18"/>
          <p:cNvSpPr/>
          <p:nvPr/>
        </p:nvSpPr>
        <p:spPr>
          <a:xfrm>
            <a:off x="9144000" y="1574800"/>
            <a:ext cx="6350000" cy="482600"/>
          </a:xfrm>
          <a:prstGeom prst="rect">
            <a:avLst/>
          </a:prstGeom>
          <a:solidFill>
            <a:srgbClr val="007AA8"/>
          </a:solidFill>
          <a:ln/>
        </p:spPr>
        <p:txBody>
          <a:bodyPr/>
          <a:lstStyle/>
          <a:p>
            <a:endParaRPr/>
          </a:p>
        </p:txBody>
      </p:sp>
      <p:sp>
        <p:nvSpPr>
          <p:cNvPr id="21" name="Text 19"/>
          <p:cNvSpPr/>
          <p:nvPr/>
        </p:nvSpPr>
        <p:spPr>
          <a:xfrm>
            <a:off x="9144000" y="1574800"/>
            <a:ext cx="6350000" cy="482600"/>
          </a:xfrm>
          <a:prstGeom prst="rect">
            <a:avLst/>
          </a:prstGeom>
          <a:noFill/>
          <a:ln/>
        </p:spPr>
        <p:txBody>
          <a:bodyPr wrap="none" lIns="0" tIns="0" rIns="0" bIns="0" rtlCol="0" anchor="ctr"/>
          <a:lstStyle/>
          <a:p>
            <a:pPr algn="ctr">
              <a:lnSpc>
                <a:spcPct val="120000"/>
              </a:lnSpc>
            </a:pPr>
            <a:r>
              <a:rPr lang="en-US" sz="1500" b="1" dirty="0">
                <a:solidFill>
                  <a:srgbClr val="FFFFFF"/>
                </a:solidFill>
                <a:latin typeface="Quattrocento Sans" pitchFamily="34" charset="0"/>
                <a:ea typeface="Quattrocento Sans" pitchFamily="34" charset="-122"/>
                <a:cs typeface="Quattrocento Sans" pitchFamily="34" charset="-120"/>
              </a:rPr>
              <a:t>Set B: Planetary + Stellar (12 features)</a:t>
            </a:r>
            <a:endParaRPr lang="en-US" sz="1500" dirty="0"/>
          </a:p>
        </p:txBody>
      </p:sp>
      <p:sp>
        <p:nvSpPr>
          <p:cNvPr id="22" name="Shape 20"/>
          <p:cNvSpPr/>
          <p:nvPr/>
        </p:nvSpPr>
        <p:spPr>
          <a:xfrm>
            <a:off x="9144000" y="2057400"/>
            <a:ext cx="6350000" cy="3048000"/>
          </a:xfrm>
          <a:prstGeom prst="rect">
            <a:avLst/>
          </a:prstGeom>
          <a:solidFill>
            <a:srgbClr val="E8F4F8"/>
          </a:solidFill>
          <a:ln/>
        </p:spPr>
        <p:txBody>
          <a:bodyPr/>
          <a:lstStyle/>
          <a:p>
            <a:endParaRPr/>
          </a:p>
        </p:txBody>
      </p:sp>
      <p:sp>
        <p:nvSpPr>
          <p:cNvPr id="23" name="Text 21"/>
          <p:cNvSpPr/>
          <p:nvPr/>
        </p:nvSpPr>
        <p:spPr>
          <a:xfrm>
            <a:off x="9372600" y="2209800"/>
            <a:ext cx="5892800" cy="2743200"/>
          </a:xfrm>
          <a:prstGeom prst="rect">
            <a:avLst/>
          </a:prstGeom>
          <a:noFill/>
          <a:ln/>
        </p:spPr>
        <p:txBody>
          <a:bodyPr wrap="square" lIns="0" tIns="0" rIns="0" bIns="0" rtlCol="0" anchor="t"/>
          <a:lstStyle/>
          <a:p>
            <a:pPr algn="l">
              <a:lnSpc>
                <a:spcPct val="160000"/>
              </a:lnSpc>
            </a:pPr>
            <a:r>
              <a:rPr lang="en-US" sz="1500" b="1" dirty="0">
                <a:solidFill>
                  <a:srgbClr val="333333"/>
                </a:solidFill>
                <a:latin typeface="Quattrocento Sans" pitchFamily="34" charset="0"/>
                <a:ea typeface="Quattrocento Sans" pitchFamily="34" charset="-122"/>
                <a:cs typeface="Quattrocento Sans" pitchFamily="34" charset="-120"/>
              </a:rPr>
              <a:t>Set A features +</a:t>
            </a:r>
            <a:endParaRPr lang="en-US" sz="1500" dirty="0"/>
          </a:p>
          <a:p>
            <a:pPr algn="l">
              <a:lnSpc>
                <a:spcPct val="160000"/>
              </a:lnSpc>
            </a:pPr>
            <a:r>
              <a:rPr lang="en-US" sz="1500" dirty="0">
                <a:solidFill>
                  <a:srgbClr val="333333"/>
                </a:solidFill>
                <a:latin typeface="Quattrocento Sans" pitchFamily="34" charset="0"/>
                <a:ea typeface="Quattrocento Sans" pitchFamily="34" charset="-122"/>
                <a:cs typeface="Quattrocento Sans" pitchFamily="34" charset="-120"/>
              </a:rPr>
              <a:t> star_temp_k</a:t>
            </a:r>
            <a:endParaRPr lang="en-US" sz="1500" dirty="0"/>
          </a:p>
          <a:p>
            <a:pPr algn="l">
              <a:lnSpc>
                <a:spcPct val="160000"/>
              </a:lnSpc>
            </a:pPr>
            <a:r>
              <a:rPr lang="en-US" sz="1500" dirty="0">
                <a:solidFill>
                  <a:srgbClr val="333333"/>
                </a:solidFill>
                <a:latin typeface="Quattrocento Sans" pitchFamily="34" charset="0"/>
                <a:ea typeface="Quattrocento Sans" pitchFamily="34" charset="-122"/>
                <a:cs typeface="Quattrocento Sans" pitchFamily="34" charset="-120"/>
              </a:rPr>
              <a:t> star_radius_sun</a:t>
            </a:r>
            <a:endParaRPr lang="en-US" sz="1500" dirty="0"/>
          </a:p>
          <a:p>
            <a:pPr algn="l">
              <a:lnSpc>
                <a:spcPct val="160000"/>
              </a:lnSpc>
            </a:pPr>
            <a:r>
              <a:rPr lang="en-US" sz="1500" dirty="0">
                <a:solidFill>
                  <a:srgbClr val="333333"/>
                </a:solidFill>
                <a:latin typeface="Quattrocento Sans" pitchFamily="34" charset="0"/>
                <a:ea typeface="Quattrocento Sans" pitchFamily="34" charset="-122"/>
                <a:cs typeface="Quattrocento Sans" pitchFamily="34" charset="-120"/>
              </a:rPr>
              <a:t> star_mass_sun</a:t>
            </a:r>
            <a:endParaRPr lang="en-US" sz="1500" dirty="0"/>
          </a:p>
          <a:p>
            <a:pPr algn="l">
              <a:lnSpc>
                <a:spcPct val="160000"/>
              </a:lnSpc>
            </a:pPr>
            <a:r>
              <a:rPr lang="en-US" sz="1500" dirty="0">
                <a:solidFill>
                  <a:srgbClr val="333333"/>
                </a:solidFill>
                <a:latin typeface="Quattrocento Sans" pitchFamily="34" charset="0"/>
                <a:ea typeface="Quattrocento Sans" pitchFamily="34" charset="-122"/>
                <a:cs typeface="Quattrocento Sans" pitchFamily="34" charset="-120"/>
              </a:rPr>
              <a:t> star_age_gyr</a:t>
            </a:r>
            <a:endParaRPr lang="en-US" sz="1500" dirty="0"/>
          </a:p>
          <a:p>
            <a:pPr algn="l">
              <a:lnSpc>
                <a:spcPct val="160000"/>
              </a:lnSpc>
            </a:pPr>
            <a:r>
              <a:rPr lang="en-US" sz="1500" dirty="0">
                <a:solidFill>
                  <a:srgbClr val="333333"/>
                </a:solidFill>
                <a:latin typeface="Quattrocento Sans" pitchFamily="34" charset="0"/>
                <a:ea typeface="Quattrocento Sans" pitchFamily="34" charset="-122"/>
                <a:cs typeface="Quattrocento Sans" pitchFamily="34" charset="-120"/>
              </a:rPr>
              <a:t> star_surface_gravity</a:t>
            </a:r>
            <a:endParaRPr lang="en-US" sz="1500" dirty="0"/>
          </a:p>
          <a:p>
            <a:pPr algn="l">
              <a:lnSpc>
                <a:spcPct val="160000"/>
              </a:lnSpc>
            </a:pPr>
            <a:r>
              <a:rPr lang="en-US" sz="1500" dirty="0">
                <a:solidFill>
                  <a:srgbClr val="333333"/>
                </a:solidFill>
                <a:latin typeface="Quattrocento Sans" pitchFamily="34" charset="0"/>
                <a:ea typeface="Quattrocento Sans" pitchFamily="34" charset="-122"/>
                <a:cs typeface="Quattrocento Sans" pitchFamily="34" charset="-120"/>
              </a:rPr>
              <a:t> star_metallicity</a:t>
            </a:r>
            <a:endParaRPr lang="en-US" sz="1500" dirty="0"/>
          </a:p>
        </p:txBody>
      </p:sp>
      <p:sp>
        <p:nvSpPr>
          <p:cNvPr id="24" name="Text 22"/>
          <p:cNvSpPr/>
          <p:nvPr/>
        </p:nvSpPr>
        <p:spPr>
          <a:xfrm>
            <a:off x="2540000" y="5308600"/>
            <a:ext cx="13208000" cy="355600"/>
          </a:xfrm>
          <a:prstGeom prst="rect">
            <a:avLst/>
          </a:prstGeom>
          <a:noFill/>
          <a:ln/>
        </p:spPr>
        <p:txBody>
          <a:bodyPr wrap="none" lIns="0" tIns="0" rIns="0" bIns="0" rtlCol="0" anchor="t"/>
          <a:lstStyle/>
          <a:p>
            <a:pPr algn="l">
              <a:lnSpc>
                <a:spcPct val="120000"/>
              </a:lnSpc>
            </a:pPr>
            <a:r>
              <a:rPr lang="en-US" sz="2000" b="1" dirty="0">
                <a:solidFill>
                  <a:srgbClr val="005C82"/>
                </a:solidFill>
                <a:latin typeface="Quattrocento Sans" pitchFamily="34" charset="0"/>
                <a:ea typeface="Quattrocento Sans" pitchFamily="34" charset="-122"/>
                <a:cs typeface="Quattrocento Sans" pitchFamily="34" charset="-120"/>
              </a:rPr>
              <a:t>Clustering Methods &amp; Validation</a:t>
            </a:r>
            <a:endParaRPr lang="en-US" sz="2000" dirty="0"/>
          </a:p>
        </p:txBody>
      </p:sp>
      <p:sp>
        <p:nvSpPr>
          <p:cNvPr id="25" name="Shape 23"/>
          <p:cNvSpPr/>
          <p:nvPr/>
        </p:nvSpPr>
        <p:spPr>
          <a:xfrm>
            <a:off x="2540000" y="5715000"/>
            <a:ext cx="13208000" cy="12700"/>
          </a:xfrm>
          <a:prstGeom prst="rect">
            <a:avLst/>
          </a:prstGeom>
          <a:solidFill>
            <a:srgbClr val="E0F4FA"/>
          </a:solidFill>
          <a:ln/>
        </p:spPr>
        <p:txBody>
          <a:bodyPr/>
          <a:lstStyle/>
          <a:p>
            <a:endParaRPr/>
          </a:p>
        </p:txBody>
      </p:sp>
      <p:sp>
        <p:nvSpPr>
          <p:cNvPr id="26" name="Shape 24"/>
          <p:cNvSpPr/>
          <p:nvPr/>
        </p:nvSpPr>
        <p:spPr>
          <a:xfrm>
            <a:off x="2540000" y="5943600"/>
            <a:ext cx="177800" cy="177800"/>
          </a:xfrm>
          <a:prstGeom prst="diamond">
            <a:avLst/>
          </a:prstGeom>
          <a:solidFill>
            <a:srgbClr val="005C82"/>
          </a:solidFill>
          <a:ln/>
        </p:spPr>
        <p:txBody>
          <a:bodyPr/>
          <a:lstStyle/>
          <a:p>
            <a:endParaRPr/>
          </a:p>
        </p:txBody>
      </p:sp>
      <p:sp>
        <p:nvSpPr>
          <p:cNvPr id="27" name="Text 25"/>
          <p:cNvSpPr/>
          <p:nvPr/>
        </p:nvSpPr>
        <p:spPr>
          <a:xfrm>
            <a:off x="2870200" y="5867400"/>
            <a:ext cx="6223000" cy="635000"/>
          </a:xfrm>
          <a:prstGeom prst="rect">
            <a:avLst/>
          </a:prstGeom>
          <a:noFill/>
          <a:ln/>
        </p:spPr>
        <p:txBody>
          <a:bodyPr wrap="square" lIns="0" tIns="0" rIns="0" bIns="0" rtlCol="0" anchor="t"/>
          <a:lstStyle/>
          <a:p>
            <a:pPr algn="l">
              <a:lnSpc>
                <a:spcPct val="140000"/>
              </a:lnSpc>
            </a:pPr>
            <a:r>
              <a:rPr lang="en-US" sz="1500" b="1" dirty="0">
                <a:solidFill>
                  <a:srgbClr val="333333"/>
                </a:solidFill>
                <a:latin typeface="Quattrocento Sans" pitchFamily="34" charset="0"/>
                <a:ea typeface="Quattrocento Sans" pitchFamily="34" charset="-122"/>
                <a:cs typeface="Quattrocento Sans" pitchFamily="34" charset="-120"/>
              </a:rPr>
              <a:t>K-Means</a:t>
            </a:r>
            <a:r>
              <a:rPr lang="en-US" sz="1500" dirty="0">
                <a:solidFill>
                  <a:srgbClr val="333333"/>
                </a:solidFill>
                <a:latin typeface="Quattrocento Sans" pitchFamily="34" charset="0"/>
                <a:ea typeface="Quattrocento Sans" pitchFamily="34" charset="-122"/>
                <a:cs typeface="Quattrocento Sans" pitchFamily="34" charset="-120"/>
              </a:rPr>
              <a:t> (n_init=20, random_state=42) - centroid-based partitioning</a:t>
            </a:r>
            <a:endParaRPr lang="en-US" sz="1500" dirty="0"/>
          </a:p>
        </p:txBody>
      </p:sp>
      <p:sp>
        <p:nvSpPr>
          <p:cNvPr id="28" name="Shape 26"/>
          <p:cNvSpPr/>
          <p:nvPr/>
        </p:nvSpPr>
        <p:spPr>
          <a:xfrm>
            <a:off x="9144000" y="5943600"/>
            <a:ext cx="177800" cy="177800"/>
          </a:xfrm>
          <a:prstGeom prst="diamond">
            <a:avLst/>
          </a:prstGeom>
          <a:solidFill>
            <a:srgbClr val="005C82"/>
          </a:solidFill>
          <a:ln/>
        </p:spPr>
        <p:txBody>
          <a:bodyPr/>
          <a:lstStyle/>
          <a:p>
            <a:endParaRPr/>
          </a:p>
        </p:txBody>
      </p:sp>
      <p:sp>
        <p:nvSpPr>
          <p:cNvPr id="29" name="Text 27"/>
          <p:cNvSpPr/>
          <p:nvPr/>
        </p:nvSpPr>
        <p:spPr>
          <a:xfrm>
            <a:off x="9474200" y="5867400"/>
            <a:ext cx="6223000" cy="635000"/>
          </a:xfrm>
          <a:prstGeom prst="rect">
            <a:avLst/>
          </a:prstGeom>
          <a:noFill/>
          <a:ln/>
        </p:spPr>
        <p:txBody>
          <a:bodyPr wrap="square" lIns="0" tIns="0" rIns="0" bIns="0" rtlCol="0" anchor="t"/>
          <a:lstStyle/>
          <a:p>
            <a:pPr algn="l">
              <a:lnSpc>
                <a:spcPct val="150000"/>
              </a:lnSpc>
            </a:pPr>
            <a:r>
              <a:rPr lang="en-US" sz="1600" b="1" dirty="0">
                <a:solidFill>
                  <a:srgbClr val="333333"/>
                </a:solidFill>
                <a:latin typeface="Quattrocento Sans" pitchFamily="34" charset="0"/>
                <a:ea typeface="Quattrocento Sans" pitchFamily="34" charset="-122"/>
                <a:cs typeface="Quattrocento Sans" pitchFamily="34" charset="-120"/>
              </a:rPr>
              <a:t>Agglomerative</a:t>
            </a:r>
            <a:r>
              <a:rPr lang="en-US" sz="1600" dirty="0">
                <a:solidFill>
                  <a:srgbClr val="333333"/>
                </a:solidFill>
                <a:latin typeface="Quattrocento Sans" pitchFamily="34" charset="0"/>
                <a:ea typeface="Quattrocento Sans" pitchFamily="34" charset="-122"/>
                <a:cs typeface="Quattrocento Sans" pitchFamily="34" charset="-120"/>
              </a:rPr>
              <a:t> - single linkage</a:t>
            </a:r>
            <a:endParaRPr lang="en-US" sz="1600" dirty="0"/>
          </a:p>
        </p:txBody>
      </p:sp>
      <p:sp>
        <p:nvSpPr>
          <p:cNvPr id="30" name="Shape 28"/>
          <p:cNvSpPr/>
          <p:nvPr/>
        </p:nvSpPr>
        <p:spPr>
          <a:xfrm>
            <a:off x="2540000" y="6654800"/>
            <a:ext cx="177800" cy="177800"/>
          </a:xfrm>
          <a:prstGeom prst="diamond">
            <a:avLst/>
          </a:prstGeom>
          <a:solidFill>
            <a:srgbClr val="007AA8"/>
          </a:solidFill>
          <a:ln/>
        </p:spPr>
        <p:txBody>
          <a:bodyPr/>
          <a:lstStyle/>
          <a:p>
            <a:endParaRPr/>
          </a:p>
        </p:txBody>
      </p:sp>
      <p:sp>
        <p:nvSpPr>
          <p:cNvPr id="31" name="Text 29"/>
          <p:cNvSpPr/>
          <p:nvPr/>
        </p:nvSpPr>
        <p:spPr>
          <a:xfrm>
            <a:off x="2870200" y="6578600"/>
            <a:ext cx="6223000" cy="635000"/>
          </a:xfrm>
          <a:prstGeom prst="rect">
            <a:avLst/>
          </a:prstGeom>
          <a:noFill/>
          <a:ln/>
        </p:spPr>
        <p:txBody>
          <a:bodyPr wrap="square" lIns="0" tIns="0" rIns="0" bIns="0" rtlCol="0" anchor="t"/>
          <a:lstStyle/>
          <a:p>
            <a:pPr algn="l">
              <a:lnSpc>
                <a:spcPct val="150000"/>
              </a:lnSpc>
            </a:pPr>
            <a:r>
              <a:rPr lang="en-US" sz="1600" b="1" dirty="0">
                <a:solidFill>
                  <a:srgbClr val="333333"/>
                </a:solidFill>
                <a:latin typeface="Quattrocento Sans" pitchFamily="34" charset="0"/>
                <a:ea typeface="Quattrocento Sans" pitchFamily="34" charset="-122"/>
                <a:cs typeface="Quattrocento Sans" pitchFamily="34" charset="-120"/>
              </a:rPr>
              <a:t>Agglomerative</a:t>
            </a:r>
            <a:r>
              <a:rPr lang="en-US" sz="1600" dirty="0">
                <a:solidFill>
                  <a:srgbClr val="333333"/>
                </a:solidFill>
                <a:latin typeface="Quattrocento Sans" pitchFamily="34" charset="0"/>
                <a:ea typeface="Quattrocento Sans" pitchFamily="34" charset="-122"/>
                <a:cs typeface="Quattrocento Sans" pitchFamily="34" charset="-120"/>
              </a:rPr>
              <a:t> - complete linkage </a:t>
            </a:r>
            <a:endParaRPr lang="en-US" sz="1600" dirty="0"/>
          </a:p>
        </p:txBody>
      </p:sp>
      <p:sp>
        <p:nvSpPr>
          <p:cNvPr id="32" name="Shape 30"/>
          <p:cNvSpPr/>
          <p:nvPr/>
        </p:nvSpPr>
        <p:spPr>
          <a:xfrm>
            <a:off x="9144000" y="6654800"/>
            <a:ext cx="177800" cy="177800"/>
          </a:xfrm>
          <a:prstGeom prst="diamond">
            <a:avLst/>
          </a:prstGeom>
          <a:solidFill>
            <a:srgbClr val="007AA8"/>
          </a:solidFill>
          <a:ln/>
        </p:spPr>
        <p:txBody>
          <a:bodyPr/>
          <a:lstStyle/>
          <a:p>
            <a:endParaRPr/>
          </a:p>
        </p:txBody>
      </p:sp>
      <p:sp>
        <p:nvSpPr>
          <p:cNvPr id="33" name="Text 31"/>
          <p:cNvSpPr/>
          <p:nvPr/>
        </p:nvSpPr>
        <p:spPr>
          <a:xfrm>
            <a:off x="9474200" y="6578600"/>
            <a:ext cx="6223000" cy="635000"/>
          </a:xfrm>
          <a:prstGeom prst="rect">
            <a:avLst/>
          </a:prstGeom>
          <a:noFill/>
          <a:ln/>
        </p:spPr>
        <p:txBody>
          <a:bodyPr wrap="square" lIns="0" tIns="0" rIns="0" bIns="0" rtlCol="0" anchor="t"/>
          <a:lstStyle/>
          <a:p>
            <a:pPr algn="l">
              <a:lnSpc>
                <a:spcPct val="150000"/>
              </a:lnSpc>
            </a:pPr>
            <a:r>
              <a:rPr lang="en-US" sz="1600" b="1" dirty="0">
                <a:solidFill>
                  <a:srgbClr val="333333"/>
                </a:solidFill>
                <a:latin typeface="Quattrocento Sans" pitchFamily="34" charset="0"/>
                <a:ea typeface="Quattrocento Sans" pitchFamily="34" charset="-122"/>
                <a:cs typeface="Quattrocento Sans" pitchFamily="34" charset="-120"/>
              </a:rPr>
              <a:t>k = 2 to 8</a:t>
            </a:r>
            <a:r>
              <a:rPr lang="en-US" sz="1600" dirty="0">
                <a:solidFill>
                  <a:srgbClr val="333333"/>
                </a:solidFill>
                <a:latin typeface="Quattrocento Sans" pitchFamily="34" charset="0"/>
                <a:ea typeface="Quattrocento Sans" pitchFamily="34" charset="-122"/>
                <a:cs typeface="Quattrocento Sans" pitchFamily="34" charset="-120"/>
              </a:rPr>
              <a:t> evaluated; Silhouette + cluster-size diagnostics</a:t>
            </a:r>
            <a:endParaRPr lang="en-US" sz="1600" dirty="0"/>
          </a:p>
        </p:txBody>
      </p:sp>
      <p:sp>
        <p:nvSpPr>
          <p:cNvPr id="34" name="Shape 32"/>
          <p:cNvSpPr/>
          <p:nvPr/>
        </p:nvSpPr>
        <p:spPr>
          <a:xfrm>
            <a:off x="2540000" y="7366000"/>
            <a:ext cx="13208000" cy="1016000"/>
          </a:xfrm>
          <a:prstGeom prst="rect">
            <a:avLst/>
          </a:prstGeom>
          <a:solidFill>
            <a:srgbClr val="005C82"/>
          </a:solidFill>
          <a:ln/>
        </p:spPr>
        <p:txBody>
          <a:bodyPr/>
          <a:lstStyle/>
          <a:p>
            <a:endParaRPr/>
          </a:p>
        </p:txBody>
      </p:sp>
      <p:sp>
        <p:nvSpPr>
          <p:cNvPr id="35" name="Text 33"/>
          <p:cNvSpPr/>
          <p:nvPr/>
        </p:nvSpPr>
        <p:spPr>
          <a:xfrm>
            <a:off x="2768600" y="7467600"/>
            <a:ext cx="12750800" cy="812800"/>
          </a:xfrm>
          <a:prstGeom prst="rect">
            <a:avLst/>
          </a:prstGeom>
          <a:noFill/>
          <a:ln/>
        </p:spPr>
        <p:txBody>
          <a:bodyPr wrap="square" lIns="0" tIns="0" rIns="0" bIns="0" rtlCol="0" anchor="t"/>
          <a:lstStyle/>
          <a:p>
            <a:pPr algn="l">
              <a:lnSpc>
                <a:spcPct val="150000"/>
              </a:lnSpc>
            </a:pPr>
            <a:r>
              <a:rPr lang="en-US" sz="1500" dirty="0">
                <a:solidFill>
                  <a:srgbClr val="FFFFFF"/>
                </a:solidFill>
                <a:latin typeface="Quattrocento Sans" pitchFamily="34" charset="0"/>
                <a:ea typeface="Quattrocento Sans" pitchFamily="34" charset="-122"/>
                <a:cs typeface="Quattrocento Sans" pitchFamily="34" charset="-120"/>
              </a:rPr>
              <a:t>Bootstrap (20 resamples, 80% with replacement  and </a:t>
            </a:r>
            <a:r>
              <a:rPr lang="en-US" sz="1500" dirty="0" err="1">
                <a:solidFill>
                  <a:srgbClr val="FFFFFF"/>
                </a:solidFill>
                <a:latin typeface="Quattrocento Sans" pitchFamily="34" charset="0"/>
                <a:ea typeface="Quattrocento Sans" pitchFamily="34" charset="-122"/>
                <a:cs typeface="Quattrocento Sans" pitchFamily="34" charset="-120"/>
              </a:rPr>
              <a:t>random_state</a:t>
            </a:r>
            <a:r>
              <a:rPr lang="en-US" sz="1500" dirty="0">
                <a:solidFill>
                  <a:srgbClr val="FFFFFF"/>
                </a:solidFill>
                <a:latin typeface="Quattrocento Sans" pitchFamily="34" charset="0"/>
                <a:ea typeface="Quattrocento Sans" pitchFamily="34" charset="-122"/>
                <a:cs typeface="Quattrocento Sans" pitchFamily="34" charset="-120"/>
              </a:rPr>
              <a:t> =42 to avoid ) + post-hoc Adjusted Rand Index with external labels. Labels excluded from model fitting and selection.</a:t>
            </a:r>
            <a:endParaRPr lang="en-US" sz="1500" dirty="0"/>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AFE"/>
        </a:solidFill>
        <a:effectLst/>
      </p:bgPr>
    </p:bg>
    <p:spTree>
      <p:nvGrpSpPr>
        <p:cNvPr id="1" name=""/>
        <p:cNvGrpSpPr/>
        <p:nvPr/>
      </p:nvGrpSpPr>
      <p:grpSpPr>
        <a:xfrm>
          <a:off x="0" y="0"/>
          <a:ext cx="0" cy="0"/>
          <a:chOff x="0" y="0"/>
          <a:chExt cx="0" cy="0"/>
        </a:xfrm>
      </p:grpSpPr>
      <p:sp>
        <p:nvSpPr>
          <p:cNvPr id="2" name="Shape 0"/>
          <p:cNvSpPr/>
          <p:nvPr/>
        </p:nvSpPr>
        <p:spPr>
          <a:xfrm>
            <a:off x="2032000" y="1778000"/>
            <a:ext cx="4826000" cy="4826000"/>
          </a:xfrm>
          <a:prstGeom prst="rect">
            <a:avLst/>
          </a:prstGeom>
          <a:solidFill>
            <a:srgbClr val="005C82">
              <a:alpha val="3922"/>
            </a:srgbClr>
          </a:solidFill>
          <a:ln w="12700">
            <a:solidFill>
              <a:srgbClr val="005C82"/>
            </a:solidFill>
            <a:prstDash val="solid"/>
          </a:ln>
        </p:spPr>
        <p:txBody>
          <a:bodyPr/>
          <a:lstStyle/>
          <a:p>
            <a:endParaRPr/>
          </a:p>
        </p:txBody>
      </p:sp>
      <p:sp>
        <p:nvSpPr>
          <p:cNvPr id="3" name="Shape 1"/>
          <p:cNvSpPr/>
          <p:nvPr/>
        </p:nvSpPr>
        <p:spPr>
          <a:xfrm>
            <a:off x="2540000" y="2286000"/>
            <a:ext cx="3810000" cy="3810000"/>
          </a:xfrm>
          <a:prstGeom prst="rect">
            <a:avLst/>
          </a:prstGeom>
          <a:solidFill>
            <a:srgbClr val="005C82">
              <a:alpha val="3922"/>
            </a:srgbClr>
          </a:solidFill>
          <a:ln w="12700">
            <a:solidFill>
              <a:srgbClr val="005C82"/>
            </a:solidFill>
            <a:prstDash val="solid"/>
          </a:ln>
        </p:spPr>
        <p:txBody>
          <a:bodyPr/>
          <a:lstStyle/>
          <a:p>
            <a:endParaRPr/>
          </a:p>
        </p:txBody>
      </p:sp>
      <p:sp>
        <p:nvSpPr>
          <p:cNvPr id="4" name="Shape 2"/>
          <p:cNvSpPr/>
          <p:nvPr/>
        </p:nvSpPr>
        <p:spPr>
          <a:xfrm>
            <a:off x="3048000" y="2794000"/>
            <a:ext cx="2794000" cy="2794000"/>
          </a:xfrm>
          <a:prstGeom prst="rect">
            <a:avLst/>
          </a:prstGeom>
          <a:solidFill>
            <a:srgbClr val="FFFFFF"/>
          </a:solidFill>
          <a:ln w="12700">
            <a:solidFill>
              <a:srgbClr val="005C82"/>
            </a:solidFill>
            <a:prstDash val="solid"/>
          </a:ln>
        </p:spPr>
        <p:txBody>
          <a:bodyPr/>
          <a:lstStyle/>
          <a:p>
            <a:endParaRPr/>
          </a:p>
        </p:txBody>
      </p:sp>
      <p:sp>
        <p:nvSpPr>
          <p:cNvPr id="5" name="Text 3"/>
          <p:cNvSpPr/>
          <p:nvPr/>
        </p:nvSpPr>
        <p:spPr>
          <a:xfrm>
            <a:off x="3048000" y="2794000"/>
            <a:ext cx="2794000" cy="2794000"/>
          </a:xfrm>
          <a:prstGeom prst="rect">
            <a:avLst/>
          </a:prstGeom>
          <a:noFill/>
          <a:ln/>
        </p:spPr>
        <p:txBody>
          <a:bodyPr wrap="none" lIns="0" tIns="0" rIns="0" bIns="0" rtlCol="0" anchor="ctr"/>
          <a:lstStyle/>
          <a:p>
            <a:pPr algn="ctr">
              <a:lnSpc>
                <a:spcPct val="120000"/>
              </a:lnSpc>
            </a:pPr>
            <a:r>
              <a:rPr lang="en-US" sz="8000" b="1" dirty="0">
                <a:solidFill>
                  <a:srgbClr val="005C82"/>
                </a:solidFill>
                <a:latin typeface="Quattrocento Sans" pitchFamily="34" charset="0"/>
                <a:ea typeface="Quattrocento Sans" pitchFamily="34" charset="-122"/>
                <a:cs typeface="Quattrocento Sans" pitchFamily="34" charset="-120"/>
              </a:rPr>
              <a:t>03</a:t>
            </a:r>
            <a:endParaRPr lang="en-US" sz="8000" dirty="0"/>
          </a:p>
        </p:txBody>
      </p:sp>
      <p:sp>
        <p:nvSpPr>
          <p:cNvPr id="6" name="Shape 4"/>
          <p:cNvSpPr/>
          <p:nvPr/>
        </p:nvSpPr>
        <p:spPr>
          <a:xfrm>
            <a:off x="7620000" y="2794000"/>
            <a:ext cx="12700" cy="2794000"/>
          </a:xfrm>
          <a:prstGeom prst="rect">
            <a:avLst/>
          </a:prstGeom>
          <a:solidFill>
            <a:srgbClr val="B0BEC5"/>
          </a:solidFill>
          <a:ln/>
        </p:spPr>
        <p:txBody>
          <a:bodyPr/>
          <a:lstStyle/>
          <a:p>
            <a:endParaRPr/>
          </a:p>
        </p:txBody>
      </p:sp>
      <p:sp>
        <p:nvSpPr>
          <p:cNvPr id="7" name="Text 5"/>
          <p:cNvSpPr/>
          <p:nvPr/>
        </p:nvSpPr>
        <p:spPr>
          <a:xfrm>
            <a:off x="8128000" y="2921000"/>
            <a:ext cx="7112000" cy="304800"/>
          </a:xfrm>
          <a:prstGeom prst="rect">
            <a:avLst/>
          </a:prstGeom>
          <a:noFill/>
          <a:ln/>
        </p:spPr>
        <p:txBody>
          <a:bodyPr wrap="none" lIns="0" tIns="0" rIns="0" bIns="0" rtlCol="0" anchor="t"/>
          <a:lstStyle/>
          <a:p>
            <a:pPr algn="l">
              <a:lnSpc>
                <a:spcPct val="120000"/>
              </a:lnSpc>
            </a:pPr>
            <a:r>
              <a:rPr lang="en-US" sz="1400" kern="0" spc="400" dirty="0">
                <a:solidFill>
                  <a:srgbClr val="00ACC1"/>
                </a:solidFill>
                <a:latin typeface="Quattrocento Sans" pitchFamily="34" charset="0"/>
                <a:ea typeface="Quattrocento Sans" pitchFamily="34" charset="-122"/>
                <a:cs typeface="Quattrocento Sans" pitchFamily="34" charset="-120"/>
              </a:rPr>
              <a:t>CHAPTER THREE</a:t>
            </a:r>
            <a:endParaRPr lang="en-US" sz="1400" dirty="0"/>
          </a:p>
        </p:txBody>
      </p:sp>
      <p:sp>
        <p:nvSpPr>
          <p:cNvPr id="8" name="Text 6"/>
          <p:cNvSpPr/>
          <p:nvPr/>
        </p:nvSpPr>
        <p:spPr>
          <a:xfrm>
            <a:off x="8128000" y="3403600"/>
            <a:ext cx="7366000" cy="889000"/>
          </a:xfrm>
          <a:prstGeom prst="rect">
            <a:avLst/>
          </a:prstGeom>
          <a:noFill/>
          <a:ln/>
        </p:spPr>
        <p:txBody>
          <a:bodyPr wrap="none" lIns="0" tIns="0" rIns="0" bIns="0" rtlCol="0" anchor="ctr"/>
          <a:lstStyle/>
          <a:p>
            <a:pPr algn="l">
              <a:lnSpc>
                <a:spcPct val="120000"/>
              </a:lnSpc>
            </a:pPr>
            <a:r>
              <a:rPr lang="en-US" sz="3600" b="1" dirty="0">
                <a:solidFill>
                  <a:srgbClr val="005C82"/>
                </a:solidFill>
                <a:latin typeface="Quattrocento Sans" pitchFamily="34" charset="0"/>
                <a:ea typeface="Quattrocento Sans" pitchFamily="34" charset="-122"/>
                <a:cs typeface="Quattrocento Sans" pitchFamily="34" charset="-120"/>
              </a:rPr>
              <a:t>Unsupervised Clustering</a:t>
            </a:r>
            <a:endParaRPr lang="en-US" sz="3600" dirty="0"/>
          </a:p>
        </p:txBody>
      </p:sp>
      <p:sp>
        <p:nvSpPr>
          <p:cNvPr id="9" name="Text 7"/>
          <p:cNvSpPr/>
          <p:nvPr/>
        </p:nvSpPr>
        <p:spPr>
          <a:xfrm>
            <a:off x="8128000" y="4419600"/>
            <a:ext cx="7366000" cy="355600"/>
          </a:xfrm>
          <a:prstGeom prst="rect">
            <a:avLst/>
          </a:prstGeom>
          <a:noFill/>
          <a:ln/>
        </p:spPr>
        <p:txBody>
          <a:bodyPr wrap="none" lIns="0" tIns="0" rIns="0" bIns="0" rtlCol="0" anchor="t"/>
          <a:lstStyle/>
          <a:p>
            <a:pPr algn="l">
              <a:lnSpc>
                <a:spcPct val="120000"/>
              </a:lnSpc>
            </a:pPr>
            <a:r>
              <a:rPr lang="en-US" sz="1600" dirty="0">
                <a:solidFill>
                  <a:srgbClr val="B0BEC5"/>
                </a:solidFill>
                <a:latin typeface="Quattrocento Sans" pitchFamily="34" charset="0"/>
                <a:ea typeface="Quattrocento Sans" pitchFamily="34" charset="-122"/>
                <a:cs typeface="Quattrocento Sans" pitchFamily="34" charset="-120"/>
              </a:rPr>
              <a:t>K-Means, hierarchical methods, and cluster interpretation</a:t>
            </a:r>
            <a:endParaRPr lang="en-US" sz="1600" dirty="0"/>
          </a:p>
        </p:txBody>
      </p:sp>
      <p:sp>
        <p:nvSpPr>
          <p:cNvPr id="10" name="Shape 8"/>
          <p:cNvSpPr/>
          <p:nvPr/>
        </p:nvSpPr>
        <p:spPr>
          <a:xfrm>
            <a:off x="8128000" y="5029200"/>
            <a:ext cx="2540000" cy="25400"/>
          </a:xfrm>
          <a:prstGeom prst="rect">
            <a:avLst/>
          </a:prstGeom>
          <a:solidFill>
            <a:srgbClr val="00ACC1"/>
          </a:solidFill>
          <a:ln/>
        </p:spPr>
        <p:txBody>
          <a:bodyPr/>
          <a:lstStyle/>
          <a:p>
            <a:endParaRPr/>
          </a:p>
        </p:txBody>
      </p:sp>
      <p:sp>
        <p:nvSpPr>
          <p:cNvPr id="11" name="Text 9"/>
          <p:cNvSpPr/>
          <p:nvPr/>
        </p:nvSpPr>
        <p:spPr>
          <a:xfrm>
            <a:off x="8128000" y="5283200"/>
            <a:ext cx="7366000" cy="355600"/>
          </a:xfrm>
          <a:prstGeom prst="rect">
            <a:avLst/>
          </a:prstGeom>
          <a:noFill/>
          <a:ln/>
        </p:spPr>
        <p:txBody>
          <a:bodyPr wrap="none" lIns="0" tIns="0" rIns="0" bIns="0" rtlCol="0" anchor="t"/>
          <a:lstStyle/>
          <a:p>
            <a:pPr algn="l">
              <a:lnSpc>
                <a:spcPct val="120000"/>
              </a:lnSpc>
            </a:pPr>
            <a:r>
              <a:rPr lang="en-US" sz="1500" dirty="0">
                <a:solidFill>
                  <a:srgbClr val="333333"/>
                </a:solidFill>
                <a:latin typeface="Quattrocento Sans" pitchFamily="34" charset="0"/>
                <a:ea typeface="Quattrocento Sans" pitchFamily="34" charset="-122"/>
                <a:cs typeface="Quattrocento Sans" pitchFamily="34" charset="-120"/>
              </a:rPr>
              <a:t>3.1  Clustering methods overview</a:t>
            </a:r>
            <a:endParaRPr lang="en-US" sz="1500" dirty="0"/>
          </a:p>
        </p:txBody>
      </p:sp>
      <p:sp>
        <p:nvSpPr>
          <p:cNvPr id="12" name="Text 10"/>
          <p:cNvSpPr/>
          <p:nvPr/>
        </p:nvSpPr>
        <p:spPr>
          <a:xfrm>
            <a:off x="8128000" y="5740400"/>
            <a:ext cx="7366000" cy="355600"/>
          </a:xfrm>
          <a:prstGeom prst="rect">
            <a:avLst/>
          </a:prstGeom>
          <a:noFill/>
          <a:ln/>
        </p:spPr>
        <p:txBody>
          <a:bodyPr wrap="none" lIns="0" tIns="0" rIns="0" bIns="0" rtlCol="0" anchor="t"/>
          <a:lstStyle/>
          <a:p>
            <a:pPr algn="l">
              <a:lnSpc>
                <a:spcPct val="120000"/>
              </a:lnSpc>
            </a:pPr>
            <a:r>
              <a:rPr lang="en-US" sz="1500" dirty="0">
                <a:solidFill>
                  <a:srgbClr val="333333"/>
                </a:solidFill>
                <a:latin typeface="Quattrocento Sans" pitchFamily="34" charset="0"/>
                <a:ea typeface="Quattrocento Sans" pitchFamily="34" charset="-122"/>
                <a:cs typeface="Quattrocento Sans" pitchFamily="34" charset="-120"/>
              </a:rPr>
              <a:t>3.2  Silhouette comparison &amp; cluster selection</a:t>
            </a:r>
            <a:endParaRPr lang="en-US" sz="1500" dirty="0"/>
          </a:p>
        </p:txBody>
      </p:sp>
      <p:sp>
        <p:nvSpPr>
          <p:cNvPr id="13" name="Text 11"/>
          <p:cNvSpPr/>
          <p:nvPr/>
        </p:nvSpPr>
        <p:spPr>
          <a:xfrm>
            <a:off x="8128000" y="6197600"/>
            <a:ext cx="7366000" cy="355600"/>
          </a:xfrm>
          <a:prstGeom prst="rect">
            <a:avLst/>
          </a:prstGeom>
          <a:noFill/>
          <a:ln/>
        </p:spPr>
        <p:txBody>
          <a:bodyPr wrap="none" lIns="0" tIns="0" rIns="0" bIns="0" rtlCol="0" anchor="t"/>
          <a:lstStyle/>
          <a:p>
            <a:pPr algn="l">
              <a:lnSpc>
                <a:spcPct val="120000"/>
              </a:lnSpc>
            </a:pPr>
            <a:r>
              <a:rPr lang="en-US" sz="1500" dirty="0">
                <a:solidFill>
                  <a:srgbClr val="333333"/>
                </a:solidFill>
                <a:latin typeface="Quattrocento Sans" pitchFamily="34" charset="0"/>
                <a:ea typeface="Quattrocento Sans" pitchFamily="34" charset="-122"/>
                <a:cs typeface="Quattrocento Sans" pitchFamily="34" charset="-120"/>
              </a:rPr>
              <a:t>3.3  Cluster profiles &amp; external validation</a:t>
            </a:r>
            <a:endParaRPr lang="en-US" sz="1500" dirty="0"/>
          </a:p>
        </p:txBody>
      </p:sp>
      <p:sp>
        <p:nvSpPr>
          <p:cNvPr id="14" name="Text 12"/>
          <p:cNvSpPr/>
          <p:nvPr/>
        </p:nvSpPr>
        <p:spPr>
          <a:xfrm>
            <a:off x="15240000" y="8636000"/>
            <a:ext cx="635000" cy="304800"/>
          </a:xfrm>
          <a:prstGeom prst="rect">
            <a:avLst/>
          </a:prstGeom>
          <a:noFill/>
          <a:ln/>
        </p:spPr>
        <p:txBody>
          <a:bodyPr wrap="square" lIns="0" tIns="0" rIns="0" bIns="0" rtlCol="0" anchor="ctr"/>
          <a:lstStyle/>
          <a:p>
            <a:r>
              <a:t>12</a:t>
            </a:r>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AFE"/>
        </a:solidFill>
        <a:effectLst/>
      </p:bgPr>
    </p:bg>
    <p:spTree>
      <p:nvGrpSpPr>
        <p:cNvPr id="1" name=""/>
        <p:cNvGrpSpPr/>
        <p:nvPr/>
      </p:nvGrpSpPr>
      <p:grpSpPr>
        <a:xfrm>
          <a:off x="0" y="0"/>
          <a:ext cx="0" cy="0"/>
          <a:chOff x="0" y="0"/>
          <a:chExt cx="0" cy="0"/>
        </a:xfrm>
      </p:grpSpPr>
      <p:sp>
        <p:nvSpPr>
          <p:cNvPr id="2" name="Shape 0"/>
          <p:cNvSpPr/>
          <p:nvPr/>
        </p:nvSpPr>
        <p:spPr>
          <a:xfrm>
            <a:off x="0" y="0"/>
            <a:ext cx="2286000" cy="9144000"/>
          </a:xfrm>
          <a:prstGeom prst="rect">
            <a:avLst/>
          </a:prstGeom>
          <a:solidFill>
            <a:srgbClr val="004060"/>
          </a:solidFill>
          <a:ln/>
        </p:spPr>
        <p:txBody>
          <a:bodyPr/>
          <a:lstStyle/>
          <a:p>
            <a:endParaRPr/>
          </a:p>
        </p:txBody>
      </p:sp>
      <p:sp>
        <p:nvSpPr>
          <p:cNvPr id="3" name="Shape 1"/>
          <p:cNvSpPr/>
          <p:nvPr/>
        </p:nvSpPr>
        <p:spPr>
          <a:xfrm>
            <a:off x="177800" y="177800"/>
            <a:ext cx="457200" cy="457200"/>
          </a:xfrm>
          <a:prstGeom prst="ellipse">
            <a:avLst/>
          </a:prstGeom>
          <a:solidFill>
            <a:srgbClr val="FFFFFF">
              <a:alpha val="12549"/>
            </a:srgbClr>
          </a:solidFill>
          <a:ln w="12700">
            <a:solidFill>
              <a:srgbClr val="00ACC1"/>
            </a:solidFill>
            <a:prstDash val="solid"/>
          </a:ln>
        </p:spPr>
        <p:txBody>
          <a:bodyPr/>
          <a:lstStyle/>
          <a:p>
            <a:endParaRPr/>
          </a:p>
        </p:txBody>
      </p:sp>
      <p:sp>
        <p:nvSpPr>
          <p:cNvPr id="4" name="Shape 2"/>
          <p:cNvSpPr/>
          <p:nvPr/>
        </p:nvSpPr>
        <p:spPr>
          <a:xfrm>
            <a:off x="0" y="3352800"/>
            <a:ext cx="2286000" cy="1168400"/>
          </a:xfrm>
          <a:prstGeom prst="rect">
            <a:avLst/>
          </a:prstGeom>
          <a:solidFill>
            <a:srgbClr val="005C82"/>
          </a:solidFill>
          <a:ln/>
        </p:spPr>
        <p:txBody>
          <a:bodyPr/>
          <a:lstStyle/>
          <a:p>
            <a:endParaRPr/>
          </a:p>
        </p:txBody>
      </p:sp>
      <p:sp>
        <p:nvSpPr>
          <p:cNvPr id="5" name="Text 3"/>
          <p:cNvSpPr/>
          <p:nvPr/>
        </p:nvSpPr>
        <p:spPr>
          <a:xfrm>
            <a:off x="101600" y="10160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01 Intro</a:t>
            </a:r>
            <a:endParaRPr lang="en-US" sz="1600" dirty="0"/>
          </a:p>
        </p:txBody>
      </p:sp>
      <p:sp>
        <p:nvSpPr>
          <p:cNvPr id="6" name="Text 4"/>
          <p:cNvSpPr/>
          <p:nvPr/>
        </p:nvSpPr>
        <p:spPr>
          <a:xfrm>
            <a:off x="101600" y="21844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02 Dataset</a:t>
            </a:r>
            <a:endParaRPr lang="en-US" sz="1600" dirty="0"/>
          </a:p>
        </p:txBody>
      </p:sp>
      <p:sp>
        <p:nvSpPr>
          <p:cNvPr id="7" name="Text 5"/>
          <p:cNvSpPr/>
          <p:nvPr/>
        </p:nvSpPr>
        <p:spPr>
          <a:xfrm>
            <a:off x="101600" y="3352800"/>
            <a:ext cx="2082800" cy="1168400"/>
          </a:xfrm>
          <a:prstGeom prst="rect">
            <a:avLst/>
          </a:prstGeom>
          <a:noFill/>
          <a:ln/>
        </p:spPr>
        <p:txBody>
          <a:bodyPr wrap="none" lIns="0" tIns="0" rIns="0" bIns="0" rtlCol="0" anchor="ctr"/>
          <a:lstStyle/>
          <a:p>
            <a:pPr algn="l">
              <a:lnSpc>
                <a:spcPct val="120000"/>
              </a:lnSpc>
            </a:pPr>
            <a:r>
              <a:rPr lang="en-US" sz="1800" b="1" dirty="0">
                <a:solidFill>
                  <a:srgbClr val="FFFFFF"/>
                </a:solidFill>
                <a:latin typeface="Quattrocento Sans" pitchFamily="34" charset="0"/>
                <a:ea typeface="Quattrocento Sans" pitchFamily="34" charset="-122"/>
                <a:cs typeface="Quattrocento Sans" pitchFamily="34" charset="-120"/>
              </a:rPr>
              <a:t>03 Clustering</a:t>
            </a:r>
            <a:endParaRPr lang="en-US" sz="1800" dirty="0"/>
          </a:p>
        </p:txBody>
      </p:sp>
      <p:sp>
        <p:nvSpPr>
          <p:cNvPr id="8" name="Text 6"/>
          <p:cNvSpPr/>
          <p:nvPr/>
        </p:nvSpPr>
        <p:spPr>
          <a:xfrm>
            <a:off x="101600" y="45212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04 Supervised</a:t>
            </a:r>
            <a:endParaRPr lang="en-US" sz="1600" dirty="0"/>
          </a:p>
        </p:txBody>
      </p:sp>
      <p:sp>
        <p:nvSpPr>
          <p:cNvPr id="9" name="Text 7"/>
          <p:cNvSpPr/>
          <p:nvPr/>
        </p:nvSpPr>
        <p:spPr>
          <a:xfrm>
            <a:off x="101600" y="56896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05 Conclusions</a:t>
            </a:r>
            <a:endParaRPr lang="en-US" sz="1600" dirty="0"/>
          </a:p>
        </p:txBody>
      </p:sp>
      <p:sp>
        <p:nvSpPr>
          <p:cNvPr id="10" name="Shape 8"/>
          <p:cNvSpPr/>
          <p:nvPr/>
        </p:nvSpPr>
        <p:spPr>
          <a:xfrm>
            <a:off x="1066800" y="7493000"/>
            <a:ext cx="152400" cy="152400"/>
          </a:xfrm>
          <a:prstGeom prst="diamond">
            <a:avLst/>
          </a:prstGeom>
          <a:solidFill>
            <a:srgbClr val="00ACC1"/>
          </a:solidFill>
          <a:ln/>
        </p:spPr>
        <p:txBody>
          <a:bodyPr/>
          <a:lstStyle/>
          <a:p>
            <a:endParaRPr/>
          </a:p>
        </p:txBody>
      </p:sp>
      <p:sp>
        <p:nvSpPr>
          <p:cNvPr id="11" name="Shape 9"/>
          <p:cNvSpPr/>
          <p:nvPr/>
        </p:nvSpPr>
        <p:spPr>
          <a:xfrm>
            <a:off x="2286000" y="0"/>
            <a:ext cx="13970000" cy="635000"/>
          </a:xfrm>
          <a:prstGeom prst="rect">
            <a:avLst/>
          </a:prstGeom>
          <a:solidFill>
            <a:srgbClr val="E0F4FA"/>
          </a:solidFill>
          <a:ln/>
        </p:spPr>
        <p:txBody>
          <a:bodyPr/>
          <a:lstStyle/>
          <a:p>
            <a:endParaRPr/>
          </a:p>
        </p:txBody>
      </p:sp>
      <p:sp>
        <p:nvSpPr>
          <p:cNvPr id="12" name="Text 10"/>
          <p:cNvSpPr/>
          <p:nvPr/>
        </p:nvSpPr>
        <p:spPr>
          <a:xfrm>
            <a:off x="2540000" y="0"/>
            <a:ext cx="12827000" cy="635000"/>
          </a:xfrm>
          <a:prstGeom prst="rect">
            <a:avLst/>
          </a:prstGeom>
          <a:noFill/>
          <a:ln/>
        </p:spPr>
        <p:txBody>
          <a:bodyPr wrap="none" lIns="0" tIns="0" rIns="0" bIns="0" rtlCol="0" anchor="ctr"/>
          <a:lstStyle/>
          <a:p>
            <a:pPr algn="l">
              <a:lnSpc>
                <a:spcPct val="120000"/>
              </a:lnSpc>
            </a:pPr>
            <a:r>
              <a:rPr lang="en-US" sz="1400" b="1" dirty="0">
                <a:solidFill>
                  <a:srgbClr val="005C82"/>
                </a:solidFill>
                <a:latin typeface="Quattrocento Sans" pitchFamily="34" charset="0"/>
                <a:ea typeface="Quattrocento Sans" pitchFamily="34" charset="-122"/>
                <a:cs typeface="Quattrocento Sans" pitchFamily="34" charset="-120"/>
              </a:rPr>
              <a:t>03 Clustering</a:t>
            </a:r>
            <a:r>
              <a:rPr lang="en-US" sz="1400" dirty="0">
                <a:solidFill>
                  <a:srgbClr val="005C82"/>
                </a:solidFill>
                <a:latin typeface="Quattrocento Sans" pitchFamily="34" charset="0"/>
                <a:ea typeface="Quattrocento Sans" pitchFamily="34" charset="-122"/>
                <a:cs typeface="Quattrocento Sans" pitchFamily="34" charset="-120"/>
              </a:rPr>
              <a:t>  &gt;  3.1  Clustering Methods Overview</a:t>
            </a:r>
            <a:endParaRPr lang="en-US" sz="1400" dirty="0"/>
          </a:p>
        </p:txBody>
      </p:sp>
      <p:sp>
        <p:nvSpPr>
          <p:cNvPr id="13" name="Text 11"/>
          <p:cNvSpPr/>
          <p:nvPr/>
        </p:nvSpPr>
        <p:spPr>
          <a:xfrm>
            <a:off x="15621000" y="0"/>
            <a:ext cx="635000" cy="635000"/>
          </a:xfrm>
          <a:prstGeom prst="rect">
            <a:avLst/>
          </a:prstGeom>
          <a:noFill/>
          <a:ln/>
        </p:spPr>
        <p:txBody>
          <a:bodyPr wrap="square" lIns="0" tIns="0" rIns="0" bIns="0" rtlCol="0" anchor="ctr"/>
          <a:lstStyle/>
          <a:p>
            <a:r>
              <a:t>13</a:t>
            </a:r>
          </a:p>
        </p:txBody>
      </p:sp>
      <p:sp>
        <p:nvSpPr>
          <p:cNvPr id="14" name="Text 12"/>
          <p:cNvSpPr/>
          <p:nvPr/>
        </p:nvSpPr>
        <p:spPr>
          <a:xfrm>
            <a:off x="2540000" y="863600"/>
            <a:ext cx="13208000" cy="457200"/>
          </a:xfrm>
          <a:prstGeom prst="rect">
            <a:avLst/>
          </a:prstGeom>
          <a:noFill/>
          <a:ln/>
        </p:spPr>
        <p:txBody>
          <a:bodyPr wrap="none" lIns="0" tIns="0" rIns="0" bIns="0" rtlCol="0" anchor="t"/>
          <a:lstStyle/>
          <a:p>
            <a:pPr algn="l">
              <a:lnSpc>
                <a:spcPct val="120000"/>
              </a:lnSpc>
            </a:pPr>
            <a:r>
              <a:rPr lang="en-US" sz="2400" b="1" dirty="0">
                <a:solidFill>
                  <a:srgbClr val="005C82"/>
                </a:solidFill>
                <a:latin typeface="Quattrocento Sans" pitchFamily="34" charset="0"/>
                <a:ea typeface="Quattrocento Sans" pitchFamily="34" charset="-122"/>
                <a:cs typeface="Quattrocento Sans" pitchFamily="34" charset="-120"/>
              </a:rPr>
              <a:t>Clustering Methods: K-Means &amp; Hierarchical Linkage</a:t>
            </a:r>
            <a:endParaRPr lang="en-US" sz="2400" dirty="0"/>
          </a:p>
        </p:txBody>
      </p:sp>
      <p:sp>
        <p:nvSpPr>
          <p:cNvPr id="15" name="Shape 13"/>
          <p:cNvSpPr/>
          <p:nvPr/>
        </p:nvSpPr>
        <p:spPr>
          <a:xfrm>
            <a:off x="2540000" y="1397000"/>
            <a:ext cx="13208000" cy="12700"/>
          </a:xfrm>
          <a:prstGeom prst="rect">
            <a:avLst/>
          </a:prstGeom>
          <a:solidFill>
            <a:srgbClr val="B0BEC5"/>
          </a:solidFill>
          <a:ln/>
        </p:spPr>
        <p:txBody>
          <a:bodyPr/>
          <a:lstStyle/>
          <a:p>
            <a:endParaRPr/>
          </a:p>
        </p:txBody>
      </p:sp>
      <p:sp>
        <p:nvSpPr>
          <p:cNvPr id="16" name="Shape 14"/>
          <p:cNvSpPr/>
          <p:nvPr/>
        </p:nvSpPr>
        <p:spPr>
          <a:xfrm>
            <a:off x="2540000" y="1574800"/>
            <a:ext cx="4318000" cy="3556000"/>
          </a:xfrm>
          <a:prstGeom prst="roundRect">
            <a:avLst>
              <a:gd name="adj" fmla="val 4000"/>
            </a:avLst>
          </a:prstGeom>
          <a:solidFill>
            <a:srgbClr val="E0F4FA"/>
          </a:solidFill>
          <a:ln/>
        </p:spPr>
        <p:txBody>
          <a:bodyPr/>
          <a:lstStyle/>
          <a:p>
            <a:endParaRPr/>
          </a:p>
        </p:txBody>
      </p:sp>
      <p:sp>
        <p:nvSpPr>
          <p:cNvPr id="17" name="Text 15"/>
          <p:cNvSpPr/>
          <p:nvPr/>
        </p:nvSpPr>
        <p:spPr>
          <a:xfrm>
            <a:off x="2743200" y="1727200"/>
            <a:ext cx="3911600" cy="330200"/>
          </a:xfrm>
          <a:prstGeom prst="rect">
            <a:avLst/>
          </a:prstGeom>
          <a:noFill/>
          <a:ln/>
        </p:spPr>
        <p:txBody>
          <a:bodyPr wrap="none" lIns="0" tIns="0" rIns="0" bIns="0" rtlCol="0" anchor="t"/>
          <a:lstStyle/>
          <a:p>
            <a:pPr algn="l">
              <a:lnSpc>
                <a:spcPct val="120000"/>
              </a:lnSpc>
            </a:pPr>
            <a:r>
              <a:rPr lang="en-US" sz="1800" b="1" dirty="0">
                <a:solidFill>
                  <a:srgbClr val="005C82"/>
                </a:solidFill>
                <a:latin typeface="Quattrocento Sans" pitchFamily="34" charset="0"/>
                <a:ea typeface="Quattrocento Sans" pitchFamily="34" charset="-122"/>
                <a:cs typeface="Quattrocento Sans" pitchFamily="34" charset="-120"/>
              </a:rPr>
              <a:t>K-Means</a:t>
            </a:r>
            <a:endParaRPr lang="en-US" sz="1800" dirty="0"/>
          </a:p>
        </p:txBody>
      </p:sp>
      <mc:AlternateContent xmlns:mc="http://schemas.openxmlformats.org/markup-compatibility/2006" xmlns:a14="http://schemas.microsoft.com/office/drawing/2010/main">
        <mc:Choice Requires="a14">
          <p:sp>
            <p:nvSpPr>
              <p:cNvPr id="18" name="Text 16"/>
              <p:cNvSpPr/>
              <p:nvPr/>
            </p:nvSpPr>
            <p:spPr>
              <a:xfrm>
                <a:off x="2743200" y="2133600"/>
                <a:ext cx="3911600" cy="2844800"/>
              </a:xfrm>
              <a:prstGeom prst="rect">
                <a:avLst/>
              </a:prstGeom>
              <a:noFill/>
              <a:ln/>
            </p:spPr>
            <p:txBody>
              <a:bodyPr wrap="square" lIns="0" tIns="0" rIns="0" bIns="0" rtlCol="0" anchor="t"/>
              <a:lstStyle/>
              <a:p>
                <a:pPr algn="l">
                  <a:lnSpc>
                    <a:spcPct val="160000"/>
                  </a:lnSpc>
                </a:pPr>
                <a:r>
                  <a:rPr lang="en-US" sz="1500" dirty="0">
                    <a:solidFill>
                      <a:srgbClr val="333333"/>
                    </a:solidFill>
                    <a:latin typeface="Quattrocento Sans" pitchFamily="34" charset="0"/>
                    <a:ea typeface="Quattrocento Sans" pitchFamily="34" charset="-122"/>
                    <a:cs typeface="Quattrocento Sans" pitchFamily="34" charset="-120"/>
                  </a:rPr>
                  <a:t>Minimizes sum of squared distances to centroids:</a:t>
                </a:r>
                <a:endParaRPr lang="en-US" sz="1500" dirty="0"/>
              </a:p>
              <a:p>
                <a:pPr algn="l">
                  <a:lnSpc>
                    <a:spcPct val="160000"/>
                  </a:lnSpc>
                </a:pPr>
                <a14:m>
                  <m:oMathPara xmlns:m="http://schemas.openxmlformats.org/officeDocument/2006/math">
                    <m:oMathParaPr>
                      <m:jc m:val="left"/>
                    </m:oMathParaPr>
                    <m:oMath xmlns:m="http://schemas.openxmlformats.org/officeDocument/2006/math">
                      <m:r>
                        <a:rPr lang="en-US" sz="1500" i="1" dirty="0">
                          <a:solidFill>
                            <a:srgbClr val="333333"/>
                          </a:solidFill>
                          <a:latin typeface="Cambria Math" panose="02040503050406030204" pitchFamily="18" charset="0"/>
                          <a:ea typeface="Quattrocento Sans" pitchFamily="34" charset="-122"/>
                          <a:cs typeface="Quattrocento Sans" pitchFamily="34" charset="-120"/>
                        </a:rPr>
                        <m:t>𝑎𝑟𝑔</m:t>
                      </m:r>
                      <m:r>
                        <a:rPr lang="en-US" sz="1500" dirty="0">
                          <a:solidFill>
                            <a:srgbClr val="333333"/>
                          </a:solidFill>
                          <a:latin typeface="Cambria Math" panose="02040503050406030204" pitchFamily="18" charset="0"/>
                          <a:ea typeface="Quattrocento Sans" pitchFamily="34" charset="-122"/>
                          <a:cs typeface="Quattrocento Sans" pitchFamily="34" charset="-120"/>
                        </a:rPr>
                        <m:t>⁡</m:t>
                      </m:r>
                      <m:sSub>
                        <m:sSubPr>
                          <m:ctrlPr>
                            <a:rPr lang="en-US" sz="1100" i="1" dirty="0">
                              <a:solidFill>
                                <a:srgbClr val="333333"/>
                              </a:solidFill>
                              <a:latin typeface="Cambria Math" panose="02040503050406030204" pitchFamily="18" charset="0"/>
                              <a:ea typeface="Quattrocento Sans" pitchFamily="34" charset="-122"/>
                              <a:cs typeface="Quattrocento Sans" pitchFamily="34" charset="-120"/>
                            </a:rPr>
                          </m:ctrlPr>
                        </m:sSubPr>
                        <m:e>
                          <m:r>
                            <a:rPr lang="en-US" sz="1100" i="1" dirty="0">
                              <a:solidFill>
                                <a:srgbClr val="333333"/>
                              </a:solidFill>
                              <a:latin typeface="Cambria Math" panose="02040503050406030204" pitchFamily="18" charset="0"/>
                              <a:ea typeface="Quattrocento Sans" pitchFamily="34" charset="-122"/>
                              <a:cs typeface="Quattrocento Sans" pitchFamily="34" charset="-120"/>
                            </a:rPr>
                            <m:t>𝑚𝑖𝑛</m:t>
                          </m:r>
                          <m:r>
                            <a:rPr lang="en-US" sz="1100" dirty="0">
                              <a:solidFill>
                                <a:srgbClr val="333333"/>
                              </a:solidFill>
                              <a:latin typeface="Cambria Math" panose="02040503050406030204" pitchFamily="18" charset="0"/>
                              <a:ea typeface="Quattrocento Sans" pitchFamily="34" charset="-122"/>
                              <a:cs typeface="Quattrocento Sans" pitchFamily="34" charset="-120"/>
                            </a:rPr>
                            <m:t>⁡</m:t>
                          </m:r>
                        </m:e>
                        <m:sub>
                          <m:r>
                            <a:rPr lang="en-US" sz="1100" i="1" dirty="0">
                              <a:solidFill>
                                <a:srgbClr val="333333"/>
                              </a:solidFill>
                              <a:latin typeface="Cambria Math" panose="02040503050406030204" pitchFamily="18" charset="0"/>
                              <a:ea typeface="Quattrocento Sans" pitchFamily="34" charset="-122"/>
                              <a:cs typeface="Quattrocento Sans" pitchFamily="34" charset="-120"/>
                            </a:rPr>
                            <m:t>𝑆</m:t>
                          </m:r>
                        </m:sub>
                      </m:sSub>
                      <m:sSubSup>
                        <m:sSubSupPr>
                          <m:ctrlPr>
                            <a:rPr lang="en-US" sz="1100" i="1" dirty="0">
                              <a:solidFill>
                                <a:srgbClr val="333333"/>
                              </a:solidFill>
                              <a:latin typeface="Cambria Math" panose="02040503050406030204" pitchFamily="18" charset="0"/>
                              <a:ea typeface="Quattrocento Sans" pitchFamily="34" charset="-122"/>
                              <a:cs typeface="Quattrocento Sans" pitchFamily="34" charset="-120"/>
                            </a:rPr>
                          </m:ctrlPr>
                        </m:sSubSupPr>
                        <m:e>
                          <m:r>
                            <a:rPr lang="en-US" sz="1100" dirty="0">
                              <a:solidFill>
                                <a:srgbClr val="333333"/>
                              </a:solidFill>
                              <a:latin typeface="Cambria Math" panose="02040503050406030204" pitchFamily="18" charset="0"/>
                              <a:ea typeface="Quattrocento Sans" pitchFamily="34" charset="-122"/>
                              <a:cs typeface="Quattrocento Sans" pitchFamily="34" charset="-120"/>
                            </a:rPr>
                            <m:t>∑</m:t>
                          </m:r>
                        </m:e>
                        <m:sub>
                          <m:r>
                            <a:rPr lang="en-US" sz="1100" i="1" dirty="0">
                              <a:solidFill>
                                <a:srgbClr val="333333"/>
                              </a:solidFill>
                              <a:latin typeface="Cambria Math" panose="02040503050406030204" pitchFamily="18" charset="0"/>
                              <a:ea typeface="Quattrocento Sans" pitchFamily="34" charset="-122"/>
                              <a:cs typeface="Quattrocento Sans" pitchFamily="34" charset="-120"/>
                            </a:rPr>
                            <m:t>𝑖</m:t>
                          </m:r>
                          <m:r>
                            <a:rPr lang="en-US" sz="1100" dirty="0">
                              <a:solidFill>
                                <a:srgbClr val="333333"/>
                              </a:solidFill>
                              <a:latin typeface="Cambria Math" panose="02040503050406030204" pitchFamily="18" charset="0"/>
                              <a:ea typeface="Quattrocento Sans" pitchFamily="34" charset="-122"/>
                              <a:cs typeface="Quattrocento Sans" pitchFamily="34" charset="-120"/>
                            </a:rPr>
                            <m:t>=1</m:t>
                          </m:r>
                        </m:sub>
                        <m:sup>
                          <m:r>
                            <a:rPr lang="en-US" sz="1100" i="1" dirty="0">
                              <a:solidFill>
                                <a:srgbClr val="333333"/>
                              </a:solidFill>
                              <a:latin typeface="Cambria Math" panose="02040503050406030204" pitchFamily="18" charset="0"/>
                              <a:ea typeface="Quattrocento Sans" pitchFamily="34" charset="-122"/>
                              <a:cs typeface="Quattrocento Sans" pitchFamily="34" charset="-120"/>
                            </a:rPr>
                            <m:t>𝑘</m:t>
                          </m:r>
                        </m:sup>
                      </m:sSubSup>
                      <m:sSub>
                        <m:sSubPr>
                          <m:ctrlPr>
                            <a:rPr lang="en-US" sz="1100" i="1" dirty="0">
                              <a:solidFill>
                                <a:srgbClr val="333333"/>
                              </a:solidFill>
                              <a:latin typeface="Cambria Math" panose="02040503050406030204" pitchFamily="18" charset="0"/>
                              <a:ea typeface="Quattrocento Sans" pitchFamily="34" charset="-122"/>
                              <a:cs typeface="Quattrocento Sans" pitchFamily="34" charset="-120"/>
                            </a:rPr>
                          </m:ctrlPr>
                        </m:sSubPr>
                        <m:e>
                          <m:r>
                            <a:rPr lang="en-US" sz="1100" dirty="0">
                              <a:solidFill>
                                <a:srgbClr val="333333"/>
                              </a:solidFill>
                              <a:latin typeface="Cambria Math" panose="02040503050406030204" pitchFamily="18" charset="0"/>
                              <a:ea typeface="Quattrocento Sans" pitchFamily="34" charset="-122"/>
                              <a:cs typeface="Quattrocento Sans" pitchFamily="34" charset="-120"/>
                            </a:rPr>
                            <m:t>∑</m:t>
                          </m:r>
                        </m:e>
                        <m:sub>
                          <m:r>
                            <a:rPr lang="en-US" sz="1100" i="1" dirty="0">
                              <a:solidFill>
                                <a:srgbClr val="333333"/>
                              </a:solidFill>
                              <a:latin typeface="Cambria Math" panose="02040503050406030204" pitchFamily="18" charset="0"/>
                              <a:ea typeface="Quattrocento Sans" pitchFamily="34" charset="-122"/>
                              <a:cs typeface="Quattrocento Sans" pitchFamily="34" charset="-120"/>
                            </a:rPr>
                            <m:t>𝑥</m:t>
                          </m:r>
                          <m:r>
                            <a:rPr lang="en-US" sz="1100" dirty="0">
                              <a:solidFill>
                                <a:srgbClr val="333333"/>
                              </a:solidFill>
                              <a:latin typeface="Cambria Math" panose="02040503050406030204" pitchFamily="18" charset="0"/>
                              <a:ea typeface="Quattrocento Sans" pitchFamily="34" charset="-122"/>
                              <a:cs typeface="Quattrocento Sans" pitchFamily="34" charset="-120"/>
                            </a:rPr>
                            <m:t>∈</m:t>
                          </m:r>
                          <m:sSub>
                            <m:sSubPr>
                              <m:ctrlPr>
                                <a:rPr lang="en-US" sz="800" i="1" dirty="0">
                                  <a:solidFill>
                                    <a:srgbClr val="333333"/>
                                  </a:solidFill>
                                  <a:latin typeface="Cambria Math" panose="02040503050406030204" pitchFamily="18" charset="0"/>
                                  <a:ea typeface="Quattrocento Sans" pitchFamily="34" charset="-122"/>
                                  <a:cs typeface="Quattrocento Sans" pitchFamily="34" charset="-120"/>
                                </a:rPr>
                              </m:ctrlPr>
                            </m:sSubPr>
                            <m:e>
                              <m:r>
                                <a:rPr lang="en-US" sz="800" i="1" dirty="0">
                                  <a:solidFill>
                                    <a:srgbClr val="333333"/>
                                  </a:solidFill>
                                  <a:latin typeface="Cambria Math" panose="02040503050406030204" pitchFamily="18" charset="0"/>
                                  <a:ea typeface="Quattrocento Sans" pitchFamily="34" charset="-122"/>
                                  <a:cs typeface="Quattrocento Sans" pitchFamily="34" charset="-120"/>
                                </a:rPr>
                                <m:t>𝑆</m:t>
                              </m:r>
                            </m:e>
                            <m:sub>
                              <m:r>
                                <a:rPr lang="en-US" sz="800" i="1" dirty="0">
                                  <a:solidFill>
                                    <a:srgbClr val="333333"/>
                                  </a:solidFill>
                                  <a:latin typeface="Cambria Math" panose="02040503050406030204" pitchFamily="18" charset="0"/>
                                  <a:ea typeface="Quattrocento Sans" pitchFamily="34" charset="-122"/>
                                  <a:cs typeface="Quattrocento Sans" pitchFamily="34" charset="-120"/>
                                </a:rPr>
                                <m:t>𝑖</m:t>
                              </m:r>
                            </m:sub>
                          </m:sSub>
                        </m:sub>
                      </m:sSub>
                      <m:r>
                        <a:rPr lang="en-US" sz="1500" dirty="0">
                          <a:solidFill>
                            <a:srgbClr val="333333"/>
                          </a:solidFill>
                          <a:latin typeface="Cambria Math" panose="02040503050406030204" pitchFamily="18" charset="0"/>
                          <a:ea typeface="Quattrocento Sans" pitchFamily="34" charset="-122"/>
                          <a:cs typeface="Quattrocento Sans" pitchFamily="34" charset="-120"/>
                        </a:rPr>
                        <m:t>∥</m:t>
                      </m:r>
                      <m:r>
                        <a:rPr lang="en-US" sz="1500" i="1" dirty="0">
                          <a:solidFill>
                            <a:srgbClr val="333333"/>
                          </a:solidFill>
                          <a:latin typeface="Cambria Math" panose="02040503050406030204" pitchFamily="18" charset="0"/>
                          <a:ea typeface="Quattrocento Sans" pitchFamily="34" charset="-122"/>
                          <a:cs typeface="Quattrocento Sans" pitchFamily="34" charset="-120"/>
                        </a:rPr>
                        <m:t>𝑥</m:t>
                      </m:r>
                      <m:r>
                        <a:rPr lang="en-US" sz="1500" dirty="0">
                          <a:solidFill>
                            <a:srgbClr val="333333"/>
                          </a:solidFill>
                          <a:latin typeface="Cambria Math" panose="02040503050406030204" pitchFamily="18" charset="0"/>
                          <a:ea typeface="Quattrocento Sans" pitchFamily="34" charset="-122"/>
                          <a:cs typeface="Quattrocento Sans" pitchFamily="34" charset="-120"/>
                        </a:rPr>
                        <m:t>−</m:t>
                      </m:r>
                      <m:sSub>
                        <m:sSubPr>
                          <m:ctrlPr>
                            <a:rPr lang="en-US" sz="1100" i="1" dirty="0">
                              <a:solidFill>
                                <a:srgbClr val="333333"/>
                              </a:solidFill>
                              <a:latin typeface="Cambria Math" panose="02040503050406030204" pitchFamily="18" charset="0"/>
                              <a:ea typeface="Quattrocento Sans" pitchFamily="34" charset="-122"/>
                              <a:cs typeface="Quattrocento Sans" pitchFamily="34" charset="-120"/>
                            </a:rPr>
                          </m:ctrlPr>
                        </m:sSubPr>
                        <m:e>
                          <m:r>
                            <a:rPr lang="en-US" sz="1100" i="1" dirty="0">
                              <a:solidFill>
                                <a:srgbClr val="333333"/>
                              </a:solidFill>
                              <a:latin typeface="Cambria Math" panose="02040503050406030204" pitchFamily="18" charset="0"/>
                              <a:ea typeface="Quattrocento Sans" pitchFamily="34" charset="-122"/>
                              <a:cs typeface="Quattrocento Sans" pitchFamily="34" charset="-120"/>
                            </a:rPr>
                            <m:t>𝜇</m:t>
                          </m:r>
                        </m:e>
                        <m:sub>
                          <m:r>
                            <a:rPr lang="en-US" sz="1100" i="1" dirty="0">
                              <a:solidFill>
                                <a:srgbClr val="333333"/>
                              </a:solidFill>
                              <a:latin typeface="Cambria Math" panose="02040503050406030204" pitchFamily="18" charset="0"/>
                              <a:ea typeface="Quattrocento Sans" pitchFamily="34" charset="-122"/>
                              <a:cs typeface="Quattrocento Sans" pitchFamily="34" charset="-120"/>
                            </a:rPr>
                            <m:t>𝑖</m:t>
                          </m:r>
                        </m:sub>
                      </m:sSub>
                      <m:sSup>
                        <m:sSupPr>
                          <m:ctrlPr>
                            <a:rPr lang="en-US" sz="1100" i="1" dirty="0">
                              <a:solidFill>
                                <a:srgbClr val="333333"/>
                              </a:solidFill>
                              <a:latin typeface="Cambria Math" panose="02040503050406030204" pitchFamily="18" charset="0"/>
                              <a:ea typeface="Quattrocento Sans" pitchFamily="34" charset="-122"/>
                              <a:cs typeface="Quattrocento Sans" pitchFamily="34" charset="-120"/>
                            </a:rPr>
                          </m:ctrlPr>
                        </m:sSupPr>
                        <m:e>
                          <m:r>
                            <a:rPr lang="en-US" sz="1100" dirty="0">
                              <a:solidFill>
                                <a:srgbClr val="333333"/>
                              </a:solidFill>
                              <a:latin typeface="Cambria Math" panose="02040503050406030204" pitchFamily="18" charset="0"/>
                              <a:ea typeface="Quattrocento Sans" pitchFamily="34" charset="-122"/>
                              <a:cs typeface="Quattrocento Sans" pitchFamily="34" charset="-120"/>
                            </a:rPr>
                            <m:t>∥</m:t>
                          </m:r>
                        </m:e>
                        <m:sup>
                          <m:r>
                            <a:rPr lang="en-US" sz="1100" dirty="0">
                              <a:solidFill>
                                <a:srgbClr val="333333"/>
                              </a:solidFill>
                              <a:latin typeface="Cambria Math" panose="02040503050406030204" pitchFamily="18" charset="0"/>
                              <a:ea typeface="Quattrocento Sans" pitchFamily="34" charset="-122"/>
                              <a:cs typeface="Quattrocento Sans" pitchFamily="34" charset="-120"/>
                            </a:rPr>
                            <m:t>2</m:t>
                          </m:r>
                        </m:sup>
                      </m:sSup>
                    </m:oMath>
                  </m:oMathPara>
                </a14:m>
                <a:endParaRPr lang="en-US" sz="1500" dirty="0"/>
              </a:p>
              <a:p>
                <a:pPr algn="l">
                  <a:lnSpc>
                    <a:spcPct val="160000"/>
                  </a:lnSpc>
                </a:pPr>
                <a:r>
                  <a:rPr lang="en-US" sz="1500" dirty="0">
                    <a:solidFill>
                      <a:srgbClr val="333333"/>
                    </a:solidFill>
                    <a:latin typeface="Quattrocento Sans" pitchFamily="34" charset="0"/>
                    <a:ea typeface="Quattrocento Sans" pitchFamily="34" charset="-122"/>
                    <a:cs typeface="Quattrocento Sans" pitchFamily="34" charset="-120"/>
                  </a:rPr>
                  <a:t> </a:t>
                </a:r>
                <a:endParaRPr lang="en-US" sz="1500" dirty="0"/>
              </a:p>
              <a:p>
                <a:pPr algn="l">
                  <a:lnSpc>
                    <a:spcPct val="160000"/>
                  </a:lnSpc>
                </a:pPr>
                <a:r>
                  <a:rPr lang="en-US" sz="1500" dirty="0">
                    <a:solidFill>
                      <a:srgbClr val="333333"/>
                    </a:solidFill>
                    <a:latin typeface="Quattrocento Sans" pitchFamily="34" charset="0"/>
                    <a:ea typeface="Quattrocento Sans" pitchFamily="34" charset="-122"/>
                    <a:cs typeface="Quattrocento Sans" pitchFamily="34" charset="-120"/>
                  </a:rPr>
                  <a:t>Used with n_init=20 to reduce initialization sensitivity. Produces easily interpretable clusters via centroid profiles.</a:t>
                </a:r>
                <a:endParaRPr lang="en-US" sz="1500" dirty="0"/>
              </a:p>
            </p:txBody>
          </p:sp>
        </mc:Choice>
        <mc:Fallback xmlns="">
          <p:sp>
            <p:nvSpPr>
              <p:cNvPr id="18" name="Text 16"/>
              <p:cNvSpPr/>
              <p:nvPr/>
            </p:nvSpPr>
            <p:spPr>
              <a:xfrm>
                <a:off x="2743200" y="2133600"/>
                <a:ext cx="3911600" cy="2844800"/>
              </a:xfrm>
              <a:prstGeom prst="rect">
                <a:avLst/>
              </a:prstGeom>
              <a:noFill/>
              <a:ln/>
            </p:spPr>
            <p:txBody>
              <a:bodyPr wrap="square" lIns="0" tIns="0" rIns="0" bIns="0" rtlCol="0" anchor="t"/>
              <a:lstStyle/>
              <a:p>
                <a:pPr algn="l">
                  <a:lnSpc>
                    <a:spcPct val="160000"/>
                  </a:lnSpc>
                </a:pPr>
                <a:r>
                  <a:rPr lang="en-US" sz="1500" dirty="0">
                    <a:solidFill>
                      <a:srgbClr val="333333"/>
                    </a:solidFill>
                    <a:latin typeface="Quattrocento Sans" pitchFamily="34" charset="0"/>
                    <a:ea typeface="Quattrocento Sans" pitchFamily="34" charset="-122"/>
                    <a:cs typeface="Quattrocento Sans" pitchFamily="34" charset="-120"/>
                  </a:rPr>
                  <a:t>Minimizes sum of squared distances to centroids:</a:t>
                </a:r>
                <a:endParaRPr lang="en-US" sz="1500" dirty="0"/>
              </a:p>
              <a:p>
                <a:pPr algn="l">
                  <a:lnSpc>
                    <a:spcPct val="160000"/>
                  </a:lnSpc>
                </a:pPr>
                <a:r>
                  <a:rPr lang="en-US" sz="1500" dirty="0">
                    <a:solidFill>
                      <a:srgbClr val="333333"/>
                    </a:solidFill>
                    <a:latin typeface="Quattrocento Sans" pitchFamily="34" charset="0"/>
                    <a:ea typeface="Quattrocento Sans" pitchFamily="34" charset="-122"/>
                    <a:cs typeface="Quattrocento Sans" pitchFamily="34" charset="-120"/>
                  </a:rPr>
                  <a:t>\( \arg\min_S \sum_{i=1}^{k} \sum_{x \in S_i} \|x - \mu_i\|^2 \)</a:t>
                </a:r>
                <a:endParaRPr lang="en-US" sz="1500" dirty="0"/>
              </a:p>
              <a:p>
                <a:pPr algn="l">
                  <a:lnSpc>
                    <a:spcPct val="160000"/>
                  </a:lnSpc>
                </a:pPr>
                <a:r>
                  <a:rPr lang="en-US" sz="1500" dirty="0">
                    <a:solidFill>
                      <a:srgbClr val="333333"/>
                    </a:solidFill>
                    <a:latin typeface="Quattrocento Sans" pitchFamily="34" charset="0"/>
                    <a:ea typeface="Quattrocento Sans" pitchFamily="34" charset="-122"/>
                    <a:cs typeface="Quattrocento Sans" pitchFamily="34" charset="-120"/>
                  </a:rPr>
                  <a:t> </a:t>
                </a:r>
                <a:endParaRPr lang="en-US" sz="1500" dirty="0"/>
              </a:p>
              <a:p>
                <a:pPr algn="l">
                  <a:lnSpc>
                    <a:spcPct val="160000"/>
                  </a:lnSpc>
                </a:pPr>
                <a:r>
                  <a:rPr lang="en-US" sz="1500" dirty="0">
                    <a:solidFill>
                      <a:srgbClr val="333333"/>
                    </a:solidFill>
                    <a:latin typeface="Quattrocento Sans" pitchFamily="34" charset="0"/>
                    <a:ea typeface="Quattrocento Sans" pitchFamily="34" charset="-122"/>
                    <a:cs typeface="Quattrocento Sans" pitchFamily="34" charset="-120"/>
                  </a:rPr>
                  <a:t>Used with n_init=20 to reduce initialization sensitivity. Produces easily interpretable clusters via centroid profiles.</a:t>
                </a:r>
                <a:endParaRPr lang="en-US" sz="1500" dirty="0"/>
              </a:p>
            </p:txBody>
          </p:sp>
        </mc:Fallback>
      </mc:AlternateContent>
      <p:sp>
        <p:nvSpPr>
          <p:cNvPr id="19" name="Shape 17"/>
          <p:cNvSpPr/>
          <p:nvPr/>
        </p:nvSpPr>
        <p:spPr>
          <a:xfrm>
            <a:off x="7112000" y="1574800"/>
            <a:ext cx="4318000" cy="3556000"/>
          </a:xfrm>
          <a:prstGeom prst="roundRect">
            <a:avLst>
              <a:gd name="adj" fmla="val 4000"/>
            </a:avLst>
          </a:prstGeom>
          <a:solidFill>
            <a:srgbClr val="E0F4FA"/>
          </a:solidFill>
          <a:ln/>
        </p:spPr>
        <p:txBody>
          <a:bodyPr/>
          <a:lstStyle/>
          <a:p>
            <a:endParaRPr/>
          </a:p>
        </p:txBody>
      </p:sp>
      <p:sp>
        <p:nvSpPr>
          <p:cNvPr id="20" name="Text 18"/>
          <p:cNvSpPr/>
          <p:nvPr/>
        </p:nvSpPr>
        <p:spPr>
          <a:xfrm>
            <a:off x="7315200" y="1727200"/>
            <a:ext cx="3911600" cy="330200"/>
          </a:xfrm>
          <a:prstGeom prst="rect">
            <a:avLst/>
          </a:prstGeom>
          <a:noFill/>
          <a:ln/>
        </p:spPr>
        <p:txBody>
          <a:bodyPr wrap="none" lIns="0" tIns="0" rIns="0" bIns="0" rtlCol="0" anchor="t"/>
          <a:lstStyle/>
          <a:p>
            <a:pPr algn="l">
              <a:lnSpc>
                <a:spcPct val="120000"/>
              </a:lnSpc>
            </a:pPr>
            <a:r>
              <a:rPr lang="en-US" sz="1800" b="1" dirty="0">
                <a:solidFill>
                  <a:srgbClr val="005C82"/>
                </a:solidFill>
                <a:latin typeface="Quattrocento Sans" pitchFamily="34" charset="0"/>
                <a:ea typeface="Quattrocento Sans" pitchFamily="34" charset="-122"/>
                <a:cs typeface="Quattrocento Sans" pitchFamily="34" charset="-120"/>
              </a:rPr>
              <a:t>Single Linkage</a:t>
            </a:r>
            <a:endParaRPr lang="en-US" sz="1800" dirty="0"/>
          </a:p>
        </p:txBody>
      </p:sp>
      <mc:AlternateContent xmlns:mc="http://schemas.openxmlformats.org/markup-compatibility/2006" xmlns:a14="http://schemas.microsoft.com/office/drawing/2010/main">
        <mc:Choice Requires="a14">
          <p:sp>
            <p:nvSpPr>
              <p:cNvPr id="21" name="Text 19"/>
              <p:cNvSpPr/>
              <p:nvPr/>
            </p:nvSpPr>
            <p:spPr>
              <a:xfrm>
                <a:off x="7315200" y="2133600"/>
                <a:ext cx="3911600" cy="2844800"/>
              </a:xfrm>
              <a:prstGeom prst="rect">
                <a:avLst/>
              </a:prstGeom>
              <a:noFill/>
              <a:ln/>
            </p:spPr>
            <p:txBody>
              <a:bodyPr wrap="square" lIns="0" tIns="0" rIns="0" bIns="0" rtlCol="0" anchor="t"/>
              <a:lstStyle/>
              <a:p>
                <a:pPr algn="l">
                  <a:lnSpc>
                    <a:spcPct val="160000"/>
                  </a:lnSpc>
                </a:pPr>
                <a:r>
                  <a:rPr lang="en-US" sz="1500" dirty="0">
                    <a:solidFill>
                      <a:srgbClr val="333333"/>
                    </a:solidFill>
                    <a:latin typeface="Quattrocento Sans" pitchFamily="34" charset="0"/>
                    <a:ea typeface="Quattrocento Sans" pitchFamily="34" charset="-122"/>
                    <a:cs typeface="Quattrocento Sans" pitchFamily="34" charset="-120"/>
                  </a:rPr>
                  <a:t>Distance between clusters = minimum distance between any pair of points:</a:t>
                </a:r>
                <a:endParaRPr lang="en-US" sz="1500" dirty="0"/>
              </a:p>
              <a:p>
                <a:pPr algn="l">
                  <a:lnSpc>
                    <a:spcPct val="160000"/>
                  </a:lnSpc>
                </a:pPr>
                <a14:m>
                  <m:oMathPara xmlns:m="http://schemas.openxmlformats.org/officeDocument/2006/math">
                    <m:oMathParaPr>
                      <m:jc m:val="left"/>
                    </m:oMathParaPr>
                    <m:oMath xmlns:m="http://schemas.openxmlformats.org/officeDocument/2006/math">
                      <m:r>
                        <a:rPr lang="en-US" sz="1500" i="1" dirty="0">
                          <a:solidFill>
                            <a:srgbClr val="333333"/>
                          </a:solidFill>
                          <a:latin typeface="Cambria Math" panose="02040503050406030204" pitchFamily="18" charset="0"/>
                          <a:ea typeface="Quattrocento Sans" pitchFamily="34" charset="-122"/>
                          <a:cs typeface="Quattrocento Sans" pitchFamily="34" charset="-120"/>
                        </a:rPr>
                        <m:t>𝑑</m:t>
                      </m:r>
                      <m:r>
                        <a:rPr lang="en-US" sz="1500" dirty="0">
                          <a:solidFill>
                            <a:srgbClr val="333333"/>
                          </a:solidFill>
                          <a:latin typeface="Cambria Math" panose="02040503050406030204" pitchFamily="18" charset="0"/>
                          <a:ea typeface="Quattrocento Sans" pitchFamily="34" charset="-122"/>
                          <a:cs typeface="Quattrocento Sans" pitchFamily="34" charset="-120"/>
                        </a:rPr>
                        <m:t>(</m:t>
                      </m:r>
                      <m:r>
                        <a:rPr lang="en-US" sz="1500" i="1" dirty="0">
                          <a:solidFill>
                            <a:srgbClr val="333333"/>
                          </a:solidFill>
                          <a:latin typeface="Cambria Math" panose="02040503050406030204" pitchFamily="18" charset="0"/>
                          <a:ea typeface="Quattrocento Sans" pitchFamily="34" charset="-122"/>
                          <a:cs typeface="Quattrocento Sans" pitchFamily="34" charset="-120"/>
                        </a:rPr>
                        <m:t>𝐴</m:t>
                      </m:r>
                      <m:r>
                        <a:rPr lang="en-US" sz="1500" dirty="0">
                          <a:solidFill>
                            <a:srgbClr val="333333"/>
                          </a:solidFill>
                          <a:latin typeface="Cambria Math" panose="02040503050406030204" pitchFamily="18" charset="0"/>
                          <a:ea typeface="Quattrocento Sans" pitchFamily="34" charset="-122"/>
                          <a:cs typeface="Quattrocento Sans" pitchFamily="34" charset="-120"/>
                        </a:rPr>
                        <m:t>,</m:t>
                      </m:r>
                      <m:r>
                        <a:rPr lang="en-US" sz="1500" i="1" dirty="0">
                          <a:solidFill>
                            <a:srgbClr val="333333"/>
                          </a:solidFill>
                          <a:latin typeface="Cambria Math" panose="02040503050406030204" pitchFamily="18" charset="0"/>
                          <a:ea typeface="Quattrocento Sans" pitchFamily="34" charset="-122"/>
                          <a:cs typeface="Quattrocento Sans" pitchFamily="34" charset="-120"/>
                        </a:rPr>
                        <m:t>𝐵</m:t>
                      </m:r>
                      <m:r>
                        <a:rPr lang="en-US" sz="1500" dirty="0">
                          <a:solidFill>
                            <a:srgbClr val="333333"/>
                          </a:solidFill>
                          <a:latin typeface="Cambria Math" panose="02040503050406030204" pitchFamily="18" charset="0"/>
                          <a:ea typeface="Quattrocento Sans" pitchFamily="34" charset="-122"/>
                          <a:cs typeface="Quattrocento Sans" pitchFamily="34" charset="-120"/>
                        </a:rPr>
                        <m:t>)=</m:t>
                      </m:r>
                      <m:sSub>
                        <m:sSubPr>
                          <m:ctrlPr>
                            <a:rPr lang="en-US" sz="1100" i="1" dirty="0">
                              <a:solidFill>
                                <a:srgbClr val="333333"/>
                              </a:solidFill>
                              <a:latin typeface="Cambria Math" panose="02040503050406030204" pitchFamily="18" charset="0"/>
                              <a:ea typeface="Quattrocento Sans" pitchFamily="34" charset="-122"/>
                              <a:cs typeface="Quattrocento Sans" pitchFamily="34" charset="-120"/>
                            </a:rPr>
                          </m:ctrlPr>
                        </m:sSubPr>
                        <m:e>
                          <m:r>
                            <a:rPr lang="en-US" sz="1100" i="1" dirty="0">
                              <a:solidFill>
                                <a:srgbClr val="333333"/>
                              </a:solidFill>
                              <a:latin typeface="Cambria Math" panose="02040503050406030204" pitchFamily="18" charset="0"/>
                              <a:ea typeface="Quattrocento Sans" pitchFamily="34" charset="-122"/>
                              <a:cs typeface="Quattrocento Sans" pitchFamily="34" charset="-120"/>
                            </a:rPr>
                            <m:t>𝑚𝑖𝑛</m:t>
                          </m:r>
                          <m:r>
                            <a:rPr lang="en-US" sz="1100" dirty="0">
                              <a:solidFill>
                                <a:srgbClr val="333333"/>
                              </a:solidFill>
                              <a:latin typeface="Cambria Math" panose="02040503050406030204" pitchFamily="18" charset="0"/>
                              <a:ea typeface="Quattrocento Sans" pitchFamily="34" charset="-122"/>
                              <a:cs typeface="Quattrocento Sans" pitchFamily="34" charset="-120"/>
                            </a:rPr>
                            <m:t>⁡</m:t>
                          </m:r>
                        </m:e>
                        <m:sub>
                          <m:r>
                            <a:rPr lang="en-US" sz="1100" i="1" dirty="0">
                              <a:solidFill>
                                <a:srgbClr val="333333"/>
                              </a:solidFill>
                              <a:latin typeface="Cambria Math" panose="02040503050406030204" pitchFamily="18" charset="0"/>
                              <a:ea typeface="Quattrocento Sans" pitchFamily="34" charset="-122"/>
                              <a:cs typeface="Quattrocento Sans" pitchFamily="34" charset="-120"/>
                            </a:rPr>
                            <m:t>𝑎</m:t>
                          </m:r>
                          <m:r>
                            <a:rPr lang="en-US" sz="1100" dirty="0">
                              <a:solidFill>
                                <a:srgbClr val="333333"/>
                              </a:solidFill>
                              <a:latin typeface="Cambria Math" panose="02040503050406030204" pitchFamily="18" charset="0"/>
                              <a:ea typeface="Quattrocento Sans" pitchFamily="34" charset="-122"/>
                              <a:cs typeface="Quattrocento Sans" pitchFamily="34" charset="-120"/>
                            </a:rPr>
                            <m:t>∈</m:t>
                          </m:r>
                          <m:r>
                            <a:rPr lang="en-US" sz="1100" i="1" dirty="0">
                              <a:solidFill>
                                <a:srgbClr val="333333"/>
                              </a:solidFill>
                              <a:latin typeface="Cambria Math" panose="02040503050406030204" pitchFamily="18" charset="0"/>
                              <a:ea typeface="Quattrocento Sans" pitchFamily="34" charset="-122"/>
                              <a:cs typeface="Quattrocento Sans" pitchFamily="34" charset="-120"/>
                            </a:rPr>
                            <m:t>𝐴</m:t>
                          </m:r>
                          <m:r>
                            <a:rPr lang="en-US" sz="1100" dirty="0">
                              <a:solidFill>
                                <a:srgbClr val="333333"/>
                              </a:solidFill>
                              <a:latin typeface="Cambria Math" panose="02040503050406030204" pitchFamily="18" charset="0"/>
                              <a:ea typeface="Quattrocento Sans" pitchFamily="34" charset="-122"/>
                              <a:cs typeface="Quattrocento Sans" pitchFamily="34" charset="-120"/>
                            </a:rPr>
                            <m:t>,</m:t>
                          </m:r>
                          <m:r>
                            <a:rPr lang="en-US" sz="1100" i="1" dirty="0">
                              <a:solidFill>
                                <a:srgbClr val="333333"/>
                              </a:solidFill>
                              <a:latin typeface="Cambria Math" panose="02040503050406030204" pitchFamily="18" charset="0"/>
                              <a:ea typeface="Quattrocento Sans" pitchFamily="34" charset="-122"/>
                              <a:cs typeface="Quattrocento Sans" pitchFamily="34" charset="-120"/>
                            </a:rPr>
                            <m:t>𝑏</m:t>
                          </m:r>
                          <m:r>
                            <a:rPr lang="en-US" sz="1100" dirty="0">
                              <a:solidFill>
                                <a:srgbClr val="333333"/>
                              </a:solidFill>
                              <a:latin typeface="Cambria Math" panose="02040503050406030204" pitchFamily="18" charset="0"/>
                              <a:ea typeface="Quattrocento Sans" pitchFamily="34" charset="-122"/>
                              <a:cs typeface="Quattrocento Sans" pitchFamily="34" charset="-120"/>
                            </a:rPr>
                            <m:t>∈</m:t>
                          </m:r>
                          <m:r>
                            <a:rPr lang="en-US" sz="1100" i="1" dirty="0">
                              <a:solidFill>
                                <a:srgbClr val="333333"/>
                              </a:solidFill>
                              <a:latin typeface="Cambria Math" panose="02040503050406030204" pitchFamily="18" charset="0"/>
                              <a:ea typeface="Quattrocento Sans" pitchFamily="34" charset="-122"/>
                              <a:cs typeface="Quattrocento Sans" pitchFamily="34" charset="-120"/>
                            </a:rPr>
                            <m:t>𝐵</m:t>
                          </m:r>
                        </m:sub>
                      </m:sSub>
                      <m:r>
                        <a:rPr lang="en-US" sz="1500" i="1" dirty="0">
                          <a:solidFill>
                            <a:srgbClr val="333333"/>
                          </a:solidFill>
                          <a:latin typeface="Cambria Math" panose="02040503050406030204" pitchFamily="18" charset="0"/>
                          <a:ea typeface="Quattrocento Sans" pitchFamily="34" charset="-122"/>
                          <a:cs typeface="Quattrocento Sans" pitchFamily="34" charset="-120"/>
                        </a:rPr>
                        <m:t>𝑑</m:t>
                      </m:r>
                      <m:r>
                        <a:rPr lang="en-US" sz="1500" dirty="0">
                          <a:solidFill>
                            <a:srgbClr val="333333"/>
                          </a:solidFill>
                          <a:latin typeface="Cambria Math" panose="02040503050406030204" pitchFamily="18" charset="0"/>
                          <a:ea typeface="Quattrocento Sans" pitchFamily="34" charset="-122"/>
                          <a:cs typeface="Quattrocento Sans" pitchFamily="34" charset="-120"/>
                        </a:rPr>
                        <m:t>(</m:t>
                      </m:r>
                      <m:r>
                        <a:rPr lang="en-US" sz="1500" i="1" dirty="0">
                          <a:solidFill>
                            <a:srgbClr val="333333"/>
                          </a:solidFill>
                          <a:latin typeface="Cambria Math" panose="02040503050406030204" pitchFamily="18" charset="0"/>
                          <a:ea typeface="Quattrocento Sans" pitchFamily="34" charset="-122"/>
                          <a:cs typeface="Quattrocento Sans" pitchFamily="34" charset="-120"/>
                        </a:rPr>
                        <m:t>𝑎</m:t>
                      </m:r>
                      <m:r>
                        <a:rPr lang="en-US" sz="1500" dirty="0">
                          <a:solidFill>
                            <a:srgbClr val="333333"/>
                          </a:solidFill>
                          <a:latin typeface="Cambria Math" panose="02040503050406030204" pitchFamily="18" charset="0"/>
                          <a:ea typeface="Quattrocento Sans" pitchFamily="34" charset="-122"/>
                          <a:cs typeface="Quattrocento Sans" pitchFamily="34" charset="-120"/>
                        </a:rPr>
                        <m:t>,</m:t>
                      </m:r>
                      <m:r>
                        <a:rPr lang="en-US" sz="1500" i="1" dirty="0">
                          <a:solidFill>
                            <a:srgbClr val="333333"/>
                          </a:solidFill>
                          <a:latin typeface="Cambria Math" panose="02040503050406030204" pitchFamily="18" charset="0"/>
                          <a:ea typeface="Quattrocento Sans" pitchFamily="34" charset="-122"/>
                          <a:cs typeface="Quattrocento Sans" pitchFamily="34" charset="-120"/>
                        </a:rPr>
                        <m:t>𝑏</m:t>
                      </m:r>
                      <m:r>
                        <a:rPr lang="en-US" sz="1500" dirty="0">
                          <a:solidFill>
                            <a:srgbClr val="333333"/>
                          </a:solidFill>
                          <a:latin typeface="Cambria Math" panose="02040503050406030204" pitchFamily="18" charset="0"/>
                          <a:ea typeface="Quattrocento Sans" pitchFamily="34" charset="-122"/>
                          <a:cs typeface="Quattrocento Sans" pitchFamily="34" charset="-120"/>
                        </a:rPr>
                        <m:t>)</m:t>
                      </m:r>
                    </m:oMath>
                  </m:oMathPara>
                </a14:m>
                <a:endParaRPr lang="en-US" sz="1500" dirty="0"/>
              </a:p>
              <a:p>
                <a:pPr algn="l">
                  <a:lnSpc>
                    <a:spcPct val="160000"/>
                  </a:lnSpc>
                </a:pPr>
                <a:r>
                  <a:rPr lang="en-US" sz="1500" dirty="0">
                    <a:solidFill>
                      <a:srgbClr val="333333"/>
                    </a:solidFill>
                    <a:latin typeface="Quattrocento Sans" pitchFamily="34" charset="0"/>
                    <a:ea typeface="Quattrocento Sans" pitchFamily="34" charset="-122"/>
                    <a:cs typeface="Quattrocento Sans" pitchFamily="34" charset="-120"/>
                  </a:rPr>
                  <a:t> </a:t>
                </a:r>
                <a:endParaRPr lang="en-US" sz="1500" dirty="0"/>
              </a:p>
              <a:p>
                <a:pPr algn="l">
                  <a:lnSpc>
                    <a:spcPct val="160000"/>
                  </a:lnSpc>
                </a:pPr>
                <a:r>
                  <a:rPr lang="en-US" sz="1500" dirty="0">
                    <a:solidFill>
                      <a:srgbClr val="333333"/>
                    </a:solidFill>
                    <a:latin typeface="Quattrocento Sans" pitchFamily="34" charset="0"/>
                    <a:ea typeface="Quattrocento Sans" pitchFamily="34" charset="-122"/>
                    <a:cs typeface="Quattrocento Sans" pitchFamily="34" charset="-120"/>
                  </a:rPr>
                  <a:t>Vulnerable to chaining effect. Tends to isolate outlier chains.</a:t>
                </a:r>
                <a:endParaRPr lang="en-US" sz="1500" dirty="0"/>
              </a:p>
            </p:txBody>
          </p:sp>
        </mc:Choice>
        <mc:Fallback xmlns="">
          <p:sp>
            <p:nvSpPr>
              <p:cNvPr id="21" name="Text 19"/>
              <p:cNvSpPr/>
              <p:nvPr/>
            </p:nvSpPr>
            <p:spPr>
              <a:xfrm>
                <a:off x="7315200" y="2133600"/>
                <a:ext cx="3911600" cy="2844800"/>
              </a:xfrm>
              <a:prstGeom prst="rect">
                <a:avLst/>
              </a:prstGeom>
              <a:noFill/>
              <a:ln/>
            </p:spPr>
            <p:txBody>
              <a:bodyPr wrap="square" lIns="0" tIns="0" rIns="0" bIns="0" rtlCol="0" anchor="t"/>
              <a:lstStyle/>
              <a:p>
                <a:pPr algn="l">
                  <a:lnSpc>
                    <a:spcPct val="160000"/>
                  </a:lnSpc>
                </a:pPr>
                <a:r>
                  <a:rPr lang="en-US" sz="1500" dirty="0">
                    <a:solidFill>
                      <a:srgbClr val="333333"/>
                    </a:solidFill>
                    <a:latin typeface="Quattrocento Sans" pitchFamily="34" charset="0"/>
                    <a:ea typeface="Quattrocento Sans" pitchFamily="34" charset="-122"/>
                    <a:cs typeface="Quattrocento Sans" pitchFamily="34" charset="-120"/>
                  </a:rPr>
                  <a:t>Distance between clusters = minimum distance between any pair of points:</a:t>
                </a:r>
                <a:endParaRPr lang="en-US" sz="1500" dirty="0"/>
              </a:p>
              <a:p>
                <a:pPr algn="l">
                  <a:lnSpc>
                    <a:spcPct val="160000"/>
                  </a:lnSpc>
                </a:pPr>
                <a:r>
                  <a:rPr lang="en-US" sz="1500" dirty="0">
                    <a:solidFill>
                      <a:srgbClr val="333333"/>
                    </a:solidFill>
                    <a:latin typeface="Quattrocento Sans" pitchFamily="34" charset="0"/>
                    <a:ea typeface="Quattrocento Sans" pitchFamily="34" charset="-122"/>
                    <a:cs typeface="Quattrocento Sans" pitchFamily="34" charset="-120"/>
                  </a:rPr>
                  <a:t>\( d(A,B) = \min_{a \in A, b \in B} d(a,b) \)</a:t>
                </a:r>
                <a:endParaRPr lang="en-US" sz="1500" dirty="0"/>
              </a:p>
              <a:p>
                <a:pPr algn="l">
                  <a:lnSpc>
                    <a:spcPct val="160000"/>
                  </a:lnSpc>
                </a:pPr>
                <a:r>
                  <a:rPr lang="en-US" sz="1500" dirty="0">
                    <a:solidFill>
                      <a:srgbClr val="333333"/>
                    </a:solidFill>
                    <a:latin typeface="Quattrocento Sans" pitchFamily="34" charset="0"/>
                    <a:ea typeface="Quattrocento Sans" pitchFamily="34" charset="-122"/>
                    <a:cs typeface="Quattrocento Sans" pitchFamily="34" charset="-120"/>
                  </a:rPr>
                  <a:t> </a:t>
                </a:r>
                <a:endParaRPr lang="en-US" sz="1500" dirty="0"/>
              </a:p>
              <a:p>
                <a:pPr algn="l">
                  <a:lnSpc>
                    <a:spcPct val="160000"/>
                  </a:lnSpc>
                </a:pPr>
                <a:r>
                  <a:rPr lang="en-US" sz="1500" dirty="0">
                    <a:solidFill>
                      <a:srgbClr val="333333"/>
                    </a:solidFill>
                    <a:latin typeface="Quattrocento Sans" pitchFamily="34" charset="0"/>
                    <a:ea typeface="Quattrocento Sans" pitchFamily="34" charset="-122"/>
                    <a:cs typeface="Quattrocento Sans" pitchFamily="34" charset="-120"/>
                  </a:rPr>
                  <a:t>Vulnerable to chaining effect. Tends to isolate outlier chains.</a:t>
                </a:r>
                <a:endParaRPr lang="en-US" sz="1500" dirty="0"/>
              </a:p>
            </p:txBody>
          </p:sp>
        </mc:Fallback>
      </mc:AlternateContent>
      <p:sp>
        <p:nvSpPr>
          <p:cNvPr id="22" name="Shape 20"/>
          <p:cNvSpPr/>
          <p:nvPr/>
        </p:nvSpPr>
        <p:spPr>
          <a:xfrm>
            <a:off x="11684000" y="1574800"/>
            <a:ext cx="4064000" cy="3556000"/>
          </a:xfrm>
          <a:prstGeom prst="roundRect">
            <a:avLst>
              <a:gd name="adj" fmla="val 4000"/>
            </a:avLst>
          </a:prstGeom>
          <a:solidFill>
            <a:srgbClr val="E0F4FA"/>
          </a:solidFill>
          <a:ln/>
        </p:spPr>
        <p:txBody>
          <a:bodyPr/>
          <a:lstStyle/>
          <a:p>
            <a:endParaRPr/>
          </a:p>
        </p:txBody>
      </p:sp>
      <p:sp>
        <p:nvSpPr>
          <p:cNvPr id="23" name="Text 21"/>
          <p:cNvSpPr/>
          <p:nvPr/>
        </p:nvSpPr>
        <p:spPr>
          <a:xfrm>
            <a:off x="11887200" y="1727200"/>
            <a:ext cx="3657600" cy="330200"/>
          </a:xfrm>
          <a:prstGeom prst="rect">
            <a:avLst/>
          </a:prstGeom>
          <a:noFill/>
          <a:ln/>
        </p:spPr>
        <p:txBody>
          <a:bodyPr wrap="none" lIns="0" tIns="0" rIns="0" bIns="0" rtlCol="0" anchor="t"/>
          <a:lstStyle/>
          <a:p>
            <a:pPr algn="l">
              <a:lnSpc>
                <a:spcPct val="120000"/>
              </a:lnSpc>
            </a:pPr>
            <a:r>
              <a:rPr lang="en-US" sz="1800" b="1" dirty="0">
                <a:solidFill>
                  <a:srgbClr val="005C82"/>
                </a:solidFill>
                <a:latin typeface="Quattrocento Sans" pitchFamily="34" charset="0"/>
                <a:ea typeface="Quattrocento Sans" pitchFamily="34" charset="-122"/>
                <a:cs typeface="Quattrocento Sans" pitchFamily="34" charset="-120"/>
              </a:rPr>
              <a:t>Complete Linkage</a:t>
            </a:r>
            <a:endParaRPr lang="en-US" sz="1800" dirty="0"/>
          </a:p>
        </p:txBody>
      </p:sp>
      <mc:AlternateContent xmlns:mc="http://schemas.openxmlformats.org/markup-compatibility/2006" xmlns:a14="http://schemas.microsoft.com/office/drawing/2010/main">
        <mc:Choice Requires="a14">
          <p:sp>
            <p:nvSpPr>
              <p:cNvPr id="24" name="Text 22"/>
              <p:cNvSpPr/>
              <p:nvPr/>
            </p:nvSpPr>
            <p:spPr>
              <a:xfrm>
                <a:off x="11887200" y="2133600"/>
                <a:ext cx="3657600" cy="2844800"/>
              </a:xfrm>
              <a:prstGeom prst="rect">
                <a:avLst/>
              </a:prstGeom>
              <a:noFill/>
              <a:ln/>
            </p:spPr>
            <p:txBody>
              <a:bodyPr wrap="square" lIns="0" tIns="0" rIns="0" bIns="0" rtlCol="0" anchor="t"/>
              <a:lstStyle/>
              <a:p>
                <a:pPr algn="l">
                  <a:lnSpc>
                    <a:spcPct val="160000"/>
                  </a:lnSpc>
                </a:pPr>
                <a:r>
                  <a:rPr lang="en-US" sz="1500" dirty="0">
                    <a:solidFill>
                      <a:srgbClr val="333333"/>
                    </a:solidFill>
                    <a:latin typeface="Quattrocento Sans" pitchFamily="34" charset="0"/>
                    <a:ea typeface="Quattrocento Sans" pitchFamily="34" charset="-122"/>
                    <a:cs typeface="Quattrocento Sans" pitchFamily="34" charset="-120"/>
                  </a:rPr>
                  <a:t>Distance between clusters = maximum distance between any pair:</a:t>
                </a:r>
                <a:endParaRPr lang="en-US" sz="1500" dirty="0"/>
              </a:p>
              <a:p>
                <a:pPr algn="l">
                  <a:lnSpc>
                    <a:spcPct val="160000"/>
                  </a:lnSpc>
                </a:pPr>
                <a14:m>
                  <m:oMathPara xmlns:m="http://schemas.openxmlformats.org/officeDocument/2006/math">
                    <m:oMathParaPr>
                      <m:jc m:val="left"/>
                    </m:oMathParaPr>
                    <m:oMath xmlns:m="http://schemas.openxmlformats.org/officeDocument/2006/math">
                      <m:r>
                        <a:rPr lang="en-US" sz="1500" i="1" dirty="0">
                          <a:solidFill>
                            <a:srgbClr val="333333"/>
                          </a:solidFill>
                          <a:latin typeface="Cambria Math" panose="02040503050406030204" pitchFamily="18" charset="0"/>
                          <a:ea typeface="Quattrocento Sans" pitchFamily="34" charset="-122"/>
                          <a:cs typeface="Quattrocento Sans" pitchFamily="34" charset="-120"/>
                        </a:rPr>
                        <m:t>𝑑</m:t>
                      </m:r>
                      <m:r>
                        <a:rPr lang="en-US" sz="1500" dirty="0">
                          <a:solidFill>
                            <a:srgbClr val="333333"/>
                          </a:solidFill>
                          <a:latin typeface="Cambria Math" panose="02040503050406030204" pitchFamily="18" charset="0"/>
                          <a:ea typeface="Quattrocento Sans" pitchFamily="34" charset="-122"/>
                          <a:cs typeface="Quattrocento Sans" pitchFamily="34" charset="-120"/>
                        </a:rPr>
                        <m:t>(</m:t>
                      </m:r>
                      <m:r>
                        <a:rPr lang="en-US" sz="1500" i="1" dirty="0">
                          <a:solidFill>
                            <a:srgbClr val="333333"/>
                          </a:solidFill>
                          <a:latin typeface="Cambria Math" panose="02040503050406030204" pitchFamily="18" charset="0"/>
                          <a:ea typeface="Quattrocento Sans" pitchFamily="34" charset="-122"/>
                          <a:cs typeface="Quattrocento Sans" pitchFamily="34" charset="-120"/>
                        </a:rPr>
                        <m:t>𝐴</m:t>
                      </m:r>
                      <m:r>
                        <a:rPr lang="en-US" sz="1500" dirty="0">
                          <a:solidFill>
                            <a:srgbClr val="333333"/>
                          </a:solidFill>
                          <a:latin typeface="Cambria Math" panose="02040503050406030204" pitchFamily="18" charset="0"/>
                          <a:ea typeface="Quattrocento Sans" pitchFamily="34" charset="-122"/>
                          <a:cs typeface="Quattrocento Sans" pitchFamily="34" charset="-120"/>
                        </a:rPr>
                        <m:t>,</m:t>
                      </m:r>
                      <m:r>
                        <a:rPr lang="en-US" sz="1500" i="1" dirty="0">
                          <a:solidFill>
                            <a:srgbClr val="333333"/>
                          </a:solidFill>
                          <a:latin typeface="Cambria Math" panose="02040503050406030204" pitchFamily="18" charset="0"/>
                          <a:ea typeface="Quattrocento Sans" pitchFamily="34" charset="-122"/>
                          <a:cs typeface="Quattrocento Sans" pitchFamily="34" charset="-120"/>
                        </a:rPr>
                        <m:t>𝐵</m:t>
                      </m:r>
                      <m:r>
                        <a:rPr lang="en-US" sz="1500" dirty="0">
                          <a:solidFill>
                            <a:srgbClr val="333333"/>
                          </a:solidFill>
                          <a:latin typeface="Cambria Math" panose="02040503050406030204" pitchFamily="18" charset="0"/>
                          <a:ea typeface="Quattrocento Sans" pitchFamily="34" charset="-122"/>
                          <a:cs typeface="Quattrocento Sans" pitchFamily="34" charset="-120"/>
                        </a:rPr>
                        <m:t>)=</m:t>
                      </m:r>
                      <m:sSub>
                        <m:sSubPr>
                          <m:ctrlPr>
                            <a:rPr lang="en-US" sz="1100" i="1" dirty="0">
                              <a:solidFill>
                                <a:srgbClr val="333333"/>
                              </a:solidFill>
                              <a:latin typeface="Cambria Math" panose="02040503050406030204" pitchFamily="18" charset="0"/>
                              <a:ea typeface="Quattrocento Sans" pitchFamily="34" charset="-122"/>
                              <a:cs typeface="Quattrocento Sans" pitchFamily="34" charset="-120"/>
                            </a:rPr>
                          </m:ctrlPr>
                        </m:sSubPr>
                        <m:e>
                          <m:r>
                            <a:rPr lang="en-US" sz="1100" i="1" dirty="0">
                              <a:solidFill>
                                <a:srgbClr val="333333"/>
                              </a:solidFill>
                              <a:latin typeface="Cambria Math" panose="02040503050406030204" pitchFamily="18" charset="0"/>
                              <a:ea typeface="Quattrocento Sans" pitchFamily="34" charset="-122"/>
                              <a:cs typeface="Quattrocento Sans" pitchFamily="34" charset="-120"/>
                            </a:rPr>
                            <m:t>𝑚𝑎𝑥</m:t>
                          </m:r>
                          <m:r>
                            <a:rPr lang="en-US" sz="1100" dirty="0">
                              <a:solidFill>
                                <a:srgbClr val="333333"/>
                              </a:solidFill>
                              <a:latin typeface="Cambria Math" panose="02040503050406030204" pitchFamily="18" charset="0"/>
                              <a:ea typeface="Quattrocento Sans" pitchFamily="34" charset="-122"/>
                              <a:cs typeface="Quattrocento Sans" pitchFamily="34" charset="-120"/>
                            </a:rPr>
                            <m:t>⁡</m:t>
                          </m:r>
                        </m:e>
                        <m:sub>
                          <m:r>
                            <a:rPr lang="en-US" sz="1100" i="1" dirty="0">
                              <a:solidFill>
                                <a:srgbClr val="333333"/>
                              </a:solidFill>
                              <a:latin typeface="Cambria Math" panose="02040503050406030204" pitchFamily="18" charset="0"/>
                              <a:ea typeface="Quattrocento Sans" pitchFamily="34" charset="-122"/>
                              <a:cs typeface="Quattrocento Sans" pitchFamily="34" charset="-120"/>
                            </a:rPr>
                            <m:t>𝑎</m:t>
                          </m:r>
                          <m:r>
                            <a:rPr lang="en-US" sz="1100" dirty="0">
                              <a:solidFill>
                                <a:srgbClr val="333333"/>
                              </a:solidFill>
                              <a:latin typeface="Cambria Math" panose="02040503050406030204" pitchFamily="18" charset="0"/>
                              <a:ea typeface="Quattrocento Sans" pitchFamily="34" charset="-122"/>
                              <a:cs typeface="Quattrocento Sans" pitchFamily="34" charset="-120"/>
                            </a:rPr>
                            <m:t>∈</m:t>
                          </m:r>
                          <m:r>
                            <a:rPr lang="en-US" sz="1100" i="1" dirty="0">
                              <a:solidFill>
                                <a:srgbClr val="333333"/>
                              </a:solidFill>
                              <a:latin typeface="Cambria Math" panose="02040503050406030204" pitchFamily="18" charset="0"/>
                              <a:ea typeface="Quattrocento Sans" pitchFamily="34" charset="-122"/>
                              <a:cs typeface="Quattrocento Sans" pitchFamily="34" charset="-120"/>
                            </a:rPr>
                            <m:t>𝐴</m:t>
                          </m:r>
                          <m:r>
                            <a:rPr lang="en-US" sz="1100" dirty="0">
                              <a:solidFill>
                                <a:srgbClr val="333333"/>
                              </a:solidFill>
                              <a:latin typeface="Cambria Math" panose="02040503050406030204" pitchFamily="18" charset="0"/>
                              <a:ea typeface="Quattrocento Sans" pitchFamily="34" charset="-122"/>
                              <a:cs typeface="Quattrocento Sans" pitchFamily="34" charset="-120"/>
                            </a:rPr>
                            <m:t>,</m:t>
                          </m:r>
                          <m:r>
                            <a:rPr lang="en-US" sz="1100" i="1" dirty="0">
                              <a:solidFill>
                                <a:srgbClr val="333333"/>
                              </a:solidFill>
                              <a:latin typeface="Cambria Math" panose="02040503050406030204" pitchFamily="18" charset="0"/>
                              <a:ea typeface="Quattrocento Sans" pitchFamily="34" charset="-122"/>
                              <a:cs typeface="Quattrocento Sans" pitchFamily="34" charset="-120"/>
                            </a:rPr>
                            <m:t>𝑏</m:t>
                          </m:r>
                          <m:r>
                            <a:rPr lang="en-US" sz="1100" dirty="0">
                              <a:solidFill>
                                <a:srgbClr val="333333"/>
                              </a:solidFill>
                              <a:latin typeface="Cambria Math" panose="02040503050406030204" pitchFamily="18" charset="0"/>
                              <a:ea typeface="Quattrocento Sans" pitchFamily="34" charset="-122"/>
                              <a:cs typeface="Quattrocento Sans" pitchFamily="34" charset="-120"/>
                            </a:rPr>
                            <m:t>∈</m:t>
                          </m:r>
                          <m:r>
                            <a:rPr lang="en-US" sz="1100" i="1" dirty="0">
                              <a:solidFill>
                                <a:srgbClr val="333333"/>
                              </a:solidFill>
                              <a:latin typeface="Cambria Math" panose="02040503050406030204" pitchFamily="18" charset="0"/>
                              <a:ea typeface="Quattrocento Sans" pitchFamily="34" charset="-122"/>
                              <a:cs typeface="Quattrocento Sans" pitchFamily="34" charset="-120"/>
                            </a:rPr>
                            <m:t>𝐵</m:t>
                          </m:r>
                        </m:sub>
                      </m:sSub>
                      <m:r>
                        <a:rPr lang="en-US" sz="1500" i="1" dirty="0">
                          <a:solidFill>
                            <a:srgbClr val="333333"/>
                          </a:solidFill>
                          <a:latin typeface="Cambria Math" panose="02040503050406030204" pitchFamily="18" charset="0"/>
                          <a:ea typeface="Quattrocento Sans" pitchFamily="34" charset="-122"/>
                          <a:cs typeface="Quattrocento Sans" pitchFamily="34" charset="-120"/>
                        </a:rPr>
                        <m:t>𝑑</m:t>
                      </m:r>
                      <m:r>
                        <a:rPr lang="en-US" sz="1500" dirty="0">
                          <a:solidFill>
                            <a:srgbClr val="333333"/>
                          </a:solidFill>
                          <a:latin typeface="Cambria Math" panose="02040503050406030204" pitchFamily="18" charset="0"/>
                          <a:ea typeface="Quattrocento Sans" pitchFamily="34" charset="-122"/>
                          <a:cs typeface="Quattrocento Sans" pitchFamily="34" charset="-120"/>
                        </a:rPr>
                        <m:t>(</m:t>
                      </m:r>
                      <m:r>
                        <a:rPr lang="en-US" sz="1500" i="1" dirty="0">
                          <a:solidFill>
                            <a:srgbClr val="333333"/>
                          </a:solidFill>
                          <a:latin typeface="Cambria Math" panose="02040503050406030204" pitchFamily="18" charset="0"/>
                          <a:ea typeface="Quattrocento Sans" pitchFamily="34" charset="-122"/>
                          <a:cs typeface="Quattrocento Sans" pitchFamily="34" charset="-120"/>
                        </a:rPr>
                        <m:t>𝑎</m:t>
                      </m:r>
                      <m:r>
                        <a:rPr lang="en-US" sz="1500" dirty="0">
                          <a:solidFill>
                            <a:srgbClr val="333333"/>
                          </a:solidFill>
                          <a:latin typeface="Cambria Math" panose="02040503050406030204" pitchFamily="18" charset="0"/>
                          <a:ea typeface="Quattrocento Sans" pitchFamily="34" charset="-122"/>
                          <a:cs typeface="Quattrocento Sans" pitchFamily="34" charset="-120"/>
                        </a:rPr>
                        <m:t>,</m:t>
                      </m:r>
                      <m:r>
                        <a:rPr lang="en-US" sz="1500" i="1" dirty="0">
                          <a:solidFill>
                            <a:srgbClr val="333333"/>
                          </a:solidFill>
                          <a:latin typeface="Cambria Math" panose="02040503050406030204" pitchFamily="18" charset="0"/>
                          <a:ea typeface="Quattrocento Sans" pitchFamily="34" charset="-122"/>
                          <a:cs typeface="Quattrocento Sans" pitchFamily="34" charset="-120"/>
                        </a:rPr>
                        <m:t>𝑏</m:t>
                      </m:r>
                      <m:r>
                        <a:rPr lang="en-US" sz="1500" dirty="0">
                          <a:solidFill>
                            <a:srgbClr val="333333"/>
                          </a:solidFill>
                          <a:latin typeface="Cambria Math" panose="02040503050406030204" pitchFamily="18" charset="0"/>
                          <a:ea typeface="Quattrocento Sans" pitchFamily="34" charset="-122"/>
                          <a:cs typeface="Quattrocento Sans" pitchFamily="34" charset="-120"/>
                        </a:rPr>
                        <m:t>)</m:t>
                      </m:r>
                    </m:oMath>
                  </m:oMathPara>
                </a14:m>
                <a:endParaRPr lang="en-US" sz="1500" dirty="0"/>
              </a:p>
              <a:p>
                <a:pPr algn="l">
                  <a:lnSpc>
                    <a:spcPct val="160000"/>
                  </a:lnSpc>
                </a:pPr>
                <a:r>
                  <a:rPr lang="en-US" sz="1500" dirty="0">
                    <a:solidFill>
                      <a:srgbClr val="333333"/>
                    </a:solidFill>
                    <a:latin typeface="Quattrocento Sans" pitchFamily="34" charset="0"/>
                    <a:ea typeface="Quattrocento Sans" pitchFamily="34" charset="-122"/>
                    <a:cs typeface="Quattrocento Sans" pitchFamily="34" charset="-120"/>
                  </a:rPr>
                  <a:t> </a:t>
                </a:r>
                <a:endParaRPr lang="en-US" sz="1500" dirty="0"/>
              </a:p>
              <a:p>
                <a:pPr algn="l">
                  <a:lnSpc>
                    <a:spcPct val="160000"/>
                  </a:lnSpc>
                </a:pPr>
                <a:r>
                  <a:rPr lang="en-US" sz="1500" dirty="0">
                    <a:solidFill>
                      <a:srgbClr val="333333"/>
                    </a:solidFill>
                    <a:latin typeface="Quattrocento Sans" pitchFamily="34" charset="0"/>
                    <a:ea typeface="Quattrocento Sans" pitchFamily="34" charset="-122"/>
                    <a:cs typeface="Quattrocento Sans" pitchFamily="34" charset="-120"/>
                  </a:rPr>
                  <a:t>Tends to produce compact, spherical clusters. Also isolates outliers in this dataset.</a:t>
                </a:r>
                <a:endParaRPr lang="en-US" sz="1500" dirty="0"/>
              </a:p>
            </p:txBody>
          </p:sp>
        </mc:Choice>
        <mc:Fallback xmlns="">
          <p:sp>
            <p:nvSpPr>
              <p:cNvPr id="24" name="Text 22"/>
              <p:cNvSpPr/>
              <p:nvPr/>
            </p:nvSpPr>
            <p:spPr>
              <a:xfrm>
                <a:off x="11887200" y="2133600"/>
                <a:ext cx="3657600" cy="2844800"/>
              </a:xfrm>
              <a:prstGeom prst="rect">
                <a:avLst/>
              </a:prstGeom>
              <a:noFill/>
              <a:ln/>
            </p:spPr>
            <p:txBody>
              <a:bodyPr wrap="square" lIns="0" tIns="0" rIns="0" bIns="0" rtlCol="0" anchor="t"/>
              <a:lstStyle/>
              <a:p>
                <a:pPr algn="l">
                  <a:lnSpc>
                    <a:spcPct val="160000"/>
                  </a:lnSpc>
                </a:pPr>
                <a:r>
                  <a:rPr lang="en-US" sz="1500" dirty="0">
                    <a:solidFill>
                      <a:srgbClr val="333333"/>
                    </a:solidFill>
                    <a:latin typeface="Quattrocento Sans" pitchFamily="34" charset="0"/>
                    <a:ea typeface="Quattrocento Sans" pitchFamily="34" charset="-122"/>
                    <a:cs typeface="Quattrocento Sans" pitchFamily="34" charset="-120"/>
                  </a:rPr>
                  <a:t>Distance between clusters = maximum distance between any pair:</a:t>
                </a:r>
                <a:endParaRPr lang="en-US" sz="1500" dirty="0"/>
              </a:p>
              <a:p>
                <a:pPr algn="l">
                  <a:lnSpc>
                    <a:spcPct val="160000"/>
                  </a:lnSpc>
                </a:pPr>
                <a:r>
                  <a:rPr lang="en-US" sz="1500" dirty="0">
                    <a:solidFill>
                      <a:srgbClr val="333333"/>
                    </a:solidFill>
                    <a:latin typeface="Quattrocento Sans" pitchFamily="34" charset="0"/>
                    <a:ea typeface="Quattrocento Sans" pitchFamily="34" charset="-122"/>
                    <a:cs typeface="Quattrocento Sans" pitchFamily="34" charset="-120"/>
                  </a:rPr>
                  <a:t>\( d(A,B) = \max_{a \in A, b \in B} d(a,b) \)</a:t>
                </a:r>
                <a:endParaRPr lang="en-US" sz="1500" dirty="0"/>
              </a:p>
              <a:p>
                <a:pPr algn="l">
                  <a:lnSpc>
                    <a:spcPct val="160000"/>
                  </a:lnSpc>
                </a:pPr>
                <a:r>
                  <a:rPr lang="en-US" sz="1500" dirty="0">
                    <a:solidFill>
                      <a:srgbClr val="333333"/>
                    </a:solidFill>
                    <a:latin typeface="Quattrocento Sans" pitchFamily="34" charset="0"/>
                    <a:ea typeface="Quattrocento Sans" pitchFamily="34" charset="-122"/>
                    <a:cs typeface="Quattrocento Sans" pitchFamily="34" charset="-120"/>
                  </a:rPr>
                  <a:t> </a:t>
                </a:r>
                <a:endParaRPr lang="en-US" sz="1500" dirty="0"/>
              </a:p>
              <a:p>
                <a:pPr algn="l">
                  <a:lnSpc>
                    <a:spcPct val="160000"/>
                  </a:lnSpc>
                </a:pPr>
                <a:r>
                  <a:rPr lang="en-US" sz="1500" dirty="0">
                    <a:solidFill>
                      <a:srgbClr val="333333"/>
                    </a:solidFill>
                    <a:latin typeface="Quattrocento Sans" pitchFamily="34" charset="0"/>
                    <a:ea typeface="Quattrocento Sans" pitchFamily="34" charset="-122"/>
                    <a:cs typeface="Quattrocento Sans" pitchFamily="34" charset="-120"/>
                  </a:rPr>
                  <a:t>Tends to produce compact, spherical clusters. Also isolates outliers in this dataset.</a:t>
                </a:r>
                <a:endParaRPr lang="en-US" sz="1500" dirty="0"/>
              </a:p>
            </p:txBody>
          </p:sp>
        </mc:Fallback>
      </mc:AlternateContent>
      <p:sp>
        <p:nvSpPr>
          <p:cNvPr id="25" name="Text 23"/>
          <p:cNvSpPr/>
          <p:nvPr/>
        </p:nvSpPr>
        <p:spPr>
          <a:xfrm>
            <a:off x="2540000" y="5334000"/>
            <a:ext cx="13208000" cy="355600"/>
          </a:xfrm>
          <a:prstGeom prst="rect">
            <a:avLst/>
          </a:prstGeom>
          <a:noFill/>
          <a:ln/>
        </p:spPr>
        <p:txBody>
          <a:bodyPr wrap="none" lIns="0" tIns="0" rIns="0" bIns="0" rtlCol="0" anchor="t"/>
          <a:lstStyle/>
          <a:p>
            <a:pPr algn="l">
              <a:lnSpc>
                <a:spcPct val="120000"/>
              </a:lnSpc>
            </a:pPr>
            <a:r>
              <a:rPr lang="en-US" sz="2000" b="1" dirty="0">
                <a:solidFill>
                  <a:srgbClr val="005C82"/>
                </a:solidFill>
                <a:latin typeface="Quattrocento Sans" pitchFamily="34" charset="0"/>
                <a:ea typeface="Quattrocento Sans" pitchFamily="34" charset="-122"/>
                <a:cs typeface="Quattrocento Sans" pitchFamily="34" charset="-120"/>
              </a:rPr>
              <a:t>Silhouette Score</a:t>
            </a:r>
            <a:endParaRPr lang="en-US" sz="2000" dirty="0"/>
          </a:p>
        </p:txBody>
      </p:sp>
      <p:sp>
        <p:nvSpPr>
          <p:cNvPr id="26" name="Shape 24"/>
          <p:cNvSpPr/>
          <p:nvPr/>
        </p:nvSpPr>
        <p:spPr>
          <a:xfrm>
            <a:off x="2540000" y="5740400"/>
            <a:ext cx="13208000" cy="12700"/>
          </a:xfrm>
          <a:prstGeom prst="rect">
            <a:avLst/>
          </a:prstGeom>
          <a:solidFill>
            <a:srgbClr val="E0F4FA"/>
          </a:solidFill>
          <a:ln/>
        </p:spPr>
        <p:txBody>
          <a:bodyPr/>
          <a:lstStyle/>
          <a:p>
            <a:endParaRPr/>
          </a:p>
        </p:txBody>
      </p:sp>
      <mc:AlternateContent xmlns:mc="http://schemas.openxmlformats.org/markup-compatibility/2006" xmlns:a14="http://schemas.microsoft.com/office/drawing/2010/main">
        <mc:Choice Requires="a14">
          <p:sp>
            <p:nvSpPr>
              <p:cNvPr id="27" name="Text 25"/>
              <p:cNvSpPr/>
              <p:nvPr/>
            </p:nvSpPr>
            <p:spPr>
              <a:xfrm>
                <a:off x="2540000" y="5918200"/>
                <a:ext cx="13208000" cy="1270000"/>
              </a:xfrm>
              <a:prstGeom prst="rect">
                <a:avLst/>
              </a:prstGeom>
              <a:noFill/>
              <a:ln/>
            </p:spPr>
            <p:txBody>
              <a:bodyPr wrap="square" lIns="0" tIns="0" rIns="0" bIns="0" rtlCol="0" anchor="t"/>
              <a:lstStyle/>
              <a:p>
                <a:pPr algn="ctr">
                  <a:lnSpc>
                    <a:spcPct val="170000"/>
                  </a:lnSpc>
                </a:pPr>
                <a:r>
                  <a:rPr lang="en-US" sz="1700" dirty="0">
                    <a:solidFill>
                      <a:srgbClr val="333333"/>
                    </a:solidFill>
                    <a:latin typeface="Quattrocento Sans" pitchFamily="34" charset="0"/>
                    <a:ea typeface="Quattrocento Sans" pitchFamily="34" charset="-122"/>
                    <a:cs typeface="Quattrocento Sans" pitchFamily="34" charset="-120"/>
                  </a:rPr>
                  <a:t>For each point i:  </a:t>
                </a:r>
                <a14:m>
                  <m:oMath xmlns:m="http://schemas.openxmlformats.org/officeDocument/2006/math">
                    <m:r>
                      <a:rPr lang="en-US" sz="1700" i="1" dirty="0">
                        <a:solidFill>
                          <a:srgbClr val="333333"/>
                        </a:solidFill>
                        <a:latin typeface="Cambria Math" panose="02040503050406030204" pitchFamily="18" charset="0"/>
                        <a:ea typeface="Quattrocento Sans" pitchFamily="34" charset="-122"/>
                        <a:cs typeface="Quattrocento Sans" pitchFamily="34" charset="-120"/>
                      </a:rPr>
                      <m:t>𝑠</m:t>
                    </m:r>
                    <m:r>
                      <a:rPr lang="en-US" sz="1700" dirty="0">
                        <a:solidFill>
                          <a:srgbClr val="333333"/>
                        </a:solidFill>
                        <a:latin typeface="Cambria Math" panose="02040503050406030204" pitchFamily="18" charset="0"/>
                        <a:ea typeface="Quattrocento Sans" pitchFamily="34" charset="-122"/>
                        <a:cs typeface="Quattrocento Sans" pitchFamily="34" charset="-120"/>
                      </a:rPr>
                      <m:t>(</m:t>
                    </m:r>
                    <m:r>
                      <a:rPr lang="en-US" sz="1700" i="1" dirty="0">
                        <a:solidFill>
                          <a:srgbClr val="333333"/>
                        </a:solidFill>
                        <a:latin typeface="Cambria Math" panose="02040503050406030204" pitchFamily="18" charset="0"/>
                        <a:ea typeface="Quattrocento Sans" pitchFamily="34" charset="-122"/>
                        <a:cs typeface="Quattrocento Sans" pitchFamily="34" charset="-120"/>
                      </a:rPr>
                      <m:t>𝑖</m:t>
                    </m:r>
                    <m:r>
                      <a:rPr lang="en-US" sz="1700" dirty="0">
                        <a:solidFill>
                          <a:srgbClr val="333333"/>
                        </a:solidFill>
                        <a:latin typeface="Cambria Math" panose="02040503050406030204" pitchFamily="18" charset="0"/>
                        <a:ea typeface="Quattrocento Sans" pitchFamily="34" charset="-122"/>
                        <a:cs typeface="Quattrocento Sans" pitchFamily="34" charset="-120"/>
                      </a:rPr>
                      <m:t>)=</m:t>
                    </m:r>
                    <m:f>
                      <m:fPr>
                        <m:ctrlPr>
                          <a:rPr lang="en-US" sz="1700" i="1" dirty="0">
                            <a:solidFill>
                              <a:srgbClr val="333333"/>
                            </a:solidFill>
                            <a:latin typeface="Cambria Math" panose="02040503050406030204" pitchFamily="18" charset="0"/>
                            <a:ea typeface="Quattrocento Sans" pitchFamily="34" charset="-122"/>
                            <a:cs typeface="Quattrocento Sans" pitchFamily="34" charset="-120"/>
                          </a:rPr>
                        </m:ctrlPr>
                      </m:fPr>
                      <m:num>
                        <m:r>
                          <a:rPr lang="en-US" sz="1200" i="1" dirty="0">
                            <a:solidFill>
                              <a:srgbClr val="333333"/>
                            </a:solidFill>
                            <a:latin typeface="Cambria Math" panose="02040503050406030204" pitchFamily="18" charset="0"/>
                            <a:ea typeface="Quattrocento Sans" pitchFamily="34" charset="-122"/>
                            <a:cs typeface="Quattrocento Sans" pitchFamily="34" charset="-120"/>
                          </a:rPr>
                          <m:t>𝑏</m:t>
                        </m:r>
                        <m:r>
                          <a:rPr lang="en-US" sz="1200" dirty="0">
                            <a:solidFill>
                              <a:srgbClr val="333333"/>
                            </a:solidFill>
                            <a:latin typeface="Cambria Math" panose="02040503050406030204" pitchFamily="18" charset="0"/>
                            <a:ea typeface="Quattrocento Sans" pitchFamily="34" charset="-122"/>
                            <a:cs typeface="Quattrocento Sans" pitchFamily="34" charset="-120"/>
                          </a:rPr>
                          <m:t>(</m:t>
                        </m:r>
                        <m:r>
                          <a:rPr lang="en-US" sz="1200" i="1" dirty="0">
                            <a:solidFill>
                              <a:srgbClr val="333333"/>
                            </a:solidFill>
                            <a:latin typeface="Cambria Math" panose="02040503050406030204" pitchFamily="18" charset="0"/>
                            <a:ea typeface="Quattrocento Sans" pitchFamily="34" charset="-122"/>
                            <a:cs typeface="Quattrocento Sans" pitchFamily="34" charset="-120"/>
                          </a:rPr>
                          <m:t>𝑖</m:t>
                        </m:r>
                        <m:r>
                          <a:rPr lang="en-US" sz="1200" dirty="0">
                            <a:solidFill>
                              <a:srgbClr val="333333"/>
                            </a:solidFill>
                            <a:latin typeface="Cambria Math" panose="02040503050406030204" pitchFamily="18" charset="0"/>
                            <a:ea typeface="Quattrocento Sans" pitchFamily="34" charset="-122"/>
                            <a:cs typeface="Quattrocento Sans" pitchFamily="34" charset="-120"/>
                          </a:rPr>
                          <m:t>)−</m:t>
                        </m:r>
                        <m:r>
                          <a:rPr lang="en-US" sz="1200" i="1" dirty="0">
                            <a:solidFill>
                              <a:srgbClr val="333333"/>
                            </a:solidFill>
                            <a:latin typeface="Cambria Math" panose="02040503050406030204" pitchFamily="18" charset="0"/>
                            <a:ea typeface="Quattrocento Sans" pitchFamily="34" charset="-122"/>
                            <a:cs typeface="Quattrocento Sans" pitchFamily="34" charset="-120"/>
                          </a:rPr>
                          <m:t>𝑎</m:t>
                        </m:r>
                        <m:r>
                          <a:rPr lang="en-US" sz="1200" dirty="0">
                            <a:solidFill>
                              <a:srgbClr val="333333"/>
                            </a:solidFill>
                            <a:latin typeface="Cambria Math" panose="02040503050406030204" pitchFamily="18" charset="0"/>
                            <a:ea typeface="Quattrocento Sans" pitchFamily="34" charset="-122"/>
                            <a:cs typeface="Quattrocento Sans" pitchFamily="34" charset="-120"/>
                          </a:rPr>
                          <m:t>(</m:t>
                        </m:r>
                        <m:r>
                          <a:rPr lang="en-US" sz="1200" i="1" dirty="0">
                            <a:solidFill>
                              <a:srgbClr val="333333"/>
                            </a:solidFill>
                            <a:latin typeface="Cambria Math" panose="02040503050406030204" pitchFamily="18" charset="0"/>
                            <a:ea typeface="Quattrocento Sans" pitchFamily="34" charset="-122"/>
                            <a:cs typeface="Quattrocento Sans" pitchFamily="34" charset="-120"/>
                          </a:rPr>
                          <m:t>𝑖</m:t>
                        </m:r>
                        <m:r>
                          <a:rPr lang="en-US" sz="1200" dirty="0">
                            <a:solidFill>
                              <a:srgbClr val="333333"/>
                            </a:solidFill>
                            <a:latin typeface="Cambria Math" panose="02040503050406030204" pitchFamily="18" charset="0"/>
                            <a:ea typeface="Quattrocento Sans" pitchFamily="34" charset="-122"/>
                            <a:cs typeface="Quattrocento Sans" pitchFamily="34" charset="-120"/>
                          </a:rPr>
                          <m:t>)</m:t>
                        </m:r>
                      </m:num>
                      <m:den>
                        <m:r>
                          <a:rPr lang="en-US" sz="1200" i="1" dirty="0">
                            <a:solidFill>
                              <a:srgbClr val="333333"/>
                            </a:solidFill>
                            <a:latin typeface="Cambria Math" panose="02040503050406030204" pitchFamily="18" charset="0"/>
                            <a:ea typeface="Quattrocento Sans" pitchFamily="34" charset="-122"/>
                            <a:cs typeface="Quattrocento Sans" pitchFamily="34" charset="-120"/>
                          </a:rPr>
                          <m:t>𝑚𝑎𝑥</m:t>
                        </m:r>
                        <m:r>
                          <a:rPr lang="en-US" sz="1200" dirty="0">
                            <a:solidFill>
                              <a:srgbClr val="333333"/>
                            </a:solidFill>
                            <a:latin typeface="Cambria Math" panose="02040503050406030204" pitchFamily="18" charset="0"/>
                            <a:ea typeface="Quattrocento Sans" pitchFamily="34" charset="-122"/>
                            <a:cs typeface="Quattrocento Sans" pitchFamily="34" charset="-120"/>
                          </a:rPr>
                          <m:t>⁡(</m:t>
                        </m:r>
                        <m:r>
                          <a:rPr lang="en-US" sz="1200" i="1" dirty="0">
                            <a:solidFill>
                              <a:srgbClr val="333333"/>
                            </a:solidFill>
                            <a:latin typeface="Cambria Math" panose="02040503050406030204" pitchFamily="18" charset="0"/>
                            <a:ea typeface="Quattrocento Sans" pitchFamily="34" charset="-122"/>
                            <a:cs typeface="Quattrocento Sans" pitchFamily="34" charset="-120"/>
                          </a:rPr>
                          <m:t>𝑎</m:t>
                        </m:r>
                        <m:r>
                          <a:rPr lang="en-US" sz="1200" dirty="0">
                            <a:solidFill>
                              <a:srgbClr val="333333"/>
                            </a:solidFill>
                            <a:latin typeface="Cambria Math" panose="02040503050406030204" pitchFamily="18" charset="0"/>
                            <a:ea typeface="Quattrocento Sans" pitchFamily="34" charset="-122"/>
                            <a:cs typeface="Quattrocento Sans" pitchFamily="34" charset="-120"/>
                          </a:rPr>
                          <m:t>(</m:t>
                        </m:r>
                        <m:r>
                          <a:rPr lang="en-US" sz="1200" i="1" dirty="0">
                            <a:solidFill>
                              <a:srgbClr val="333333"/>
                            </a:solidFill>
                            <a:latin typeface="Cambria Math" panose="02040503050406030204" pitchFamily="18" charset="0"/>
                            <a:ea typeface="Quattrocento Sans" pitchFamily="34" charset="-122"/>
                            <a:cs typeface="Quattrocento Sans" pitchFamily="34" charset="-120"/>
                          </a:rPr>
                          <m:t>𝑖</m:t>
                        </m:r>
                        <m:r>
                          <a:rPr lang="en-US" sz="1200" dirty="0">
                            <a:solidFill>
                              <a:srgbClr val="333333"/>
                            </a:solidFill>
                            <a:latin typeface="Cambria Math" panose="02040503050406030204" pitchFamily="18" charset="0"/>
                            <a:ea typeface="Quattrocento Sans" pitchFamily="34" charset="-122"/>
                            <a:cs typeface="Quattrocento Sans" pitchFamily="34" charset="-120"/>
                          </a:rPr>
                          <m:t>),</m:t>
                        </m:r>
                        <m:r>
                          <a:rPr lang="en-US" sz="1200" i="1" dirty="0">
                            <a:solidFill>
                              <a:srgbClr val="333333"/>
                            </a:solidFill>
                            <a:latin typeface="Cambria Math" panose="02040503050406030204" pitchFamily="18" charset="0"/>
                            <a:ea typeface="Quattrocento Sans" pitchFamily="34" charset="-122"/>
                            <a:cs typeface="Quattrocento Sans" pitchFamily="34" charset="-120"/>
                          </a:rPr>
                          <m:t>𝑏</m:t>
                        </m:r>
                        <m:r>
                          <a:rPr lang="en-US" sz="1200" dirty="0">
                            <a:solidFill>
                              <a:srgbClr val="333333"/>
                            </a:solidFill>
                            <a:latin typeface="Cambria Math" panose="02040503050406030204" pitchFamily="18" charset="0"/>
                            <a:ea typeface="Quattrocento Sans" pitchFamily="34" charset="-122"/>
                            <a:cs typeface="Quattrocento Sans" pitchFamily="34" charset="-120"/>
                          </a:rPr>
                          <m:t>(</m:t>
                        </m:r>
                        <m:r>
                          <a:rPr lang="en-US" sz="1200" i="1" dirty="0">
                            <a:solidFill>
                              <a:srgbClr val="333333"/>
                            </a:solidFill>
                            <a:latin typeface="Cambria Math" panose="02040503050406030204" pitchFamily="18" charset="0"/>
                            <a:ea typeface="Quattrocento Sans" pitchFamily="34" charset="-122"/>
                            <a:cs typeface="Quattrocento Sans" pitchFamily="34" charset="-120"/>
                          </a:rPr>
                          <m:t>𝑖</m:t>
                        </m:r>
                        <m:r>
                          <a:rPr lang="en-US" sz="1200" dirty="0">
                            <a:solidFill>
                              <a:srgbClr val="333333"/>
                            </a:solidFill>
                            <a:latin typeface="Cambria Math" panose="02040503050406030204" pitchFamily="18" charset="0"/>
                            <a:ea typeface="Quattrocento Sans" pitchFamily="34" charset="-122"/>
                            <a:cs typeface="Quattrocento Sans" pitchFamily="34" charset="-120"/>
                          </a:rPr>
                          <m:t>))</m:t>
                        </m:r>
                      </m:den>
                    </m:f>
                  </m:oMath>
                </a14:m>
                <a:endParaRPr lang="en-US" sz="1700" dirty="0"/>
              </a:p>
              <a:p>
                <a:pPr algn="ctr">
                  <a:lnSpc>
                    <a:spcPct val="170000"/>
                  </a:lnSpc>
                </a:pPr>
                <a:r>
                  <a:rPr lang="en-US" sz="1700" dirty="0">
                    <a:solidFill>
                      <a:srgbClr val="333333"/>
                    </a:solidFill>
                    <a:latin typeface="Quattrocento Sans" pitchFamily="34" charset="0"/>
                    <a:ea typeface="Quattrocento Sans" pitchFamily="34" charset="-122"/>
                    <a:cs typeface="Quattrocento Sans" pitchFamily="34" charset="-120"/>
                  </a:rPr>
                  <a:t>where </a:t>
                </a:r>
                <a14:m>
                  <m:oMath xmlns:m="http://schemas.openxmlformats.org/officeDocument/2006/math">
                    <m:r>
                      <a:rPr lang="en-US" sz="1700" i="1" dirty="0">
                        <a:solidFill>
                          <a:srgbClr val="333333"/>
                        </a:solidFill>
                        <a:latin typeface="Cambria Math" panose="02040503050406030204" pitchFamily="18" charset="0"/>
                        <a:ea typeface="Quattrocento Sans" pitchFamily="34" charset="-122"/>
                        <a:cs typeface="Quattrocento Sans" pitchFamily="34" charset="-120"/>
                      </a:rPr>
                      <m:t>𝑎</m:t>
                    </m:r>
                    <m:r>
                      <a:rPr lang="en-US" sz="1700" dirty="0">
                        <a:solidFill>
                          <a:srgbClr val="333333"/>
                        </a:solidFill>
                        <a:latin typeface="Cambria Math" panose="02040503050406030204" pitchFamily="18" charset="0"/>
                        <a:ea typeface="Quattrocento Sans" pitchFamily="34" charset="-122"/>
                        <a:cs typeface="Quattrocento Sans" pitchFamily="34" charset="-120"/>
                      </a:rPr>
                      <m:t>(</m:t>
                    </m:r>
                    <m:r>
                      <a:rPr lang="en-US" sz="1700" i="1" dirty="0">
                        <a:solidFill>
                          <a:srgbClr val="333333"/>
                        </a:solidFill>
                        <a:latin typeface="Cambria Math" panose="02040503050406030204" pitchFamily="18" charset="0"/>
                        <a:ea typeface="Quattrocento Sans" pitchFamily="34" charset="-122"/>
                        <a:cs typeface="Quattrocento Sans" pitchFamily="34" charset="-120"/>
                      </a:rPr>
                      <m:t>𝑖</m:t>
                    </m:r>
                    <m:r>
                      <a:rPr lang="en-US" sz="1700" dirty="0">
                        <a:solidFill>
                          <a:srgbClr val="333333"/>
                        </a:solidFill>
                        <a:latin typeface="Cambria Math" panose="02040503050406030204" pitchFamily="18" charset="0"/>
                        <a:ea typeface="Quattrocento Sans" pitchFamily="34" charset="-122"/>
                        <a:cs typeface="Quattrocento Sans" pitchFamily="34" charset="-120"/>
                      </a:rPr>
                      <m:t>)</m:t>
                    </m:r>
                  </m:oMath>
                </a14:m>
                <a:r>
                  <a:rPr lang="en-US" sz="1700" dirty="0">
                    <a:solidFill>
                      <a:srgbClr val="333333"/>
                    </a:solidFill>
                    <a:latin typeface="Quattrocento Sans" pitchFamily="34" charset="0"/>
                    <a:ea typeface="Quattrocento Sans" pitchFamily="34" charset="-122"/>
                    <a:cs typeface="Quattrocento Sans" pitchFamily="34" charset="-120"/>
                  </a:rPr>
                  <a:t> = mean intra-cluster distance, </a:t>
                </a:r>
                <a14:m>
                  <m:oMath xmlns:m="http://schemas.openxmlformats.org/officeDocument/2006/math">
                    <m:r>
                      <a:rPr lang="en-US" sz="1700" i="1" dirty="0">
                        <a:solidFill>
                          <a:srgbClr val="333333"/>
                        </a:solidFill>
                        <a:latin typeface="Cambria Math" panose="02040503050406030204" pitchFamily="18" charset="0"/>
                        <a:ea typeface="Quattrocento Sans" pitchFamily="34" charset="-122"/>
                        <a:cs typeface="Quattrocento Sans" pitchFamily="34" charset="-120"/>
                      </a:rPr>
                      <m:t>𝑏</m:t>
                    </m:r>
                    <m:r>
                      <a:rPr lang="en-US" sz="1700" dirty="0">
                        <a:solidFill>
                          <a:srgbClr val="333333"/>
                        </a:solidFill>
                        <a:latin typeface="Cambria Math" panose="02040503050406030204" pitchFamily="18" charset="0"/>
                        <a:ea typeface="Quattrocento Sans" pitchFamily="34" charset="-122"/>
                        <a:cs typeface="Quattrocento Sans" pitchFamily="34" charset="-120"/>
                      </a:rPr>
                      <m:t>(</m:t>
                    </m:r>
                    <m:r>
                      <a:rPr lang="en-US" sz="1700" i="1" dirty="0">
                        <a:solidFill>
                          <a:srgbClr val="333333"/>
                        </a:solidFill>
                        <a:latin typeface="Cambria Math" panose="02040503050406030204" pitchFamily="18" charset="0"/>
                        <a:ea typeface="Quattrocento Sans" pitchFamily="34" charset="-122"/>
                        <a:cs typeface="Quattrocento Sans" pitchFamily="34" charset="-120"/>
                      </a:rPr>
                      <m:t>𝑖</m:t>
                    </m:r>
                    <m:r>
                      <a:rPr lang="en-US" sz="1700" dirty="0">
                        <a:solidFill>
                          <a:srgbClr val="333333"/>
                        </a:solidFill>
                        <a:latin typeface="Cambria Math" panose="02040503050406030204" pitchFamily="18" charset="0"/>
                        <a:ea typeface="Quattrocento Sans" pitchFamily="34" charset="-122"/>
                        <a:cs typeface="Quattrocento Sans" pitchFamily="34" charset="-120"/>
                      </a:rPr>
                      <m:t>)</m:t>
                    </m:r>
                  </m:oMath>
                </a14:m>
                <a:r>
                  <a:rPr lang="en-US" sz="1700" dirty="0">
                    <a:solidFill>
                      <a:srgbClr val="333333"/>
                    </a:solidFill>
                    <a:latin typeface="Quattrocento Sans" pitchFamily="34" charset="0"/>
                    <a:ea typeface="Quattrocento Sans" pitchFamily="34" charset="-122"/>
                    <a:cs typeface="Quattrocento Sans" pitchFamily="34" charset="-120"/>
                  </a:rPr>
                  <a:t> = mean nearest-cluster distance</a:t>
                </a:r>
                <a:endParaRPr lang="en-US" sz="1700" dirty="0"/>
              </a:p>
              <a:p>
                <a:pPr algn="ctr">
                  <a:lnSpc>
                    <a:spcPct val="170000"/>
                  </a:lnSpc>
                </a:pPr>
                <a:r>
                  <a:rPr lang="en-US" sz="1700" dirty="0">
                    <a:solidFill>
                      <a:srgbClr val="333333"/>
                    </a:solidFill>
                    <a:latin typeface="Quattrocento Sans" pitchFamily="34" charset="0"/>
                    <a:ea typeface="Quattrocento Sans" pitchFamily="34" charset="-122"/>
                    <a:cs typeface="Quattrocento Sans" pitchFamily="34" charset="-120"/>
                  </a:rPr>
                  <a:t>Range [-1, 1]: +1 = well-separated, 0 = boundary, negative = possible misassignment</a:t>
                </a:r>
                <a:endParaRPr lang="en-US" sz="1700" dirty="0"/>
              </a:p>
            </p:txBody>
          </p:sp>
        </mc:Choice>
        <mc:Fallback xmlns="">
          <p:sp>
            <p:nvSpPr>
              <p:cNvPr id="27" name="Text 25"/>
              <p:cNvSpPr/>
              <p:nvPr/>
            </p:nvSpPr>
            <p:spPr>
              <a:xfrm>
                <a:off x="2540000" y="5918200"/>
                <a:ext cx="13208000" cy="1270000"/>
              </a:xfrm>
              <a:prstGeom prst="rect">
                <a:avLst/>
              </a:prstGeom>
              <a:noFill/>
              <a:ln/>
            </p:spPr>
            <p:txBody>
              <a:bodyPr wrap="square" lIns="0" tIns="0" rIns="0" bIns="0" rtlCol="0" anchor="t"/>
              <a:lstStyle/>
              <a:p>
                <a:pPr algn="ctr">
                  <a:lnSpc>
                    <a:spcPct val="170000"/>
                  </a:lnSpc>
                </a:pPr>
                <a:r>
                  <a:rPr lang="en-US" sz="1700" dirty="0">
                    <a:solidFill>
                      <a:srgbClr val="333333"/>
                    </a:solidFill>
                    <a:latin typeface="Quattrocento Sans" pitchFamily="34" charset="0"/>
                    <a:ea typeface="Quattrocento Sans" pitchFamily="34" charset="-122"/>
                    <a:cs typeface="Quattrocento Sans" pitchFamily="34" charset="-120"/>
                  </a:rPr>
                  <a:t>For each point i:  </a:t>
                </a:r>
                <a:pPr algn="ctr">
                  <a:lnSpc>
                    <a:spcPct val="170000"/>
                  </a:lnSpc>
                </a:pPr>
                <a:r>
                  <a:rPr lang="en-US" sz="1700" dirty="0">
                    <a:solidFill>
                      <a:srgbClr val="333333"/>
                    </a:solidFill>
                    <a:latin typeface="Quattrocento Sans" pitchFamily="34" charset="0"/>
                    <a:ea typeface="Quattrocento Sans" pitchFamily="34" charset="-122"/>
                    <a:cs typeface="Quattrocento Sans" pitchFamily="34" charset="-120"/>
                  </a:rPr>
                  <a:t>\( s(i) = \frac{b(i) - a(i)}{\max(a(i), b(i))} \)</a:t>
                </a:r>
                <a:endParaRPr lang="en-US" sz="1700" dirty="0"/>
              </a:p>
              <a:p>
                <a:pPr algn="ctr">
                  <a:lnSpc>
                    <a:spcPct val="170000"/>
                  </a:lnSpc>
                </a:pPr>
                <a:r>
                  <a:rPr lang="en-US" sz="1700" dirty="0">
                    <a:solidFill>
                      <a:srgbClr val="333333"/>
                    </a:solidFill>
                    <a:latin typeface="Quattrocento Sans" pitchFamily="34" charset="0"/>
                    <a:ea typeface="Quattrocento Sans" pitchFamily="34" charset="-122"/>
                    <a:cs typeface="Quattrocento Sans" pitchFamily="34" charset="-120"/>
                  </a:rPr>
                  <a:t>where </a:t>
                </a:r>
                <a:pPr algn="ctr">
                  <a:lnSpc>
                    <a:spcPct val="170000"/>
                  </a:lnSpc>
                </a:pPr>
                <a:r>
                  <a:rPr lang="en-US" sz="1700" dirty="0">
                    <a:solidFill>
                      <a:srgbClr val="333333"/>
                    </a:solidFill>
                    <a:latin typeface="Quattrocento Sans" pitchFamily="34" charset="0"/>
                    <a:ea typeface="Quattrocento Sans" pitchFamily="34" charset="-122"/>
                    <a:cs typeface="Quattrocento Sans" pitchFamily="34" charset="-120"/>
                  </a:rPr>
                  <a:t>\( a(i) \)</a:t>
                </a:r>
                <a:pPr algn="ctr">
                  <a:lnSpc>
                    <a:spcPct val="170000"/>
                  </a:lnSpc>
                </a:pPr>
                <a:r>
                  <a:rPr lang="en-US" sz="1700" dirty="0">
                    <a:solidFill>
                      <a:srgbClr val="333333"/>
                    </a:solidFill>
                    <a:latin typeface="Quattrocento Sans" pitchFamily="34" charset="0"/>
                    <a:ea typeface="Quattrocento Sans" pitchFamily="34" charset="-122"/>
                    <a:cs typeface="Quattrocento Sans" pitchFamily="34" charset="-120"/>
                  </a:rPr>
                  <a:t> = mean intra-cluster distance, </a:t>
                </a:r>
                <a:pPr algn="ctr">
                  <a:lnSpc>
                    <a:spcPct val="170000"/>
                  </a:lnSpc>
                </a:pPr>
                <a:r>
                  <a:rPr lang="en-US" sz="1700" dirty="0">
                    <a:solidFill>
                      <a:srgbClr val="333333"/>
                    </a:solidFill>
                    <a:latin typeface="Quattrocento Sans" pitchFamily="34" charset="0"/>
                    <a:ea typeface="Quattrocento Sans" pitchFamily="34" charset="-122"/>
                    <a:cs typeface="Quattrocento Sans" pitchFamily="34" charset="-120"/>
                  </a:rPr>
                  <a:t>\( b(i) \)</a:t>
                </a:r>
                <a:pPr algn="ctr">
                  <a:lnSpc>
                    <a:spcPct val="170000"/>
                  </a:lnSpc>
                </a:pPr>
                <a:r>
                  <a:rPr lang="en-US" sz="1700" dirty="0">
                    <a:solidFill>
                      <a:srgbClr val="333333"/>
                    </a:solidFill>
                    <a:latin typeface="Quattrocento Sans" pitchFamily="34" charset="0"/>
                    <a:ea typeface="Quattrocento Sans" pitchFamily="34" charset="-122"/>
                    <a:cs typeface="Quattrocento Sans" pitchFamily="34" charset="-120"/>
                  </a:rPr>
                  <a:t> = mean nearest-cluster distance</a:t>
                </a:r>
                <a:endParaRPr lang="en-US" sz="1700" dirty="0"/>
              </a:p>
              <a:p>
                <a:pPr algn="ctr">
                  <a:lnSpc>
                    <a:spcPct val="170000"/>
                  </a:lnSpc>
                </a:pPr>
                <a:r>
                  <a:rPr lang="en-US" sz="1700" dirty="0">
                    <a:solidFill>
                      <a:srgbClr val="333333"/>
                    </a:solidFill>
                    <a:latin typeface="Quattrocento Sans" pitchFamily="34" charset="0"/>
                    <a:ea typeface="Quattrocento Sans" pitchFamily="34" charset="-122"/>
                    <a:cs typeface="Quattrocento Sans" pitchFamily="34" charset="-120"/>
                  </a:rPr>
                  <a:t>Range [-1, 1]: +1 = well-separated, 0 = boundary, negative = possible misassignment</a:t>
                </a:r>
                <a:endParaRPr lang="en-US" sz="1700" dirty="0"/>
              </a:p>
            </p:txBody>
          </p:sp>
        </mc:Fallback>
      </mc:AlternateContent>
      <p:sp>
        <p:nvSpPr>
          <p:cNvPr id="28" name="Shape 26"/>
          <p:cNvSpPr/>
          <p:nvPr/>
        </p:nvSpPr>
        <p:spPr>
          <a:xfrm>
            <a:off x="2667000" y="7518400"/>
            <a:ext cx="13208000" cy="762000"/>
          </a:xfrm>
          <a:prstGeom prst="rect">
            <a:avLst/>
          </a:prstGeom>
          <a:solidFill>
            <a:srgbClr val="005C82"/>
          </a:solidFill>
          <a:ln/>
        </p:spPr>
        <p:txBody>
          <a:bodyPr/>
          <a:lstStyle/>
          <a:p>
            <a:endParaRPr dirty="0"/>
          </a:p>
        </p:txBody>
      </p:sp>
      <p:sp>
        <p:nvSpPr>
          <p:cNvPr id="29" name="Shape 27"/>
          <p:cNvSpPr/>
          <p:nvPr/>
        </p:nvSpPr>
        <p:spPr>
          <a:xfrm>
            <a:off x="2717800" y="7632700"/>
            <a:ext cx="152400" cy="152400"/>
          </a:xfrm>
          <a:prstGeom prst="diamond">
            <a:avLst/>
          </a:prstGeom>
          <a:solidFill>
            <a:srgbClr val="00ACC1"/>
          </a:solidFill>
          <a:ln/>
        </p:spPr>
        <p:txBody>
          <a:bodyPr/>
          <a:lstStyle/>
          <a:p>
            <a:endParaRPr/>
          </a:p>
        </p:txBody>
      </p:sp>
      <p:sp>
        <p:nvSpPr>
          <p:cNvPr id="30" name="Text 28"/>
          <p:cNvSpPr/>
          <p:nvPr/>
        </p:nvSpPr>
        <p:spPr>
          <a:xfrm>
            <a:off x="3098800" y="7518400"/>
            <a:ext cx="12522200" cy="304800"/>
          </a:xfrm>
          <a:prstGeom prst="rect">
            <a:avLst/>
          </a:prstGeom>
          <a:noFill/>
          <a:ln/>
        </p:spPr>
        <p:txBody>
          <a:bodyPr wrap="squar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Silhouette is chosen because it is internal, requires no labels, and enables comparison across k values.</a:t>
            </a:r>
            <a:endParaRPr lang="en-US" sz="1600" dirty="0"/>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AFE"/>
        </a:solidFill>
        <a:effectLst/>
      </p:bgPr>
    </p:bg>
    <p:spTree>
      <p:nvGrpSpPr>
        <p:cNvPr id="1" name=""/>
        <p:cNvGrpSpPr/>
        <p:nvPr/>
      </p:nvGrpSpPr>
      <p:grpSpPr>
        <a:xfrm>
          <a:off x="0" y="0"/>
          <a:ext cx="0" cy="0"/>
          <a:chOff x="0" y="0"/>
          <a:chExt cx="0" cy="0"/>
        </a:xfrm>
      </p:grpSpPr>
      <p:sp>
        <p:nvSpPr>
          <p:cNvPr id="2" name="Shape 0"/>
          <p:cNvSpPr/>
          <p:nvPr/>
        </p:nvSpPr>
        <p:spPr>
          <a:xfrm>
            <a:off x="0" y="0"/>
            <a:ext cx="2286000" cy="9144000"/>
          </a:xfrm>
          <a:prstGeom prst="rect">
            <a:avLst/>
          </a:prstGeom>
          <a:solidFill>
            <a:srgbClr val="004060"/>
          </a:solidFill>
          <a:ln/>
        </p:spPr>
        <p:txBody>
          <a:bodyPr/>
          <a:lstStyle/>
          <a:p>
            <a:endParaRPr/>
          </a:p>
        </p:txBody>
      </p:sp>
      <p:sp>
        <p:nvSpPr>
          <p:cNvPr id="3" name="Shape 1"/>
          <p:cNvSpPr/>
          <p:nvPr/>
        </p:nvSpPr>
        <p:spPr>
          <a:xfrm>
            <a:off x="177800" y="177800"/>
            <a:ext cx="457200" cy="457200"/>
          </a:xfrm>
          <a:prstGeom prst="ellipse">
            <a:avLst/>
          </a:prstGeom>
          <a:solidFill>
            <a:srgbClr val="FFFFFF">
              <a:alpha val="12549"/>
            </a:srgbClr>
          </a:solidFill>
          <a:ln w="12700">
            <a:solidFill>
              <a:srgbClr val="00ACC1"/>
            </a:solidFill>
            <a:prstDash val="solid"/>
          </a:ln>
        </p:spPr>
        <p:txBody>
          <a:bodyPr/>
          <a:lstStyle/>
          <a:p>
            <a:endParaRPr/>
          </a:p>
        </p:txBody>
      </p:sp>
      <p:sp>
        <p:nvSpPr>
          <p:cNvPr id="4" name="Shape 2"/>
          <p:cNvSpPr/>
          <p:nvPr/>
        </p:nvSpPr>
        <p:spPr>
          <a:xfrm>
            <a:off x="0" y="3352800"/>
            <a:ext cx="2286000" cy="1168400"/>
          </a:xfrm>
          <a:prstGeom prst="rect">
            <a:avLst/>
          </a:prstGeom>
          <a:solidFill>
            <a:srgbClr val="005C82"/>
          </a:solidFill>
          <a:ln/>
        </p:spPr>
        <p:txBody>
          <a:bodyPr/>
          <a:lstStyle/>
          <a:p>
            <a:endParaRPr/>
          </a:p>
        </p:txBody>
      </p:sp>
      <p:sp>
        <p:nvSpPr>
          <p:cNvPr id="5" name="Text 3"/>
          <p:cNvSpPr/>
          <p:nvPr/>
        </p:nvSpPr>
        <p:spPr>
          <a:xfrm>
            <a:off x="101600" y="10160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01 Intro</a:t>
            </a:r>
            <a:endParaRPr lang="en-US" sz="1600" dirty="0"/>
          </a:p>
        </p:txBody>
      </p:sp>
      <p:sp>
        <p:nvSpPr>
          <p:cNvPr id="6" name="Text 4"/>
          <p:cNvSpPr/>
          <p:nvPr/>
        </p:nvSpPr>
        <p:spPr>
          <a:xfrm>
            <a:off x="101600" y="21844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02 Dataset</a:t>
            </a:r>
            <a:endParaRPr lang="en-US" sz="1600" dirty="0"/>
          </a:p>
        </p:txBody>
      </p:sp>
      <p:sp>
        <p:nvSpPr>
          <p:cNvPr id="7" name="Text 5"/>
          <p:cNvSpPr/>
          <p:nvPr/>
        </p:nvSpPr>
        <p:spPr>
          <a:xfrm>
            <a:off x="101600" y="3352800"/>
            <a:ext cx="2082800" cy="1168400"/>
          </a:xfrm>
          <a:prstGeom prst="rect">
            <a:avLst/>
          </a:prstGeom>
          <a:noFill/>
          <a:ln/>
        </p:spPr>
        <p:txBody>
          <a:bodyPr wrap="none" lIns="0" tIns="0" rIns="0" bIns="0" rtlCol="0" anchor="ctr"/>
          <a:lstStyle/>
          <a:p>
            <a:pPr algn="l">
              <a:lnSpc>
                <a:spcPct val="120000"/>
              </a:lnSpc>
            </a:pPr>
            <a:r>
              <a:rPr lang="en-US" sz="1800" b="1" dirty="0">
                <a:solidFill>
                  <a:srgbClr val="FFFFFF"/>
                </a:solidFill>
                <a:latin typeface="Quattrocento Sans" pitchFamily="34" charset="0"/>
                <a:ea typeface="Quattrocento Sans" pitchFamily="34" charset="-122"/>
                <a:cs typeface="Quattrocento Sans" pitchFamily="34" charset="-120"/>
              </a:rPr>
              <a:t>03 Clustering</a:t>
            </a:r>
            <a:endParaRPr lang="en-US" sz="1800" dirty="0"/>
          </a:p>
        </p:txBody>
      </p:sp>
      <p:sp>
        <p:nvSpPr>
          <p:cNvPr id="8" name="Text 6"/>
          <p:cNvSpPr/>
          <p:nvPr/>
        </p:nvSpPr>
        <p:spPr>
          <a:xfrm>
            <a:off x="101600" y="45212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04 Supervised</a:t>
            </a:r>
            <a:endParaRPr lang="en-US" sz="1600" dirty="0"/>
          </a:p>
        </p:txBody>
      </p:sp>
      <p:sp>
        <p:nvSpPr>
          <p:cNvPr id="9" name="Text 7"/>
          <p:cNvSpPr/>
          <p:nvPr/>
        </p:nvSpPr>
        <p:spPr>
          <a:xfrm>
            <a:off x="101600" y="56896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05 Conclusions</a:t>
            </a:r>
            <a:endParaRPr lang="en-US" sz="1600" dirty="0"/>
          </a:p>
        </p:txBody>
      </p:sp>
      <p:sp>
        <p:nvSpPr>
          <p:cNvPr id="10" name="Shape 8"/>
          <p:cNvSpPr/>
          <p:nvPr/>
        </p:nvSpPr>
        <p:spPr>
          <a:xfrm>
            <a:off x="1066800" y="7493000"/>
            <a:ext cx="152400" cy="152400"/>
          </a:xfrm>
          <a:prstGeom prst="diamond">
            <a:avLst/>
          </a:prstGeom>
          <a:solidFill>
            <a:srgbClr val="00ACC1"/>
          </a:solidFill>
          <a:ln/>
        </p:spPr>
        <p:txBody>
          <a:bodyPr/>
          <a:lstStyle/>
          <a:p>
            <a:endParaRPr/>
          </a:p>
        </p:txBody>
      </p:sp>
      <p:sp>
        <p:nvSpPr>
          <p:cNvPr id="11" name="Shape 9"/>
          <p:cNvSpPr/>
          <p:nvPr/>
        </p:nvSpPr>
        <p:spPr>
          <a:xfrm>
            <a:off x="2286000" y="0"/>
            <a:ext cx="13970000" cy="635000"/>
          </a:xfrm>
          <a:prstGeom prst="rect">
            <a:avLst/>
          </a:prstGeom>
          <a:solidFill>
            <a:srgbClr val="E0F4FA"/>
          </a:solidFill>
          <a:ln/>
        </p:spPr>
        <p:txBody>
          <a:bodyPr/>
          <a:lstStyle/>
          <a:p>
            <a:endParaRPr/>
          </a:p>
        </p:txBody>
      </p:sp>
      <p:sp>
        <p:nvSpPr>
          <p:cNvPr id="12" name="Text 10"/>
          <p:cNvSpPr/>
          <p:nvPr/>
        </p:nvSpPr>
        <p:spPr>
          <a:xfrm>
            <a:off x="2540000" y="0"/>
            <a:ext cx="12827000" cy="635000"/>
          </a:xfrm>
          <a:prstGeom prst="rect">
            <a:avLst/>
          </a:prstGeom>
          <a:noFill/>
          <a:ln/>
        </p:spPr>
        <p:txBody>
          <a:bodyPr wrap="none" lIns="0" tIns="0" rIns="0" bIns="0" rtlCol="0" anchor="ctr"/>
          <a:lstStyle/>
          <a:p>
            <a:pPr algn="l">
              <a:lnSpc>
                <a:spcPct val="120000"/>
              </a:lnSpc>
            </a:pPr>
            <a:r>
              <a:rPr lang="en-US" sz="1400" b="1" dirty="0">
                <a:solidFill>
                  <a:srgbClr val="005C82"/>
                </a:solidFill>
                <a:latin typeface="Quattrocento Sans" pitchFamily="34" charset="0"/>
                <a:ea typeface="Quattrocento Sans" pitchFamily="34" charset="-122"/>
                <a:cs typeface="Quattrocento Sans" pitchFamily="34" charset="-120"/>
              </a:rPr>
              <a:t>03 Clustering</a:t>
            </a:r>
            <a:r>
              <a:rPr lang="en-US" sz="1400" dirty="0">
                <a:solidFill>
                  <a:srgbClr val="005C82"/>
                </a:solidFill>
                <a:latin typeface="Quattrocento Sans" pitchFamily="34" charset="0"/>
                <a:ea typeface="Quattrocento Sans" pitchFamily="34" charset="-122"/>
                <a:cs typeface="Quattrocento Sans" pitchFamily="34" charset="-120"/>
              </a:rPr>
              <a:t>  &gt;  3.2  Silhouette Scores &amp; Cluster Balance</a:t>
            </a:r>
            <a:endParaRPr lang="en-US" sz="1400" dirty="0"/>
          </a:p>
        </p:txBody>
      </p:sp>
      <p:sp>
        <p:nvSpPr>
          <p:cNvPr id="13" name="Text 11"/>
          <p:cNvSpPr/>
          <p:nvPr/>
        </p:nvSpPr>
        <p:spPr>
          <a:xfrm>
            <a:off x="15621000" y="0"/>
            <a:ext cx="635000" cy="635000"/>
          </a:xfrm>
          <a:prstGeom prst="rect">
            <a:avLst/>
          </a:prstGeom>
          <a:noFill/>
          <a:ln/>
        </p:spPr>
        <p:txBody>
          <a:bodyPr wrap="square" lIns="0" tIns="0" rIns="0" bIns="0" rtlCol="0" anchor="ctr"/>
          <a:lstStyle/>
          <a:p>
            <a:r>
              <a:t>14</a:t>
            </a:r>
          </a:p>
        </p:txBody>
      </p:sp>
      <p:sp>
        <p:nvSpPr>
          <p:cNvPr id="14" name="Text 12"/>
          <p:cNvSpPr/>
          <p:nvPr/>
        </p:nvSpPr>
        <p:spPr>
          <a:xfrm>
            <a:off x="2540000" y="863600"/>
            <a:ext cx="13208000" cy="457200"/>
          </a:xfrm>
          <a:prstGeom prst="rect">
            <a:avLst/>
          </a:prstGeom>
          <a:noFill/>
          <a:ln/>
        </p:spPr>
        <p:txBody>
          <a:bodyPr wrap="none" lIns="0" tIns="0" rIns="0" bIns="0" rtlCol="0" anchor="t"/>
          <a:lstStyle/>
          <a:p>
            <a:pPr algn="l">
              <a:lnSpc>
                <a:spcPct val="120000"/>
              </a:lnSpc>
            </a:pPr>
            <a:r>
              <a:rPr lang="en-US" sz="2400" b="1" dirty="0">
                <a:solidFill>
                  <a:srgbClr val="005C82"/>
                </a:solidFill>
                <a:latin typeface="Quattrocento Sans" pitchFamily="34" charset="0"/>
                <a:ea typeface="Quattrocento Sans" pitchFamily="34" charset="-122"/>
                <a:cs typeface="Quattrocento Sans" pitchFamily="34" charset="-120"/>
              </a:rPr>
              <a:t>Silhouette Scores &amp; Cluster Balance Diagnostics</a:t>
            </a:r>
            <a:endParaRPr lang="en-US" sz="2400" dirty="0"/>
          </a:p>
        </p:txBody>
      </p:sp>
      <p:sp>
        <p:nvSpPr>
          <p:cNvPr id="15" name="Shape 13"/>
          <p:cNvSpPr/>
          <p:nvPr/>
        </p:nvSpPr>
        <p:spPr>
          <a:xfrm>
            <a:off x="2540000" y="1397000"/>
            <a:ext cx="13208000" cy="12700"/>
          </a:xfrm>
          <a:prstGeom prst="rect">
            <a:avLst/>
          </a:prstGeom>
          <a:solidFill>
            <a:srgbClr val="B0BEC5"/>
          </a:solidFill>
          <a:ln/>
        </p:spPr>
        <p:txBody>
          <a:bodyPr/>
          <a:lstStyle/>
          <a:p>
            <a:endParaRPr/>
          </a:p>
        </p:txBody>
      </p:sp>
      <p:graphicFrame>
        <p:nvGraphicFramePr>
          <p:cNvPr id="16" name="Table 0"/>
          <p:cNvGraphicFramePr>
            <a:graphicFrameLocks noGrp="1"/>
          </p:cNvGraphicFramePr>
          <p:nvPr>
            <p:extLst>
              <p:ext uri="{D42A27DB-BD31-4B8C-83A1-F6EECF244321}">
                <p14:modId xmlns:p14="http://schemas.microsoft.com/office/powerpoint/2010/main" val="1910452580"/>
              </p:ext>
            </p:extLst>
          </p:nvPr>
        </p:nvGraphicFramePr>
        <p:xfrm>
          <a:off x="2540000" y="1574800"/>
          <a:ext cx="13208000" cy="2794000"/>
        </p:xfrm>
        <a:graphic>
          <a:graphicData uri="http://schemas.openxmlformats.org/drawingml/2006/table">
            <a:tbl>
              <a:tblPr/>
              <a:tblGrid>
                <a:gridCol w="2905760">
                  <a:extLst>
                    <a:ext uri="{9D8B030D-6E8A-4147-A177-3AD203B41FA5}">
                      <a16:colId xmlns:a16="http://schemas.microsoft.com/office/drawing/2014/main" val="20000"/>
                    </a:ext>
                  </a:extLst>
                </a:gridCol>
                <a:gridCol w="1849120">
                  <a:extLst>
                    <a:ext uri="{9D8B030D-6E8A-4147-A177-3AD203B41FA5}">
                      <a16:colId xmlns:a16="http://schemas.microsoft.com/office/drawing/2014/main" val="20001"/>
                    </a:ext>
                  </a:extLst>
                </a:gridCol>
                <a:gridCol w="1212512">
                  <a:extLst>
                    <a:ext uri="{9D8B030D-6E8A-4147-A177-3AD203B41FA5}">
                      <a16:colId xmlns:a16="http://schemas.microsoft.com/office/drawing/2014/main" val="20002"/>
                    </a:ext>
                  </a:extLst>
                </a:gridCol>
                <a:gridCol w="1693248">
                  <a:extLst>
                    <a:ext uri="{9D8B030D-6E8A-4147-A177-3AD203B41FA5}">
                      <a16:colId xmlns:a16="http://schemas.microsoft.com/office/drawing/2014/main" val="20003"/>
                    </a:ext>
                  </a:extLst>
                </a:gridCol>
                <a:gridCol w="2905760">
                  <a:extLst>
                    <a:ext uri="{9D8B030D-6E8A-4147-A177-3AD203B41FA5}">
                      <a16:colId xmlns:a16="http://schemas.microsoft.com/office/drawing/2014/main" val="20004"/>
                    </a:ext>
                  </a:extLst>
                </a:gridCol>
                <a:gridCol w="2641600">
                  <a:extLst>
                    <a:ext uri="{9D8B030D-6E8A-4147-A177-3AD203B41FA5}">
                      <a16:colId xmlns:a16="http://schemas.microsoft.com/office/drawing/2014/main" val="20005"/>
                    </a:ext>
                  </a:extLst>
                </a:gridCol>
              </a:tblGrid>
              <a:tr h="502920">
                <a:tc>
                  <a:txBody>
                    <a:bodyPr/>
                    <a:lstStyle/>
                    <a:p>
                      <a:pPr algn="ctr"/>
                      <a:r>
                        <a:rPr lang="en-US" sz="1600" b="1" dirty="0">
                          <a:solidFill>
                            <a:srgbClr val="FFFFFF"/>
                          </a:solidFill>
                        </a:rPr>
                        <a:t>Feature Set</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005C82"/>
                    </a:solidFill>
                  </a:tcPr>
                </a:tc>
                <a:tc>
                  <a:txBody>
                    <a:bodyPr/>
                    <a:lstStyle/>
                    <a:p>
                      <a:pPr algn="ctr"/>
                      <a:r>
                        <a:rPr lang="en-US" sz="1600" b="1" dirty="0">
                          <a:solidFill>
                            <a:srgbClr val="FFFFFF"/>
                          </a:solidFill>
                        </a:rPr>
                        <a:t>Method</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005C82"/>
                    </a:solidFill>
                  </a:tcPr>
                </a:tc>
                <a:tc>
                  <a:txBody>
                    <a:bodyPr/>
                    <a:lstStyle/>
                    <a:p>
                      <a:pPr algn="ctr"/>
                      <a:r>
                        <a:rPr lang="en-US" sz="1600" b="1" dirty="0" err="1">
                          <a:solidFill>
                            <a:srgbClr val="FFFFFF"/>
                          </a:solidFill>
                        </a:rPr>
                        <a:t>N_Cluster</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005C82"/>
                    </a:solidFill>
                  </a:tcPr>
                </a:tc>
                <a:tc>
                  <a:txBody>
                    <a:bodyPr/>
                    <a:lstStyle/>
                    <a:p>
                      <a:pPr algn="ctr"/>
                      <a:r>
                        <a:rPr lang="en-US" sz="1600" b="1" dirty="0">
                          <a:solidFill>
                            <a:srgbClr val="FFFFFF"/>
                          </a:solidFill>
                        </a:rPr>
                        <a:t>Silhouette</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005C82"/>
                    </a:solidFill>
                  </a:tcPr>
                </a:tc>
                <a:tc>
                  <a:txBody>
                    <a:bodyPr/>
                    <a:lstStyle/>
                    <a:p>
                      <a:pPr algn="ctr"/>
                      <a:r>
                        <a:rPr lang="en-US" sz="1600" b="1" dirty="0">
                          <a:solidFill>
                            <a:srgbClr val="FFFFFF"/>
                          </a:solidFill>
                        </a:rPr>
                        <a:t>Cluster Sizes</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005C82"/>
                    </a:solidFill>
                  </a:tcPr>
                </a:tc>
                <a:tc>
                  <a:txBody>
                    <a:bodyPr/>
                    <a:lstStyle/>
                    <a:p>
                      <a:pPr algn="ctr"/>
                      <a:r>
                        <a:rPr lang="en-US" sz="1600" b="1" dirty="0">
                          <a:solidFill>
                            <a:srgbClr val="FFFFFF"/>
                          </a:solidFill>
                        </a:rPr>
                        <a:t>Status</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005C82"/>
                    </a:solidFill>
                  </a:tcPr>
                </a:tc>
                <a:extLst>
                  <a:ext uri="{0D108BD9-81ED-4DB2-BD59-A6C34878D82A}">
                    <a16:rowId xmlns:a16="http://schemas.microsoft.com/office/drawing/2014/main" val="10000"/>
                  </a:ext>
                </a:extLst>
              </a:tr>
              <a:tr h="572770">
                <a:tc>
                  <a:txBody>
                    <a:bodyPr/>
                    <a:lstStyle/>
                    <a:p>
                      <a:pPr algn="l"/>
                      <a:r>
                        <a:rPr lang="en-US" sz="1600" dirty="0">
                          <a:solidFill>
                            <a:srgbClr val="333333"/>
                          </a:solidFill>
                        </a:rPr>
                        <a:t>B - Planetary/Stellar</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a:r>
                        <a:rPr lang="en-US" sz="1600" dirty="0">
                          <a:solidFill>
                            <a:srgbClr val="333333"/>
                          </a:solidFill>
                        </a:rPr>
                        <a:t>Single</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a:r>
                        <a:rPr lang="en-US" sz="1600" dirty="0">
                          <a:solidFill>
                            <a:srgbClr val="333333"/>
                          </a:solidFill>
                        </a:rPr>
                        <a:t>4</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a:r>
                        <a:rPr lang="en-US" sz="1600" dirty="0">
                          <a:solidFill>
                            <a:srgbClr val="333333"/>
                          </a:solidFill>
                        </a:rPr>
                        <a:t>0.8228</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a:r>
                        <a:rPr lang="en-US" sz="1600" dirty="0">
                          <a:solidFill>
                            <a:srgbClr val="333333"/>
                          </a:solidFill>
                        </a:rPr>
                        <a:t>6145 / 2 / 2 / 1</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a:r>
                        <a:rPr lang="en-US" sz="1600" b="1" dirty="0">
                          <a:solidFill>
                            <a:srgbClr val="CC0000"/>
                          </a:solidFill>
                        </a:rPr>
                        <a:t>Severely imbalanced</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72770">
                <a:tc>
                  <a:txBody>
                    <a:bodyPr/>
                    <a:lstStyle/>
                    <a:p>
                      <a:pPr algn="l"/>
                      <a:r>
                        <a:rPr lang="en-US" sz="1600" dirty="0">
                          <a:solidFill>
                            <a:srgbClr val="333333"/>
                          </a:solidFill>
                        </a:rPr>
                        <a:t>B - Planetary/Stellar</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0F4FA"/>
                    </a:solidFill>
                  </a:tcPr>
                </a:tc>
                <a:tc>
                  <a:txBody>
                    <a:bodyPr/>
                    <a:lstStyle/>
                    <a:p>
                      <a:pPr algn="ctr"/>
                      <a:r>
                        <a:rPr lang="en-US" sz="1600" dirty="0">
                          <a:solidFill>
                            <a:srgbClr val="333333"/>
                          </a:solidFill>
                        </a:rPr>
                        <a:t>Complete</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0F4FA"/>
                    </a:solidFill>
                  </a:tcPr>
                </a:tc>
                <a:tc>
                  <a:txBody>
                    <a:bodyPr/>
                    <a:lstStyle/>
                    <a:p>
                      <a:pPr algn="ctr"/>
                      <a:r>
                        <a:rPr lang="en-US" sz="1600" dirty="0">
                          <a:solidFill>
                            <a:srgbClr val="333333"/>
                          </a:solidFill>
                        </a:rPr>
                        <a:t>2</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0F4FA"/>
                    </a:solidFill>
                  </a:tcPr>
                </a:tc>
                <a:tc>
                  <a:txBody>
                    <a:bodyPr/>
                    <a:lstStyle/>
                    <a:p>
                      <a:pPr algn="ctr"/>
                      <a:r>
                        <a:rPr lang="en-US" sz="1600" dirty="0">
                          <a:solidFill>
                            <a:srgbClr val="333333"/>
                          </a:solidFill>
                        </a:rPr>
                        <a:t>0.7667</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0F4FA"/>
                    </a:solidFill>
                  </a:tcPr>
                </a:tc>
                <a:tc>
                  <a:txBody>
                    <a:bodyPr/>
                    <a:lstStyle/>
                    <a:p>
                      <a:pPr algn="ctr"/>
                      <a:r>
                        <a:rPr lang="en-US" sz="1600" dirty="0">
                          <a:solidFill>
                            <a:srgbClr val="333333"/>
                          </a:solidFill>
                        </a:rPr>
                        <a:t>6136 / 14</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0F4FA"/>
                    </a:solidFill>
                  </a:tcPr>
                </a:tc>
                <a:tc>
                  <a:txBody>
                    <a:bodyPr/>
                    <a:lstStyle/>
                    <a:p>
                      <a:pPr algn="ctr"/>
                      <a:r>
                        <a:rPr lang="en-US" sz="1600" b="1" dirty="0">
                          <a:solidFill>
                            <a:srgbClr val="CC0000"/>
                          </a:solidFill>
                        </a:rPr>
                        <a:t>Severely imbalanced</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0F4FA"/>
                    </a:solidFill>
                  </a:tcPr>
                </a:tc>
                <a:extLst>
                  <a:ext uri="{0D108BD9-81ED-4DB2-BD59-A6C34878D82A}">
                    <a16:rowId xmlns:a16="http://schemas.microsoft.com/office/drawing/2014/main" val="10002"/>
                  </a:ext>
                </a:extLst>
              </a:tr>
              <a:tr h="572770">
                <a:tc>
                  <a:txBody>
                    <a:bodyPr/>
                    <a:lstStyle/>
                    <a:p>
                      <a:pPr algn="l"/>
                      <a:r>
                        <a:rPr lang="en-US" sz="1600" dirty="0">
                          <a:solidFill>
                            <a:srgbClr val="333333"/>
                          </a:solidFill>
                        </a:rPr>
                        <a:t>A - Planetary/Orbital</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a:r>
                        <a:rPr lang="en-US" sz="1600" dirty="0">
                          <a:solidFill>
                            <a:srgbClr val="333333"/>
                          </a:solidFill>
                        </a:rPr>
                        <a:t>K-Means</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a:r>
                        <a:rPr lang="en-US" sz="1600" dirty="0">
                          <a:solidFill>
                            <a:srgbClr val="333333"/>
                          </a:solidFill>
                        </a:rPr>
                        <a:t>4</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a:r>
                        <a:rPr lang="en-US" sz="1600" b="1" dirty="0">
                          <a:solidFill>
                            <a:srgbClr val="333333"/>
                          </a:solidFill>
                        </a:rPr>
                        <a:t>0.4471</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a:r>
                        <a:rPr lang="en-US" sz="1600" dirty="0">
                          <a:solidFill>
                            <a:srgbClr val="333333"/>
                          </a:solidFill>
                        </a:rPr>
                        <a:t>4054 / 1174 / 850 / 72</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a:r>
                        <a:rPr lang="en-US" sz="1600" b="1" dirty="0">
                          <a:solidFill>
                            <a:srgbClr val="005C82"/>
                          </a:solidFill>
                        </a:rPr>
                        <a:t>Selected</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72770">
                <a:tc>
                  <a:txBody>
                    <a:bodyPr/>
                    <a:lstStyle/>
                    <a:p>
                      <a:pPr algn="l"/>
                      <a:r>
                        <a:rPr lang="en-US" sz="1600" dirty="0">
                          <a:solidFill>
                            <a:srgbClr val="333333"/>
                          </a:solidFill>
                        </a:rPr>
                        <a:t>A - Planetary/Orbital</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0F4FA"/>
                    </a:solidFill>
                  </a:tcPr>
                </a:tc>
                <a:tc>
                  <a:txBody>
                    <a:bodyPr/>
                    <a:lstStyle/>
                    <a:p>
                      <a:pPr algn="ctr"/>
                      <a:r>
                        <a:rPr lang="en-US" sz="1600" dirty="0">
                          <a:solidFill>
                            <a:srgbClr val="333333"/>
                          </a:solidFill>
                        </a:rPr>
                        <a:t>K-Means</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0F4FA"/>
                    </a:solidFill>
                  </a:tcPr>
                </a:tc>
                <a:tc>
                  <a:txBody>
                    <a:bodyPr/>
                    <a:lstStyle/>
                    <a:p>
                      <a:pPr algn="ctr"/>
                      <a:r>
                        <a:rPr lang="en-US" sz="1600" dirty="0">
                          <a:solidFill>
                            <a:srgbClr val="333333"/>
                          </a:solidFill>
                        </a:rPr>
                        <a:t>2</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0F4FA"/>
                    </a:solidFill>
                  </a:tcPr>
                </a:tc>
                <a:tc>
                  <a:txBody>
                    <a:bodyPr/>
                    <a:lstStyle/>
                    <a:p>
                      <a:pPr algn="ctr"/>
                      <a:r>
                        <a:rPr lang="en-US" sz="1600" dirty="0">
                          <a:solidFill>
                            <a:srgbClr val="333333"/>
                          </a:solidFill>
                        </a:rPr>
                        <a:t>0.4460</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0F4FA"/>
                    </a:solidFill>
                  </a:tcPr>
                </a:tc>
                <a:tc>
                  <a:txBody>
                    <a:bodyPr/>
                    <a:lstStyle/>
                    <a:p>
                      <a:pPr algn="ctr"/>
                      <a:r>
                        <a:rPr lang="en-US" sz="1600" dirty="0">
                          <a:solidFill>
                            <a:srgbClr val="333333"/>
                          </a:solidFill>
                        </a:rPr>
                        <a:t>4196 / 1954</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0F4FA"/>
                    </a:solidFill>
                  </a:tcPr>
                </a:tc>
                <a:tc>
                  <a:txBody>
                    <a:bodyPr/>
                    <a:lstStyle/>
                    <a:p>
                      <a:pPr algn="ctr"/>
                      <a:r>
                        <a:rPr lang="en-US" sz="1600" dirty="0">
                          <a:solidFill>
                            <a:srgbClr val="007AA8"/>
                          </a:solidFill>
                        </a:rPr>
                        <a:t>Binary comparison</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0F4FA"/>
                    </a:solidFill>
                  </a:tcPr>
                </a:tc>
                <a:extLst>
                  <a:ext uri="{0D108BD9-81ED-4DB2-BD59-A6C34878D82A}">
                    <a16:rowId xmlns:a16="http://schemas.microsoft.com/office/drawing/2014/main" val="10004"/>
                  </a:ext>
                </a:extLst>
              </a:tr>
            </a:tbl>
          </a:graphicData>
        </a:graphic>
      </p:graphicFrame>
      <p:pic>
        <p:nvPicPr>
          <p:cNvPr id="17" name="Image 0" descr="https://kimi-img.moonshot.cn/pub/slides/okc/qjpdxks4bncqy/mnt/agents/upload/fig_silhouette_comparison.png"/>
          <p:cNvPicPr>
            <a:picLocks noChangeAspect="1"/>
          </p:cNvPicPr>
          <p:nvPr/>
        </p:nvPicPr>
        <p:blipFill>
          <a:blip r:embed="rId3"/>
          <a:srcRect/>
          <a:stretch/>
        </p:blipFill>
        <p:spPr>
          <a:xfrm>
            <a:off x="2540000" y="4572000"/>
            <a:ext cx="13208000" cy="3937000"/>
          </a:xfrm>
          <a:prstGeom prst="rect">
            <a:avLst/>
          </a:prstGeom>
        </p:spPr>
      </p:pic>
      <p:sp>
        <p:nvSpPr>
          <p:cNvPr id="18" name="Text 14"/>
          <p:cNvSpPr/>
          <p:nvPr/>
        </p:nvSpPr>
        <p:spPr>
          <a:xfrm>
            <a:off x="2540000" y="8559800"/>
            <a:ext cx="13208000" cy="254000"/>
          </a:xfrm>
          <a:prstGeom prst="rect">
            <a:avLst/>
          </a:prstGeom>
          <a:noFill/>
          <a:ln/>
        </p:spPr>
        <p:txBody>
          <a:bodyPr wrap="none" lIns="0" tIns="0" rIns="0" bIns="0" rtlCol="0" anchor="ctr"/>
          <a:lstStyle/>
          <a:p>
            <a:pPr algn="ctr">
              <a:lnSpc>
                <a:spcPct val="120000"/>
              </a:lnSpc>
            </a:pPr>
            <a:r>
              <a:rPr lang="en-US" sz="1200" dirty="0">
                <a:solidFill>
                  <a:srgbClr val="666666"/>
                </a:solidFill>
                <a:latin typeface="Quattrocento Sans" pitchFamily="34" charset="0"/>
                <a:ea typeface="Quattrocento Sans" pitchFamily="34" charset="-122"/>
                <a:cs typeface="Quattrocento Sans" pitchFamily="34" charset="-120"/>
              </a:rPr>
              <a:t>Figure 1: Silhouette scores for all method, feature set, and k combinations. Single and complete linkage produce severely imbalanced partitions despite high raw scores.</a:t>
            </a:r>
            <a:endParaRPr lang="en-US" sz="1200" dirty="0"/>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AFE"/>
        </a:solidFill>
        <a:effectLst/>
      </p:bgPr>
    </p:bg>
    <p:spTree>
      <p:nvGrpSpPr>
        <p:cNvPr id="1" name=""/>
        <p:cNvGrpSpPr/>
        <p:nvPr/>
      </p:nvGrpSpPr>
      <p:grpSpPr>
        <a:xfrm>
          <a:off x="0" y="0"/>
          <a:ext cx="0" cy="0"/>
          <a:chOff x="0" y="0"/>
          <a:chExt cx="0" cy="0"/>
        </a:xfrm>
      </p:grpSpPr>
      <p:sp>
        <p:nvSpPr>
          <p:cNvPr id="2" name="Shape 0"/>
          <p:cNvSpPr/>
          <p:nvPr/>
        </p:nvSpPr>
        <p:spPr>
          <a:xfrm>
            <a:off x="0" y="0"/>
            <a:ext cx="2286000" cy="9144000"/>
          </a:xfrm>
          <a:prstGeom prst="rect">
            <a:avLst/>
          </a:prstGeom>
          <a:solidFill>
            <a:srgbClr val="004060"/>
          </a:solidFill>
          <a:ln/>
        </p:spPr>
        <p:txBody>
          <a:bodyPr/>
          <a:lstStyle/>
          <a:p>
            <a:endParaRPr/>
          </a:p>
        </p:txBody>
      </p:sp>
      <p:sp>
        <p:nvSpPr>
          <p:cNvPr id="3" name="Shape 1"/>
          <p:cNvSpPr/>
          <p:nvPr/>
        </p:nvSpPr>
        <p:spPr>
          <a:xfrm>
            <a:off x="177800" y="177800"/>
            <a:ext cx="457200" cy="457200"/>
          </a:xfrm>
          <a:prstGeom prst="ellipse">
            <a:avLst/>
          </a:prstGeom>
          <a:solidFill>
            <a:srgbClr val="FFFFFF">
              <a:alpha val="12549"/>
            </a:srgbClr>
          </a:solidFill>
          <a:ln w="12700">
            <a:solidFill>
              <a:srgbClr val="00ACC1"/>
            </a:solidFill>
            <a:prstDash val="solid"/>
          </a:ln>
        </p:spPr>
        <p:txBody>
          <a:bodyPr/>
          <a:lstStyle/>
          <a:p>
            <a:endParaRPr/>
          </a:p>
        </p:txBody>
      </p:sp>
      <p:sp>
        <p:nvSpPr>
          <p:cNvPr id="4" name="Shape 2"/>
          <p:cNvSpPr/>
          <p:nvPr/>
        </p:nvSpPr>
        <p:spPr>
          <a:xfrm>
            <a:off x="0" y="3352800"/>
            <a:ext cx="2286000" cy="1168400"/>
          </a:xfrm>
          <a:prstGeom prst="rect">
            <a:avLst/>
          </a:prstGeom>
          <a:solidFill>
            <a:srgbClr val="005C82"/>
          </a:solidFill>
          <a:ln/>
        </p:spPr>
        <p:txBody>
          <a:bodyPr/>
          <a:lstStyle/>
          <a:p>
            <a:endParaRPr/>
          </a:p>
        </p:txBody>
      </p:sp>
      <p:sp>
        <p:nvSpPr>
          <p:cNvPr id="5" name="Text 3"/>
          <p:cNvSpPr/>
          <p:nvPr/>
        </p:nvSpPr>
        <p:spPr>
          <a:xfrm>
            <a:off x="101600" y="10160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01 Intro</a:t>
            </a:r>
            <a:endParaRPr lang="en-US" sz="1600" dirty="0"/>
          </a:p>
        </p:txBody>
      </p:sp>
      <p:sp>
        <p:nvSpPr>
          <p:cNvPr id="6" name="Text 4"/>
          <p:cNvSpPr/>
          <p:nvPr/>
        </p:nvSpPr>
        <p:spPr>
          <a:xfrm>
            <a:off x="101600" y="21844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02 Dataset</a:t>
            </a:r>
            <a:endParaRPr lang="en-US" sz="1600" dirty="0"/>
          </a:p>
        </p:txBody>
      </p:sp>
      <p:sp>
        <p:nvSpPr>
          <p:cNvPr id="7" name="Text 5"/>
          <p:cNvSpPr/>
          <p:nvPr/>
        </p:nvSpPr>
        <p:spPr>
          <a:xfrm>
            <a:off x="101600" y="3352800"/>
            <a:ext cx="2082800" cy="1168400"/>
          </a:xfrm>
          <a:prstGeom prst="rect">
            <a:avLst/>
          </a:prstGeom>
          <a:noFill/>
          <a:ln/>
        </p:spPr>
        <p:txBody>
          <a:bodyPr wrap="none" lIns="0" tIns="0" rIns="0" bIns="0" rtlCol="0" anchor="ctr"/>
          <a:lstStyle/>
          <a:p>
            <a:pPr algn="l">
              <a:lnSpc>
                <a:spcPct val="120000"/>
              </a:lnSpc>
            </a:pPr>
            <a:r>
              <a:rPr lang="en-US" sz="1800" b="1" dirty="0">
                <a:solidFill>
                  <a:srgbClr val="FFFFFF"/>
                </a:solidFill>
                <a:latin typeface="Quattrocento Sans" pitchFamily="34" charset="0"/>
                <a:ea typeface="Quattrocento Sans" pitchFamily="34" charset="-122"/>
                <a:cs typeface="Quattrocento Sans" pitchFamily="34" charset="-120"/>
              </a:rPr>
              <a:t>03 Clustering</a:t>
            </a:r>
            <a:endParaRPr lang="en-US" sz="1800" dirty="0"/>
          </a:p>
        </p:txBody>
      </p:sp>
      <p:sp>
        <p:nvSpPr>
          <p:cNvPr id="8" name="Text 6"/>
          <p:cNvSpPr/>
          <p:nvPr/>
        </p:nvSpPr>
        <p:spPr>
          <a:xfrm>
            <a:off x="101600" y="45212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04 Supervised</a:t>
            </a:r>
            <a:endParaRPr lang="en-US" sz="1600" dirty="0"/>
          </a:p>
        </p:txBody>
      </p:sp>
      <p:sp>
        <p:nvSpPr>
          <p:cNvPr id="9" name="Text 7"/>
          <p:cNvSpPr/>
          <p:nvPr/>
        </p:nvSpPr>
        <p:spPr>
          <a:xfrm>
            <a:off x="101600" y="56896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05 Conclusions</a:t>
            </a:r>
            <a:endParaRPr lang="en-US" sz="1600" dirty="0"/>
          </a:p>
        </p:txBody>
      </p:sp>
      <p:sp>
        <p:nvSpPr>
          <p:cNvPr id="10" name="Shape 8"/>
          <p:cNvSpPr/>
          <p:nvPr/>
        </p:nvSpPr>
        <p:spPr>
          <a:xfrm>
            <a:off x="1066800" y="7493000"/>
            <a:ext cx="152400" cy="152400"/>
          </a:xfrm>
          <a:prstGeom prst="diamond">
            <a:avLst/>
          </a:prstGeom>
          <a:solidFill>
            <a:srgbClr val="00ACC1"/>
          </a:solidFill>
          <a:ln/>
        </p:spPr>
        <p:txBody>
          <a:bodyPr/>
          <a:lstStyle/>
          <a:p>
            <a:endParaRPr/>
          </a:p>
        </p:txBody>
      </p:sp>
      <p:sp>
        <p:nvSpPr>
          <p:cNvPr id="11" name="Shape 9"/>
          <p:cNvSpPr/>
          <p:nvPr/>
        </p:nvSpPr>
        <p:spPr>
          <a:xfrm>
            <a:off x="2286000" y="0"/>
            <a:ext cx="13970000" cy="635000"/>
          </a:xfrm>
          <a:prstGeom prst="rect">
            <a:avLst/>
          </a:prstGeom>
          <a:solidFill>
            <a:srgbClr val="E0F4FA"/>
          </a:solidFill>
          <a:ln/>
        </p:spPr>
        <p:txBody>
          <a:bodyPr/>
          <a:lstStyle/>
          <a:p>
            <a:endParaRPr/>
          </a:p>
        </p:txBody>
      </p:sp>
      <p:sp>
        <p:nvSpPr>
          <p:cNvPr id="12" name="Text 10"/>
          <p:cNvSpPr/>
          <p:nvPr/>
        </p:nvSpPr>
        <p:spPr>
          <a:xfrm>
            <a:off x="2540000" y="0"/>
            <a:ext cx="12827000" cy="635000"/>
          </a:xfrm>
          <a:prstGeom prst="rect">
            <a:avLst/>
          </a:prstGeom>
          <a:noFill/>
          <a:ln/>
        </p:spPr>
        <p:txBody>
          <a:bodyPr wrap="none" lIns="0" tIns="0" rIns="0" bIns="0" rtlCol="0" anchor="ctr"/>
          <a:lstStyle/>
          <a:p>
            <a:pPr algn="l">
              <a:lnSpc>
                <a:spcPct val="120000"/>
              </a:lnSpc>
            </a:pPr>
            <a:r>
              <a:rPr lang="en-US" sz="1400" b="1" dirty="0">
                <a:solidFill>
                  <a:srgbClr val="005C82"/>
                </a:solidFill>
                <a:latin typeface="Quattrocento Sans" pitchFamily="34" charset="0"/>
                <a:ea typeface="Quattrocento Sans" pitchFamily="34" charset="-122"/>
                <a:cs typeface="Quattrocento Sans" pitchFamily="34" charset="-120"/>
              </a:rPr>
              <a:t>03 Clustering</a:t>
            </a:r>
            <a:r>
              <a:rPr lang="en-US" sz="1400" dirty="0">
                <a:solidFill>
                  <a:srgbClr val="005C82"/>
                </a:solidFill>
                <a:latin typeface="Quattrocento Sans" pitchFamily="34" charset="0"/>
                <a:ea typeface="Quattrocento Sans" pitchFamily="34" charset="-122"/>
                <a:cs typeface="Quattrocento Sans" pitchFamily="34" charset="-120"/>
              </a:rPr>
              <a:t>  &gt;  3.2  K-Means Silhouette by k</a:t>
            </a:r>
            <a:endParaRPr lang="en-US" sz="1400" dirty="0"/>
          </a:p>
        </p:txBody>
      </p:sp>
      <p:sp>
        <p:nvSpPr>
          <p:cNvPr id="13" name="Text 11"/>
          <p:cNvSpPr/>
          <p:nvPr/>
        </p:nvSpPr>
        <p:spPr>
          <a:xfrm>
            <a:off x="15621000" y="0"/>
            <a:ext cx="635000" cy="635000"/>
          </a:xfrm>
          <a:prstGeom prst="rect">
            <a:avLst/>
          </a:prstGeom>
          <a:noFill/>
          <a:ln/>
        </p:spPr>
        <p:txBody>
          <a:bodyPr wrap="square" lIns="0" tIns="0" rIns="0" bIns="0" rtlCol="0" anchor="ctr"/>
          <a:lstStyle/>
          <a:p>
            <a:r>
              <a:t>15</a:t>
            </a:r>
          </a:p>
        </p:txBody>
      </p:sp>
      <p:sp>
        <p:nvSpPr>
          <p:cNvPr id="14" name="Text 12"/>
          <p:cNvSpPr/>
          <p:nvPr/>
        </p:nvSpPr>
        <p:spPr>
          <a:xfrm>
            <a:off x="2540000" y="863600"/>
            <a:ext cx="13208000" cy="457200"/>
          </a:xfrm>
          <a:prstGeom prst="rect">
            <a:avLst/>
          </a:prstGeom>
          <a:noFill/>
          <a:ln/>
        </p:spPr>
        <p:txBody>
          <a:bodyPr wrap="none" lIns="0" tIns="0" rIns="0" bIns="0" rtlCol="0" anchor="t"/>
          <a:lstStyle/>
          <a:p>
            <a:pPr algn="l">
              <a:lnSpc>
                <a:spcPct val="120000"/>
              </a:lnSpc>
            </a:pPr>
            <a:r>
              <a:rPr lang="en-US" sz="2400" b="1" dirty="0">
                <a:solidFill>
                  <a:srgbClr val="005C82"/>
                </a:solidFill>
                <a:latin typeface="Quattrocento Sans" pitchFamily="34" charset="0"/>
                <a:ea typeface="Quattrocento Sans" pitchFamily="34" charset="-122"/>
                <a:cs typeface="Quattrocento Sans" pitchFamily="34" charset="-120"/>
              </a:rPr>
              <a:t>K-Means Silhouette by k &amp; Cluster Sizes</a:t>
            </a:r>
            <a:endParaRPr lang="en-US" sz="2400" dirty="0"/>
          </a:p>
        </p:txBody>
      </p:sp>
      <p:sp>
        <p:nvSpPr>
          <p:cNvPr id="15" name="Shape 13"/>
          <p:cNvSpPr/>
          <p:nvPr/>
        </p:nvSpPr>
        <p:spPr>
          <a:xfrm>
            <a:off x="2540000" y="1397000"/>
            <a:ext cx="13208000" cy="12700"/>
          </a:xfrm>
          <a:prstGeom prst="rect">
            <a:avLst/>
          </a:prstGeom>
          <a:solidFill>
            <a:srgbClr val="B0BEC5"/>
          </a:solidFill>
          <a:ln/>
        </p:spPr>
        <p:txBody>
          <a:bodyPr/>
          <a:lstStyle/>
          <a:p>
            <a:endParaRPr/>
          </a:p>
        </p:txBody>
      </p:sp>
      <p:pic>
        <p:nvPicPr>
          <p:cNvPr id="16" name="Image 0" descr="https://kimi-img.moonshot.cn/pub/slides/okc/qjpdxks4bncqy/mnt/agents/upload/fig_kmeans_silhouette_by_k.png"/>
          <p:cNvPicPr>
            <a:picLocks noChangeAspect="1"/>
          </p:cNvPicPr>
          <p:nvPr/>
        </p:nvPicPr>
        <p:blipFill>
          <a:blip r:embed="rId3"/>
          <a:srcRect/>
          <a:stretch/>
        </p:blipFill>
        <p:spPr>
          <a:xfrm>
            <a:off x="2540000" y="1574800"/>
            <a:ext cx="6477000" cy="4318000"/>
          </a:xfrm>
          <a:prstGeom prst="rect">
            <a:avLst/>
          </a:prstGeom>
        </p:spPr>
      </p:pic>
      <p:pic>
        <p:nvPicPr>
          <p:cNvPr id="17" name="Image 1" descr="https://kimi-img.moonshot.cn/pub/slides/okc/qjpdxks4bncqy/mnt/agents/upload/fig_cluster_sizes.png"/>
          <p:cNvPicPr>
            <a:picLocks noChangeAspect="1"/>
          </p:cNvPicPr>
          <p:nvPr/>
        </p:nvPicPr>
        <p:blipFill>
          <a:blip r:embed="rId4"/>
          <a:srcRect/>
          <a:stretch/>
        </p:blipFill>
        <p:spPr>
          <a:xfrm>
            <a:off x="9271000" y="1574800"/>
            <a:ext cx="6477000" cy="4318000"/>
          </a:xfrm>
          <a:prstGeom prst="rect">
            <a:avLst/>
          </a:prstGeom>
        </p:spPr>
      </p:pic>
      <p:sp>
        <p:nvSpPr>
          <p:cNvPr id="18" name="Shape 14"/>
          <p:cNvSpPr/>
          <p:nvPr/>
        </p:nvSpPr>
        <p:spPr>
          <a:xfrm>
            <a:off x="2540000" y="6096000"/>
            <a:ext cx="13208000" cy="1397000"/>
          </a:xfrm>
          <a:prstGeom prst="rect">
            <a:avLst/>
          </a:prstGeom>
          <a:solidFill>
            <a:srgbClr val="005C82"/>
          </a:solidFill>
          <a:ln/>
        </p:spPr>
        <p:txBody>
          <a:bodyPr/>
          <a:lstStyle/>
          <a:p>
            <a:endParaRPr/>
          </a:p>
        </p:txBody>
      </p:sp>
      <p:sp>
        <p:nvSpPr>
          <p:cNvPr id="19" name="Shape 15"/>
          <p:cNvSpPr/>
          <p:nvPr/>
        </p:nvSpPr>
        <p:spPr>
          <a:xfrm>
            <a:off x="2717800" y="6248400"/>
            <a:ext cx="177800" cy="177800"/>
          </a:xfrm>
          <a:prstGeom prst="diamond">
            <a:avLst/>
          </a:prstGeom>
          <a:solidFill>
            <a:srgbClr val="00ACC1"/>
          </a:solidFill>
          <a:ln/>
        </p:spPr>
        <p:txBody>
          <a:bodyPr/>
          <a:lstStyle/>
          <a:p>
            <a:endParaRPr/>
          </a:p>
        </p:txBody>
      </p:sp>
      <p:sp>
        <p:nvSpPr>
          <p:cNvPr id="20" name="Text 16"/>
          <p:cNvSpPr/>
          <p:nvPr/>
        </p:nvSpPr>
        <p:spPr>
          <a:xfrm>
            <a:off x="3022600" y="6172200"/>
            <a:ext cx="3048000" cy="304800"/>
          </a:xfrm>
          <a:prstGeom prst="rect">
            <a:avLst/>
          </a:prstGeom>
          <a:noFill/>
          <a:ln/>
        </p:spPr>
        <p:txBody>
          <a:bodyPr wrap="none" lIns="0" tIns="0" rIns="0" bIns="0" rtlCol="0" anchor="t"/>
          <a:lstStyle/>
          <a:p>
            <a:pPr algn="l">
              <a:lnSpc>
                <a:spcPct val="120000"/>
              </a:lnSpc>
            </a:pPr>
            <a:r>
              <a:rPr lang="en-US" sz="1800" b="1" dirty="0">
                <a:solidFill>
                  <a:srgbClr val="00ACC1"/>
                </a:solidFill>
                <a:latin typeface="Quattrocento Sans" pitchFamily="34" charset="0"/>
                <a:ea typeface="Quattrocento Sans" pitchFamily="34" charset="-122"/>
                <a:cs typeface="Quattrocento Sans" pitchFamily="34" charset="-120"/>
              </a:rPr>
              <a:t>Key Observations</a:t>
            </a:r>
            <a:endParaRPr lang="en-US" sz="1800" dirty="0"/>
          </a:p>
        </p:txBody>
      </p:sp>
      <p:sp>
        <p:nvSpPr>
          <p:cNvPr id="21" name="Text 17"/>
          <p:cNvSpPr/>
          <p:nvPr/>
        </p:nvSpPr>
        <p:spPr>
          <a:xfrm>
            <a:off x="2717800" y="6553200"/>
            <a:ext cx="12827000" cy="812800"/>
          </a:xfrm>
          <a:prstGeom prst="rect">
            <a:avLst/>
          </a:prstGeom>
          <a:noFill/>
          <a:ln/>
        </p:spPr>
        <p:txBody>
          <a:bodyPr wrap="square" lIns="0" tIns="0" rIns="0" bIns="0" rtlCol="0" anchor="t"/>
          <a:lstStyle/>
          <a:p>
            <a:pPr algn="l">
              <a:lnSpc>
                <a:spcPct val="150000"/>
              </a:lnSpc>
            </a:pPr>
            <a:r>
              <a:rPr lang="en-US" sz="1500" dirty="0">
                <a:solidFill>
                  <a:srgbClr val="FFFFFF"/>
                </a:solidFill>
                <a:latin typeface="Quattrocento Sans" pitchFamily="34" charset="0"/>
                <a:ea typeface="Quattrocento Sans" pitchFamily="34" charset="-122"/>
                <a:cs typeface="Quattrocento Sans" pitchFamily="34" charset="-120"/>
              </a:rPr>
              <a:t>K-Means k=2 (Silhouette 0.446) and k=4 (0.447) differ by only 0.0011 - essentially equivalent. k=4 retained for interpretability (reveals Hot Jupiters vs Eccentric Giants). Set A outperforms Set B in non-degenerate configurations. Bootstrap stability: mean 0.412 +/- 0.065 over 20 resamples.</a:t>
            </a:r>
            <a:endParaRPr lang="en-US" sz="1500" dirty="0"/>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AFE"/>
        </a:solidFill>
        <a:effectLst/>
      </p:bgPr>
    </p:bg>
    <p:spTree>
      <p:nvGrpSpPr>
        <p:cNvPr id="1" name=""/>
        <p:cNvGrpSpPr/>
        <p:nvPr/>
      </p:nvGrpSpPr>
      <p:grpSpPr>
        <a:xfrm>
          <a:off x="0" y="0"/>
          <a:ext cx="0" cy="0"/>
          <a:chOff x="0" y="0"/>
          <a:chExt cx="0" cy="0"/>
        </a:xfrm>
      </p:grpSpPr>
      <p:sp>
        <p:nvSpPr>
          <p:cNvPr id="2" name="Shape 0"/>
          <p:cNvSpPr/>
          <p:nvPr/>
        </p:nvSpPr>
        <p:spPr>
          <a:xfrm>
            <a:off x="0" y="0"/>
            <a:ext cx="2286000" cy="9144000"/>
          </a:xfrm>
          <a:prstGeom prst="rect">
            <a:avLst/>
          </a:prstGeom>
          <a:solidFill>
            <a:srgbClr val="004060"/>
          </a:solidFill>
          <a:ln/>
        </p:spPr>
        <p:txBody>
          <a:bodyPr/>
          <a:lstStyle/>
          <a:p>
            <a:endParaRPr/>
          </a:p>
        </p:txBody>
      </p:sp>
      <p:sp>
        <p:nvSpPr>
          <p:cNvPr id="3" name="Shape 1"/>
          <p:cNvSpPr/>
          <p:nvPr/>
        </p:nvSpPr>
        <p:spPr>
          <a:xfrm>
            <a:off x="177800" y="177800"/>
            <a:ext cx="457200" cy="457200"/>
          </a:xfrm>
          <a:prstGeom prst="ellipse">
            <a:avLst/>
          </a:prstGeom>
          <a:solidFill>
            <a:srgbClr val="FFFFFF">
              <a:alpha val="12549"/>
            </a:srgbClr>
          </a:solidFill>
          <a:ln w="12700">
            <a:solidFill>
              <a:srgbClr val="00ACC1"/>
            </a:solidFill>
            <a:prstDash val="solid"/>
          </a:ln>
        </p:spPr>
        <p:txBody>
          <a:bodyPr/>
          <a:lstStyle/>
          <a:p>
            <a:endParaRPr/>
          </a:p>
        </p:txBody>
      </p:sp>
      <p:sp>
        <p:nvSpPr>
          <p:cNvPr id="4" name="Shape 2"/>
          <p:cNvSpPr/>
          <p:nvPr/>
        </p:nvSpPr>
        <p:spPr>
          <a:xfrm>
            <a:off x="0" y="3352800"/>
            <a:ext cx="2286000" cy="1168400"/>
          </a:xfrm>
          <a:prstGeom prst="rect">
            <a:avLst/>
          </a:prstGeom>
          <a:solidFill>
            <a:srgbClr val="005C82"/>
          </a:solidFill>
          <a:ln/>
        </p:spPr>
        <p:txBody>
          <a:bodyPr/>
          <a:lstStyle/>
          <a:p>
            <a:endParaRPr/>
          </a:p>
        </p:txBody>
      </p:sp>
      <p:sp>
        <p:nvSpPr>
          <p:cNvPr id="5" name="Text 3"/>
          <p:cNvSpPr/>
          <p:nvPr/>
        </p:nvSpPr>
        <p:spPr>
          <a:xfrm>
            <a:off x="101600" y="10160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01 Intro</a:t>
            </a:r>
            <a:endParaRPr lang="en-US" sz="1600" dirty="0"/>
          </a:p>
        </p:txBody>
      </p:sp>
      <p:sp>
        <p:nvSpPr>
          <p:cNvPr id="6" name="Text 4"/>
          <p:cNvSpPr/>
          <p:nvPr/>
        </p:nvSpPr>
        <p:spPr>
          <a:xfrm>
            <a:off x="101600" y="21844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02 Dataset</a:t>
            </a:r>
            <a:endParaRPr lang="en-US" sz="1600" dirty="0"/>
          </a:p>
        </p:txBody>
      </p:sp>
      <p:sp>
        <p:nvSpPr>
          <p:cNvPr id="7" name="Text 5"/>
          <p:cNvSpPr/>
          <p:nvPr/>
        </p:nvSpPr>
        <p:spPr>
          <a:xfrm>
            <a:off x="101600" y="3352800"/>
            <a:ext cx="2082800" cy="1168400"/>
          </a:xfrm>
          <a:prstGeom prst="rect">
            <a:avLst/>
          </a:prstGeom>
          <a:noFill/>
          <a:ln/>
        </p:spPr>
        <p:txBody>
          <a:bodyPr wrap="none" lIns="0" tIns="0" rIns="0" bIns="0" rtlCol="0" anchor="ctr"/>
          <a:lstStyle/>
          <a:p>
            <a:pPr algn="l">
              <a:lnSpc>
                <a:spcPct val="120000"/>
              </a:lnSpc>
            </a:pPr>
            <a:r>
              <a:rPr lang="en-US" sz="1800" b="1" dirty="0">
                <a:solidFill>
                  <a:srgbClr val="FFFFFF"/>
                </a:solidFill>
                <a:latin typeface="Quattrocento Sans" pitchFamily="34" charset="0"/>
                <a:ea typeface="Quattrocento Sans" pitchFamily="34" charset="-122"/>
                <a:cs typeface="Quattrocento Sans" pitchFamily="34" charset="-120"/>
              </a:rPr>
              <a:t>03 Clustering</a:t>
            </a:r>
            <a:endParaRPr lang="en-US" sz="1800" dirty="0"/>
          </a:p>
        </p:txBody>
      </p:sp>
      <p:sp>
        <p:nvSpPr>
          <p:cNvPr id="8" name="Text 6"/>
          <p:cNvSpPr/>
          <p:nvPr/>
        </p:nvSpPr>
        <p:spPr>
          <a:xfrm>
            <a:off x="101600" y="45212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04 Supervised</a:t>
            </a:r>
            <a:endParaRPr lang="en-US" sz="1600" dirty="0"/>
          </a:p>
        </p:txBody>
      </p:sp>
      <p:sp>
        <p:nvSpPr>
          <p:cNvPr id="9" name="Text 7"/>
          <p:cNvSpPr/>
          <p:nvPr/>
        </p:nvSpPr>
        <p:spPr>
          <a:xfrm>
            <a:off x="101600" y="56896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05 Conclusions</a:t>
            </a:r>
            <a:endParaRPr lang="en-US" sz="1600" dirty="0"/>
          </a:p>
        </p:txBody>
      </p:sp>
      <p:sp>
        <p:nvSpPr>
          <p:cNvPr id="10" name="Shape 8"/>
          <p:cNvSpPr/>
          <p:nvPr/>
        </p:nvSpPr>
        <p:spPr>
          <a:xfrm>
            <a:off x="1066800" y="7493000"/>
            <a:ext cx="152400" cy="152400"/>
          </a:xfrm>
          <a:prstGeom prst="diamond">
            <a:avLst/>
          </a:prstGeom>
          <a:solidFill>
            <a:srgbClr val="00ACC1"/>
          </a:solidFill>
          <a:ln/>
        </p:spPr>
        <p:txBody>
          <a:bodyPr/>
          <a:lstStyle/>
          <a:p>
            <a:endParaRPr/>
          </a:p>
        </p:txBody>
      </p:sp>
      <p:sp>
        <p:nvSpPr>
          <p:cNvPr id="11" name="Shape 9"/>
          <p:cNvSpPr/>
          <p:nvPr/>
        </p:nvSpPr>
        <p:spPr>
          <a:xfrm>
            <a:off x="2286000" y="0"/>
            <a:ext cx="13970000" cy="635000"/>
          </a:xfrm>
          <a:prstGeom prst="rect">
            <a:avLst/>
          </a:prstGeom>
          <a:solidFill>
            <a:srgbClr val="E0F4FA"/>
          </a:solidFill>
          <a:ln/>
        </p:spPr>
        <p:txBody>
          <a:bodyPr/>
          <a:lstStyle/>
          <a:p>
            <a:endParaRPr/>
          </a:p>
        </p:txBody>
      </p:sp>
      <p:sp>
        <p:nvSpPr>
          <p:cNvPr id="12" name="Text 10"/>
          <p:cNvSpPr/>
          <p:nvPr/>
        </p:nvSpPr>
        <p:spPr>
          <a:xfrm>
            <a:off x="2540000" y="0"/>
            <a:ext cx="12827000" cy="635000"/>
          </a:xfrm>
          <a:prstGeom prst="rect">
            <a:avLst/>
          </a:prstGeom>
          <a:noFill/>
          <a:ln/>
        </p:spPr>
        <p:txBody>
          <a:bodyPr wrap="none" lIns="0" tIns="0" rIns="0" bIns="0" rtlCol="0" anchor="ctr"/>
          <a:lstStyle/>
          <a:p>
            <a:pPr algn="l">
              <a:lnSpc>
                <a:spcPct val="120000"/>
              </a:lnSpc>
            </a:pPr>
            <a:r>
              <a:rPr lang="en-US" sz="1400" b="1" dirty="0">
                <a:solidFill>
                  <a:srgbClr val="005C82"/>
                </a:solidFill>
                <a:latin typeface="Quattrocento Sans" pitchFamily="34" charset="0"/>
                <a:ea typeface="Quattrocento Sans" pitchFamily="34" charset="-122"/>
                <a:cs typeface="Quattrocento Sans" pitchFamily="34" charset="-120"/>
              </a:rPr>
              <a:t>03 Clustering</a:t>
            </a:r>
            <a:r>
              <a:rPr lang="en-US" sz="1400" dirty="0">
                <a:solidFill>
                  <a:srgbClr val="005C82"/>
                </a:solidFill>
                <a:latin typeface="Quattrocento Sans" pitchFamily="34" charset="0"/>
                <a:ea typeface="Quattrocento Sans" pitchFamily="34" charset="-122"/>
                <a:cs typeface="Quattrocento Sans" pitchFamily="34" charset="-120"/>
              </a:rPr>
              <a:t>  &gt;  3.3  Cluster Profiles</a:t>
            </a:r>
            <a:endParaRPr lang="en-US" sz="1400" dirty="0"/>
          </a:p>
        </p:txBody>
      </p:sp>
      <p:sp>
        <p:nvSpPr>
          <p:cNvPr id="13" name="Text 11"/>
          <p:cNvSpPr/>
          <p:nvPr/>
        </p:nvSpPr>
        <p:spPr>
          <a:xfrm>
            <a:off x="15621000" y="0"/>
            <a:ext cx="635000" cy="635000"/>
          </a:xfrm>
          <a:prstGeom prst="rect">
            <a:avLst/>
          </a:prstGeom>
          <a:noFill/>
          <a:ln/>
        </p:spPr>
        <p:txBody>
          <a:bodyPr wrap="square" lIns="0" tIns="0" rIns="0" bIns="0" rtlCol="0" anchor="ctr"/>
          <a:lstStyle/>
          <a:p>
            <a:r>
              <a:t>16</a:t>
            </a:r>
          </a:p>
        </p:txBody>
      </p:sp>
      <p:sp>
        <p:nvSpPr>
          <p:cNvPr id="14" name="Text 12"/>
          <p:cNvSpPr/>
          <p:nvPr/>
        </p:nvSpPr>
        <p:spPr>
          <a:xfrm>
            <a:off x="2540000" y="863600"/>
            <a:ext cx="13208000" cy="457200"/>
          </a:xfrm>
          <a:prstGeom prst="rect">
            <a:avLst/>
          </a:prstGeom>
          <a:noFill/>
          <a:ln/>
        </p:spPr>
        <p:txBody>
          <a:bodyPr wrap="none" lIns="0" tIns="0" rIns="0" bIns="0" rtlCol="0" anchor="t"/>
          <a:lstStyle/>
          <a:p>
            <a:pPr algn="l">
              <a:lnSpc>
                <a:spcPct val="120000"/>
              </a:lnSpc>
            </a:pPr>
            <a:r>
              <a:rPr lang="en-US" sz="2400" b="1" dirty="0">
                <a:solidFill>
                  <a:srgbClr val="005C82"/>
                </a:solidFill>
                <a:latin typeface="Quattrocento Sans" pitchFamily="34" charset="0"/>
                <a:ea typeface="Quattrocento Sans" pitchFamily="34" charset="-122"/>
                <a:cs typeface="Quattrocento Sans" pitchFamily="34" charset="-120"/>
              </a:rPr>
              <a:t>Cluster Profiles: Four Interpretable Groups</a:t>
            </a:r>
            <a:endParaRPr lang="en-US" sz="2400" dirty="0"/>
          </a:p>
        </p:txBody>
      </p:sp>
      <p:sp>
        <p:nvSpPr>
          <p:cNvPr id="15" name="Shape 13"/>
          <p:cNvSpPr/>
          <p:nvPr/>
        </p:nvSpPr>
        <p:spPr>
          <a:xfrm>
            <a:off x="2540000" y="1397000"/>
            <a:ext cx="13208000" cy="12700"/>
          </a:xfrm>
          <a:prstGeom prst="rect">
            <a:avLst/>
          </a:prstGeom>
          <a:solidFill>
            <a:srgbClr val="B0BEC5"/>
          </a:solidFill>
          <a:ln/>
        </p:spPr>
        <p:txBody>
          <a:bodyPr/>
          <a:lstStyle/>
          <a:p>
            <a:endParaRPr/>
          </a:p>
        </p:txBody>
      </p:sp>
      <p:graphicFrame>
        <p:nvGraphicFramePr>
          <p:cNvPr id="16" name="Table 0"/>
          <p:cNvGraphicFramePr>
            <a:graphicFrameLocks noGrp="1"/>
          </p:cNvGraphicFramePr>
          <p:nvPr>
            <p:extLst>
              <p:ext uri="{D42A27DB-BD31-4B8C-83A1-F6EECF244321}">
                <p14:modId xmlns:p14="http://schemas.microsoft.com/office/powerpoint/2010/main" val="3220903035"/>
              </p:ext>
            </p:extLst>
          </p:nvPr>
        </p:nvGraphicFramePr>
        <p:xfrm>
          <a:off x="2540000" y="1574800"/>
          <a:ext cx="13208000" cy="2540000"/>
        </p:xfrm>
        <a:graphic>
          <a:graphicData uri="http://schemas.openxmlformats.org/drawingml/2006/table">
            <a:tbl>
              <a:tblPr/>
              <a:tblGrid>
                <a:gridCol w="2113280">
                  <a:extLst>
                    <a:ext uri="{9D8B030D-6E8A-4147-A177-3AD203B41FA5}">
                      <a16:colId xmlns:a16="http://schemas.microsoft.com/office/drawing/2014/main" val="20000"/>
                    </a:ext>
                  </a:extLst>
                </a:gridCol>
                <a:gridCol w="2905760">
                  <a:extLst>
                    <a:ext uri="{9D8B030D-6E8A-4147-A177-3AD203B41FA5}">
                      <a16:colId xmlns:a16="http://schemas.microsoft.com/office/drawing/2014/main" val="20001"/>
                    </a:ext>
                  </a:extLst>
                </a:gridCol>
                <a:gridCol w="1584960">
                  <a:extLst>
                    <a:ext uri="{9D8B030D-6E8A-4147-A177-3AD203B41FA5}">
                      <a16:colId xmlns:a16="http://schemas.microsoft.com/office/drawing/2014/main" val="20002"/>
                    </a:ext>
                  </a:extLst>
                </a:gridCol>
                <a:gridCol w="1320800">
                  <a:extLst>
                    <a:ext uri="{9D8B030D-6E8A-4147-A177-3AD203B41FA5}">
                      <a16:colId xmlns:a16="http://schemas.microsoft.com/office/drawing/2014/main" val="20003"/>
                    </a:ext>
                  </a:extLst>
                </a:gridCol>
                <a:gridCol w="1320800">
                  <a:extLst>
                    <a:ext uri="{9D8B030D-6E8A-4147-A177-3AD203B41FA5}">
                      <a16:colId xmlns:a16="http://schemas.microsoft.com/office/drawing/2014/main" val="20004"/>
                    </a:ext>
                  </a:extLst>
                </a:gridCol>
                <a:gridCol w="1320800">
                  <a:extLst>
                    <a:ext uri="{9D8B030D-6E8A-4147-A177-3AD203B41FA5}">
                      <a16:colId xmlns:a16="http://schemas.microsoft.com/office/drawing/2014/main" val="20005"/>
                    </a:ext>
                  </a:extLst>
                </a:gridCol>
                <a:gridCol w="1320800">
                  <a:extLst>
                    <a:ext uri="{9D8B030D-6E8A-4147-A177-3AD203B41FA5}">
                      <a16:colId xmlns:a16="http://schemas.microsoft.com/office/drawing/2014/main" val="20006"/>
                    </a:ext>
                  </a:extLst>
                </a:gridCol>
                <a:gridCol w="1320800">
                  <a:extLst>
                    <a:ext uri="{9D8B030D-6E8A-4147-A177-3AD203B41FA5}">
                      <a16:colId xmlns:a16="http://schemas.microsoft.com/office/drawing/2014/main" val="20007"/>
                    </a:ext>
                  </a:extLst>
                </a:gridCol>
              </a:tblGrid>
              <a:tr h="457200">
                <a:tc>
                  <a:txBody>
                    <a:bodyPr/>
                    <a:lstStyle/>
                    <a:p>
                      <a:pPr algn="ctr"/>
                      <a:r>
                        <a:rPr lang="en-US" sz="1600" b="1" dirty="0">
                          <a:solidFill>
                            <a:srgbClr val="FFFFFF"/>
                          </a:solidFill>
                        </a:rPr>
                        <a:t>Cluster</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005C82"/>
                    </a:solidFill>
                  </a:tcPr>
                </a:tc>
                <a:tc>
                  <a:txBody>
                    <a:bodyPr/>
                    <a:lstStyle/>
                    <a:p>
                      <a:pPr algn="ctr"/>
                      <a:r>
                        <a:rPr lang="en-US" sz="1600" b="1" dirty="0">
                          <a:solidFill>
                            <a:srgbClr val="FFFFFF"/>
                          </a:solidFill>
                        </a:rPr>
                        <a:t>Name</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005C82"/>
                    </a:solidFill>
                  </a:tcPr>
                </a:tc>
                <a:tc>
                  <a:txBody>
                    <a:bodyPr/>
                    <a:lstStyle/>
                    <a:p>
                      <a:pPr algn="ctr"/>
                      <a:r>
                        <a:rPr lang="en-US" sz="1600" b="1" dirty="0">
                          <a:solidFill>
                            <a:srgbClr val="FFFFFF"/>
                          </a:solidFill>
                        </a:rPr>
                        <a:t>n</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005C82"/>
                    </a:solidFill>
                  </a:tcPr>
                </a:tc>
                <a:tc>
                  <a:txBody>
                    <a:bodyPr/>
                    <a:lstStyle/>
                    <a:p>
                      <a:pPr algn="ctr"/>
                      <a:r>
                        <a:rPr lang="en-US" sz="1600" b="1" dirty="0">
                          <a:solidFill>
                            <a:srgbClr val="FFFFFF"/>
                          </a:solidFill>
                        </a:rPr>
                        <a:t>%</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005C82"/>
                    </a:solidFill>
                  </a:tcPr>
                </a:tc>
                <a:tc>
                  <a:txBody>
                    <a:bodyPr/>
                    <a:lstStyle/>
                    <a:p>
                      <a:pPr algn="ctr"/>
                      <a:r>
                        <a:rPr lang="en-US" sz="1600" b="1" dirty="0">
                          <a:solidFill>
                            <a:srgbClr val="FFFFFF"/>
                          </a:solidFill>
                        </a:rPr>
                        <a:t>Temp (K)</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005C82"/>
                    </a:solidFill>
                  </a:tcPr>
                </a:tc>
                <a:tc>
                  <a:txBody>
                    <a:bodyPr/>
                    <a:lstStyle/>
                    <a:p>
                      <a:pPr algn="ctr"/>
                      <a:r>
                        <a:rPr lang="en-US" sz="1600" b="1" dirty="0">
                          <a:solidFill>
                            <a:srgbClr val="FFFFFF"/>
                          </a:solidFill>
                        </a:rPr>
                        <a:t>Ecc.</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005C82"/>
                    </a:solidFill>
                  </a:tcPr>
                </a:tc>
                <a:tc>
                  <a:txBody>
                    <a:bodyPr/>
                    <a:lstStyle/>
                    <a:p>
                      <a:pPr algn="ctr"/>
                      <a:r>
                        <a:rPr lang="en-US" sz="1600" b="1" dirty="0">
                          <a:solidFill>
                            <a:srgbClr val="FFFFFF"/>
                          </a:solidFill>
                        </a:rPr>
                        <a:t>Mass</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005C82"/>
                    </a:solidFill>
                  </a:tcPr>
                </a:tc>
                <a:tc>
                  <a:txBody>
                    <a:bodyPr/>
                    <a:lstStyle/>
                    <a:p>
                      <a:pPr algn="ctr"/>
                      <a:r>
                        <a:rPr lang="en-US" sz="1600" b="1" dirty="0">
                          <a:solidFill>
                            <a:srgbClr val="FFFFFF"/>
                          </a:solidFill>
                        </a:rPr>
                        <a:t>SMA</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005C82"/>
                    </a:solidFill>
                  </a:tcPr>
                </a:tc>
                <a:extLst>
                  <a:ext uri="{0D108BD9-81ED-4DB2-BD59-A6C34878D82A}">
                    <a16:rowId xmlns:a16="http://schemas.microsoft.com/office/drawing/2014/main" val="10000"/>
                  </a:ext>
                </a:extLst>
              </a:tr>
              <a:tr h="520700">
                <a:tc>
                  <a:txBody>
                    <a:bodyPr/>
                    <a:lstStyle/>
                    <a:p>
                      <a:pPr algn="ctr"/>
                      <a:r>
                        <a:rPr lang="en-US" sz="1600" dirty="0">
                          <a:solidFill>
                            <a:srgbClr val="333333"/>
                          </a:solidFill>
                        </a:rPr>
                        <a:t>0</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a:r>
                        <a:rPr lang="en-US" sz="1600" dirty="0">
                          <a:solidFill>
                            <a:srgbClr val="333333"/>
                          </a:solidFill>
                        </a:rPr>
                        <a:t>Warm Mini-Neptunes</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a:r>
                        <a:rPr lang="en-US" sz="1600" dirty="0">
                          <a:solidFill>
                            <a:srgbClr val="333333"/>
                          </a:solidFill>
                        </a:rPr>
                        <a:t>4054</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a:r>
                        <a:rPr lang="en-US" sz="1600" dirty="0">
                          <a:solidFill>
                            <a:srgbClr val="333333"/>
                          </a:solidFill>
                        </a:rPr>
                        <a:t>65.9</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a:r>
                        <a:rPr lang="en-US" sz="1600" dirty="0">
                          <a:solidFill>
                            <a:srgbClr val="333333"/>
                          </a:solidFill>
                        </a:rPr>
                        <a:t>807</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a:r>
                        <a:rPr lang="en-US" sz="1600" dirty="0">
                          <a:solidFill>
                            <a:srgbClr val="333333"/>
                          </a:solidFill>
                        </a:rPr>
                        <a:t>0.026</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a:r>
                        <a:rPr lang="en-US" sz="1600" dirty="0">
                          <a:solidFill>
                            <a:srgbClr val="333333"/>
                          </a:solidFill>
                        </a:rPr>
                        <a:t>1.91</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a:r>
                        <a:rPr lang="en-US" sz="1600" dirty="0">
                          <a:solidFill>
                            <a:srgbClr val="333333"/>
                          </a:solidFill>
                        </a:rPr>
                        <a:t>0.136</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20700">
                <a:tc>
                  <a:txBody>
                    <a:bodyPr/>
                    <a:lstStyle/>
                    <a:p>
                      <a:pPr algn="ctr"/>
                      <a:r>
                        <a:rPr lang="en-US" sz="1600" dirty="0">
                          <a:solidFill>
                            <a:srgbClr val="333333"/>
                          </a:solidFill>
                        </a:rPr>
                        <a:t>1</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0F4FA"/>
                    </a:solidFill>
                  </a:tcPr>
                </a:tc>
                <a:tc>
                  <a:txBody>
                    <a:bodyPr/>
                    <a:lstStyle/>
                    <a:p>
                      <a:pPr algn="l"/>
                      <a:r>
                        <a:rPr lang="en-US" sz="1600" dirty="0">
                          <a:solidFill>
                            <a:srgbClr val="333333"/>
                          </a:solidFill>
                        </a:rPr>
                        <a:t>Hot Jupiters</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0F4FA"/>
                    </a:solidFill>
                  </a:tcPr>
                </a:tc>
                <a:tc>
                  <a:txBody>
                    <a:bodyPr/>
                    <a:lstStyle/>
                    <a:p>
                      <a:pPr algn="ctr"/>
                      <a:r>
                        <a:rPr lang="en-US" sz="1600" dirty="0">
                          <a:solidFill>
                            <a:srgbClr val="333333"/>
                          </a:solidFill>
                        </a:rPr>
                        <a:t>1174</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0F4FA"/>
                    </a:solidFill>
                  </a:tcPr>
                </a:tc>
                <a:tc>
                  <a:txBody>
                    <a:bodyPr/>
                    <a:lstStyle/>
                    <a:p>
                      <a:pPr algn="ctr"/>
                      <a:r>
                        <a:rPr lang="en-US" sz="1600" dirty="0">
                          <a:solidFill>
                            <a:srgbClr val="333333"/>
                          </a:solidFill>
                        </a:rPr>
                        <a:t>19.1</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0F4FA"/>
                    </a:solidFill>
                  </a:tcPr>
                </a:tc>
                <a:tc>
                  <a:txBody>
                    <a:bodyPr/>
                    <a:lstStyle/>
                    <a:p>
                      <a:pPr algn="ctr"/>
                      <a:r>
                        <a:rPr lang="en-US" sz="1600" b="1" dirty="0">
                          <a:solidFill>
                            <a:srgbClr val="333333"/>
                          </a:solidFill>
                        </a:rPr>
                        <a:t>1227</a:t>
                      </a:r>
                      <a:endParaRPr lang="en-US" sz="1600" b="1"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0F4FA"/>
                    </a:solidFill>
                  </a:tcPr>
                </a:tc>
                <a:tc>
                  <a:txBody>
                    <a:bodyPr/>
                    <a:lstStyle/>
                    <a:p>
                      <a:pPr algn="ctr"/>
                      <a:r>
                        <a:rPr lang="en-US" sz="1600" b="1" dirty="0">
                          <a:solidFill>
                            <a:srgbClr val="333333"/>
                          </a:solidFill>
                        </a:rPr>
                        <a:t>0.053</a:t>
                      </a:r>
                      <a:endParaRPr lang="en-US" sz="1600" b="1"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0F4FA"/>
                    </a:solidFill>
                  </a:tcPr>
                </a:tc>
                <a:tc>
                  <a:txBody>
                    <a:bodyPr/>
                    <a:lstStyle/>
                    <a:p>
                      <a:pPr algn="ctr"/>
                      <a:r>
                        <a:rPr lang="en-US" sz="1600" dirty="0">
                          <a:solidFill>
                            <a:srgbClr val="333333"/>
                          </a:solidFill>
                        </a:rPr>
                        <a:t>5.64</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0F4FA"/>
                    </a:solidFill>
                  </a:tcPr>
                </a:tc>
                <a:tc>
                  <a:txBody>
                    <a:bodyPr/>
                    <a:lstStyle/>
                    <a:p>
                      <a:pPr algn="ctr"/>
                      <a:r>
                        <a:rPr lang="en-US" sz="1600" dirty="0">
                          <a:solidFill>
                            <a:srgbClr val="333333"/>
                          </a:solidFill>
                        </a:rPr>
                        <a:t>0.257</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0F4FA"/>
                    </a:solidFill>
                  </a:tcPr>
                </a:tc>
                <a:extLst>
                  <a:ext uri="{0D108BD9-81ED-4DB2-BD59-A6C34878D82A}">
                    <a16:rowId xmlns:a16="http://schemas.microsoft.com/office/drawing/2014/main" val="10002"/>
                  </a:ext>
                </a:extLst>
              </a:tr>
              <a:tr h="520700">
                <a:tc>
                  <a:txBody>
                    <a:bodyPr/>
                    <a:lstStyle/>
                    <a:p>
                      <a:pPr algn="ctr"/>
                      <a:r>
                        <a:rPr lang="en-US" sz="1600" dirty="0">
                          <a:solidFill>
                            <a:srgbClr val="333333"/>
                          </a:solidFill>
                        </a:rPr>
                        <a:t>2</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a:r>
                        <a:rPr lang="en-US" sz="1600" dirty="0">
                          <a:solidFill>
                            <a:srgbClr val="333333"/>
                          </a:solidFill>
                        </a:rPr>
                        <a:t>Wide-Orbit Companions</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a:r>
                        <a:rPr lang="en-US" sz="1600" dirty="0">
                          <a:solidFill>
                            <a:srgbClr val="333333"/>
                          </a:solidFill>
                        </a:rPr>
                        <a:t>72</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a:r>
                        <a:rPr lang="en-US" sz="1600" dirty="0">
                          <a:solidFill>
                            <a:srgbClr val="333333"/>
                          </a:solidFill>
                        </a:rPr>
                        <a:t>1.2</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a:r>
                        <a:rPr lang="en-US" sz="1600" dirty="0">
                          <a:solidFill>
                            <a:srgbClr val="333333"/>
                          </a:solidFill>
                        </a:rPr>
                        <a:t>1378</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a:r>
                        <a:rPr lang="en-US" sz="1600" dirty="0">
                          <a:solidFill>
                            <a:srgbClr val="333333"/>
                          </a:solidFill>
                        </a:rPr>
                        <a:t>0.048</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a:r>
                        <a:rPr lang="en-US" sz="1600" dirty="0">
                          <a:solidFill>
                            <a:srgbClr val="333333"/>
                          </a:solidFill>
                        </a:rPr>
                        <a:t>8.14</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a:r>
                        <a:rPr lang="en-US" sz="1600" b="1" dirty="0">
                          <a:solidFill>
                            <a:srgbClr val="333333"/>
                          </a:solidFill>
                        </a:rPr>
                        <a:t>5.773</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20700">
                <a:tc>
                  <a:txBody>
                    <a:bodyPr/>
                    <a:lstStyle/>
                    <a:p>
                      <a:pPr algn="ctr"/>
                      <a:r>
                        <a:rPr lang="en-US" sz="1600" dirty="0">
                          <a:solidFill>
                            <a:srgbClr val="333333"/>
                          </a:solidFill>
                        </a:rPr>
                        <a:t>3</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0F4FA"/>
                    </a:solidFill>
                  </a:tcPr>
                </a:tc>
                <a:tc>
                  <a:txBody>
                    <a:bodyPr/>
                    <a:lstStyle/>
                    <a:p>
                      <a:pPr algn="l"/>
                      <a:r>
                        <a:rPr lang="en-US" sz="1600" dirty="0">
                          <a:solidFill>
                            <a:srgbClr val="333333"/>
                          </a:solidFill>
                        </a:rPr>
                        <a:t>Eccentric Long-Period Giants</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0F4FA"/>
                    </a:solidFill>
                  </a:tcPr>
                </a:tc>
                <a:tc>
                  <a:txBody>
                    <a:bodyPr/>
                    <a:lstStyle/>
                    <a:p>
                      <a:pPr algn="ctr"/>
                      <a:r>
                        <a:rPr lang="en-US" sz="1600" dirty="0">
                          <a:solidFill>
                            <a:srgbClr val="333333"/>
                          </a:solidFill>
                        </a:rPr>
                        <a:t>850</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0F4FA"/>
                    </a:solidFill>
                  </a:tcPr>
                </a:tc>
                <a:tc>
                  <a:txBody>
                    <a:bodyPr/>
                    <a:lstStyle/>
                    <a:p>
                      <a:pPr algn="ctr"/>
                      <a:r>
                        <a:rPr lang="en-US" sz="1600" dirty="0">
                          <a:solidFill>
                            <a:srgbClr val="333333"/>
                          </a:solidFill>
                        </a:rPr>
                        <a:t>13.8</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0F4FA"/>
                    </a:solidFill>
                  </a:tcPr>
                </a:tc>
                <a:tc>
                  <a:txBody>
                    <a:bodyPr/>
                    <a:lstStyle/>
                    <a:p>
                      <a:pPr algn="ctr"/>
                      <a:r>
                        <a:rPr lang="en-US" sz="1600" dirty="0">
                          <a:solidFill>
                            <a:srgbClr val="333333"/>
                          </a:solidFill>
                        </a:rPr>
                        <a:t>771</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0F4FA"/>
                    </a:solidFill>
                  </a:tcPr>
                </a:tc>
                <a:tc>
                  <a:txBody>
                    <a:bodyPr/>
                    <a:lstStyle/>
                    <a:p>
                      <a:pPr algn="ctr"/>
                      <a:r>
                        <a:rPr lang="en-US" sz="1600" b="1" dirty="0">
                          <a:solidFill>
                            <a:srgbClr val="333333"/>
                          </a:solidFill>
                        </a:rPr>
                        <a:t>0.286</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0F4FA"/>
                    </a:solidFill>
                  </a:tcPr>
                </a:tc>
                <a:tc>
                  <a:txBody>
                    <a:bodyPr/>
                    <a:lstStyle/>
                    <a:p>
                      <a:pPr algn="ctr"/>
                      <a:r>
                        <a:rPr lang="en-US" sz="1600" dirty="0">
                          <a:solidFill>
                            <a:srgbClr val="333333"/>
                          </a:solidFill>
                        </a:rPr>
                        <a:t>6.59</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0F4FA"/>
                    </a:solidFill>
                  </a:tcPr>
                </a:tc>
                <a:tc>
                  <a:txBody>
                    <a:bodyPr/>
                    <a:lstStyle/>
                    <a:p>
                      <a:pPr algn="ctr"/>
                      <a:r>
                        <a:rPr lang="en-US" sz="1600" dirty="0">
                          <a:solidFill>
                            <a:srgbClr val="333333"/>
                          </a:solidFill>
                        </a:rPr>
                        <a:t>1.139</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0F4FA"/>
                    </a:solidFill>
                  </a:tcPr>
                </a:tc>
                <a:extLst>
                  <a:ext uri="{0D108BD9-81ED-4DB2-BD59-A6C34878D82A}">
                    <a16:rowId xmlns:a16="http://schemas.microsoft.com/office/drawing/2014/main" val="10004"/>
                  </a:ext>
                </a:extLst>
              </a:tr>
            </a:tbl>
          </a:graphicData>
        </a:graphic>
      </p:graphicFrame>
      <p:pic>
        <p:nvPicPr>
          <p:cNvPr id="17" name="Image 0" descr="https://kimi-img.moonshot.cn/pub/slides/okc/qjpdxks4bncqy/mnt/agents/upload/fig_cluster_profile_heatmap.png"/>
          <p:cNvPicPr>
            <a:picLocks noChangeAspect="1"/>
          </p:cNvPicPr>
          <p:nvPr/>
        </p:nvPicPr>
        <p:blipFill>
          <a:blip r:embed="rId3"/>
          <a:srcRect/>
          <a:stretch/>
        </p:blipFill>
        <p:spPr>
          <a:xfrm>
            <a:off x="2540000" y="4318000"/>
            <a:ext cx="13208000" cy="4191000"/>
          </a:xfrm>
          <a:prstGeom prst="rect">
            <a:avLst/>
          </a:prstGeom>
        </p:spPr>
      </p:pic>
      <p:sp>
        <p:nvSpPr>
          <p:cNvPr id="18" name="Text 14"/>
          <p:cNvSpPr/>
          <p:nvPr/>
        </p:nvSpPr>
        <p:spPr>
          <a:xfrm>
            <a:off x="2540000" y="8559800"/>
            <a:ext cx="13208000" cy="254000"/>
          </a:xfrm>
          <a:prstGeom prst="rect">
            <a:avLst/>
          </a:prstGeom>
          <a:noFill/>
          <a:ln/>
        </p:spPr>
        <p:txBody>
          <a:bodyPr wrap="none" lIns="0" tIns="0" rIns="0" bIns="0" rtlCol="0" anchor="ctr"/>
          <a:lstStyle/>
          <a:p>
            <a:pPr algn="ctr">
              <a:lnSpc>
                <a:spcPct val="120000"/>
              </a:lnSpc>
            </a:pPr>
            <a:r>
              <a:rPr lang="en-US" sz="1200" i="1" dirty="0">
                <a:solidFill>
                  <a:schemeClr val="bg1">
                    <a:lumMod val="65000"/>
                  </a:schemeClr>
                </a:solidFill>
                <a:latin typeface="Quattrocento Sans" pitchFamily="34" charset="0"/>
                <a:ea typeface="Quattrocento Sans" pitchFamily="34" charset="-122"/>
                <a:cs typeface="Quattrocento Sans" pitchFamily="34" charset="-120"/>
              </a:rPr>
              <a:t>Figure 2: Z-score heatmap of mean feature profiles for the four clusters </a:t>
            </a:r>
          </a:p>
          <a:p>
            <a:pPr algn="ctr">
              <a:lnSpc>
                <a:spcPct val="120000"/>
              </a:lnSpc>
            </a:pPr>
            <a:r>
              <a:rPr lang="it-IT" sz="1200" i="1" dirty="0">
                <a:solidFill>
                  <a:schemeClr val="bg1">
                    <a:lumMod val="65000"/>
                  </a:schemeClr>
                </a:solidFill>
              </a:rPr>
              <a:t>z = (valore del cluster - media generale) / deviazione standard</a:t>
            </a:r>
            <a:r>
              <a:rPr lang="en-US" sz="1200" i="1" dirty="0">
                <a:solidFill>
                  <a:schemeClr val="bg1">
                    <a:lumMod val="65000"/>
                  </a:schemeClr>
                </a:solidFill>
                <a:latin typeface="Quattrocento Sans" pitchFamily="34" charset="0"/>
                <a:ea typeface="Quattrocento Sans" pitchFamily="34" charset="-122"/>
                <a:cs typeface="Quattrocento Sans" pitchFamily="34" charset="-120"/>
              </a:rPr>
              <a:t>.</a:t>
            </a:r>
            <a:endParaRPr lang="en-US" sz="1200" i="1" dirty="0">
              <a:solidFill>
                <a:schemeClr val="bg1">
                  <a:lumMod val="65000"/>
                </a:schemeClr>
              </a:solidFill>
            </a:endParaRPr>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AFE"/>
        </a:solidFill>
        <a:effectLst/>
      </p:bgPr>
    </p:bg>
    <p:spTree>
      <p:nvGrpSpPr>
        <p:cNvPr id="1" name=""/>
        <p:cNvGrpSpPr/>
        <p:nvPr/>
      </p:nvGrpSpPr>
      <p:grpSpPr>
        <a:xfrm>
          <a:off x="0" y="0"/>
          <a:ext cx="0" cy="0"/>
          <a:chOff x="0" y="0"/>
          <a:chExt cx="0" cy="0"/>
        </a:xfrm>
      </p:grpSpPr>
      <p:sp>
        <p:nvSpPr>
          <p:cNvPr id="2" name="Shape 0"/>
          <p:cNvSpPr/>
          <p:nvPr/>
        </p:nvSpPr>
        <p:spPr>
          <a:xfrm>
            <a:off x="0" y="0"/>
            <a:ext cx="2286000" cy="9144000"/>
          </a:xfrm>
          <a:prstGeom prst="rect">
            <a:avLst/>
          </a:prstGeom>
          <a:solidFill>
            <a:srgbClr val="004060"/>
          </a:solidFill>
          <a:ln/>
        </p:spPr>
        <p:txBody>
          <a:bodyPr/>
          <a:lstStyle/>
          <a:p>
            <a:endParaRPr/>
          </a:p>
        </p:txBody>
      </p:sp>
      <p:sp>
        <p:nvSpPr>
          <p:cNvPr id="3" name="Shape 1"/>
          <p:cNvSpPr/>
          <p:nvPr/>
        </p:nvSpPr>
        <p:spPr>
          <a:xfrm>
            <a:off x="177800" y="177800"/>
            <a:ext cx="457200" cy="457200"/>
          </a:xfrm>
          <a:prstGeom prst="ellipse">
            <a:avLst/>
          </a:prstGeom>
          <a:solidFill>
            <a:srgbClr val="FFFFFF">
              <a:alpha val="12549"/>
            </a:srgbClr>
          </a:solidFill>
          <a:ln w="12700">
            <a:solidFill>
              <a:srgbClr val="00ACC1"/>
            </a:solidFill>
            <a:prstDash val="solid"/>
          </a:ln>
        </p:spPr>
        <p:txBody>
          <a:bodyPr/>
          <a:lstStyle/>
          <a:p>
            <a:endParaRPr/>
          </a:p>
        </p:txBody>
      </p:sp>
      <p:sp>
        <p:nvSpPr>
          <p:cNvPr id="4" name="Shape 2"/>
          <p:cNvSpPr/>
          <p:nvPr/>
        </p:nvSpPr>
        <p:spPr>
          <a:xfrm>
            <a:off x="0" y="3352800"/>
            <a:ext cx="2286000" cy="1168400"/>
          </a:xfrm>
          <a:prstGeom prst="rect">
            <a:avLst/>
          </a:prstGeom>
          <a:solidFill>
            <a:srgbClr val="005C82"/>
          </a:solidFill>
          <a:ln/>
        </p:spPr>
        <p:txBody>
          <a:bodyPr/>
          <a:lstStyle/>
          <a:p>
            <a:endParaRPr/>
          </a:p>
        </p:txBody>
      </p:sp>
      <p:sp>
        <p:nvSpPr>
          <p:cNvPr id="5" name="Text 3"/>
          <p:cNvSpPr/>
          <p:nvPr/>
        </p:nvSpPr>
        <p:spPr>
          <a:xfrm>
            <a:off x="101600" y="10160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01 Intro</a:t>
            </a:r>
            <a:endParaRPr lang="en-US" sz="1600" dirty="0"/>
          </a:p>
        </p:txBody>
      </p:sp>
      <p:sp>
        <p:nvSpPr>
          <p:cNvPr id="6" name="Text 4"/>
          <p:cNvSpPr/>
          <p:nvPr/>
        </p:nvSpPr>
        <p:spPr>
          <a:xfrm>
            <a:off x="101600" y="21844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02 Dataset</a:t>
            </a:r>
            <a:endParaRPr lang="en-US" sz="1600" dirty="0"/>
          </a:p>
        </p:txBody>
      </p:sp>
      <p:sp>
        <p:nvSpPr>
          <p:cNvPr id="7" name="Text 5"/>
          <p:cNvSpPr/>
          <p:nvPr/>
        </p:nvSpPr>
        <p:spPr>
          <a:xfrm>
            <a:off x="101600" y="3352800"/>
            <a:ext cx="2082800" cy="1168400"/>
          </a:xfrm>
          <a:prstGeom prst="rect">
            <a:avLst/>
          </a:prstGeom>
          <a:noFill/>
          <a:ln/>
        </p:spPr>
        <p:txBody>
          <a:bodyPr wrap="none" lIns="0" tIns="0" rIns="0" bIns="0" rtlCol="0" anchor="ctr"/>
          <a:lstStyle/>
          <a:p>
            <a:pPr algn="l">
              <a:lnSpc>
                <a:spcPct val="120000"/>
              </a:lnSpc>
            </a:pPr>
            <a:r>
              <a:rPr lang="en-US" sz="1800" b="1" dirty="0">
                <a:solidFill>
                  <a:srgbClr val="FFFFFF"/>
                </a:solidFill>
                <a:latin typeface="Quattrocento Sans" pitchFamily="34" charset="0"/>
                <a:ea typeface="Quattrocento Sans" pitchFamily="34" charset="-122"/>
                <a:cs typeface="Quattrocento Sans" pitchFamily="34" charset="-120"/>
              </a:rPr>
              <a:t>03 Clustering</a:t>
            </a:r>
            <a:endParaRPr lang="en-US" sz="1800" dirty="0"/>
          </a:p>
        </p:txBody>
      </p:sp>
      <p:sp>
        <p:nvSpPr>
          <p:cNvPr id="8" name="Text 6"/>
          <p:cNvSpPr/>
          <p:nvPr/>
        </p:nvSpPr>
        <p:spPr>
          <a:xfrm>
            <a:off x="101600" y="45212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04 Supervised</a:t>
            </a:r>
            <a:endParaRPr lang="en-US" sz="1600" dirty="0"/>
          </a:p>
        </p:txBody>
      </p:sp>
      <p:sp>
        <p:nvSpPr>
          <p:cNvPr id="9" name="Text 7"/>
          <p:cNvSpPr/>
          <p:nvPr/>
        </p:nvSpPr>
        <p:spPr>
          <a:xfrm>
            <a:off x="101600" y="56896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05 Conclusions</a:t>
            </a:r>
            <a:endParaRPr lang="en-US" sz="1600" dirty="0"/>
          </a:p>
        </p:txBody>
      </p:sp>
      <p:sp>
        <p:nvSpPr>
          <p:cNvPr id="10" name="Shape 8"/>
          <p:cNvSpPr/>
          <p:nvPr/>
        </p:nvSpPr>
        <p:spPr>
          <a:xfrm>
            <a:off x="1066800" y="7493000"/>
            <a:ext cx="152400" cy="152400"/>
          </a:xfrm>
          <a:prstGeom prst="diamond">
            <a:avLst/>
          </a:prstGeom>
          <a:solidFill>
            <a:srgbClr val="00ACC1"/>
          </a:solidFill>
          <a:ln/>
        </p:spPr>
        <p:txBody>
          <a:bodyPr/>
          <a:lstStyle/>
          <a:p>
            <a:endParaRPr/>
          </a:p>
        </p:txBody>
      </p:sp>
      <p:sp>
        <p:nvSpPr>
          <p:cNvPr id="11" name="Shape 9"/>
          <p:cNvSpPr/>
          <p:nvPr/>
        </p:nvSpPr>
        <p:spPr>
          <a:xfrm>
            <a:off x="2286000" y="0"/>
            <a:ext cx="13970000" cy="635000"/>
          </a:xfrm>
          <a:prstGeom prst="rect">
            <a:avLst/>
          </a:prstGeom>
          <a:solidFill>
            <a:srgbClr val="E0F4FA"/>
          </a:solidFill>
          <a:ln/>
        </p:spPr>
        <p:txBody>
          <a:bodyPr/>
          <a:lstStyle/>
          <a:p>
            <a:endParaRPr/>
          </a:p>
        </p:txBody>
      </p:sp>
      <p:sp>
        <p:nvSpPr>
          <p:cNvPr id="12" name="Text 10"/>
          <p:cNvSpPr/>
          <p:nvPr/>
        </p:nvSpPr>
        <p:spPr>
          <a:xfrm>
            <a:off x="2540000" y="0"/>
            <a:ext cx="12827000" cy="635000"/>
          </a:xfrm>
          <a:prstGeom prst="rect">
            <a:avLst/>
          </a:prstGeom>
          <a:noFill/>
          <a:ln/>
        </p:spPr>
        <p:txBody>
          <a:bodyPr wrap="none" lIns="0" tIns="0" rIns="0" bIns="0" rtlCol="0" anchor="ctr"/>
          <a:lstStyle/>
          <a:p>
            <a:pPr algn="l">
              <a:lnSpc>
                <a:spcPct val="120000"/>
              </a:lnSpc>
            </a:pPr>
            <a:r>
              <a:rPr lang="en-US" sz="1400" b="1" dirty="0">
                <a:solidFill>
                  <a:srgbClr val="005C82"/>
                </a:solidFill>
                <a:latin typeface="Quattrocento Sans" pitchFamily="34" charset="0"/>
                <a:ea typeface="Quattrocento Sans" pitchFamily="34" charset="-122"/>
                <a:cs typeface="Quattrocento Sans" pitchFamily="34" charset="-120"/>
              </a:rPr>
              <a:t>03 Clustering</a:t>
            </a:r>
            <a:r>
              <a:rPr lang="en-US" sz="1400" dirty="0">
                <a:solidFill>
                  <a:srgbClr val="005C82"/>
                </a:solidFill>
                <a:latin typeface="Quattrocento Sans" pitchFamily="34" charset="0"/>
                <a:ea typeface="Quattrocento Sans" pitchFamily="34" charset="-122"/>
                <a:cs typeface="Quattrocento Sans" pitchFamily="34" charset="-120"/>
              </a:rPr>
              <a:t>  &gt;  3.3  PCA Visualization</a:t>
            </a:r>
            <a:endParaRPr lang="en-US" sz="1400" dirty="0"/>
          </a:p>
        </p:txBody>
      </p:sp>
      <p:sp>
        <p:nvSpPr>
          <p:cNvPr id="13" name="Text 11"/>
          <p:cNvSpPr/>
          <p:nvPr/>
        </p:nvSpPr>
        <p:spPr>
          <a:xfrm>
            <a:off x="15621000" y="0"/>
            <a:ext cx="635000" cy="635000"/>
          </a:xfrm>
          <a:prstGeom prst="rect">
            <a:avLst/>
          </a:prstGeom>
          <a:noFill/>
          <a:ln/>
        </p:spPr>
        <p:txBody>
          <a:bodyPr wrap="square" lIns="0" tIns="0" rIns="0" bIns="0" rtlCol="0" anchor="ctr"/>
          <a:lstStyle/>
          <a:p>
            <a:r>
              <a:t>17</a:t>
            </a:r>
          </a:p>
        </p:txBody>
      </p:sp>
      <p:sp>
        <p:nvSpPr>
          <p:cNvPr id="14" name="Text 12"/>
          <p:cNvSpPr/>
          <p:nvPr/>
        </p:nvSpPr>
        <p:spPr>
          <a:xfrm>
            <a:off x="2540000" y="863600"/>
            <a:ext cx="13208000" cy="457200"/>
          </a:xfrm>
          <a:prstGeom prst="rect">
            <a:avLst/>
          </a:prstGeom>
          <a:noFill/>
          <a:ln/>
        </p:spPr>
        <p:txBody>
          <a:bodyPr wrap="none" lIns="0" tIns="0" rIns="0" bIns="0" rtlCol="0" anchor="t"/>
          <a:lstStyle/>
          <a:p>
            <a:pPr algn="l">
              <a:lnSpc>
                <a:spcPct val="120000"/>
              </a:lnSpc>
            </a:pPr>
            <a:r>
              <a:rPr lang="en-US" sz="2400" b="1" dirty="0">
                <a:solidFill>
                  <a:srgbClr val="005C82"/>
                </a:solidFill>
                <a:latin typeface="Quattrocento Sans" pitchFamily="34" charset="0"/>
                <a:ea typeface="Quattrocento Sans" pitchFamily="34" charset="-122"/>
                <a:cs typeface="Quattrocento Sans" pitchFamily="34" charset="-120"/>
              </a:rPr>
              <a:t>PCA Visualization of Clusters</a:t>
            </a:r>
            <a:endParaRPr lang="en-US" sz="2400" dirty="0"/>
          </a:p>
        </p:txBody>
      </p:sp>
      <p:sp>
        <p:nvSpPr>
          <p:cNvPr id="15" name="Shape 13"/>
          <p:cNvSpPr/>
          <p:nvPr/>
        </p:nvSpPr>
        <p:spPr>
          <a:xfrm>
            <a:off x="2540000" y="1397000"/>
            <a:ext cx="13208000" cy="12700"/>
          </a:xfrm>
          <a:prstGeom prst="rect">
            <a:avLst/>
          </a:prstGeom>
          <a:solidFill>
            <a:srgbClr val="B0BEC5"/>
          </a:solidFill>
          <a:ln/>
        </p:spPr>
        <p:txBody>
          <a:bodyPr/>
          <a:lstStyle/>
          <a:p>
            <a:endParaRPr/>
          </a:p>
        </p:txBody>
      </p:sp>
      <p:pic>
        <p:nvPicPr>
          <p:cNvPr id="16" name="Image 0" descr="https://kimi-img.moonshot.cn/pub/slides/okc/qjpdxks4bncqy/mnt/agents/upload/fig_pca_clusters.png"/>
          <p:cNvPicPr>
            <a:picLocks noChangeAspect="1"/>
          </p:cNvPicPr>
          <p:nvPr/>
        </p:nvPicPr>
        <p:blipFill>
          <a:blip r:embed="rId3"/>
          <a:srcRect/>
          <a:stretch/>
        </p:blipFill>
        <p:spPr>
          <a:xfrm>
            <a:off x="2540000" y="1574800"/>
            <a:ext cx="13208000" cy="5334000"/>
          </a:xfrm>
          <a:prstGeom prst="rect">
            <a:avLst/>
          </a:prstGeom>
        </p:spPr>
      </p:pic>
      <p:sp>
        <p:nvSpPr>
          <p:cNvPr id="17" name="Shape 14"/>
          <p:cNvSpPr/>
          <p:nvPr/>
        </p:nvSpPr>
        <p:spPr>
          <a:xfrm>
            <a:off x="2540000" y="7112000"/>
            <a:ext cx="13208000" cy="1397000"/>
          </a:xfrm>
          <a:prstGeom prst="rect">
            <a:avLst/>
          </a:prstGeom>
          <a:solidFill>
            <a:srgbClr val="005C82"/>
          </a:solidFill>
          <a:ln/>
        </p:spPr>
        <p:txBody>
          <a:bodyPr/>
          <a:lstStyle/>
          <a:p>
            <a:endParaRPr/>
          </a:p>
        </p:txBody>
      </p:sp>
      <p:sp>
        <p:nvSpPr>
          <p:cNvPr id="18" name="Shape 15"/>
          <p:cNvSpPr/>
          <p:nvPr/>
        </p:nvSpPr>
        <p:spPr>
          <a:xfrm>
            <a:off x="2717800" y="7264400"/>
            <a:ext cx="177800" cy="177800"/>
          </a:xfrm>
          <a:prstGeom prst="diamond">
            <a:avLst/>
          </a:prstGeom>
          <a:solidFill>
            <a:srgbClr val="00ACC1"/>
          </a:solidFill>
          <a:ln/>
        </p:spPr>
        <p:txBody>
          <a:bodyPr/>
          <a:lstStyle/>
          <a:p>
            <a:endParaRPr/>
          </a:p>
        </p:txBody>
      </p:sp>
      <p:sp>
        <p:nvSpPr>
          <p:cNvPr id="19" name="Text 16"/>
          <p:cNvSpPr/>
          <p:nvPr/>
        </p:nvSpPr>
        <p:spPr>
          <a:xfrm>
            <a:off x="3022600" y="7188200"/>
            <a:ext cx="3048000" cy="304800"/>
          </a:xfrm>
          <a:prstGeom prst="rect">
            <a:avLst/>
          </a:prstGeom>
          <a:noFill/>
          <a:ln/>
        </p:spPr>
        <p:txBody>
          <a:bodyPr wrap="none" lIns="0" tIns="0" rIns="0" bIns="0" rtlCol="0" anchor="t"/>
          <a:lstStyle/>
          <a:p>
            <a:pPr algn="l">
              <a:lnSpc>
                <a:spcPct val="120000"/>
              </a:lnSpc>
            </a:pPr>
            <a:r>
              <a:rPr lang="en-US" sz="1800" b="1" dirty="0">
                <a:solidFill>
                  <a:srgbClr val="00ACC1"/>
                </a:solidFill>
                <a:latin typeface="Quattrocento Sans" pitchFamily="34" charset="0"/>
                <a:ea typeface="Quattrocento Sans" pitchFamily="34" charset="-122"/>
                <a:cs typeface="Quattrocento Sans" pitchFamily="34" charset="-120"/>
              </a:rPr>
              <a:t>Interpretation</a:t>
            </a:r>
            <a:endParaRPr lang="en-US" sz="1800" dirty="0"/>
          </a:p>
        </p:txBody>
      </p:sp>
      <p:sp>
        <p:nvSpPr>
          <p:cNvPr id="20" name="Text 17"/>
          <p:cNvSpPr/>
          <p:nvPr/>
        </p:nvSpPr>
        <p:spPr>
          <a:xfrm>
            <a:off x="2717800" y="7569200"/>
            <a:ext cx="12827000" cy="838200"/>
          </a:xfrm>
          <a:prstGeom prst="rect">
            <a:avLst/>
          </a:prstGeom>
          <a:noFill/>
          <a:ln/>
        </p:spPr>
        <p:txBody>
          <a:bodyPr wrap="square" lIns="0" tIns="0" rIns="0" bIns="0" rtlCol="0" anchor="t"/>
          <a:lstStyle/>
          <a:p>
            <a:pPr algn="l">
              <a:lnSpc>
                <a:spcPct val="140000"/>
              </a:lnSpc>
            </a:pPr>
            <a:r>
              <a:rPr lang="en-US" sz="1400" dirty="0">
                <a:solidFill>
                  <a:srgbClr val="FFFFFF"/>
                </a:solidFill>
                <a:latin typeface="Quattrocento Sans" pitchFamily="34" charset="0"/>
                <a:ea typeface="Quattrocento Sans" pitchFamily="34" charset="-122"/>
                <a:cs typeface="Quattrocento Sans" pitchFamily="34" charset="-120"/>
              </a:rPr>
              <a:t>The 2D projection shows four partially overlapping groups, consistent with Silhouette ~0.447 indicating a continuous physical domain rather than sharply separated classes.</a:t>
            </a:r>
            <a:endParaRPr lang="en-US" sz="1400" dirty="0"/>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AFE"/>
        </a:solidFill>
        <a:effectLst/>
      </p:bgPr>
    </p:bg>
    <p:spTree>
      <p:nvGrpSpPr>
        <p:cNvPr id="1" name=""/>
        <p:cNvGrpSpPr/>
        <p:nvPr/>
      </p:nvGrpSpPr>
      <p:grpSpPr>
        <a:xfrm>
          <a:off x="0" y="0"/>
          <a:ext cx="0" cy="0"/>
          <a:chOff x="0" y="0"/>
          <a:chExt cx="0" cy="0"/>
        </a:xfrm>
      </p:grpSpPr>
      <p:sp>
        <p:nvSpPr>
          <p:cNvPr id="2" name="Shape 0"/>
          <p:cNvSpPr/>
          <p:nvPr/>
        </p:nvSpPr>
        <p:spPr>
          <a:xfrm>
            <a:off x="0" y="0"/>
            <a:ext cx="2286000" cy="9144000"/>
          </a:xfrm>
          <a:prstGeom prst="rect">
            <a:avLst/>
          </a:prstGeom>
          <a:solidFill>
            <a:srgbClr val="004060"/>
          </a:solidFill>
          <a:ln/>
        </p:spPr>
        <p:txBody>
          <a:bodyPr/>
          <a:lstStyle/>
          <a:p>
            <a:endParaRPr/>
          </a:p>
        </p:txBody>
      </p:sp>
      <p:sp>
        <p:nvSpPr>
          <p:cNvPr id="3" name="Shape 1"/>
          <p:cNvSpPr/>
          <p:nvPr/>
        </p:nvSpPr>
        <p:spPr>
          <a:xfrm>
            <a:off x="177800" y="177800"/>
            <a:ext cx="457200" cy="457200"/>
          </a:xfrm>
          <a:prstGeom prst="ellipse">
            <a:avLst/>
          </a:prstGeom>
          <a:solidFill>
            <a:srgbClr val="FFFFFF">
              <a:alpha val="12549"/>
            </a:srgbClr>
          </a:solidFill>
          <a:ln w="12700">
            <a:solidFill>
              <a:srgbClr val="00ACC1"/>
            </a:solidFill>
            <a:prstDash val="solid"/>
          </a:ln>
        </p:spPr>
        <p:txBody>
          <a:bodyPr/>
          <a:lstStyle/>
          <a:p>
            <a:endParaRPr/>
          </a:p>
        </p:txBody>
      </p:sp>
      <p:sp>
        <p:nvSpPr>
          <p:cNvPr id="4" name="Shape 2"/>
          <p:cNvSpPr/>
          <p:nvPr/>
        </p:nvSpPr>
        <p:spPr>
          <a:xfrm>
            <a:off x="0" y="3352800"/>
            <a:ext cx="2286000" cy="1168400"/>
          </a:xfrm>
          <a:prstGeom prst="rect">
            <a:avLst/>
          </a:prstGeom>
          <a:solidFill>
            <a:srgbClr val="005C82"/>
          </a:solidFill>
          <a:ln/>
        </p:spPr>
        <p:txBody>
          <a:bodyPr/>
          <a:lstStyle/>
          <a:p>
            <a:endParaRPr/>
          </a:p>
        </p:txBody>
      </p:sp>
      <p:sp>
        <p:nvSpPr>
          <p:cNvPr id="5" name="Text 3"/>
          <p:cNvSpPr/>
          <p:nvPr/>
        </p:nvSpPr>
        <p:spPr>
          <a:xfrm>
            <a:off x="101600" y="10160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01 Intro</a:t>
            </a:r>
            <a:endParaRPr lang="en-US" sz="1600" dirty="0"/>
          </a:p>
        </p:txBody>
      </p:sp>
      <p:sp>
        <p:nvSpPr>
          <p:cNvPr id="6" name="Text 4"/>
          <p:cNvSpPr/>
          <p:nvPr/>
        </p:nvSpPr>
        <p:spPr>
          <a:xfrm>
            <a:off x="101600" y="21844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02 Dataset</a:t>
            </a:r>
            <a:endParaRPr lang="en-US" sz="1600" dirty="0"/>
          </a:p>
        </p:txBody>
      </p:sp>
      <p:sp>
        <p:nvSpPr>
          <p:cNvPr id="7" name="Text 5"/>
          <p:cNvSpPr/>
          <p:nvPr/>
        </p:nvSpPr>
        <p:spPr>
          <a:xfrm>
            <a:off x="101600" y="3352800"/>
            <a:ext cx="2082800" cy="1168400"/>
          </a:xfrm>
          <a:prstGeom prst="rect">
            <a:avLst/>
          </a:prstGeom>
          <a:noFill/>
          <a:ln/>
        </p:spPr>
        <p:txBody>
          <a:bodyPr wrap="none" lIns="0" tIns="0" rIns="0" bIns="0" rtlCol="0" anchor="ctr"/>
          <a:lstStyle/>
          <a:p>
            <a:pPr algn="l">
              <a:lnSpc>
                <a:spcPct val="120000"/>
              </a:lnSpc>
            </a:pPr>
            <a:r>
              <a:rPr lang="en-US" sz="1800" b="1" dirty="0">
                <a:solidFill>
                  <a:srgbClr val="FFFFFF"/>
                </a:solidFill>
                <a:latin typeface="Quattrocento Sans" pitchFamily="34" charset="0"/>
                <a:ea typeface="Quattrocento Sans" pitchFamily="34" charset="-122"/>
                <a:cs typeface="Quattrocento Sans" pitchFamily="34" charset="-120"/>
              </a:rPr>
              <a:t>03 Clustering</a:t>
            </a:r>
            <a:endParaRPr lang="en-US" sz="1800" dirty="0"/>
          </a:p>
        </p:txBody>
      </p:sp>
      <p:sp>
        <p:nvSpPr>
          <p:cNvPr id="8" name="Text 6"/>
          <p:cNvSpPr/>
          <p:nvPr/>
        </p:nvSpPr>
        <p:spPr>
          <a:xfrm>
            <a:off x="101600" y="45212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04 Supervised</a:t>
            </a:r>
            <a:endParaRPr lang="en-US" sz="1600" dirty="0"/>
          </a:p>
        </p:txBody>
      </p:sp>
      <p:sp>
        <p:nvSpPr>
          <p:cNvPr id="9" name="Text 7"/>
          <p:cNvSpPr/>
          <p:nvPr/>
        </p:nvSpPr>
        <p:spPr>
          <a:xfrm>
            <a:off x="101600" y="56896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05 Conclusions</a:t>
            </a:r>
            <a:endParaRPr lang="en-US" sz="1600" dirty="0"/>
          </a:p>
        </p:txBody>
      </p:sp>
      <p:sp>
        <p:nvSpPr>
          <p:cNvPr id="10" name="Shape 8"/>
          <p:cNvSpPr/>
          <p:nvPr/>
        </p:nvSpPr>
        <p:spPr>
          <a:xfrm>
            <a:off x="1066800" y="7493000"/>
            <a:ext cx="152400" cy="152400"/>
          </a:xfrm>
          <a:prstGeom prst="diamond">
            <a:avLst/>
          </a:prstGeom>
          <a:solidFill>
            <a:srgbClr val="00ACC1"/>
          </a:solidFill>
          <a:ln/>
        </p:spPr>
        <p:txBody>
          <a:bodyPr/>
          <a:lstStyle/>
          <a:p>
            <a:endParaRPr/>
          </a:p>
        </p:txBody>
      </p:sp>
      <p:sp>
        <p:nvSpPr>
          <p:cNvPr id="11" name="Shape 9"/>
          <p:cNvSpPr/>
          <p:nvPr/>
        </p:nvSpPr>
        <p:spPr>
          <a:xfrm>
            <a:off x="2286000" y="0"/>
            <a:ext cx="13970000" cy="635000"/>
          </a:xfrm>
          <a:prstGeom prst="rect">
            <a:avLst/>
          </a:prstGeom>
          <a:solidFill>
            <a:srgbClr val="E0F4FA"/>
          </a:solidFill>
          <a:ln/>
        </p:spPr>
        <p:txBody>
          <a:bodyPr/>
          <a:lstStyle/>
          <a:p>
            <a:endParaRPr/>
          </a:p>
        </p:txBody>
      </p:sp>
      <p:sp>
        <p:nvSpPr>
          <p:cNvPr id="12" name="Text 10"/>
          <p:cNvSpPr/>
          <p:nvPr/>
        </p:nvSpPr>
        <p:spPr>
          <a:xfrm>
            <a:off x="2540000" y="0"/>
            <a:ext cx="12827000" cy="635000"/>
          </a:xfrm>
          <a:prstGeom prst="rect">
            <a:avLst/>
          </a:prstGeom>
          <a:noFill/>
          <a:ln/>
        </p:spPr>
        <p:txBody>
          <a:bodyPr wrap="none" lIns="0" tIns="0" rIns="0" bIns="0" rtlCol="0" anchor="ctr"/>
          <a:lstStyle/>
          <a:p>
            <a:pPr algn="l">
              <a:lnSpc>
                <a:spcPct val="120000"/>
              </a:lnSpc>
            </a:pPr>
            <a:r>
              <a:rPr lang="en-US" sz="1400" b="1" dirty="0">
                <a:solidFill>
                  <a:srgbClr val="005C82"/>
                </a:solidFill>
                <a:latin typeface="Quattrocento Sans" pitchFamily="34" charset="0"/>
                <a:ea typeface="Quattrocento Sans" pitchFamily="34" charset="-122"/>
                <a:cs typeface="Quattrocento Sans" pitchFamily="34" charset="-120"/>
              </a:rPr>
              <a:t>03 Clustering</a:t>
            </a:r>
            <a:r>
              <a:rPr lang="en-US" sz="1400" dirty="0">
                <a:solidFill>
                  <a:srgbClr val="005C82"/>
                </a:solidFill>
                <a:latin typeface="Quattrocento Sans" pitchFamily="34" charset="0"/>
                <a:ea typeface="Quattrocento Sans" pitchFamily="34" charset="-122"/>
                <a:cs typeface="Quattrocento Sans" pitchFamily="34" charset="-120"/>
              </a:rPr>
              <a:t>  &gt;  3.3  External Validation (ARI)</a:t>
            </a:r>
            <a:endParaRPr lang="en-US" sz="1400" dirty="0"/>
          </a:p>
        </p:txBody>
      </p:sp>
      <p:sp>
        <p:nvSpPr>
          <p:cNvPr id="13" name="Text 11"/>
          <p:cNvSpPr/>
          <p:nvPr/>
        </p:nvSpPr>
        <p:spPr>
          <a:xfrm>
            <a:off x="15621000" y="0"/>
            <a:ext cx="635000" cy="635000"/>
          </a:xfrm>
          <a:prstGeom prst="rect">
            <a:avLst/>
          </a:prstGeom>
          <a:noFill/>
          <a:ln/>
        </p:spPr>
        <p:txBody>
          <a:bodyPr wrap="square" lIns="0" tIns="0" rIns="0" bIns="0" rtlCol="0" anchor="ctr"/>
          <a:lstStyle/>
          <a:p>
            <a:r>
              <a:t>18</a:t>
            </a:r>
          </a:p>
        </p:txBody>
      </p:sp>
      <p:sp>
        <p:nvSpPr>
          <p:cNvPr id="14" name="Text 12"/>
          <p:cNvSpPr/>
          <p:nvPr/>
        </p:nvSpPr>
        <p:spPr>
          <a:xfrm>
            <a:off x="2540000" y="863600"/>
            <a:ext cx="13208000" cy="457200"/>
          </a:xfrm>
          <a:prstGeom prst="rect">
            <a:avLst/>
          </a:prstGeom>
          <a:noFill/>
          <a:ln/>
        </p:spPr>
        <p:txBody>
          <a:bodyPr wrap="none" lIns="0" tIns="0" rIns="0" bIns="0" rtlCol="0" anchor="t"/>
          <a:lstStyle/>
          <a:p>
            <a:pPr algn="l">
              <a:lnSpc>
                <a:spcPct val="120000"/>
              </a:lnSpc>
            </a:pPr>
            <a:r>
              <a:rPr lang="en-US" sz="2400" b="1" dirty="0">
                <a:solidFill>
                  <a:srgbClr val="005C82"/>
                </a:solidFill>
                <a:latin typeface="Quattrocento Sans" pitchFamily="34" charset="0"/>
                <a:ea typeface="Quattrocento Sans" pitchFamily="34" charset="-122"/>
                <a:cs typeface="Quattrocento Sans" pitchFamily="34" charset="-120"/>
              </a:rPr>
              <a:t>Post-Hoc External Validation: Adjusted Rand Index</a:t>
            </a:r>
            <a:endParaRPr lang="en-US" sz="2400" dirty="0"/>
          </a:p>
        </p:txBody>
      </p:sp>
      <p:sp>
        <p:nvSpPr>
          <p:cNvPr id="15" name="Shape 13"/>
          <p:cNvSpPr/>
          <p:nvPr/>
        </p:nvSpPr>
        <p:spPr>
          <a:xfrm>
            <a:off x="2540000" y="1397000"/>
            <a:ext cx="13208000" cy="12700"/>
          </a:xfrm>
          <a:prstGeom prst="rect">
            <a:avLst/>
          </a:prstGeom>
          <a:solidFill>
            <a:srgbClr val="B0BEC5"/>
          </a:solidFill>
          <a:ln/>
        </p:spPr>
        <p:txBody>
          <a:bodyPr/>
          <a:lstStyle/>
          <a:p>
            <a:endParaRPr/>
          </a:p>
        </p:txBody>
      </p:sp>
      <p:sp>
        <p:nvSpPr>
          <p:cNvPr id="16" name="Shape 14"/>
          <p:cNvSpPr/>
          <p:nvPr/>
        </p:nvSpPr>
        <p:spPr>
          <a:xfrm>
            <a:off x="2540000" y="1574800"/>
            <a:ext cx="13208000" cy="762000"/>
          </a:xfrm>
          <a:prstGeom prst="roundRect">
            <a:avLst>
              <a:gd name="adj" fmla="val 4000"/>
            </a:avLst>
          </a:prstGeom>
          <a:solidFill>
            <a:srgbClr val="E0F4FA"/>
          </a:solidFill>
          <a:ln/>
        </p:spPr>
        <p:txBody>
          <a:bodyPr/>
          <a:lstStyle/>
          <a:p>
            <a:endParaRPr/>
          </a:p>
        </p:txBody>
      </p:sp>
      <mc:AlternateContent xmlns:mc="http://schemas.openxmlformats.org/markup-compatibility/2006" xmlns:a14="http://schemas.microsoft.com/office/drawing/2010/main">
        <mc:Choice Requires="a14">
          <p:sp>
            <p:nvSpPr>
              <p:cNvPr id="17" name="Text 15"/>
              <p:cNvSpPr/>
              <p:nvPr/>
            </p:nvSpPr>
            <p:spPr>
              <a:xfrm>
                <a:off x="2743200" y="1727200"/>
                <a:ext cx="12801600" cy="457200"/>
              </a:xfrm>
              <a:prstGeom prst="rect">
                <a:avLst/>
              </a:prstGeom>
              <a:noFill/>
              <a:ln/>
            </p:spPr>
            <p:txBody>
              <a:bodyPr wrap="square" lIns="0" tIns="0" rIns="0" bIns="0" rtlCol="0" anchor="ctr"/>
              <a:lstStyle/>
              <a:p>
                <a:pPr algn="ctr">
                  <a:lnSpc>
                    <a:spcPct val="120000"/>
                  </a:lnSpc>
                </a:pPr>
                <a:r>
                  <a:rPr lang="en-US" sz="1600" dirty="0">
                    <a:solidFill>
                      <a:srgbClr val="333333"/>
                    </a:solidFill>
                    <a:latin typeface="Quattrocento Sans" pitchFamily="34" charset="0"/>
                    <a:ea typeface="Quattrocento Sans" pitchFamily="34" charset="-122"/>
                    <a:cs typeface="Quattrocento Sans" pitchFamily="34" charset="-120"/>
                  </a:rPr>
                  <a:t>ARI corrects pairwise partition agreement for chance:  </a:t>
                </a:r>
                <a14:m>
                  <m:oMath xmlns:m="http://schemas.openxmlformats.org/officeDocument/2006/math">
                    <m:r>
                      <a:rPr lang="en-US" sz="1600" dirty="0">
                        <a:solidFill>
                          <a:srgbClr val="333333"/>
                        </a:solidFill>
                        <a:latin typeface="Cambria Math" panose="02040503050406030204" pitchFamily="18" charset="0"/>
                        <a:ea typeface="Quattrocento Sans" pitchFamily="34" charset="-122"/>
                        <a:cs typeface="Quattrocento Sans" pitchFamily="34" charset="-120"/>
                      </a:rPr>
                      <m:t>𝐴𝑅𝐼</m:t>
                    </m:r>
                    <m:r>
                      <a:rPr lang="en-US" sz="1600" dirty="0">
                        <a:solidFill>
                          <a:srgbClr val="333333"/>
                        </a:solidFill>
                        <a:latin typeface="Cambria Math" panose="02040503050406030204" pitchFamily="18" charset="0"/>
                        <a:ea typeface="Quattrocento Sans" pitchFamily="34" charset="-122"/>
                        <a:cs typeface="Quattrocento Sans" pitchFamily="34" charset="-120"/>
                      </a:rPr>
                      <m:t>=</m:t>
                    </m:r>
                    <m:f>
                      <m:fPr>
                        <m:ctrlPr>
                          <a:rPr lang="en-US" sz="1600" i="1" dirty="0">
                            <a:solidFill>
                              <a:srgbClr val="333333"/>
                            </a:solidFill>
                            <a:latin typeface="Cambria Math" panose="02040503050406030204" pitchFamily="18" charset="0"/>
                            <a:ea typeface="Quattrocento Sans" pitchFamily="34" charset="-122"/>
                            <a:cs typeface="Quattrocento Sans" pitchFamily="34" charset="-120"/>
                          </a:rPr>
                        </m:ctrlPr>
                      </m:fPr>
                      <m:num>
                        <m:sSub>
                          <m:sSubPr>
                            <m:ctrlPr>
                              <a:rPr lang="en-US" sz="800" i="1" dirty="0">
                                <a:solidFill>
                                  <a:srgbClr val="333333"/>
                                </a:solidFill>
                                <a:latin typeface="Cambria Math" panose="02040503050406030204" pitchFamily="18" charset="0"/>
                                <a:ea typeface="Quattrocento Sans" pitchFamily="34" charset="-122"/>
                                <a:cs typeface="Quattrocento Sans" pitchFamily="34" charset="-120"/>
                              </a:rPr>
                            </m:ctrlPr>
                          </m:sSubPr>
                          <m:e>
                            <m:r>
                              <a:rPr lang="en-US" sz="800" dirty="0">
                                <a:solidFill>
                                  <a:srgbClr val="333333"/>
                                </a:solidFill>
                                <a:latin typeface="Cambria Math" panose="02040503050406030204" pitchFamily="18" charset="0"/>
                                <a:ea typeface="Quattrocento Sans" pitchFamily="34" charset="-122"/>
                                <a:cs typeface="Quattrocento Sans" pitchFamily="34" charset="-120"/>
                              </a:rPr>
                              <m:t>∑</m:t>
                            </m:r>
                          </m:e>
                          <m:sub>
                            <m:r>
                              <a:rPr lang="en-US" sz="800" i="1" dirty="0">
                                <a:solidFill>
                                  <a:srgbClr val="333333"/>
                                </a:solidFill>
                                <a:latin typeface="Cambria Math" panose="02040503050406030204" pitchFamily="18" charset="0"/>
                                <a:ea typeface="Quattrocento Sans" pitchFamily="34" charset="-122"/>
                                <a:cs typeface="Quattrocento Sans" pitchFamily="34" charset="-120"/>
                              </a:rPr>
                              <m:t>𝑖𝑗</m:t>
                            </m:r>
                          </m:sub>
                        </m:sSub>
                        <m:r>
                          <a:rPr lang="en-US" sz="1100" dirty="0">
                            <a:solidFill>
                              <a:srgbClr val="333333"/>
                            </a:solidFill>
                            <a:latin typeface="Cambria Math" panose="02040503050406030204" pitchFamily="18" charset="0"/>
                            <a:ea typeface="Quattrocento Sans" pitchFamily="34" charset="-122"/>
                            <a:cs typeface="Quattrocento Sans" pitchFamily="34" charset="-120"/>
                          </a:rPr>
                          <m:t>(</m:t>
                        </m:r>
                        <m:f>
                          <m:fPr>
                            <m:ctrlPr>
                              <a:rPr lang="en-US" sz="1100" i="1" dirty="0">
                                <a:solidFill>
                                  <a:srgbClr val="333333"/>
                                </a:solidFill>
                                <a:latin typeface="Cambria Math" panose="02040503050406030204" pitchFamily="18" charset="0"/>
                                <a:ea typeface="Quattrocento Sans" pitchFamily="34" charset="-122"/>
                                <a:cs typeface="Quattrocento Sans" pitchFamily="34" charset="-120"/>
                              </a:rPr>
                            </m:ctrlPr>
                          </m:fPr>
                          <m:num>
                            <m:sSub>
                              <m:sSubPr>
                                <m:ctrlPr>
                                  <a:rPr lang="en-US" sz="600" i="1" dirty="0">
                                    <a:solidFill>
                                      <a:srgbClr val="333333"/>
                                    </a:solidFill>
                                    <a:latin typeface="Cambria Math" panose="02040503050406030204" pitchFamily="18" charset="0"/>
                                    <a:ea typeface="Quattrocento Sans" pitchFamily="34" charset="-122"/>
                                    <a:cs typeface="Quattrocento Sans" pitchFamily="34" charset="-120"/>
                                  </a:rPr>
                                </m:ctrlPr>
                              </m:sSubPr>
                              <m:e>
                                <m:r>
                                  <a:rPr lang="en-US" sz="600" i="1" dirty="0">
                                    <a:solidFill>
                                      <a:srgbClr val="333333"/>
                                    </a:solidFill>
                                    <a:latin typeface="Cambria Math" panose="02040503050406030204" pitchFamily="18" charset="0"/>
                                    <a:ea typeface="Quattrocento Sans" pitchFamily="34" charset="-122"/>
                                    <a:cs typeface="Quattrocento Sans" pitchFamily="34" charset="-120"/>
                                  </a:rPr>
                                  <m:t>𝑛</m:t>
                                </m:r>
                              </m:e>
                              <m:sub>
                                <m:r>
                                  <a:rPr lang="en-US" sz="600" i="1" dirty="0">
                                    <a:solidFill>
                                      <a:srgbClr val="333333"/>
                                    </a:solidFill>
                                    <a:latin typeface="Cambria Math" panose="02040503050406030204" pitchFamily="18" charset="0"/>
                                    <a:ea typeface="Quattrocento Sans" pitchFamily="34" charset="-122"/>
                                    <a:cs typeface="Quattrocento Sans" pitchFamily="34" charset="-120"/>
                                  </a:rPr>
                                  <m:t>𝑖𝑗</m:t>
                                </m:r>
                              </m:sub>
                            </m:sSub>
                          </m:num>
                          <m:den>
                            <m:r>
                              <a:rPr lang="en-US" sz="800" dirty="0">
                                <a:solidFill>
                                  <a:srgbClr val="333333"/>
                                </a:solidFill>
                                <a:latin typeface="Cambria Math" panose="02040503050406030204" pitchFamily="18" charset="0"/>
                                <a:ea typeface="Quattrocento Sans" pitchFamily="34" charset="-122"/>
                                <a:cs typeface="Quattrocento Sans" pitchFamily="34" charset="-120"/>
                              </a:rPr>
                              <m:t>2</m:t>
                            </m:r>
                          </m:den>
                        </m:f>
                        <m:r>
                          <a:rPr lang="en-US" sz="1100" dirty="0">
                            <a:solidFill>
                              <a:srgbClr val="333333"/>
                            </a:solidFill>
                            <a:latin typeface="Cambria Math" panose="02040503050406030204" pitchFamily="18" charset="0"/>
                            <a:ea typeface="Quattrocento Sans" pitchFamily="34" charset="-122"/>
                            <a:cs typeface="Quattrocento Sans" pitchFamily="34" charset="-120"/>
                          </a:rPr>
                          <m:t>)−[</m:t>
                        </m:r>
                        <m:sSub>
                          <m:sSubPr>
                            <m:ctrlPr>
                              <a:rPr lang="en-US" sz="800" i="1" dirty="0">
                                <a:solidFill>
                                  <a:srgbClr val="333333"/>
                                </a:solidFill>
                                <a:latin typeface="Cambria Math" panose="02040503050406030204" pitchFamily="18" charset="0"/>
                                <a:ea typeface="Quattrocento Sans" pitchFamily="34" charset="-122"/>
                                <a:cs typeface="Quattrocento Sans" pitchFamily="34" charset="-120"/>
                              </a:rPr>
                            </m:ctrlPr>
                          </m:sSubPr>
                          <m:e>
                            <m:r>
                              <a:rPr lang="en-US" sz="800" dirty="0">
                                <a:solidFill>
                                  <a:srgbClr val="333333"/>
                                </a:solidFill>
                                <a:latin typeface="Cambria Math" panose="02040503050406030204" pitchFamily="18" charset="0"/>
                                <a:ea typeface="Quattrocento Sans" pitchFamily="34" charset="-122"/>
                                <a:cs typeface="Quattrocento Sans" pitchFamily="34" charset="-120"/>
                              </a:rPr>
                              <m:t>∑</m:t>
                            </m:r>
                          </m:e>
                          <m:sub>
                            <m:r>
                              <a:rPr lang="en-US" sz="800" i="1" dirty="0">
                                <a:solidFill>
                                  <a:srgbClr val="333333"/>
                                </a:solidFill>
                                <a:latin typeface="Cambria Math" panose="02040503050406030204" pitchFamily="18" charset="0"/>
                                <a:ea typeface="Quattrocento Sans" pitchFamily="34" charset="-122"/>
                                <a:cs typeface="Quattrocento Sans" pitchFamily="34" charset="-120"/>
                              </a:rPr>
                              <m:t>𝑖</m:t>
                            </m:r>
                          </m:sub>
                        </m:sSub>
                        <m:r>
                          <a:rPr lang="en-US" sz="1100" dirty="0">
                            <a:solidFill>
                              <a:srgbClr val="333333"/>
                            </a:solidFill>
                            <a:latin typeface="Cambria Math" panose="02040503050406030204" pitchFamily="18" charset="0"/>
                            <a:ea typeface="Quattrocento Sans" pitchFamily="34" charset="-122"/>
                            <a:cs typeface="Quattrocento Sans" pitchFamily="34" charset="-120"/>
                          </a:rPr>
                          <m:t>(</m:t>
                        </m:r>
                        <m:f>
                          <m:fPr>
                            <m:ctrlPr>
                              <a:rPr lang="en-US" sz="1100" i="1" dirty="0">
                                <a:solidFill>
                                  <a:srgbClr val="333333"/>
                                </a:solidFill>
                                <a:latin typeface="Cambria Math" panose="02040503050406030204" pitchFamily="18" charset="0"/>
                                <a:ea typeface="Quattrocento Sans" pitchFamily="34" charset="-122"/>
                                <a:cs typeface="Quattrocento Sans" pitchFamily="34" charset="-120"/>
                              </a:rPr>
                            </m:ctrlPr>
                          </m:fPr>
                          <m:num>
                            <m:sSub>
                              <m:sSubPr>
                                <m:ctrlPr>
                                  <a:rPr lang="en-US" sz="600" i="1" dirty="0">
                                    <a:solidFill>
                                      <a:srgbClr val="333333"/>
                                    </a:solidFill>
                                    <a:latin typeface="Cambria Math" panose="02040503050406030204" pitchFamily="18" charset="0"/>
                                    <a:ea typeface="Quattrocento Sans" pitchFamily="34" charset="-122"/>
                                    <a:cs typeface="Quattrocento Sans" pitchFamily="34" charset="-120"/>
                                  </a:rPr>
                                </m:ctrlPr>
                              </m:sSubPr>
                              <m:e>
                                <m:r>
                                  <a:rPr lang="en-US" sz="600" i="1" dirty="0">
                                    <a:solidFill>
                                      <a:srgbClr val="333333"/>
                                    </a:solidFill>
                                    <a:latin typeface="Cambria Math" panose="02040503050406030204" pitchFamily="18" charset="0"/>
                                    <a:ea typeface="Quattrocento Sans" pitchFamily="34" charset="-122"/>
                                    <a:cs typeface="Quattrocento Sans" pitchFamily="34" charset="-120"/>
                                  </a:rPr>
                                  <m:t>𝑎</m:t>
                                </m:r>
                              </m:e>
                              <m:sub>
                                <m:r>
                                  <a:rPr lang="en-US" sz="600" i="1" dirty="0">
                                    <a:solidFill>
                                      <a:srgbClr val="333333"/>
                                    </a:solidFill>
                                    <a:latin typeface="Cambria Math" panose="02040503050406030204" pitchFamily="18" charset="0"/>
                                    <a:ea typeface="Quattrocento Sans" pitchFamily="34" charset="-122"/>
                                    <a:cs typeface="Quattrocento Sans" pitchFamily="34" charset="-120"/>
                                  </a:rPr>
                                  <m:t>𝑖</m:t>
                                </m:r>
                              </m:sub>
                            </m:sSub>
                          </m:num>
                          <m:den>
                            <m:r>
                              <a:rPr lang="en-US" sz="800" dirty="0">
                                <a:solidFill>
                                  <a:srgbClr val="333333"/>
                                </a:solidFill>
                                <a:latin typeface="Cambria Math" panose="02040503050406030204" pitchFamily="18" charset="0"/>
                                <a:ea typeface="Quattrocento Sans" pitchFamily="34" charset="-122"/>
                                <a:cs typeface="Quattrocento Sans" pitchFamily="34" charset="-120"/>
                              </a:rPr>
                              <m:t>2</m:t>
                            </m:r>
                          </m:den>
                        </m:f>
                        <m:r>
                          <a:rPr lang="en-US" sz="1100" dirty="0">
                            <a:solidFill>
                              <a:srgbClr val="333333"/>
                            </a:solidFill>
                            <a:latin typeface="Cambria Math" panose="02040503050406030204" pitchFamily="18" charset="0"/>
                            <a:ea typeface="Quattrocento Sans" pitchFamily="34" charset="-122"/>
                            <a:cs typeface="Quattrocento Sans" pitchFamily="34" charset="-120"/>
                          </a:rPr>
                          <m:t>)</m:t>
                        </m:r>
                        <m:sSub>
                          <m:sSubPr>
                            <m:ctrlPr>
                              <a:rPr lang="en-US" sz="800" i="1" dirty="0">
                                <a:solidFill>
                                  <a:srgbClr val="333333"/>
                                </a:solidFill>
                                <a:latin typeface="Cambria Math" panose="02040503050406030204" pitchFamily="18" charset="0"/>
                                <a:ea typeface="Quattrocento Sans" pitchFamily="34" charset="-122"/>
                                <a:cs typeface="Quattrocento Sans" pitchFamily="34" charset="-120"/>
                              </a:rPr>
                            </m:ctrlPr>
                          </m:sSubPr>
                          <m:e>
                            <m:r>
                              <a:rPr lang="en-US" sz="800" dirty="0">
                                <a:solidFill>
                                  <a:srgbClr val="333333"/>
                                </a:solidFill>
                                <a:latin typeface="Cambria Math" panose="02040503050406030204" pitchFamily="18" charset="0"/>
                                <a:ea typeface="Quattrocento Sans" pitchFamily="34" charset="-122"/>
                                <a:cs typeface="Quattrocento Sans" pitchFamily="34" charset="-120"/>
                              </a:rPr>
                              <m:t>∑</m:t>
                            </m:r>
                          </m:e>
                          <m:sub>
                            <m:r>
                              <a:rPr lang="en-US" sz="800" i="1" dirty="0">
                                <a:solidFill>
                                  <a:srgbClr val="333333"/>
                                </a:solidFill>
                                <a:latin typeface="Cambria Math" panose="02040503050406030204" pitchFamily="18" charset="0"/>
                                <a:ea typeface="Quattrocento Sans" pitchFamily="34" charset="-122"/>
                                <a:cs typeface="Quattrocento Sans" pitchFamily="34" charset="-120"/>
                              </a:rPr>
                              <m:t>𝑗</m:t>
                            </m:r>
                          </m:sub>
                        </m:sSub>
                        <m:r>
                          <a:rPr lang="en-US" sz="1100" dirty="0">
                            <a:solidFill>
                              <a:srgbClr val="333333"/>
                            </a:solidFill>
                            <a:latin typeface="Cambria Math" panose="02040503050406030204" pitchFamily="18" charset="0"/>
                            <a:ea typeface="Quattrocento Sans" pitchFamily="34" charset="-122"/>
                            <a:cs typeface="Quattrocento Sans" pitchFamily="34" charset="-120"/>
                          </a:rPr>
                          <m:t>(</m:t>
                        </m:r>
                        <m:f>
                          <m:fPr>
                            <m:ctrlPr>
                              <a:rPr lang="en-US" sz="1100" i="1" dirty="0">
                                <a:solidFill>
                                  <a:srgbClr val="333333"/>
                                </a:solidFill>
                                <a:latin typeface="Cambria Math" panose="02040503050406030204" pitchFamily="18" charset="0"/>
                                <a:ea typeface="Quattrocento Sans" pitchFamily="34" charset="-122"/>
                                <a:cs typeface="Quattrocento Sans" pitchFamily="34" charset="-120"/>
                              </a:rPr>
                            </m:ctrlPr>
                          </m:fPr>
                          <m:num>
                            <m:sSub>
                              <m:sSubPr>
                                <m:ctrlPr>
                                  <a:rPr lang="en-US" sz="600" i="1" dirty="0">
                                    <a:solidFill>
                                      <a:srgbClr val="333333"/>
                                    </a:solidFill>
                                    <a:latin typeface="Cambria Math" panose="02040503050406030204" pitchFamily="18" charset="0"/>
                                    <a:ea typeface="Quattrocento Sans" pitchFamily="34" charset="-122"/>
                                    <a:cs typeface="Quattrocento Sans" pitchFamily="34" charset="-120"/>
                                  </a:rPr>
                                </m:ctrlPr>
                              </m:sSubPr>
                              <m:e>
                                <m:r>
                                  <a:rPr lang="en-US" sz="600" i="1" dirty="0">
                                    <a:solidFill>
                                      <a:srgbClr val="333333"/>
                                    </a:solidFill>
                                    <a:latin typeface="Cambria Math" panose="02040503050406030204" pitchFamily="18" charset="0"/>
                                    <a:ea typeface="Quattrocento Sans" pitchFamily="34" charset="-122"/>
                                    <a:cs typeface="Quattrocento Sans" pitchFamily="34" charset="-120"/>
                                  </a:rPr>
                                  <m:t>𝑏</m:t>
                                </m:r>
                              </m:e>
                              <m:sub>
                                <m:r>
                                  <a:rPr lang="en-US" sz="600" i="1" dirty="0">
                                    <a:solidFill>
                                      <a:srgbClr val="333333"/>
                                    </a:solidFill>
                                    <a:latin typeface="Cambria Math" panose="02040503050406030204" pitchFamily="18" charset="0"/>
                                    <a:ea typeface="Quattrocento Sans" pitchFamily="34" charset="-122"/>
                                    <a:cs typeface="Quattrocento Sans" pitchFamily="34" charset="-120"/>
                                  </a:rPr>
                                  <m:t>𝑗</m:t>
                                </m:r>
                              </m:sub>
                            </m:sSub>
                          </m:num>
                          <m:den>
                            <m:r>
                              <a:rPr lang="en-US" sz="800" dirty="0">
                                <a:solidFill>
                                  <a:srgbClr val="333333"/>
                                </a:solidFill>
                                <a:latin typeface="Cambria Math" panose="02040503050406030204" pitchFamily="18" charset="0"/>
                                <a:ea typeface="Quattrocento Sans" pitchFamily="34" charset="-122"/>
                                <a:cs typeface="Quattrocento Sans" pitchFamily="34" charset="-120"/>
                              </a:rPr>
                              <m:t>2</m:t>
                            </m:r>
                          </m:den>
                        </m:f>
                        <m:r>
                          <a:rPr lang="en-US" sz="1100" dirty="0">
                            <a:solidFill>
                              <a:srgbClr val="333333"/>
                            </a:solidFill>
                            <a:latin typeface="Cambria Math" panose="02040503050406030204" pitchFamily="18" charset="0"/>
                            <a:ea typeface="Quattrocento Sans" pitchFamily="34" charset="-122"/>
                            <a:cs typeface="Quattrocento Sans" pitchFamily="34" charset="-120"/>
                          </a:rPr>
                          <m:t>)]/(</m:t>
                        </m:r>
                        <m:f>
                          <m:fPr>
                            <m:ctrlPr>
                              <a:rPr lang="en-US" sz="1100" i="1" dirty="0">
                                <a:solidFill>
                                  <a:srgbClr val="333333"/>
                                </a:solidFill>
                                <a:latin typeface="Cambria Math" panose="02040503050406030204" pitchFamily="18" charset="0"/>
                                <a:ea typeface="Quattrocento Sans" pitchFamily="34" charset="-122"/>
                                <a:cs typeface="Quattrocento Sans" pitchFamily="34" charset="-120"/>
                              </a:rPr>
                            </m:ctrlPr>
                          </m:fPr>
                          <m:num>
                            <m:r>
                              <a:rPr lang="en-US" sz="800" i="1" dirty="0">
                                <a:solidFill>
                                  <a:srgbClr val="333333"/>
                                </a:solidFill>
                                <a:latin typeface="Cambria Math" panose="02040503050406030204" pitchFamily="18" charset="0"/>
                                <a:ea typeface="Quattrocento Sans" pitchFamily="34" charset="-122"/>
                                <a:cs typeface="Quattrocento Sans" pitchFamily="34" charset="-120"/>
                              </a:rPr>
                              <m:t>𝑛</m:t>
                            </m:r>
                          </m:num>
                          <m:den>
                            <m:r>
                              <a:rPr lang="en-US" sz="800" dirty="0">
                                <a:solidFill>
                                  <a:srgbClr val="333333"/>
                                </a:solidFill>
                                <a:latin typeface="Cambria Math" panose="02040503050406030204" pitchFamily="18" charset="0"/>
                                <a:ea typeface="Quattrocento Sans" pitchFamily="34" charset="-122"/>
                                <a:cs typeface="Quattrocento Sans" pitchFamily="34" charset="-120"/>
                              </a:rPr>
                              <m:t>2</m:t>
                            </m:r>
                          </m:den>
                        </m:f>
                        <m:r>
                          <a:rPr lang="en-US" sz="1100" dirty="0">
                            <a:solidFill>
                              <a:srgbClr val="333333"/>
                            </a:solidFill>
                            <a:latin typeface="Cambria Math" panose="02040503050406030204" pitchFamily="18" charset="0"/>
                            <a:ea typeface="Quattrocento Sans" pitchFamily="34" charset="-122"/>
                            <a:cs typeface="Quattrocento Sans" pitchFamily="34" charset="-120"/>
                          </a:rPr>
                          <m:t>)</m:t>
                        </m:r>
                      </m:num>
                      <m:den>
                        <m:f>
                          <m:fPr>
                            <m:ctrlPr>
                              <a:rPr lang="en-US" sz="1100" i="1" dirty="0">
                                <a:solidFill>
                                  <a:srgbClr val="333333"/>
                                </a:solidFill>
                                <a:latin typeface="Cambria Math" panose="02040503050406030204" pitchFamily="18" charset="0"/>
                                <a:ea typeface="Quattrocento Sans" pitchFamily="34" charset="-122"/>
                                <a:cs typeface="Quattrocento Sans" pitchFamily="34" charset="-120"/>
                              </a:rPr>
                            </m:ctrlPr>
                          </m:fPr>
                          <m:num>
                            <m:r>
                              <a:rPr lang="en-US" sz="800" dirty="0">
                                <a:solidFill>
                                  <a:srgbClr val="333333"/>
                                </a:solidFill>
                                <a:latin typeface="Cambria Math" panose="02040503050406030204" pitchFamily="18" charset="0"/>
                                <a:ea typeface="Quattrocento Sans" pitchFamily="34" charset="-122"/>
                                <a:cs typeface="Quattrocento Sans" pitchFamily="34" charset="-120"/>
                              </a:rPr>
                              <m:t>1</m:t>
                            </m:r>
                          </m:num>
                          <m:den>
                            <m:r>
                              <a:rPr lang="en-US" sz="800" dirty="0">
                                <a:solidFill>
                                  <a:srgbClr val="333333"/>
                                </a:solidFill>
                                <a:latin typeface="Cambria Math" panose="02040503050406030204" pitchFamily="18" charset="0"/>
                                <a:ea typeface="Quattrocento Sans" pitchFamily="34" charset="-122"/>
                                <a:cs typeface="Quattrocento Sans" pitchFamily="34" charset="-120"/>
                              </a:rPr>
                              <m:t>2</m:t>
                            </m:r>
                          </m:den>
                        </m:f>
                        <m:r>
                          <a:rPr lang="en-US" sz="1100" dirty="0">
                            <a:solidFill>
                              <a:srgbClr val="333333"/>
                            </a:solidFill>
                            <a:latin typeface="Cambria Math" panose="02040503050406030204" pitchFamily="18" charset="0"/>
                            <a:ea typeface="Quattrocento Sans" pitchFamily="34" charset="-122"/>
                            <a:cs typeface="Quattrocento Sans" pitchFamily="34" charset="-120"/>
                          </a:rPr>
                          <m:t>[</m:t>
                        </m:r>
                        <m:sSub>
                          <m:sSubPr>
                            <m:ctrlPr>
                              <a:rPr lang="en-US" sz="800" i="1" dirty="0">
                                <a:solidFill>
                                  <a:srgbClr val="333333"/>
                                </a:solidFill>
                                <a:latin typeface="Cambria Math" panose="02040503050406030204" pitchFamily="18" charset="0"/>
                                <a:ea typeface="Quattrocento Sans" pitchFamily="34" charset="-122"/>
                                <a:cs typeface="Quattrocento Sans" pitchFamily="34" charset="-120"/>
                              </a:rPr>
                            </m:ctrlPr>
                          </m:sSubPr>
                          <m:e>
                            <m:r>
                              <a:rPr lang="en-US" sz="800" dirty="0">
                                <a:solidFill>
                                  <a:srgbClr val="333333"/>
                                </a:solidFill>
                                <a:latin typeface="Cambria Math" panose="02040503050406030204" pitchFamily="18" charset="0"/>
                                <a:ea typeface="Quattrocento Sans" pitchFamily="34" charset="-122"/>
                                <a:cs typeface="Quattrocento Sans" pitchFamily="34" charset="-120"/>
                              </a:rPr>
                              <m:t>∑</m:t>
                            </m:r>
                          </m:e>
                          <m:sub>
                            <m:r>
                              <a:rPr lang="en-US" sz="800" i="1" dirty="0">
                                <a:solidFill>
                                  <a:srgbClr val="333333"/>
                                </a:solidFill>
                                <a:latin typeface="Cambria Math" panose="02040503050406030204" pitchFamily="18" charset="0"/>
                                <a:ea typeface="Quattrocento Sans" pitchFamily="34" charset="-122"/>
                                <a:cs typeface="Quattrocento Sans" pitchFamily="34" charset="-120"/>
                              </a:rPr>
                              <m:t>𝑖</m:t>
                            </m:r>
                          </m:sub>
                        </m:sSub>
                        <m:r>
                          <a:rPr lang="en-US" sz="1100" dirty="0">
                            <a:solidFill>
                              <a:srgbClr val="333333"/>
                            </a:solidFill>
                            <a:latin typeface="Cambria Math" panose="02040503050406030204" pitchFamily="18" charset="0"/>
                            <a:ea typeface="Quattrocento Sans" pitchFamily="34" charset="-122"/>
                            <a:cs typeface="Quattrocento Sans" pitchFamily="34" charset="-120"/>
                          </a:rPr>
                          <m:t>(</m:t>
                        </m:r>
                        <m:f>
                          <m:fPr>
                            <m:ctrlPr>
                              <a:rPr lang="en-US" sz="1100" i="1" dirty="0">
                                <a:solidFill>
                                  <a:srgbClr val="333333"/>
                                </a:solidFill>
                                <a:latin typeface="Cambria Math" panose="02040503050406030204" pitchFamily="18" charset="0"/>
                                <a:ea typeface="Quattrocento Sans" pitchFamily="34" charset="-122"/>
                                <a:cs typeface="Quattrocento Sans" pitchFamily="34" charset="-120"/>
                              </a:rPr>
                            </m:ctrlPr>
                          </m:fPr>
                          <m:num>
                            <m:sSub>
                              <m:sSubPr>
                                <m:ctrlPr>
                                  <a:rPr lang="en-US" sz="600" i="1" dirty="0">
                                    <a:solidFill>
                                      <a:srgbClr val="333333"/>
                                    </a:solidFill>
                                    <a:latin typeface="Cambria Math" panose="02040503050406030204" pitchFamily="18" charset="0"/>
                                    <a:ea typeface="Quattrocento Sans" pitchFamily="34" charset="-122"/>
                                    <a:cs typeface="Quattrocento Sans" pitchFamily="34" charset="-120"/>
                                  </a:rPr>
                                </m:ctrlPr>
                              </m:sSubPr>
                              <m:e>
                                <m:r>
                                  <a:rPr lang="en-US" sz="600" i="1" dirty="0">
                                    <a:solidFill>
                                      <a:srgbClr val="333333"/>
                                    </a:solidFill>
                                    <a:latin typeface="Cambria Math" panose="02040503050406030204" pitchFamily="18" charset="0"/>
                                    <a:ea typeface="Quattrocento Sans" pitchFamily="34" charset="-122"/>
                                    <a:cs typeface="Quattrocento Sans" pitchFamily="34" charset="-120"/>
                                  </a:rPr>
                                  <m:t>𝑎</m:t>
                                </m:r>
                              </m:e>
                              <m:sub>
                                <m:r>
                                  <a:rPr lang="en-US" sz="600" i="1" dirty="0">
                                    <a:solidFill>
                                      <a:srgbClr val="333333"/>
                                    </a:solidFill>
                                    <a:latin typeface="Cambria Math" panose="02040503050406030204" pitchFamily="18" charset="0"/>
                                    <a:ea typeface="Quattrocento Sans" pitchFamily="34" charset="-122"/>
                                    <a:cs typeface="Quattrocento Sans" pitchFamily="34" charset="-120"/>
                                  </a:rPr>
                                  <m:t>𝑖</m:t>
                                </m:r>
                              </m:sub>
                            </m:sSub>
                          </m:num>
                          <m:den>
                            <m:r>
                              <a:rPr lang="en-US" sz="800" dirty="0">
                                <a:solidFill>
                                  <a:srgbClr val="333333"/>
                                </a:solidFill>
                                <a:latin typeface="Cambria Math" panose="02040503050406030204" pitchFamily="18" charset="0"/>
                                <a:ea typeface="Quattrocento Sans" pitchFamily="34" charset="-122"/>
                                <a:cs typeface="Quattrocento Sans" pitchFamily="34" charset="-120"/>
                              </a:rPr>
                              <m:t>2</m:t>
                            </m:r>
                          </m:den>
                        </m:f>
                        <m:r>
                          <a:rPr lang="en-US" sz="1100" dirty="0">
                            <a:solidFill>
                              <a:srgbClr val="333333"/>
                            </a:solidFill>
                            <a:latin typeface="Cambria Math" panose="02040503050406030204" pitchFamily="18" charset="0"/>
                            <a:ea typeface="Quattrocento Sans" pitchFamily="34" charset="-122"/>
                            <a:cs typeface="Quattrocento Sans" pitchFamily="34" charset="-120"/>
                          </a:rPr>
                          <m:t>)+</m:t>
                        </m:r>
                        <m:sSub>
                          <m:sSubPr>
                            <m:ctrlPr>
                              <a:rPr lang="en-US" sz="800" i="1" dirty="0">
                                <a:solidFill>
                                  <a:srgbClr val="333333"/>
                                </a:solidFill>
                                <a:latin typeface="Cambria Math" panose="02040503050406030204" pitchFamily="18" charset="0"/>
                                <a:ea typeface="Quattrocento Sans" pitchFamily="34" charset="-122"/>
                                <a:cs typeface="Quattrocento Sans" pitchFamily="34" charset="-120"/>
                              </a:rPr>
                            </m:ctrlPr>
                          </m:sSubPr>
                          <m:e>
                            <m:r>
                              <a:rPr lang="en-US" sz="800" dirty="0">
                                <a:solidFill>
                                  <a:srgbClr val="333333"/>
                                </a:solidFill>
                                <a:latin typeface="Cambria Math" panose="02040503050406030204" pitchFamily="18" charset="0"/>
                                <a:ea typeface="Quattrocento Sans" pitchFamily="34" charset="-122"/>
                                <a:cs typeface="Quattrocento Sans" pitchFamily="34" charset="-120"/>
                              </a:rPr>
                              <m:t>∑</m:t>
                            </m:r>
                          </m:e>
                          <m:sub>
                            <m:r>
                              <a:rPr lang="en-US" sz="800" i="1" dirty="0">
                                <a:solidFill>
                                  <a:srgbClr val="333333"/>
                                </a:solidFill>
                                <a:latin typeface="Cambria Math" panose="02040503050406030204" pitchFamily="18" charset="0"/>
                                <a:ea typeface="Quattrocento Sans" pitchFamily="34" charset="-122"/>
                                <a:cs typeface="Quattrocento Sans" pitchFamily="34" charset="-120"/>
                              </a:rPr>
                              <m:t>𝑗</m:t>
                            </m:r>
                          </m:sub>
                        </m:sSub>
                        <m:r>
                          <a:rPr lang="en-US" sz="1100" dirty="0">
                            <a:solidFill>
                              <a:srgbClr val="333333"/>
                            </a:solidFill>
                            <a:latin typeface="Cambria Math" panose="02040503050406030204" pitchFamily="18" charset="0"/>
                            <a:ea typeface="Quattrocento Sans" pitchFamily="34" charset="-122"/>
                            <a:cs typeface="Quattrocento Sans" pitchFamily="34" charset="-120"/>
                          </a:rPr>
                          <m:t>(</m:t>
                        </m:r>
                        <m:f>
                          <m:fPr>
                            <m:ctrlPr>
                              <a:rPr lang="en-US" sz="1100" i="1" dirty="0">
                                <a:solidFill>
                                  <a:srgbClr val="333333"/>
                                </a:solidFill>
                                <a:latin typeface="Cambria Math" panose="02040503050406030204" pitchFamily="18" charset="0"/>
                                <a:ea typeface="Quattrocento Sans" pitchFamily="34" charset="-122"/>
                                <a:cs typeface="Quattrocento Sans" pitchFamily="34" charset="-120"/>
                              </a:rPr>
                            </m:ctrlPr>
                          </m:fPr>
                          <m:num>
                            <m:sSub>
                              <m:sSubPr>
                                <m:ctrlPr>
                                  <a:rPr lang="en-US" sz="600" i="1" dirty="0">
                                    <a:solidFill>
                                      <a:srgbClr val="333333"/>
                                    </a:solidFill>
                                    <a:latin typeface="Cambria Math" panose="02040503050406030204" pitchFamily="18" charset="0"/>
                                    <a:ea typeface="Quattrocento Sans" pitchFamily="34" charset="-122"/>
                                    <a:cs typeface="Quattrocento Sans" pitchFamily="34" charset="-120"/>
                                  </a:rPr>
                                </m:ctrlPr>
                              </m:sSubPr>
                              <m:e>
                                <m:r>
                                  <a:rPr lang="en-US" sz="600" i="1" dirty="0">
                                    <a:solidFill>
                                      <a:srgbClr val="333333"/>
                                    </a:solidFill>
                                    <a:latin typeface="Cambria Math" panose="02040503050406030204" pitchFamily="18" charset="0"/>
                                    <a:ea typeface="Quattrocento Sans" pitchFamily="34" charset="-122"/>
                                    <a:cs typeface="Quattrocento Sans" pitchFamily="34" charset="-120"/>
                                  </a:rPr>
                                  <m:t>𝑏</m:t>
                                </m:r>
                              </m:e>
                              <m:sub>
                                <m:r>
                                  <a:rPr lang="en-US" sz="600" i="1" dirty="0">
                                    <a:solidFill>
                                      <a:srgbClr val="333333"/>
                                    </a:solidFill>
                                    <a:latin typeface="Cambria Math" panose="02040503050406030204" pitchFamily="18" charset="0"/>
                                    <a:ea typeface="Quattrocento Sans" pitchFamily="34" charset="-122"/>
                                    <a:cs typeface="Quattrocento Sans" pitchFamily="34" charset="-120"/>
                                  </a:rPr>
                                  <m:t>𝑗</m:t>
                                </m:r>
                              </m:sub>
                            </m:sSub>
                          </m:num>
                          <m:den>
                            <m:r>
                              <a:rPr lang="en-US" sz="800" dirty="0">
                                <a:solidFill>
                                  <a:srgbClr val="333333"/>
                                </a:solidFill>
                                <a:latin typeface="Cambria Math" panose="02040503050406030204" pitchFamily="18" charset="0"/>
                                <a:ea typeface="Quattrocento Sans" pitchFamily="34" charset="-122"/>
                                <a:cs typeface="Quattrocento Sans" pitchFamily="34" charset="-120"/>
                              </a:rPr>
                              <m:t>2</m:t>
                            </m:r>
                          </m:den>
                        </m:f>
                        <m:r>
                          <a:rPr lang="en-US" sz="1100" dirty="0">
                            <a:solidFill>
                              <a:srgbClr val="333333"/>
                            </a:solidFill>
                            <a:latin typeface="Cambria Math" panose="02040503050406030204" pitchFamily="18" charset="0"/>
                            <a:ea typeface="Quattrocento Sans" pitchFamily="34" charset="-122"/>
                            <a:cs typeface="Quattrocento Sans" pitchFamily="34" charset="-120"/>
                          </a:rPr>
                          <m:t>)]−[</m:t>
                        </m:r>
                        <m:sSub>
                          <m:sSubPr>
                            <m:ctrlPr>
                              <a:rPr lang="en-US" sz="800" i="1" dirty="0">
                                <a:solidFill>
                                  <a:srgbClr val="333333"/>
                                </a:solidFill>
                                <a:latin typeface="Cambria Math" panose="02040503050406030204" pitchFamily="18" charset="0"/>
                                <a:ea typeface="Quattrocento Sans" pitchFamily="34" charset="-122"/>
                                <a:cs typeface="Quattrocento Sans" pitchFamily="34" charset="-120"/>
                              </a:rPr>
                            </m:ctrlPr>
                          </m:sSubPr>
                          <m:e>
                            <m:r>
                              <a:rPr lang="en-US" sz="800" dirty="0">
                                <a:solidFill>
                                  <a:srgbClr val="333333"/>
                                </a:solidFill>
                                <a:latin typeface="Cambria Math" panose="02040503050406030204" pitchFamily="18" charset="0"/>
                                <a:ea typeface="Quattrocento Sans" pitchFamily="34" charset="-122"/>
                                <a:cs typeface="Quattrocento Sans" pitchFamily="34" charset="-120"/>
                              </a:rPr>
                              <m:t>∑</m:t>
                            </m:r>
                          </m:e>
                          <m:sub>
                            <m:r>
                              <a:rPr lang="en-US" sz="800" i="1" dirty="0">
                                <a:solidFill>
                                  <a:srgbClr val="333333"/>
                                </a:solidFill>
                                <a:latin typeface="Cambria Math" panose="02040503050406030204" pitchFamily="18" charset="0"/>
                                <a:ea typeface="Quattrocento Sans" pitchFamily="34" charset="-122"/>
                                <a:cs typeface="Quattrocento Sans" pitchFamily="34" charset="-120"/>
                              </a:rPr>
                              <m:t>𝑖</m:t>
                            </m:r>
                          </m:sub>
                        </m:sSub>
                        <m:r>
                          <a:rPr lang="en-US" sz="1100" dirty="0">
                            <a:solidFill>
                              <a:srgbClr val="333333"/>
                            </a:solidFill>
                            <a:latin typeface="Cambria Math" panose="02040503050406030204" pitchFamily="18" charset="0"/>
                            <a:ea typeface="Quattrocento Sans" pitchFamily="34" charset="-122"/>
                            <a:cs typeface="Quattrocento Sans" pitchFamily="34" charset="-120"/>
                          </a:rPr>
                          <m:t>(</m:t>
                        </m:r>
                        <m:f>
                          <m:fPr>
                            <m:ctrlPr>
                              <a:rPr lang="en-US" sz="1100" i="1" dirty="0">
                                <a:solidFill>
                                  <a:srgbClr val="333333"/>
                                </a:solidFill>
                                <a:latin typeface="Cambria Math" panose="02040503050406030204" pitchFamily="18" charset="0"/>
                                <a:ea typeface="Quattrocento Sans" pitchFamily="34" charset="-122"/>
                                <a:cs typeface="Quattrocento Sans" pitchFamily="34" charset="-120"/>
                              </a:rPr>
                            </m:ctrlPr>
                          </m:fPr>
                          <m:num>
                            <m:sSub>
                              <m:sSubPr>
                                <m:ctrlPr>
                                  <a:rPr lang="en-US" sz="600" i="1" dirty="0">
                                    <a:solidFill>
                                      <a:srgbClr val="333333"/>
                                    </a:solidFill>
                                    <a:latin typeface="Cambria Math" panose="02040503050406030204" pitchFamily="18" charset="0"/>
                                    <a:ea typeface="Quattrocento Sans" pitchFamily="34" charset="-122"/>
                                    <a:cs typeface="Quattrocento Sans" pitchFamily="34" charset="-120"/>
                                  </a:rPr>
                                </m:ctrlPr>
                              </m:sSubPr>
                              <m:e>
                                <m:r>
                                  <a:rPr lang="en-US" sz="600" i="1" dirty="0">
                                    <a:solidFill>
                                      <a:srgbClr val="333333"/>
                                    </a:solidFill>
                                    <a:latin typeface="Cambria Math" panose="02040503050406030204" pitchFamily="18" charset="0"/>
                                    <a:ea typeface="Quattrocento Sans" pitchFamily="34" charset="-122"/>
                                    <a:cs typeface="Quattrocento Sans" pitchFamily="34" charset="-120"/>
                                  </a:rPr>
                                  <m:t>𝑎</m:t>
                                </m:r>
                              </m:e>
                              <m:sub>
                                <m:r>
                                  <a:rPr lang="en-US" sz="600" i="1" dirty="0">
                                    <a:solidFill>
                                      <a:srgbClr val="333333"/>
                                    </a:solidFill>
                                    <a:latin typeface="Cambria Math" panose="02040503050406030204" pitchFamily="18" charset="0"/>
                                    <a:ea typeface="Quattrocento Sans" pitchFamily="34" charset="-122"/>
                                    <a:cs typeface="Quattrocento Sans" pitchFamily="34" charset="-120"/>
                                  </a:rPr>
                                  <m:t>𝑖</m:t>
                                </m:r>
                              </m:sub>
                            </m:sSub>
                          </m:num>
                          <m:den>
                            <m:r>
                              <a:rPr lang="en-US" sz="800" dirty="0">
                                <a:solidFill>
                                  <a:srgbClr val="333333"/>
                                </a:solidFill>
                                <a:latin typeface="Cambria Math" panose="02040503050406030204" pitchFamily="18" charset="0"/>
                                <a:ea typeface="Quattrocento Sans" pitchFamily="34" charset="-122"/>
                                <a:cs typeface="Quattrocento Sans" pitchFamily="34" charset="-120"/>
                              </a:rPr>
                              <m:t>2</m:t>
                            </m:r>
                          </m:den>
                        </m:f>
                        <m:r>
                          <a:rPr lang="en-US" sz="1100" dirty="0">
                            <a:solidFill>
                              <a:srgbClr val="333333"/>
                            </a:solidFill>
                            <a:latin typeface="Cambria Math" panose="02040503050406030204" pitchFamily="18" charset="0"/>
                            <a:ea typeface="Quattrocento Sans" pitchFamily="34" charset="-122"/>
                            <a:cs typeface="Quattrocento Sans" pitchFamily="34" charset="-120"/>
                          </a:rPr>
                          <m:t>)</m:t>
                        </m:r>
                        <m:sSub>
                          <m:sSubPr>
                            <m:ctrlPr>
                              <a:rPr lang="en-US" sz="800" i="1" dirty="0">
                                <a:solidFill>
                                  <a:srgbClr val="333333"/>
                                </a:solidFill>
                                <a:latin typeface="Cambria Math" panose="02040503050406030204" pitchFamily="18" charset="0"/>
                                <a:ea typeface="Quattrocento Sans" pitchFamily="34" charset="-122"/>
                                <a:cs typeface="Quattrocento Sans" pitchFamily="34" charset="-120"/>
                              </a:rPr>
                            </m:ctrlPr>
                          </m:sSubPr>
                          <m:e>
                            <m:r>
                              <a:rPr lang="en-US" sz="800" dirty="0">
                                <a:solidFill>
                                  <a:srgbClr val="333333"/>
                                </a:solidFill>
                                <a:latin typeface="Cambria Math" panose="02040503050406030204" pitchFamily="18" charset="0"/>
                                <a:ea typeface="Quattrocento Sans" pitchFamily="34" charset="-122"/>
                                <a:cs typeface="Quattrocento Sans" pitchFamily="34" charset="-120"/>
                              </a:rPr>
                              <m:t>∑</m:t>
                            </m:r>
                          </m:e>
                          <m:sub>
                            <m:r>
                              <a:rPr lang="en-US" sz="800" i="1" dirty="0">
                                <a:solidFill>
                                  <a:srgbClr val="333333"/>
                                </a:solidFill>
                                <a:latin typeface="Cambria Math" panose="02040503050406030204" pitchFamily="18" charset="0"/>
                                <a:ea typeface="Quattrocento Sans" pitchFamily="34" charset="-122"/>
                                <a:cs typeface="Quattrocento Sans" pitchFamily="34" charset="-120"/>
                              </a:rPr>
                              <m:t>𝑗</m:t>
                            </m:r>
                          </m:sub>
                        </m:sSub>
                        <m:r>
                          <a:rPr lang="en-US" sz="1100" dirty="0">
                            <a:solidFill>
                              <a:srgbClr val="333333"/>
                            </a:solidFill>
                            <a:latin typeface="Cambria Math" panose="02040503050406030204" pitchFamily="18" charset="0"/>
                            <a:ea typeface="Quattrocento Sans" pitchFamily="34" charset="-122"/>
                            <a:cs typeface="Quattrocento Sans" pitchFamily="34" charset="-120"/>
                          </a:rPr>
                          <m:t>(</m:t>
                        </m:r>
                        <m:f>
                          <m:fPr>
                            <m:ctrlPr>
                              <a:rPr lang="en-US" sz="1100" i="1" dirty="0">
                                <a:solidFill>
                                  <a:srgbClr val="333333"/>
                                </a:solidFill>
                                <a:latin typeface="Cambria Math" panose="02040503050406030204" pitchFamily="18" charset="0"/>
                                <a:ea typeface="Quattrocento Sans" pitchFamily="34" charset="-122"/>
                                <a:cs typeface="Quattrocento Sans" pitchFamily="34" charset="-120"/>
                              </a:rPr>
                            </m:ctrlPr>
                          </m:fPr>
                          <m:num>
                            <m:sSub>
                              <m:sSubPr>
                                <m:ctrlPr>
                                  <a:rPr lang="en-US" sz="600" i="1" dirty="0">
                                    <a:solidFill>
                                      <a:srgbClr val="333333"/>
                                    </a:solidFill>
                                    <a:latin typeface="Cambria Math" panose="02040503050406030204" pitchFamily="18" charset="0"/>
                                    <a:ea typeface="Quattrocento Sans" pitchFamily="34" charset="-122"/>
                                    <a:cs typeface="Quattrocento Sans" pitchFamily="34" charset="-120"/>
                                  </a:rPr>
                                </m:ctrlPr>
                              </m:sSubPr>
                              <m:e>
                                <m:r>
                                  <a:rPr lang="en-US" sz="600" i="1" dirty="0">
                                    <a:solidFill>
                                      <a:srgbClr val="333333"/>
                                    </a:solidFill>
                                    <a:latin typeface="Cambria Math" panose="02040503050406030204" pitchFamily="18" charset="0"/>
                                    <a:ea typeface="Quattrocento Sans" pitchFamily="34" charset="-122"/>
                                    <a:cs typeface="Quattrocento Sans" pitchFamily="34" charset="-120"/>
                                  </a:rPr>
                                  <m:t>𝑏</m:t>
                                </m:r>
                              </m:e>
                              <m:sub>
                                <m:r>
                                  <a:rPr lang="en-US" sz="600" i="1" dirty="0">
                                    <a:solidFill>
                                      <a:srgbClr val="333333"/>
                                    </a:solidFill>
                                    <a:latin typeface="Cambria Math" panose="02040503050406030204" pitchFamily="18" charset="0"/>
                                    <a:ea typeface="Quattrocento Sans" pitchFamily="34" charset="-122"/>
                                    <a:cs typeface="Quattrocento Sans" pitchFamily="34" charset="-120"/>
                                  </a:rPr>
                                  <m:t>𝑗</m:t>
                                </m:r>
                              </m:sub>
                            </m:sSub>
                          </m:num>
                          <m:den>
                            <m:r>
                              <a:rPr lang="en-US" sz="800" dirty="0">
                                <a:solidFill>
                                  <a:srgbClr val="333333"/>
                                </a:solidFill>
                                <a:latin typeface="Cambria Math" panose="02040503050406030204" pitchFamily="18" charset="0"/>
                                <a:ea typeface="Quattrocento Sans" pitchFamily="34" charset="-122"/>
                                <a:cs typeface="Quattrocento Sans" pitchFamily="34" charset="-120"/>
                              </a:rPr>
                              <m:t>2</m:t>
                            </m:r>
                          </m:den>
                        </m:f>
                        <m:r>
                          <a:rPr lang="en-US" sz="1100" dirty="0">
                            <a:solidFill>
                              <a:srgbClr val="333333"/>
                            </a:solidFill>
                            <a:latin typeface="Cambria Math" panose="02040503050406030204" pitchFamily="18" charset="0"/>
                            <a:ea typeface="Quattrocento Sans" pitchFamily="34" charset="-122"/>
                            <a:cs typeface="Quattrocento Sans" pitchFamily="34" charset="-120"/>
                          </a:rPr>
                          <m:t>)]/(</m:t>
                        </m:r>
                        <m:f>
                          <m:fPr>
                            <m:ctrlPr>
                              <a:rPr lang="en-US" sz="1100" i="1" dirty="0">
                                <a:solidFill>
                                  <a:srgbClr val="333333"/>
                                </a:solidFill>
                                <a:latin typeface="Cambria Math" panose="02040503050406030204" pitchFamily="18" charset="0"/>
                                <a:ea typeface="Quattrocento Sans" pitchFamily="34" charset="-122"/>
                                <a:cs typeface="Quattrocento Sans" pitchFamily="34" charset="-120"/>
                              </a:rPr>
                            </m:ctrlPr>
                          </m:fPr>
                          <m:num>
                            <m:r>
                              <a:rPr lang="en-US" sz="800" i="1" dirty="0">
                                <a:solidFill>
                                  <a:srgbClr val="333333"/>
                                </a:solidFill>
                                <a:latin typeface="Cambria Math" panose="02040503050406030204" pitchFamily="18" charset="0"/>
                                <a:ea typeface="Quattrocento Sans" pitchFamily="34" charset="-122"/>
                                <a:cs typeface="Quattrocento Sans" pitchFamily="34" charset="-120"/>
                              </a:rPr>
                              <m:t>𝑛</m:t>
                            </m:r>
                          </m:num>
                          <m:den>
                            <m:r>
                              <a:rPr lang="en-US" sz="800" dirty="0">
                                <a:solidFill>
                                  <a:srgbClr val="333333"/>
                                </a:solidFill>
                                <a:latin typeface="Cambria Math" panose="02040503050406030204" pitchFamily="18" charset="0"/>
                                <a:ea typeface="Quattrocento Sans" pitchFamily="34" charset="-122"/>
                                <a:cs typeface="Quattrocento Sans" pitchFamily="34" charset="-120"/>
                              </a:rPr>
                              <m:t>2</m:t>
                            </m:r>
                          </m:den>
                        </m:f>
                        <m:r>
                          <a:rPr lang="en-US" sz="1100" dirty="0">
                            <a:solidFill>
                              <a:srgbClr val="333333"/>
                            </a:solidFill>
                            <a:latin typeface="Cambria Math" panose="02040503050406030204" pitchFamily="18" charset="0"/>
                            <a:ea typeface="Quattrocento Sans" pitchFamily="34" charset="-122"/>
                            <a:cs typeface="Quattrocento Sans" pitchFamily="34" charset="-120"/>
                          </a:rPr>
                          <m:t>)</m:t>
                        </m:r>
                      </m:den>
                    </m:f>
                  </m:oMath>
                </a14:m>
                <a:endParaRPr lang="en-US" sz="1600" dirty="0"/>
              </a:p>
            </p:txBody>
          </p:sp>
        </mc:Choice>
        <mc:Fallback xmlns="">
          <p:sp>
            <p:nvSpPr>
              <p:cNvPr id="17" name="Text 15"/>
              <p:cNvSpPr/>
              <p:nvPr/>
            </p:nvSpPr>
            <p:spPr>
              <a:xfrm>
                <a:off x="2743200" y="1727200"/>
                <a:ext cx="12801600" cy="457200"/>
              </a:xfrm>
              <a:prstGeom prst="rect">
                <a:avLst/>
              </a:prstGeom>
              <a:noFill/>
              <a:ln/>
            </p:spPr>
            <p:txBody>
              <a:bodyPr wrap="square" lIns="0" tIns="0" rIns="0" bIns="0" rtlCol="0" anchor="ctr"/>
              <a:lstStyle/>
              <a:p>
                <a:pPr algn="ctr">
                  <a:lnSpc>
                    <a:spcPct val="120000"/>
                  </a:lnSpc>
                </a:pPr>
                <a:r>
                  <a:rPr lang="en-US" sz="1600" dirty="0">
                    <a:solidFill>
                      <a:srgbClr val="333333"/>
                    </a:solidFill>
                    <a:latin typeface="Quattrocento Sans" pitchFamily="34" charset="0"/>
                    <a:ea typeface="Quattrocento Sans" pitchFamily="34" charset="-122"/>
                    <a:cs typeface="Quattrocento Sans" pitchFamily="34" charset="-120"/>
                  </a:rPr>
                  <a:t>ARI corrects pairwise partition agreement for chance:  </a:t>
                </a:r>
                <a:pPr algn="ctr">
                  <a:lnSpc>
                    <a:spcPct val="120000"/>
                  </a:lnSpc>
                </a:pPr>
                <a:r>
                  <a:rPr lang="en-US" sz="1600" dirty="0">
                    <a:solidFill>
                      <a:srgbClr val="333333"/>
                    </a:solidFill>
                    <a:latin typeface="Quattrocento Sans" pitchFamily="34" charset="0"/>
                    <a:ea typeface="Quattrocento Sans" pitchFamily="34" charset="-122"/>
                    <a:cs typeface="Quattrocento Sans" pitchFamily="34" charset="-120"/>
                  </a:rPr>
                  <a:t>\( \text{ARI} = \frac{\sum_{ij} \binom{n_{ij}}{2} - [\sum_i \binom{a_i}{2} \sum_j \binom{b_j}{2}] / \binom{n}{2}}{\frac{1}{2} [\sum_i \binom{a_i}{2} + \sum_j \binom{b_j}{2}] - [\sum_i \binom{a_i}{2} \sum_j \binom{b_j}{2}] / \binom{n}{2}} \)</a:t>
                </a:r>
                <a:endParaRPr lang="en-US" sz="1600" dirty="0"/>
              </a:p>
            </p:txBody>
          </p:sp>
        </mc:Fallback>
      </mc:AlternateContent>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2540000" y="2540000"/>
          <a:ext cx="13208000" cy="3048000"/>
        </p:xfrm>
        <a:graphic>
          <a:graphicData uri="http://schemas.openxmlformats.org/drawingml/2006/table">
            <a:tbl>
              <a:tblPr/>
              <a:tblGrid>
                <a:gridCol w="3302000">
                  <a:extLst>
                    <a:ext uri="{9D8B030D-6E8A-4147-A177-3AD203B41FA5}">
                      <a16:colId xmlns:a16="http://schemas.microsoft.com/office/drawing/2014/main" val="20000"/>
                    </a:ext>
                  </a:extLst>
                </a:gridCol>
                <a:gridCol w="1981200">
                  <a:extLst>
                    <a:ext uri="{9D8B030D-6E8A-4147-A177-3AD203B41FA5}">
                      <a16:colId xmlns:a16="http://schemas.microsoft.com/office/drawing/2014/main" val="20001"/>
                    </a:ext>
                  </a:extLst>
                </a:gridCol>
                <a:gridCol w="1981200">
                  <a:extLst>
                    <a:ext uri="{9D8B030D-6E8A-4147-A177-3AD203B41FA5}">
                      <a16:colId xmlns:a16="http://schemas.microsoft.com/office/drawing/2014/main" val="20002"/>
                    </a:ext>
                  </a:extLst>
                </a:gridCol>
                <a:gridCol w="5943600">
                  <a:extLst>
                    <a:ext uri="{9D8B030D-6E8A-4147-A177-3AD203B41FA5}">
                      <a16:colId xmlns:a16="http://schemas.microsoft.com/office/drawing/2014/main" val="20003"/>
                    </a:ext>
                  </a:extLst>
                </a:gridCol>
              </a:tblGrid>
              <a:tr h="548640">
                <a:tc>
                  <a:txBody>
                    <a:bodyPr/>
                    <a:lstStyle/>
                    <a:p>
                      <a:pPr algn="ctr"/>
                      <a:r>
                        <a:rPr lang="en-US" sz="1600" b="1" dirty="0">
                          <a:solidFill>
                            <a:srgbClr val="FFFFFF"/>
                          </a:solidFill>
                        </a:rPr>
                        <a:t>External Label</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005C82"/>
                    </a:solidFill>
                  </a:tcPr>
                </a:tc>
                <a:tc>
                  <a:txBody>
                    <a:bodyPr/>
                    <a:lstStyle/>
                    <a:p>
                      <a:pPr algn="ctr"/>
                      <a:r>
                        <a:rPr lang="en-US" sz="1600" b="1" dirty="0">
                          <a:solidFill>
                            <a:srgbClr val="FFFFFF"/>
                          </a:solidFill>
                        </a:rPr>
                        <a:t>Samples</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005C82"/>
                    </a:solidFill>
                  </a:tcPr>
                </a:tc>
                <a:tc>
                  <a:txBody>
                    <a:bodyPr/>
                    <a:lstStyle/>
                    <a:p>
                      <a:pPr algn="ctr"/>
                      <a:r>
                        <a:rPr lang="en-US" sz="1600" b="1" dirty="0">
                          <a:solidFill>
                            <a:srgbClr val="FFFFFF"/>
                          </a:solidFill>
                        </a:rPr>
                        <a:t>ARI</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005C82"/>
                    </a:solidFill>
                  </a:tcPr>
                </a:tc>
                <a:tc>
                  <a:txBody>
                    <a:bodyPr/>
                    <a:lstStyle/>
                    <a:p>
                      <a:pPr algn="ctr"/>
                      <a:r>
                        <a:rPr lang="en-US" sz="1600" b="1" dirty="0">
                          <a:solidFill>
                            <a:srgbClr val="FFFFFF"/>
                          </a:solidFill>
                        </a:rPr>
                        <a:t>Interpretation</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005C82"/>
                    </a:solidFill>
                  </a:tcPr>
                </a:tc>
                <a:extLst>
                  <a:ext uri="{0D108BD9-81ED-4DB2-BD59-A6C34878D82A}">
                    <a16:rowId xmlns:a16="http://schemas.microsoft.com/office/drawing/2014/main" val="10000"/>
                  </a:ext>
                </a:extLst>
              </a:tr>
              <a:tr h="624840">
                <a:tc>
                  <a:txBody>
                    <a:bodyPr/>
                    <a:lstStyle/>
                    <a:p>
                      <a:pPr algn="l"/>
                      <a:r>
                        <a:rPr lang="en-US" sz="1600" dirty="0">
                          <a:solidFill>
                            <a:srgbClr val="333333"/>
                          </a:solidFill>
                        </a:rPr>
                        <a:t>planet_type (no Unknown)</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a:r>
                        <a:rPr lang="en-US" sz="1600" dirty="0">
                          <a:solidFill>
                            <a:srgbClr val="333333"/>
                          </a:solidFill>
                        </a:rPr>
                        <a:t>6100</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a:r>
                        <a:rPr lang="en-US" sz="1600" b="1" dirty="0">
                          <a:solidFill>
                            <a:srgbClr val="333333"/>
                          </a:solidFill>
                        </a:rPr>
                        <a:t>0.307</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a:r>
                        <a:rPr lang="en-US" sz="1600" dirty="0">
                          <a:solidFill>
                            <a:srgbClr val="005C82"/>
                          </a:solidFill>
                        </a:rPr>
                        <a:t>Partial agreement with dataset taxonomy</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24840">
                <a:tc>
                  <a:txBody>
                    <a:bodyPr/>
                    <a:lstStyle/>
                    <a:p>
                      <a:pPr algn="l"/>
                      <a:r>
                        <a:rPr lang="en-US" sz="1600" dirty="0">
                          <a:solidFill>
                            <a:srgbClr val="333333"/>
                          </a:solidFill>
                        </a:rPr>
                        <a:t>orbital_period_cat</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0F4FA"/>
                    </a:solidFill>
                  </a:tcPr>
                </a:tc>
                <a:tc>
                  <a:txBody>
                    <a:bodyPr/>
                    <a:lstStyle/>
                    <a:p>
                      <a:pPr algn="ctr"/>
                      <a:r>
                        <a:rPr lang="en-US" sz="1600" dirty="0">
                          <a:solidFill>
                            <a:srgbClr val="333333"/>
                          </a:solidFill>
                        </a:rPr>
                        <a:t>6150</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0F4FA"/>
                    </a:solidFill>
                  </a:tcPr>
                </a:tc>
                <a:tc>
                  <a:txBody>
                    <a:bodyPr/>
                    <a:lstStyle/>
                    <a:p>
                      <a:pPr algn="ctr"/>
                      <a:r>
                        <a:rPr lang="en-US" sz="1600" b="1" dirty="0">
                          <a:solidFill>
                            <a:srgbClr val="333333"/>
                          </a:solidFill>
                        </a:rPr>
                        <a:t>0.224</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0F4FA"/>
                    </a:solidFill>
                  </a:tcPr>
                </a:tc>
                <a:tc>
                  <a:txBody>
                    <a:bodyPr/>
                    <a:lstStyle/>
                    <a:p>
                      <a:pPr algn="l"/>
                      <a:r>
                        <a:rPr lang="en-US" sz="1600" dirty="0">
                          <a:solidFill>
                            <a:srgbClr val="005C82"/>
                          </a:solidFill>
                        </a:rPr>
                        <a:t>Partial agreement with orbital categories</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0F4FA"/>
                    </a:solidFill>
                  </a:tcPr>
                </a:tc>
                <a:extLst>
                  <a:ext uri="{0D108BD9-81ED-4DB2-BD59-A6C34878D82A}">
                    <a16:rowId xmlns:a16="http://schemas.microsoft.com/office/drawing/2014/main" val="10002"/>
                  </a:ext>
                </a:extLst>
              </a:tr>
              <a:tr h="624840">
                <a:tc>
                  <a:txBody>
                    <a:bodyPr/>
                    <a:lstStyle/>
                    <a:p>
                      <a:pPr algn="l"/>
                      <a:r>
                        <a:rPr lang="en-US" sz="1600" dirty="0">
                          <a:solidFill>
                            <a:srgbClr val="333333"/>
                          </a:solidFill>
                        </a:rPr>
                        <a:t>star_type</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a:r>
                        <a:rPr lang="en-US" sz="1600" dirty="0">
                          <a:solidFill>
                            <a:srgbClr val="333333"/>
                          </a:solidFill>
                        </a:rPr>
                        <a:t>6150</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a:r>
                        <a:rPr lang="en-US" sz="1600" dirty="0">
                          <a:solidFill>
                            <a:srgbClr val="333333"/>
                          </a:solidFill>
                        </a:rPr>
                        <a:t>0.043</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a:r>
                        <a:rPr lang="en-US" sz="1600" dirty="0">
                          <a:solidFill>
                            <a:srgbClr val="CC0000"/>
                          </a:solidFill>
                        </a:rPr>
                        <a:t>Near-random agreement</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24840">
                <a:tc>
                  <a:txBody>
                    <a:bodyPr/>
                    <a:lstStyle/>
                    <a:p>
                      <a:pPr algn="l"/>
                      <a:r>
                        <a:rPr lang="en-US" sz="1600" dirty="0">
                          <a:solidFill>
                            <a:srgbClr val="333333"/>
                          </a:solidFill>
                        </a:rPr>
                        <a:t>habitable_zone_flag</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0F4FA"/>
                    </a:solidFill>
                  </a:tcPr>
                </a:tc>
                <a:tc>
                  <a:txBody>
                    <a:bodyPr/>
                    <a:lstStyle/>
                    <a:p>
                      <a:pPr algn="ctr"/>
                      <a:r>
                        <a:rPr lang="en-US" sz="1600" dirty="0">
                          <a:solidFill>
                            <a:srgbClr val="333333"/>
                          </a:solidFill>
                        </a:rPr>
                        <a:t>6150</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0F4FA"/>
                    </a:solidFill>
                  </a:tcPr>
                </a:tc>
                <a:tc>
                  <a:txBody>
                    <a:bodyPr/>
                    <a:lstStyle/>
                    <a:p>
                      <a:pPr algn="ctr"/>
                      <a:r>
                        <a:rPr lang="en-US" sz="1600" dirty="0">
                          <a:solidFill>
                            <a:srgbClr val="333333"/>
                          </a:solidFill>
                        </a:rPr>
                        <a:t>-0.044</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0F4FA"/>
                    </a:solidFill>
                  </a:tcPr>
                </a:tc>
                <a:tc>
                  <a:txBody>
                    <a:bodyPr/>
                    <a:lstStyle/>
                    <a:p>
                      <a:pPr algn="l"/>
                      <a:r>
                        <a:rPr lang="en-US" sz="1600" dirty="0">
                          <a:solidFill>
                            <a:srgbClr val="CC0000"/>
                          </a:solidFill>
                        </a:rPr>
                        <a:t>Below-chance agreement</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0F4FA"/>
                    </a:solidFill>
                  </a:tcPr>
                </a:tc>
                <a:extLst>
                  <a:ext uri="{0D108BD9-81ED-4DB2-BD59-A6C34878D82A}">
                    <a16:rowId xmlns:a16="http://schemas.microsoft.com/office/drawing/2014/main" val="10004"/>
                  </a:ext>
                </a:extLst>
              </a:tr>
            </a:tbl>
          </a:graphicData>
        </a:graphic>
      </p:graphicFrame>
      <p:sp>
        <p:nvSpPr>
          <p:cNvPr id="19" name="Shape 16"/>
          <p:cNvSpPr/>
          <p:nvPr/>
        </p:nvSpPr>
        <p:spPr>
          <a:xfrm>
            <a:off x="2540000" y="5842000"/>
            <a:ext cx="13208000" cy="1473200"/>
          </a:xfrm>
          <a:prstGeom prst="rect">
            <a:avLst/>
          </a:prstGeom>
          <a:solidFill>
            <a:srgbClr val="005C82"/>
          </a:solidFill>
          <a:ln/>
        </p:spPr>
        <p:txBody>
          <a:bodyPr/>
          <a:lstStyle/>
          <a:p>
            <a:endParaRPr/>
          </a:p>
        </p:txBody>
      </p:sp>
      <p:sp>
        <p:nvSpPr>
          <p:cNvPr id="20" name="Shape 17"/>
          <p:cNvSpPr/>
          <p:nvPr/>
        </p:nvSpPr>
        <p:spPr>
          <a:xfrm>
            <a:off x="2717800" y="5994400"/>
            <a:ext cx="177800" cy="177800"/>
          </a:xfrm>
          <a:prstGeom prst="diamond">
            <a:avLst/>
          </a:prstGeom>
          <a:solidFill>
            <a:srgbClr val="00ACC1"/>
          </a:solidFill>
          <a:ln/>
        </p:spPr>
        <p:txBody>
          <a:bodyPr/>
          <a:lstStyle/>
          <a:p>
            <a:endParaRPr/>
          </a:p>
        </p:txBody>
      </p:sp>
      <p:sp>
        <p:nvSpPr>
          <p:cNvPr id="21" name="Text 18"/>
          <p:cNvSpPr/>
          <p:nvPr/>
        </p:nvSpPr>
        <p:spPr>
          <a:xfrm>
            <a:off x="3022600" y="5918200"/>
            <a:ext cx="3048000" cy="304800"/>
          </a:xfrm>
          <a:prstGeom prst="rect">
            <a:avLst/>
          </a:prstGeom>
          <a:noFill/>
          <a:ln/>
        </p:spPr>
        <p:txBody>
          <a:bodyPr wrap="none" lIns="0" tIns="0" rIns="0" bIns="0" rtlCol="0" anchor="t"/>
          <a:lstStyle/>
          <a:p>
            <a:pPr algn="l">
              <a:lnSpc>
                <a:spcPct val="120000"/>
              </a:lnSpc>
            </a:pPr>
            <a:r>
              <a:rPr lang="en-US" sz="1800" b="1" dirty="0">
                <a:solidFill>
                  <a:srgbClr val="00ACC1"/>
                </a:solidFill>
                <a:latin typeface="Quattrocento Sans" pitchFamily="34" charset="0"/>
                <a:ea typeface="Quattrocento Sans" pitchFamily="34" charset="-122"/>
                <a:cs typeface="Quattrocento Sans" pitchFamily="34" charset="-120"/>
              </a:rPr>
              <a:t>Key Takeaway</a:t>
            </a:r>
            <a:endParaRPr lang="en-US" sz="1800" dirty="0"/>
          </a:p>
        </p:txBody>
      </p:sp>
      <p:sp>
        <p:nvSpPr>
          <p:cNvPr id="22" name="Text 19"/>
          <p:cNvSpPr/>
          <p:nvPr/>
        </p:nvSpPr>
        <p:spPr>
          <a:xfrm>
            <a:off x="2717800" y="6299200"/>
            <a:ext cx="12827000" cy="914400"/>
          </a:xfrm>
          <a:prstGeom prst="rect">
            <a:avLst/>
          </a:prstGeom>
          <a:noFill/>
          <a:ln/>
        </p:spPr>
        <p:txBody>
          <a:bodyPr wrap="square" lIns="0" tIns="0" rIns="0" bIns="0" rtlCol="0" anchor="t"/>
          <a:lstStyle/>
          <a:p>
            <a:pPr algn="l">
              <a:lnSpc>
                <a:spcPct val="140000"/>
              </a:lnSpc>
            </a:pPr>
            <a:r>
              <a:rPr lang="en-US" sz="1400" dirty="0">
                <a:solidFill>
                  <a:srgbClr val="FFFFFF"/>
                </a:solidFill>
                <a:latin typeface="Quattrocento Sans" pitchFamily="34" charset="0"/>
                <a:ea typeface="Quattrocento Sans" pitchFamily="34" charset="-122"/>
                <a:cs typeface="Quattrocento Sans" pitchFamily="34" charset="-120"/>
              </a:rPr>
              <a:t>The partition partially recovers planet type and orbital period taxonomy (expected, as these are derived from features in the clustering space), but does NOT reproduce stellar taxonomy or habitability. This confirms the clusters are discovering genuine structure, not copying labels.</a:t>
            </a:r>
            <a:endParaRPr lang="en-US" sz="1400" dirty="0"/>
          </a:p>
        </p:txBody>
      </p:sp>
      <p:sp>
        <p:nvSpPr>
          <p:cNvPr id="23" name="Text 20"/>
          <p:cNvSpPr/>
          <p:nvPr/>
        </p:nvSpPr>
        <p:spPr>
          <a:xfrm>
            <a:off x="2540000" y="7315200"/>
            <a:ext cx="13208000" cy="1016000"/>
          </a:xfrm>
          <a:prstGeom prst="rect">
            <a:avLst/>
          </a:prstGeom>
          <a:noFill/>
          <a:ln/>
        </p:spPr>
        <p:txBody>
          <a:bodyPr wrap="square" lIns="0" tIns="0" rIns="0" bIns="0" rtlCol="0" anchor="t"/>
          <a:lstStyle/>
          <a:p>
            <a:pPr algn="l">
              <a:lnSpc>
                <a:spcPct val="150000"/>
              </a:lnSpc>
            </a:pPr>
            <a:r>
              <a:rPr lang="en-US" sz="1400" i="1" dirty="0">
                <a:solidFill>
                  <a:srgbClr val="666666"/>
                </a:solidFill>
                <a:latin typeface="Quattrocento Sans" pitchFamily="34" charset="0"/>
                <a:ea typeface="Quattrocento Sans" pitchFamily="34" charset="-122"/>
                <a:cs typeface="Quattrocento Sans" pitchFamily="34" charset="-120"/>
              </a:rPr>
              <a:t>Note: Since planet_type and orbital_period_cat are partly derived from variables in the clustering feature space, ARI is interpreted descriptively rather than as independent ground truth. External labels were never used in model fitting or selection.</a:t>
            </a:r>
            <a:endParaRPr lang="en-US" sz="1400" dirty="0"/>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AFE"/>
        </a:solidFill>
        <a:effectLst/>
      </p:bgPr>
    </p:bg>
    <p:spTree>
      <p:nvGrpSpPr>
        <p:cNvPr id="1" name=""/>
        <p:cNvGrpSpPr/>
        <p:nvPr/>
      </p:nvGrpSpPr>
      <p:grpSpPr>
        <a:xfrm>
          <a:off x="0" y="0"/>
          <a:ext cx="0" cy="0"/>
          <a:chOff x="0" y="0"/>
          <a:chExt cx="0" cy="0"/>
        </a:xfrm>
      </p:grpSpPr>
      <p:sp>
        <p:nvSpPr>
          <p:cNvPr id="2" name="Shape 0"/>
          <p:cNvSpPr/>
          <p:nvPr/>
        </p:nvSpPr>
        <p:spPr>
          <a:xfrm>
            <a:off x="0" y="0"/>
            <a:ext cx="2286000" cy="9144000"/>
          </a:xfrm>
          <a:prstGeom prst="rect">
            <a:avLst/>
          </a:prstGeom>
          <a:solidFill>
            <a:srgbClr val="004060"/>
          </a:solidFill>
          <a:ln/>
        </p:spPr>
        <p:txBody>
          <a:bodyPr/>
          <a:lstStyle/>
          <a:p>
            <a:endParaRPr/>
          </a:p>
        </p:txBody>
      </p:sp>
      <p:sp>
        <p:nvSpPr>
          <p:cNvPr id="3" name="Shape 1"/>
          <p:cNvSpPr/>
          <p:nvPr/>
        </p:nvSpPr>
        <p:spPr>
          <a:xfrm>
            <a:off x="177800" y="177800"/>
            <a:ext cx="457200" cy="457200"/>
          </a:xfrm>
          <a:prstGeom prst="ellipse">
            <a:avLst/>
          </a:prstGeom>
          <a:solidFill>
            <a:srgbClr val="FFFFFF">
              <a:alpha val="12549"/>
            </a:srgbClr>
          </a:solidFill>
          <a:ln w="12700">
            <a:solidFill>
              <a:srgbClr val="00ACC1"/>
            </a:solidFill>
            <a:prstDash val="solid"/>
          </a:ln>
        </p:spPr>
        <p:txBody>
          <a:bodyPr/>
          <a:lstStyle/>
          <a:p>
            <a:endParaRPr/>
          </a:p>
        </p:txBody>
      </p:sp>
      <p:sp>
        <p:nvSpPr>
          <p:cNvPr id="4" name="Shape 2"/>
          <p:cNvSpPr/>
          <p:nvPr/>
        </p:nvSpPr>
        <p:spPr>
          <a:xfrm>
            <a:off x="0" y="3352800"/>
            <a:ext cx="2286000" cy="1168400"/>
          </a:xfrm>
          <a:prstGeom prst="rect">
            <a:avLst/>
          </a:prstGeom>
          <a:solidFill>
            <a:srgbClr val="005C82"/>
          </a:solidFill>
          <a:ln/>
        </p:spPr>
        <p:txBody>
          <a:bodyPr/>
          <a:lstStyle/>
          <a:p>
            <a:endParaRPr/>
          </a:p>
        </p:txBody>
      </p:sp>
      <p:sp>
        <p:nvSpPr>
          <p:cNvPr id="5" name="Text 3"/>
          <p:cNvSpPr/>
          <p:nvPr/>
        </p:nvSpPr>
        <p:spPr>
          <a:xfrm>
            <a:off x="101600" y="10160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01 Intro</a:t>
            </a:r>
            <a:endParaRPr lang="en-US" sz="1600" dirty="0"/>
          </a:p>
        </p:txBody>
      </p:sp>
      <p:sp>
        <p:nvSpPr>
          <p:cNvPr id="6" name="Text 4"/>
          <p:cNvSpPr/>
          <p:nvPr/>
        </p:nvSpPr>
        <p:spPr>
          <a:xfrm>
            <a:off x="101600" y="21844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02 Dataset</a:t>
            </a:r>
            <a:endParaRPr lang="en-US" sz="1600" dirty="0"/>
          </a:p>
        </p:txBody>
      </p:sp>
      <p:sp>
        <p:nvSpPr>
          <p:cNvPr id="7" name="Text 5"/>
          <p:cNvSpPr/>
          <p:nvPr/>
        </p:nvSpPr>
        <p:spPr>
          <a:xfrm>
            <a:off x="101600" y="3352800"/>
            <a:ext cx="2082800" cy="1168400"/>
          </a:xfrm>
          <a:prstGeom prst="rect">
            <a:avLst/>
          </a:prstGeom>
          <a:noFill/>
          <a:ln/>
        </p:spPr>
        <p:txBody>
          <a:bodyPr wrap="none" lIns="0" tIns="0" rIns="0" bIns="0" rtlCol="0" anchor="ctr"/>
          <a:lstStyle/>
          <a:p>
            <a:pPr algn="l">
              <a:lnSpc>
                <a:spcPct val="120000"/>
              </a:lnSpc>
            </a:pPr>
            <a:r>
              <a:rPr lang="en-US" sz="1800" b="1" dirty="0">
                <a:solidFill>
                  <a:srgbClr val="FFFFFF"/>
                </a:solidFill>
                <a:latin typeface="Quattrocento Sans" pitchFamily="34" charset="0"/>
                <a:ea typeface="Quattrocento Sans" pitchFamily="34" charset="-122"/>
                <a:cs typeface="Quattrocento Sans" pitchFamily="34" charset="-120"/>
              </a:rPr>
              <a:t>03 Clustering</a:t>
            </a:r>
            <a:endParaRPr lang="en-US" sz="1800" dirty="0"/>
          </a:p>
        </p:txBody>
      </p:sp>
      <p:sp>
        <p:nvSpPr>
          <p:cNvPr id="8" name="Text 6"/>
          <p:cNvSpPr/>
          <p:nvPr/>
        </p:nvSpPr>
        <p:spPr>
          <a:xfrm>
            <a:off x="101600" y="45212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04 Supervised</a:t>
            </a:r>
            <a:endParaRPr lang="en-US" sz="1600" dirty="0"/>
          </a:p>
        </p:txBody>
      </p:sp>
      <p:sp>
        <p:nvSpPr>
          <p:cNvPr id="9" name="Text 7"/>
          <p:cNvSpPr/>
          <p:nvPr/>
        </p:nvSpPr>
        <p:spPr>
          <a:xfrm>
            <a:off x="101600" y="56896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05 Conclusions</a:t>
            </a:r>
            <a:endParaRPr lang="en-US" sz="1600" dirty="0"/>
          </a:p>
        </p:txBody>
      </p:sp>
      <p:sp>
        <p:nvSpPr>
          <p:cNvPr id="10" name="Shape 8"/>
          <p:cNvSpPr/>
          <p:nvPr/>
        </p:nvSpPr>
        <p:spPr>
          <a:xfrm>
            <a:off x="1066800" y="7493000"/>
            <a:ext cx="152400" cy="152400"/>
          </a:xfrm>
          <a:prstGeom prst="diamond">
            <a:avLst/>
          </a:prstGeom>
          <a:solidFill>
            <a:srgbClr val="00ACC1"/>
          </a:solidFill>
          <a:ln/>
        </p:spPr>
        <p:txBody>
          <a:bodyPr/>
          <a:lstStyle/>
          <a:p>
            <a:endParaRPr/>
          </a:p>
        </p:txBody>
      </p:sp>
      <p:sp>
        <p:nvSpPr>
          <p:cNvPr id="11" name="Shape 9"/>
          <p:cNvSpPr/>
          <p:nvPr/>
        </p:nvSpPr>
        <p:spPr>
          <a:xfrm>
            <a:off x="2286000" y="0"/>
            <a:ext cx="13970000" cy="635000"/>
          </a:xfrm>
          <a:prstGeom prst="rect">
            <a:avLst/>
          </a:prstGeom>
          <a:solidFill>
            <a:srgbClr val="E0F4FA"/>
          </a:solidFill>
          <a:ln/>
        </p:spPr>
        <p:txBody>
          <a:bodyPr/>
          <a:lstStyle/>
          <a:p>
            <a:endParaRPr/>
          </a:p>
        </p:txBody>
      </p:sp>
      <p:sp>
        <p:nvSpPr>
          <p:cNvPr id="12" name="Text 10"/>
          <p:cNvSpPr/>
          <p:nvPr/>
        </p:nvSpPr>
        <p:spPr>
          <a:xfrm>
            <a:off x="2540000" y="0"/>
            <a:ext cx="12827000" cy="635000"/>
          </a:xfrm>
          <a:prstGeom prst="rect">
            <a:avLst/>
          </a:prstGeom>
          <a:noFill/>
          <a:ln/>
        </p:spPr>
        <p:txBody>
          <a:bodyPr wrap="none" lIns="0" tIns="0" rIns="0" bIns="0" rtlCol="0" anchor="ctr"/>
          <a:lstStyle/>
          <a:p>
            <a:pPr algn="l">
              <a:lnSpc>
                <a:spcPct val="120000"/>
              </a:lnSpc>
            </a:pPr>
            <a:r>
              <a:rPr lang="en-US" sz="1400" b="1" dirty="0">
                <a:solidFill>
                  <a:srgbClr val="005C82"/>
                </a:solidFill>
                <a:latin typeface="Quattrocento Sans" pitchFamily="34" charset="0"/>
                <a:ea typeface="Quattrocento Sans" pitchFamily="34" charset="-122"/>
                <a:cs typeface="Quattrocento Sans" pitchFamily="34" charset="-120"/>
              </a:rPr>
              <a:t>03 Clustering</a:t>
            </a:r>
            <a:r>
              <a:rPr lang="en-US" sz="1400" dirty="0">
                <a:solidFill>
                  <a:srgbClr val="005C82"/>
                </a:solidFill>
                <a:latin typeface="Quattrocento Sans" pitchFamily="34" charset="0"/>
                <a:ea typeface="Quattrocento Sans" pitchFamily="34" charset="-122"/>
                <a:cs typeface="Quattrocento Sans" pitchFamily="34" charset="-120"/>
              </a:rPr>
              <a:t>  &gt;  3.3  Planet Type &amp; Star Type by Cluster</a:t>
            </a:r>
            <a:endParaRPr lang="en-US" sz="1400" dirty="0"/>
          </a:p>
        </p:txBody>
      </p:sp>
      <p:sp>
        <p:nvSpPr>
          <p:cNvPr id="13" name="Text 11"/>
          <p:cNvSpPr/>
          <p:nvPr/>
        </p:nvSpPr>
        <p:spPr>
          <a:xfrm>
            <a:off x="15621000" y="0"/>
            <a:ext cx="635000" cy="635000"/>
          </a:xfrm>
          <a:prstGeom prst="rect">
            <a:avLst/>
          </a:prstGeom>
          <a:noFill/>
          <a:ln/>
        </p:spPr>
        <p:txBody>
          <a:bodyPr wrap="square" lIns="0" tIns="0" rIns="0" bIns="0" rtlCol="0" anchor="ctr"/>
          <a:lstStyle/>
          <a:p>
            <a:r>
              <a:t>19</a:t>
            </a:r>
          </a:p>
        </p:txBody>
      </p:sp>
      <p:sp>
        <p:nvSpPr>
          <p:cNvPr id="14" name="Text 12"/>
          <p:cNvSpPr/>
          <p:nvPr/>
        </p:nvSpPr>
        <p:spPr>
          <a:xfrm>
            <a:off x="2540000" y="863600"/>
            <a:ext cx="13208000" cy="457200"/>
          </a:xfrm>
          <a:prstGeom prst="rect">
            <a:avLst/>
          </a:prstGeom>
          <a:noFill/>
          <a:ln/>
        </p:spPr>
        <p:txBody>
          <a:bodyPr wrap="none" lIns="0" tIns="0" rIns="0" bIns="0" rtlCol="0" anchor="t"/>
          <a:lstStyle/>
          <a:p>
            <a:pPr algn="l">
              <a:lnSpc>
                <a:spcPct val="120000"/>
              </a:lnSpc>
            </a:pPr>
            <a:r>
              <a:rPr lang="en-US" sz="2400" b="1" dirty="0">
                <a:solidFill>
                  <a:srgbClr val="005C82"/>
                </a:solidFill>
                <a:latin typeface="Quattrocento Sans" pitchFamily="34" charset="0"/>
                <a:ea typeface="Quattrocento Sans" pitchFamily="34" charset="-122"/>
                <a:cs typeface="Quattrocento Sans" pitchFamily="34" charset="-120"/>
              </a:rPr>
              <a:t>Planet Type &amp; Star Type Distribution by Cluster</a:t>
            </a:r>
            <a:endParaRPr lang="en-US" sz="2400" dirty="0"/>
          </a:p>
        </p:txBody>
      </p:sp>
      <p:sp>
        <p:nvSpPr>
          <p:cNvPr id="15" name="Shape 13"/>
          <p:cNvSpPr/>
          <p:nvPr/>
        </p:nvSpPr>
        <p:spPr>
          <a:xfrm>
            <a:off x="2540000" y="1397000"/>
            <a:ext cx="13208000" cy="12700"/>
          </a:xfrm>
          <a:prstGeom prst="rect">
            <a:avLst/>
          </a:prstGeom>
          <a:solidFill>
            <a:srgbClr val="B0BEC5"/>
          </a:solidFill>
          <a:ln/>
        </p:spPr>
        <p:txBody>
          <a:bodyPr/>
          <a:lstStyle/>
          <a:p>
            <a:endParaRPr/>
          </a:p>
        </p:txBody>
      </p:sp>
      <p:pic>
        <p:nvPicPr>
          <p:cNvPr id="16" name="Image 0" descr="https://kimi-img.moonshot.cn/pub/slides/okc/qjpdxks4bncqy/mnt/agents/upload/fig_planet_type_by_cluster.png"/>
          <p:cNvPicPr>
            <a:picLocks noChangeAspect="1"/>
          </p:cNvPicPr>
          <p:nvPr/>
        </p:nvPicPr>
        <p:blipFill>
          <a:blip r:embed="rId3"/>
          <a:srcRect/>
          <a:stretch/>
        </p:blipFill>
        <p:spPr>
          <a:xfrm>
            <a:off x="2540000" y="1574800"/>
            <a:ext cx="6477000" cy="4826000"/>
          </a:xfrm>
          <a:prstGeom prst="rect">
            <a:avLst/>
          </a:prstGeom>
        </p:spPr>
      </p:pic>
      <p:pic>
        <p:nvPicPr>
          <p:cNvPr id="17" name="Image 1" descr="https://kimi-img.moonshot.cn/pub/slides/okc/qjpdxks4bncqy/mnt/agents/upload/fig_star_type_by_cluster.png"/>
          <p:cNvPicPr>
            <a:picLocks noChangeAspect="1"/>
          </p:cNvPicPr>
          <p:nvPr/>
        </p:nvPicPr>
        <p:blipFill>
          <a:blip r:embed="rId4"/>
          <a:srcRect/>
          <a:stretch/>
        </p:blipFill>
        <p:spPr>
          <a:xfrm>
            <a:off x="9271000" y="1574800"/>
            <a:ext cx="6477000" cy="4826000"/>
          </a:xfrm>
          <a:prstGeom prst="rect">
            <a:avLst/>
          </a:prstGeom>
        </p:spPr>
      </p:pic>
      <p:sp>
        <p:nvSpPr>
          <p:cNvPr id="18" name="Shape 14"/>
          <p:cNvSpPr/>
          <p:nvPr/>
        </p:nvSpPr>
        <p:spPr>
          <a:xfrm>
            <a:off x="2540000" y="6604000"/>
            <a:ext cx="13208000" cy="1143000"/>
          </a:xfrm>
          <a:prstGeom prst="rect">
            <a:avLst/>
          </a:prstGeom>
          <a:solidFill>
            <a:srgbClr val="005C82"/>
          </a:solidFill>
          <a:ln/>
        </p:spPr>
        <p:txBody>
          <a:bodyPr/>
          <a:lstStyle/>
          <a:p>
            <a:endParaRPr/>
          </a:p>
        </p:txBody>
      </p:sp>
      <p:sp>
        <p:nvSpPr>
          <p:cNvPr id="19" name="Shape 15"/>
          <p:cNvSpPr/>
          <p:nvPr/>
        </p:nvSpPr>
        <p:spPr>
          <a:xfrm>
            <a:off x="2717800" y="6756400"/>
            <a:ext cx="177800" cy="177800"/>
          </a:xfrm>
          <a:prstGeom prst="diamond">
            <a:avLst/>
          </a:prstGeom>
          <a:solidFill>
            <a:srgbClr val="00ACC1"/>
          </a:solidFill>
          <a:ln/>
        </p:spPr>
        <p:txBody>
          <a:bodyPr/>
          <a:lstStyle/>
          <a:p>
            <a:endParaRPr/>
          </a:p>
        </p:txBody>
      </p:sp>
      <p:sp>
        <p:nvSpPr>
          <p:cNvPr id="20" name="Text 16"/>
          <p:cNvSpPr/>
          <p:nvPr/>
        </p:nvSpPr>
        <p:spPr>
          <a:xfrm>
            <a:off x="3022600" y="6680200"/>
            <a:ext cx="3048000" cy="304800"/>
          </a:xfrm>
          <a:prstGeom prst="rect">
            <a:avLst/>
          </a:prstGeom>
          <a:noFill/>
          <a:ln/>
        </p:spPr>
        <p:txBody>
          <a:bodyPr wrap="none" lIns="0" tIns="0" rIns="0" bIns="0" rtlCol="0" anchor="t"/>
          <a:lstStyle/>
          <a:p>
            <a:pPr algn="l">
              <a:lnSpc>
                <a:spcPct val="120000"/>
              </a:lnSpc>
            </a:pPr>
            <a:r>
              <a:rPr lang="en-US" sz="1800" b="1" dirty="0">
                <a:solidFill>
                  <a:srgbClr val="00ACC1"/>
                </a:solidFill>
                <a:latin typeface="Quattrocento Sans" pitchFamily="34" charset="0"/>
                <a:ea typeface="Quattrocento Sans" pitchFamily="34" charset="-122"/>
                <a:cs typeface="Quattrocento Sans" pitchFamily="34" charset="-120"/>
              </a:rPr>
              <a:t>Observations</a:t>
            </a:r>
            <a:endParaRPr lang="en-US" sz="1800" dirty="0"/>
          </a:p>
        </p:txBody>
      </p:sp>
      <p:sp>
        <p:nvSpPr>
          <p:cNvPr id="21" name="Text 17"/>
          <p:cNvSpPr/>
          <p:nvPr/>
        </p:nvSpPr>
        <p:spPr>
          <a:xfrm>
            <a:off x="2717800" y="7035800"/>
            <a:ext cx="12827000" cy="635000"/>
          </a:xfrm>
          <a:prstGeom prst="rect">
            <a:avLst/>
          </a:prstGeom>
          <a:noFill/>
          <a:ln/>
        </p:spPr>
        <p:txBody>
          <a:bodyPr wrap="square" lIns="0" tIns="0" rIns="0" bIns="0" rtlCol="0" anchor="t"/>
          <a:lstStyle/>
          <a:p>
            <a:pPr algn="l">
              <a:lnSpc>
                <a:spcPct val="140000"/>
              </a:lnSpc>
            </a:pPr>
            <a:r>
              <a:rPr lang="en-US" sz="1400" dirty="0">
                <a:solidFill>
                  <a:srgbClr val="FFFFFF"/>
                </a:solidFill>
                <a:latin typeface="Quattrocento Sans" pitchFamily="34" charset="0"/>
                <a:ea typeface="Quattrocento Sans" pitchFamily="34" charset="-122"/>
                <a:cs typeface="Quattrocento Sans" pitchFamily="34" charset="-120"/>
              </a:rPr>
              <a:t>Cluster 0 = Mini-Neptunes, Cluster 1 = Gas Giants, Cluster 3 = Eccentric Giants. Star type shows near-random alignment (ARI=0.043), confirming clusters are driven by planetary properties.</a:t>
            </a:r>
            <a:endParaRPr lang="en-US" sz="1400" dirty="0"/>
          </a:p>
        </p:txBody>
      </p:sp>
      <p:sp>
        <p:nvSpPr>
          <p:cNvPr id="22" name="Text 18"/>
          <p:cNvSpPr/>
          <p:nvPr/>
        </p:nvSpPr>
        <p:spPr>
          <a:xfrm>
            <a:off x="2540000" y="7848600"/>
            <a:ext cx="13208000" cy="254000"/>
          </a:xfrm>
          <a:prstGeom prst="rect">
            <a:avLst/>
          </a:prstGeom>
          <a:noFill/>
          <a:ln/>
        </p:spPr>
        <p:txBody>
          <a:bodyPr wrap="none" lIns="0" tIns="0" rIns="0" bIns="0" rtlCol="0" anchor="ctr"/>
          <a:lstStyle/>
          <a:p>
            <a:pPr algn="ctr">
              <a:lnSpc>
                <a:spcPct val="120000"/>
              </a:lnSpc>
            </a:pPr>
            <a:r>
              <a:rPr lang="en-US" sz="1200" dirty="0">
                <a:solidFill>
                  <a:srgbClr val="666666"/>
                </a:solidFill>
                <a:latin typeface="Quattrocento Sans" pitchFamily="34" charset="0"/>
                <a:ea typeface="Quattrocento Sans" pitchFamily="34" charset="-122"/>
                <a:cs typeface="Quattrocento Sans" pitchFamily="34" charset="-120"/>
              </a:rPr>
              <a:t>Figure 3: Cross-tabulations of planet_type (left) and star_type (right) against cluster assignments. Used post-hoc only.</a:t>
            </a:r>
            <a:endParaRPr lang="en-US" sz="1200" dirty="0"/>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AFE"/>
        </a:solidFill>
        <a:effectLst/>
      </p:bgPr>
    </p:bg>
    <p:spTree>
      <p:nvGrpSpPr>
        <p:cNvPr id="1" name=""/>
        <p:cNvGrpSpPr/>
        <p:nvPr/>
      </p:nvGrpSpPr>
      <p:grpSpPr>
        <a:xfrm>
          <a:off x="0" y="0"/>
          <a:ext cx="0" cy="0"/>
          <a:chOff x="0" y="0"/>
          <a:chExt cx="0" cy="0"/>
        </a:xfrm>
      </p:grpSpPr>
      <p:sp>
        <p:nvSpPr>
          <p:cNvPr id="2" name="Shape 0"/>
          <p:cNvSpPr/>
          <p:nvPr/>
        </p:nvSpPr>
        <p:spPr>
          <a:xfrm>
            <a:off x="0" y="0"/>
            <a:ext cx="2286000" cy="9144000"/>
          </a:xfrm>
          <a:prstGeom prst="rect">
            <a:avLst/>
          </a:prstGeom>
          <a:solidFill>
            <a:srgbClr val="004060"/>
          </a:solidFill>
          <a:ln/>
        </p:spPr>
        <p:txBody>
          <a:bodyPr/>
          <a:lstStyle/>
          <a:p>
            <a:endParaRPr/>
          </a:p>
        </p:txBody>
      </p:sp>
      <p:sp>
        <p:nvSpPr>
          <p:cNvPr id="3" name="Shape 1"/>
          <p:cNvSpPr/>
          <p:nvPr/>
        </p:nvSpPr>
        <p:spPr>
          <a:xfrm>
            <a:off x="177800" y="177800"/>
            <a:ext cx="457200" cy="457200"/>
          </a:xfrm>
          <a:prstGeom prst="ellipse">
            <a:avLst/>
          </a:prstGeom>
          <a:solidFill>
            <a:srgbClr val="FFFFFF">
              <a:alpha val="12549"/>
            </a:srgbClr>
          </a:solidFill>
          <a:ln w="12700">
            <a:solidFill>
              <a:srgbClr val="00ACC1"/>
            </a:solidFill>
            <a:prstDash val="solid"/>
          </a:ln>
        </p:spPr>
        <p:txBody>
          <a:bodyPr/>
          <a:lstStyle/>
          <a:p>
            <a:endParaRPr/>
          </a:p>
        </p:txBody>
      </p:sp>
      <p:sp>
        <p:nvSpPr>
          <p:cNvPr id="4" name="Shape 2"/>
          <p:cNvSpPr/>
          <p:nvPr/>
        </p:nvSpPr>
        <p:spPr>
          <a:xfrm>
            <a:off x="0" y="3352800"/>
            <a:ext cx="2286000" cy="1168400"/>
          </a:xfrm>
          <a:prstGeom prst="rect">
            <a:avLst/>
          </a:prstGeom>
          <a:solidFill>
            <a:srgbClr val="005C82"/>
          </a:solidFill>
          <a:ln/>
        </p:spPr>
        <p:txBody>
          <a:bodyPr/>
          <a:lstStyle/>
          <a:p>
            <a:endParaRPr/>
          </a:p>
        </p:txBody>
      </p:sp>
      <p:sp>
        <p:nvSpPr>
          <p:cNvPr id="5" name="Text 3"/>
          <p:cNvSpPr/>
          <p:nvPr/>
        </p:nvSpPr>
        <p:spPr>
          <a:xfrm>
            <a:off x="101600" y="10160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01 Intro</a:t>
            </a:r>
            <a:endParaRPr lang="en-US" sz="1600" dirty="0"/>
          </a:p>
        </p:txBody>
      </p:sp>
      <p:sp>
        <p:nvSpPr>
          <p:cNvPr id="6" name="Text 4"/>
          <p:cNvSpPr/>
          <p:nvPr/>
        </p:nvSpPr>
        <p:spPr>
          <a:xfrm>
            <a:off x="101600" y="21844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02 Dataset</a:t>
            </a:r>
            <a:endParaRPr lang="en-US" sz="1600" dirty="0"/>
          </a:p>
        </p:txBody>
      </p:sp>
      <p:sp>
        <p:nvSpPr>
          <p:cNvPr id="7" name="Text 5"/>
          <p:cNvSpPr/>
          <p:nvPr/>
        </p:nvSpPr>
        <p:spPr>
          <a:xfrm>
            <a:off x="101600" y="3352800"/>
            <a:ext cx="2082800" cy="1168400"/>
          </a:xfrm>
          <a:prstGeom prst="rect">
            <a:avLst/>
          </a:prstGeom>
          <a:noFill/>
          <a:ln/>
        </p:spPr>
        <p:txBody>
          <a:bodyPr wrap="none" lIns="0" tIns="0" rIns="0" bIns="0" rtlCol="0" anchor="ctr"/>
          <a:lstStyle/>
          <a:p>
            <a:pPr algn="l">
              <a:lnSpc>
                <a:spcPct val="120000"/>
              </a:lnSpc>
            </a:pPr>
            <a:r>
              <a:rPr lang="en-US" sz="1800" b="1" dirty="0">
                <a:solidFill>
                  <a:srgbClr val="FFFFFF"/>
                </a:solidFill>
                <a:latin typeface="Quattrocento Sans" pitchFamily="34" charset="0"/>
                <a:ea typeface="Quattrocento Sans" pitchFamily="34" charset="-122"/>
                <a:cs typeface="Quattrocento Sans" pitchFamily="34" charset="-120"/>
              </a:rPr>
              <a:t>03 Clustering</a:t>
            </a:r>
            <a:endParaRPr lang="en-US" sz="1800" dirty="0"/>
          </a:p>
        </p:txBody>
      </p:sp>
      <p:sp>
        <p:nvSpPr>
          <p:cNvPr id="8" name="Text 6"/>
          <p:cNvSpPr/>
          <p:nvPr/>
        </p:nvSpPr>
        <p:spPr>
          <a:xfrm>
            <a:off x="101600" y="45212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04 Supervised</a:t>
            </a:r>
            <a:endParaRPr lang="en-US" sz="1600" dirty="0"/>
          </a:p>
        </p:txBody>
      </p:sp>
      <p:sp>
        <p:nvSpPr>
          <p:cNvPr id="9" name="Text 7"/>
          <p:cNvSpPr/>
          <p:nvPr/>
        </p:nvSpPr>
        <p:spPr>
          <a:xfrm>
            <a:off x="101600" y="56896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05 Conclusions</a:t>
            </a:r>
            <a:endParaRPr lang="en-US" sz="1600" dirty="0"/>
          </a:p>
        </p:txBody>
      </p:sp>
      <p:sp>
        <p:nvSpPr>
          <p:cNvPr id="10" name="Shape 8"/>
          <p:cNvSpPr/>
          <p:nvPr/>
        </p:nvSpPr>
        <p:spPr>
          <a:xfrm>
            <a:off x="1066800" y="7493000"/>
            <a:ext cx="152400" cy="152400"/>
          </a:xfrm>
          <a:prstGeom prst="diamond">
            <a:avLst/>
          </a:prstGeom>
          <a:solidFill>
            <a:srgbClr val="00ACC1"/>
          </a:solidFill>
          <a:ln/>
        </p:spPr>
        <p:txBody>
          <a:bodyPr/>
          <a:lstStyle/>
          <a:p>
            <a:endParaRPr/>
          </a:p>
        </p:txBody>
      </p:sp>
      <p:sp>
        <p:nvSpPr>
          <p:cNvPr id="11" name="Shape 9"/>
          <p:cNvSpPr/>
          <p:nvPr/>
        </p:nvSpPr>
        <p:spPr>
          <a:xfrm>
            <a:off x="2286000" y="0"/>
            <a:ext cx="13970000" cy="635000"/>
          </a:xfrm>
          <a:prstGeom prst="rect">
            <a:avLst/>
          </a:prstGeom>
          <a:solidFill>
            <a:srgbClr val="E0F4FA"/>
          </a:solidFill>
          <a:ln/>
        </p:spPr>
        <p:txBody>
          <a:bodyPr/>
          <a:lstStyle/>
          <a:p>
            <a:endParaRPr/>
          </a:p>
        </p:txBody>
      </p:sp>
      <p:sp>
        <p:nvSpPr>
          <p:cNvPr id="12" name="Text 10"/>
          <p:cNvSpPr/>
          <p:nvPr/>
        </p:nvSpPr>
        <p:spPr>
          <a:xfrm>
            <a:off x="2540000" y="0"/>
            <a:ext cx="12827000" cy="635000"/>
          </a:xfrm>
          <a:prstGeom prst="rect">
            <a:avLst/>
          </a:prstGeom>
          <a:noFill/>
          <a:ln/>
        </p:spPr>
        <p:txBody>
          <a:bodyPr wrap="none" lIns="0" tIns="0" rIns="0" bIns="0" rtlCol="0" anchor="ctr"/>
          <a:lstStyle/>
          <a:p>
            <a:pPr algn="l">
              <a:lnSpc>
                <a:spcPct val="120000"/>
              </a:lnSpc>
            </a:pPr>
            <a:r>
              <a:rPr lang="en-US" sz="1400" b="1" dirty="0">
                <a:solidFill>
                  <a:srgbClr val="005C82"/>
                </a:solidFill>
                <a:latin typeface="Quattrocento Sans" pitchFamily="34" charset="0"/>
                <a:ea typeface="Quattrocento Sans" pitchFamily="34" charset="-122"/>
                <a:cs typeface="Quattrocento Sans" pitchFamily="34" charset="-120"/>
              </a:rPr>
              <a:t>03 Clustering</a:t>
            </a:r>
            <a:r>
              <a:rPr lang="en-US" sz="1400" dirty="0">
                <a:solidFill>
                  <a:srgbClr val="005C82"/>
                </a:solidFill>
                <a:latin typeface="Quattrocento Sans" pitchFamily="34" charset="0"/>
                <a:ea typeface="Quattrocento Sans" pitchFamily="34" charset="-122"/>
                <a:cs typeface="Quattrocento Sans" pitchFamily="34" charset="-120"/>
              </a:rPr>
              <a:t>  &gt;  3.3  Habitability &amp; Orbital Period</a:t>
            </a:r>
            <a:endParaRPr lang="en-US" sz="1400" dirty="0"/>
          </a:p>
        </p:txBody>
      </p:sp>
      <p:sp>
        <p:nvSpPr>
          <p:cNvPr id="13" name="Text 11"/>
          <p:cNvSpPr/>
          <p:nvPr/>
        </p:nvSpPr>
        <p:spPr>
          <a:xfrm>
            <a:off x="15621000" y="0"/>
            <a:ext cx="635000" cy="635000"/>
          </a:xfrm>
          <a:prstGeom prst="rect">
            <a:avLst/>
          </a:prstGeom>
          <a:noFill/>
          <a:ln/>
        </p:spPr>
        <p:txBody>
          <a:bodyPr wrap="square" lIns="0" tIns="0" rIns="0" bIns="0" rtlCol="0" anchor="ctr"/>
          <a:lstStyle/>
          <a:p>
            <a:r>
              <a:t>20</a:t>
            </a:r>
          </a:p>
        </p:txBody>
      </p:sp>
      <p:sp>
        <p:nvSpPr>
          <p:cNvPr id="14" name="Text 12"/>
          <p:cNvSpPr/>
          <p:nvPr/>
        </p:nvSpPr>
        <p:spPr>
          <a:xfrm>
            <a:off x="2540000" y="863600"/>
            <a:ext cx="13208000" cy="457200"/>
          </a:xfrm>
          <a:prstGeom prst="rect">
            <a:avLst/>
          </a:prstGeom>
          <a:noFill/>
          <a:ln/>
        </p:spPr>
        <p:txBody>
          <a:bodyPr wrap="none" lIns="0" tIns="0" rIns="0" bIns="0" rtlCol="0" anchor="t"/>
          <a:lstStyle/>
          <a:p>
            <a:pPr algn="l">
              <a:lnSpc>
                <a:spcPct val="120000"/>
              </a:lnSpc>
            </a:pPr>
            <a:r>
              <a:rPr lang="en-US" sz="2400" b="1" dirty="0">
                <a:solidFill>
                  <a:srgbClr val="005C82"/>
                </a:solidFill>
                <a:latin typeface="Quattrocento Sans" pitchFamily="34" charset="0"/>
                <a:ea typeface="Quattrocento Sans" pitchFamily="34" charset="-122"/>
                <a:cs typeface="Quattrocento Sans" pitchFamily="34" charset="-120"/>
              </a:rPr>
              <a:t>Habitability &amp; Orbital Period by Cluster</a:t>
            </a:r>
            <a:endParaRPr lang="en-US" sz="2400" dirty="0"/>
          </a:p>
        </p:txBody>
      </p:sp>
      <p:sp>
        <p:nvSpPr>
          <p:cNvPr id="15" name="Shape 13"/>
          <p:cNvSpPr/>
          <p:nvPr/>
        </p:nvSpPr>
        <p:spPr>
          <a:xfrm>
            <a:off x="2540000" y="1397000"/>
            <a:ext cx="13208000" cy="12700"/>
          </a:xfrm>
          <a:prstGeom prst="rect">
            <a:avLst/>
          </a:prstGeom>
          <a:solidFill>
            <a:srgbClr val="B0BEC5"/>
          </a:solidFill>
          <a:ln/>
        </p:spPr>
        <p:txBody>
          <a:bodyPr/>
          <a:lstStyle/>
          <a:p>
            <a:endParaRPr/>
          </a:p>
        </p:txBody>
      </p:sp>
      <p:pic>
        <p:nvPicPr>
          <p:cNvPr id="16" name="Image 0" descr="https://kimi-img.moonshot.cn/pub/slides/okc/qjpdxks4bncqy/mnt/agents/upload/fig_hz_by_cluster.png"/>
          <p:cNvPicPr>
            <a:picLocks noChangeAspect="1"/>
          </p:cNvPicPr>
          <p:nvPr/>
        </p:nvPicPr>
        <p:blipFill>
          <a:blip r:embed="rId3"/>
          <a:srcRect/>
          <a:stretch/>
        </p:blipFill>
        <p:spPr>
          <a:xfrm>
            <a:off x="2540000" y="1574800"/>
            <a:ext cx="13208000" cy="4826000"/>
          </a:xfrm>
          <a:prstGeom prst="rect">
            <a:avLst/>
          </a:prstGeom>
        </p:spPr>
      </p:pic>
      <p:sp>
        <p:nvSpPr>
          <p:cNvPr id="17" name="Shape 14"/>
          <p:cNvSpPr/>
          <p:nvPr/>
        </p:nvSpPr>
        <p:spPr>
          <a:xfrm>
            <a:off x="2540000" y="6604000"/>
            <a:ext cx="13208000" cy="1905000"/>
          </a:xfrm>
          <a:prstGeom prst="roundRect">
            <a:avLst>
              <a:gd name="adj" fmla="val 4000"/>
            </a:avLst>
          </a:prstGeom>
          <a:solidFill>
            <a:srgbClr val="E0F4FA"/>
          </a:solidFill>
          <a:ln w="12700">
            <a:solidFill>
              <a:srgbClr val="B0BEC5"/>
            </a:solidFill>
            <a:prstDash val="solid"/>
          </a:ln>
        </p:spPr>
        <p:txBody>
          <a:bodyPr/>
          <a:lstStyle/>
          <a:p>
            <a:endParaRPr/>
          </a:p>
        </p:txBody>
      </p:sp>
      <p:sp>
        <p:nvSpPr>
          <p:cNvPr id="18" name="Text 15"/>
          <p:cNvSpPr/>
          <p:nvPr/>
        </p:nvSpPr>
        <p:spPr>
          <a:xfrm>
            <a:off x="2768600" y="6731000"/>
            <a:ext cx="6350000" cy="304800"/>
          </a:xfrm>
          <a:prstGeom prst="rect">
            <a:avLst/>
          </a:prstGeom>
          <a:noFill/>
          <a:ln/>
        </p:spPr>
        <p:txBody>
          <a:bodyPr wrap="none" lIns="0" tIns="0" rIns="0" bIns="0" rtlCol="0" anchor="t"/>
          <a:lstStyle/>
          <a:p>
            <a:pPr algn="l">
              <a:lnSpc>
                <a:spcPct val="120000"/>
              </a:lnSpc>
            </a:pPr>
            <a:r>
              <a:rPr lang="en-US" sz="1600" b="1" dirty="0">
                <a:solidFill>
                  <a:srgbClr val="005C82"/>
                </a:solidFill>
                <a:latin typeface="Quattrocento Sans" pitchFamily="34" charset="0"/>
                <a:ea typeface="Quattrocento Sans" pitchFamily="34" charset="-122"/>
                <a:cs typeface="Quattrocento Sans" pitchFamily="34" charset="-120"/>
              </a:rPr>
              <a:t>Cluster 2 Sensitivity Analysis</a:t>
            </a:r>
            <a:endParaRPr lang="en-US" sz="1600" dirty="0"/>
          </a:p>
        </p:txBody>
      </p:sp>
      <p:sp>
        <p:nvSpPr>
          <p:cNvPr id="19" name="Text 16"/>
          <p:cNvSpPr/>
          <p:nvPr/>
        </p:nvSpPr>
        <p:spPr>
          <a:xfrm>
            <a:off x="2768600" y="7086600"/>
            <a:ext cx="12801600" cy="1346200"/>
          </a:xfrm>
          <a:prstGeom prst="rect">
            <a:avLst/>
          </a:prstGeom>
          <a:noFill/>
          <a:ln/>
        </p:spPr>
        <p:txBody>
          <a:bodyPr wrap="square" lIns="0" tIns="0" rIns="0" bIns="0" rtlCol="0" anchor="t"/>
          <a:lstStyle/>
          <a:p>
            <a:pPr algn="l">
              <a:lnSpc>
                <a:spcPct val="150000"/>
              </a:lnSpc>
            </a:pPr>
            <a:r>
              <a:rPr lang="en-US" sz="1400" dirty="0">
                <a:solidFill>
                  <a:srgbClr val="333333"/>
                </a:solidFill>
                <a:latin typeface="Quattrocento Sans" pitchFamily="34" charset="0"/>
                <a:ea typeface="Quattrocento Sans" pitchFamily="34" charset="-122"/>
                <a:cs typeface="Quattrocento Sans" pitchFamily="34" charset="-120"/>
              </a:rPr>
              <a:t>All 72 Wide-Orbit Companions remain in the matched extreme group when period and temperature are jointly removed (matched group size = 81, Jaccard = 0.889; whole-partition ARI = 0.834). This confirms the group is not created solely by these two features. 69/72 members discovered by direct imaging; median SMA ~325 AU (range 22-19,000 AU); mean log-mass 8.14 corresponds to ~11 Jupiter masses, near the 13 M</a:t>
            </a:r>
            <a:r>
              <a:rPr lang="en-US" sz="1400" baseline="-40000" dirty="0">
                <a:solidFill>
                  <a:srgbClr val="333333"/>
                </a:solidFill>
                <a:latin typeface="Quattrocento Sans" pitchFamily="34" charset="0"/>
                <a:ea typeface="Quattrocento Sans" pitchFamily="34" charset="-122"/>
                <a:cs typeface="Quattrocento Sans" pitchFamily="34" charset="-120"/>
              </a:rPr>
              <a:t>Jup</a:t>
            </a:r>
            <a:r>
              <a:rPr lang="en-US" sz="1400" dirty="0">
                <a:solidFill>
                  <a:srgbClr val="333333"/>
                </a:solidFill>
                <a:latin typeface="Quattrocento Sans" pitchFamily="34" charset="0"/>
                <a:ea typeface="Quattrocento Sans" pitchFamily="34" charset="-122"/>
                <a:cs typeface="Quattrocento Sans" pitchFamily="34" charset="-120"/>
              </a:rPr>
              <a:t> brown-dwarf boundary.</a:t>
            </a:r>
            <a:endParaRPr lang="en-US" sz="1400" dirty="0"/>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AFE"/>
        </a:solidFill>
        <a:effectLst/>
      </p:bgPr>
    </p:bg>
    <p:spTree>
      <p:nvGrpSpPr>
        <p:cNvPr id="1" name=""/>
        <p:cNvGrpSpPr/>
        <p:nvPr/>
      </p:nvGrpSpPr>
      <p:grpSpPr>
        <a:xfrm>
          <a:off x="0" y="0"/>
          <a:ext cx="0" cy="0"/>
          <a:chOff x="0" y="0"/>
          <a:chExt cx="0" cy="0"/>
        </a:xfrm>
      </p:grpSpPr>
      <p:sp>
        <p:nvSpPr>
          <p:cNvPr id="2" name="Shape 0"/>
          <p:cNvSpPr/>
          <p:nvPr/>
        </p:nvSpPr>
        <p:spPr>
          <a:xfrm>
            <a:off x="2032000" y="1778000"/>
            <a:ext cx="4826000" cy="4826000"/>
          </a:xfrm>
          <a:prstGeom prst="rect">
            <a:avLst/>
          </a:prstGeom>
          <a:solidFill>
            <a:srgbClr val="005C82">
              <a:alpha val="3922"/>
            </a:srgbClr>
          </a:solidFill>
          <a:ln w="12700">
            <a:solidFill>
              <a:srgbClr val="005C82"/>
            </a:solidFill>
            <a:prstDash val="solid"/>
          </a:ln>
        </p:spPr>
        <p:txBody>
          <a:bodyPr/>
          <a:lstStyle/>
          <a:p>
            <a:endParaRPr/>
          </a:p>
        </p:txBody>
      </p:sp>
      <p:sp>
        <p:nvSpPr>
          <p:cNvPr id="3" name="Shape 1"/>
          <p:cNvSpPr/>
          <p:nvPr/>
        </p:nvSpPr>
        <p:spPr>
          <a:xfrm>
            <a:off x="2540000" y="2286000"/>
            <a:ext cx="3810000" cy="3810000"/>
          </a:xfrm>
          <a:prstGeom prst="rect">
            <a:avLst/>
          </a:prstGeom>
          <a:solidFill>
            <a:srgbClr val="005C82">
              <a:alpha val="3922"/>
            </a:srgbClr>
          </a:solidFill>
          <a:ln w="12700">
            <a:solidFill>
              <a:srgbClr val="005C82"/>
            </a:solidFill>
            <a:prstDash val="solid"/>
          </a:ln>
        </p:spPr>
        <p:txBody>
          <a:bodyPr/>
          <a:lstStyle/>
          <a:p>
            <a:endParaRPr/>
          </a:p>
        </p:txBody>
      </p:sp>
      <p:sp>
        <p:nvSpPr>
          <p:cNvPr id="4" name="Shape 2"/>
          <p:cNvSpPr/>
          <p:nvPr/>
        </p:nvSpPr>
        <p:spPr>
          <a:xfrm>
            <a:off x="3048000" y="2794000"/>
            <a:ext cx="2794000" cy="2794000"/>
          </a:xfrm>
          <a:prstGeom prst="rect">
            <a:avLst/>
          </a:prstGeom>
          <a:solidFill>
            <a:srgbClr val="FFFFFF"/>
          </a:solidFill>
          <a:ln w="12700">
            <a:solidFill>
              <a:srgbClr val="005C82"/>
            </a:solidFill>
            <a:prstDash val="solid"/>
          </a:ln>
        </p:spPr>
        <p:txBody>
          <a:bodyPr/>
          <a:lstStyle/>
          <a:p>
            <a:endParaRPr/>
          </a:p>
        </p:txBody>
      </p:sp>
      <p:sp>
        <p:nvSpPr>
          <p:cNvPr id="5" name="Text 3"/>
          <p:cNvSpPr/>
          <p:nvPr/>
        </p:nvSpPr>
        <p:spPr>
          <a:xfrm>
            <a:off x="3048000" y="2794000"/>
            <a:ext cx="2794000" cy="2794000"/>
          </a:xfrm>
          <a:prstGeom prst="rect">
            <a:avLst/>
          </a:prstGeom>
          <a:noFill/>
          <a:ln/>
        </p:spPr>
        <p:txBody>
          <a:bodyPr wrap="none" lIns="0" tIns="0" rIns="0" bIns="0" rtlCol="0" anchor="ctr"/>
          <a:lstStyle/>
          <a:p>
            <a:pPr algn="ctr">
              <a:lnSpc>
                <a:spcPct val="120000"/>
              </a:lnSpc>
            </a:pPr>
            <a:r>
              <a:rPr lang="en-US" sz="8000" b="1" dirty="0">
                <a:solidFill>
                  <a:srgbClr val="005C82"/>
                </a:solidFill>
                <a:latin typeface="Quattrocento Sans" pitchFamily="34" charset="0"/>
                <a:ea typeface="Quattrocento Sans" pitchFamily="34" charset="-122"/>
                <a:cs typeface="Quattrocento Sans" pitchFamily="34" charset="-120"/>
              </a:rPr>
              <a:t>04</a:t>
            </a:r>
            <a:endParaRPr lang="en-US" sz="8000" dirty="0"/>
          </a:p>
        </p:txBody>
      </p:sp>
      <p:sp>
        <p:nvSpPr>
          <p:cNvPr id="6" name="Shape 4"/>
          <p:cNvSpPr/>
          <p:nvPr/>
        </p:nvSpPr>
        <p:spPr>
          <a:xfrm>
            <a:off x="7620000" y="2794000"/>
            <a:ext cx="12700" cy="2794000"/>
          </a:xfrm>
          <a:prstGeom prst="rect">
            <a:avLst/>
          </a:prstGeom>
          <a:solidFill>
            <a:srgbClr val="B0BEC5"/>
          </a:solidFill>
          <a:ln/>
        </p:spPr>
        <p:txBody>
          <a:bodyPr/>
          <a:lstStyle/>
          <a:p>
            <a:endParaRPr/>
          </a:p>
        </p:txBody>
      </p:sp>
      <p:sp>
        <p:nvSpPr>
          <p:cNvPr id="7" name="Text 5"/>
          <p:cNvSpPr/>
          <p:nvPr/>
        </p:nvSpPr>
        <p:spPr>
          <a:xfrm>
            <a:off x="8128000" y="2921000"/>
            <a:ext cx="7112000" cy="304800"/>
          </a:xfrm>
          <a:prstGeom prst="rect">
            <a:avLst/>
          </a:prstGeom>
          <a:noFill/>
          <a:ln/>
        </p:spPr>
        <p:txBody>
          <a:bodyPr wrap="none" lIns="0" tIns="0" rIns="0" bIns="0" rtlCol="0" anchor="t"/>
          <a:lstStyle/>
          <a:p>
            <a:pPr algn="l">
              <a:lnSpc>
                <a:spcPct val="120000"/>
              </a:lnSpc>
            </a:pPr>
            <a:r>
              <a:rPr lang="en-US" sz="1400" kern="0" spc="400" dirty="0">
                <a:solidFill>
                  <a:srgbClr val="00ACC1"/>
                </a:solidFill>
                <a:latin typeface="Quattrocento Sans" pitchFamily="34" charset="0"/>
                <a:ea typeface="Quattrocento Sans" pitchFamily="34" charset="-122"/>
                <a:cs typeface="Quattrocento Sans" pitchFamily="34" charset="-120"/>
              </a:rPr>
              <a:t>CHAPTER FOUR</a:t>
            </a:r>
            <a:endParaRPr lang="en-US" sz="1400" dirty="0"/>
          </a:p>
        </p:txBody>
      </p:sp>
      <p:sp>
        <p:nvSpPr>
          <p:cNvPr id="8" name="Text 6"/>
          <p:cNvSpPr/>
          <p:nvPr/>
        </p:nvSpPr>
        <p:spPr>
          <a:xfrm>
            <a:off x="8128000" y="3403600"/>
            <a:ext cx="7366000" cy="889000"/>
          </a:xfrm>
          <a:prstGeom prst="rect">
            <a:avLst/>
          </a:prstGeom>
          <a:noFill/>
          <a:ln/>
        </p:spPr>
        <p:txBody>
          <a:bodyPr wrap="none" lIns="0" tIns="0" rIns="0" bIns="0" rtlCol="0" anchor="ctr"/>
          <a:lstStyle/>
          <a:p>
            <a:pPr algn="l">
              <a:lnSpc>
                <a:spcPct val="120000"/>
              </a:lnSpc>
            </a:pPr>
            <a:r>
              <a:rPr lang="en-US" sz="3600" b="1" dirty="0">
                <a:solidFill>
                  <a:srgbClr val="005C82"/>
                </a:solidFill>
                <a:latin typeface="Quattrocento Sans" pitchFamily="34" charset="0"/>
                <a:ea typeface="Quattrocento Sans" pitchFamily="34" charset="-122"/>
                <a:cs typeface="Quattrocento Sans" pitchFamily="34" charset="-120"/>
              </a:rPr>
              <a:t>Supervised Classification</a:t>
            </a:r>
            <a:endParaRPr lang="en-US" sz="3600" dirty="0"/>
          </a:p>
        </p:txBody>
      </p:sp>
      <p:sp>
        <p:nvSpPr>
          <p:cNvPr id="9" name="Text 7"/>
          <p:cNvSpPr/>
          <p:nvPr/>
        </p:nvSpPr>
        <p:spPr>
          <a:xfrm>
            <a:off x="8128000" y="4419600"/>
            <a:ext cx="7366000" cy="355600"/>
          </a:xfrm>
          <a:prstGeom prst="rect">
            <a:avLst/>
          </a:prstGeom>
          <a:noFill/>
          <a:ln/>
        </p:spPr>
        <p:txBody>
          <a:bodyPr wrap="none" lIns="0" tIns="0" rIns="0" bIns="0" rtlCol="0" anchor="t"/>
          <a:lstStyle/>
          <a:p>
            <a:pPr algn="l">
              <a:lnSpc>
                <a:spcPct val="120000"/>
              </a:lnSpc>
            </a:pPr>
            <a:r>
              <a:rPr lang="en-US" sz="1600" dirty="0">
                <a:solidFill>
                  <a:srgbClr val="B0BEC5"/>
                </a:solidFill>
                <a:latin typeface="Quattrocento Sans" pitchFamily="34" charset="0"/>
                <a:ea typeface="Quattrocento Sans" pitchFamily="34" charset="-122"/>
                <a:cs typeface="Quattrocento Sans" pitchFamily="34" charset="-120"/>
              </a:rPr>
              <a:t>Leakage-aware ablation study of planet type classification</a:t>
            </a:r>
            <a:endParaRPr lang="en-US" sz="1600" dirty="0"/>
          </a:p>
        </p:txBody>
      </p:sp>
      <p:sp>
        <p:nvSpPr>
          <p:cNvPr id="10" name="Shape 8"/>
          <p:cNvSpPr/>
          <p:nvPr/>
        </p:nvSpPr>
        <p:spPr>
          <a:xfrm>
            <a:off x="8128000" y="5029200"/>
            <a:ext cx="2540000" cy="25400"/>
          </a:xfrm>
          <a:prstGeom prst="rect">
            <a:avLst/>
          </a:prstGeom>
          <a:solidFill>
            <a:srgbClr val="00ACC1"/>
          </a:solidFill>
          <a:ln/>
        </p:spPr>
        <p:txBody>
          <a:bodyPr/>
          <a:lstStyle/>
          <a:p>
            <a:endParaRPr/>
          </a:p>
        </p:txBody>
      </p:sp>
      <p:sp>
        <p:nvSpPr>
          <p:cNvPr id="11" name="Text 9"/>
          <p:cNvSpPr/>
          <p:nvPr/>
        </p:nvSpPr>
        <p:spPr>
          <a:xfrm>
            <a:off x="8128000" y="5283200"/>
            <a:ext cx="7366000" cy="355600"/>
          </a:xfrm>
          <a:prstGeom prst="rect">
            <a:avLst/>
          </a:prstGeom>
          <a:noFill/>
          <a:ln/>
        </p:spPr>
        <p:txBody>
          <a:bodyPr wrap="none" lIns="0" tIns="0" rIns="0" bIns="0" rtlCol="0" anchor="t"/>
          <a:lstStyle/>
          <a:p>
            <a:pPr algn="l">
              <a:lnSpc>
                <a:spcPct val="120000"/>
              </a:lnSpc>
            </a:pPr>
            <a:r>
              <a:rPr lang="en-US" sz="1500" dirty="0">
                <a:solidFill>
                  <a:srgbClr val="333333"/>
                </a:solidFill>
                <a:latin typeface="Quattrocento Sans" pitchFamily="34" charset="0"/>
                <a:ea typeface="Quattrocento Sans" pitchFamily="34" charset="-122"/>
                <a:cs typeface="Quattrocento Sans" pitchFamily="34" charset="-120"/>
              </a:rPr>
              <a:t>4.1  Setup A vs Setup B (ablation design)</a:t>
            </a:r>
            <a:endParaRPr lang="en-US" sz="1500" dirty="0"/>
          </a:p>
        </p:txBody>
      </p:sp>
      <p:sp>
        <p:nvSpPr>
          <p:cNvPr id="12" name="Text 10"/>
          <p:cNvSpPr/>
          <p:nvPr/>
        </p:nvSpPr>
        <p:spPr>
          <a:xfrm>
            <a:off x="8128000" y="5740400"/>
            <a:ext cx="7366000" cy="355600"/>
          </a:xfrm>
          <a:prstGeom prst="rect">
            <a:avLst/>
          </a:prstGeom>
          <a:noFill/>
          <a:ln/>
        </p:spPr>
        <p:txBody>
          <a:bodyPr wrap="none" lIns="0" tIns="0" rIns="0" bIns="0" rtlCol="0" anchor="t"/>
          <a:lstStyle/>
          <a:p>
            <a:pPr algn="l">
              <a:lnSpc>
                <a:spcPct val="120000"/>
              </a:lnSpc>
            </a:pPr>
            <a:r>
              <a:rPr lang="en-US" sz="1500" dirty="0">
                <a:solidFill>
                  <a:srgbClr val="333333"/>
                </a:solidFill>
                <a:latin typeface="Quattrocento Sans" pitchFamily="34" charset="0"/>
                <a:ea typeface="Quattrocento Sans" pitchFamily="34" charset="-122"/>
                <a:cs typeface="Quattrocento Sans" pitchFamily="34" charset="-120"/>
              </a:rPr>
              <a:t>4.2  Supervised results &amp; confusion analysis</a:t>
            </a:r>
            <a:endParaRPr lang="en-US" sz="1500" dirty="0"/>
          </a:p>
        </p:txBody>
      </p:sp>
      <p:sp>
        <p:nvSpPr>
          <p:cNvPr id="13" name="Text 11"/>
          <p:cNvSpPr/>
          <p:nvPr/>
        </p:nvSpPr>
        <p:spPr>
          <a:xfrm>
            <a:off x="8128000" y="6197600"/>
            <a:ext cx="7366000" cy="355600"/>
          </a:xfrm>
          <a:prstGeom prst="rect">
            <a:avLst/>
          </a:prstGeom>
          <a:noFill/>
          <a:ln/>
        </p:spPr>
        <p:txBody>
          <a:bodyPr wrap="none" lIns="0" tIns="0" rIns="0" bIns="0" rtlCol="0" anchor="t"/>
          <a:lstStyle/>
          <a:p>
            <a:pPr algn="l">
              <a:lnSpc>
                <a:spcPct val="120000"/>
              </a:lnSpc>
            </a:pPr>
            <a:r>
              <a:rPr lang="en-US" sz="1500" dirty="0">
                <a:solidFill>
                  <a:srgbClr val="333333"/>
                </a:solidFill>
                <a:latin typeface="Quattrocento Sans" pitchFamily="34" charset="0"/>
                <a:ea typeface="Quattrocento Sans" pitchFamily="34" charset="-122"/>
                <a:cs typeface="Quattrocento Sans" pitchFamily="34" charset="-120"/>
              </a:rPr>
              <a:t>4.3  Confidence intervals &amp; statistical tests</a:t>
            </a:r>
            <a:endParaRPr lang="en-US" sz="1500" dirty="0"/>
          </a:p>
        </p:txBody>
      </p:sp>
      <p:sp>
        <p:nvSpPr>
          <p:cNvPr id="14" name="Text 12"/>
          <p:cNvSpPr/>
          <p:nvPr/>
        </p:nvSpPr>
        <p:spPr>
          <a:xfrm>
            <a:off x="15240000" y="8636000"/>
            <a:ext cx="635000" cy="304800"/>
          </a:xfrm>
          <a:prstGeom prst="rect">
            <a:avLst/>
          </a:prstGeom>
          <a:noFill/>
          <a:ln/>
        </p:spPr>
        <p:txBody>
          <a:bodyPr wrap="square" lIns="0" tIns="0" rIns="0" bIns="0" rtlCol="0" anchor="ctr"/>
          <a:lstStyle/>
          <a:p>
            <a:r>
              <a:t>21</a:t>
            </a:r>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AFE"/>
        </a:solidFill>
        <a:effectLst/>
      </p:bgPr>
    </p:bg>
    <p:spTree>
      <p:nvGrpSpPr>
        <p:cNvPr id="1" name=""/>
        <p:cNvGrpSpPr/>
        <p:nvPr/>
      </p:nvGrpSpPr>
      <p:grpSpPr>
        <a:xfrm>
          <a:off x="0" y="0"/>
          <a:ext cx="0" cy="0"/>
          <a:chOff x="0" y="0"/>
          <a:chExt cx="0" cy="0"/>
        </a:xfrm>
      </p:grpSpPr>
      <p:sp>
        <p:nvSpPr>
          <p:cNvPr id="2" name="Shape 0"/>
          <p:cNvSpPr/>
          <p:nvPr/>
        </p:nvSpPr>
        <p:spPr>
          <a:xfrm>
            <a:off x="0" y="0"/>
            <a:ext cx="2286000" cy="9144000"/>
          </a:xfrm>
          <a:prstGeom prst="rect">
            <a:avLst/>
          </a:prstGeom>
          <a:solidFill>
            <a:srgbClr val="004060"/>
          </a:solidFill>
          <a:ln/>
        </p:spPr>
        <p:txBody>
          <a:bodyPr/>
          <a:lstStyle/>
          <a:p>
            <a:endParaRPr/>
          </a:p>
        </p:txBody>
      </p:sp>
      <p:sp>
        <p:nvSpPr>
          <p:cNvPr id="3" name="Shape 1"/>
          <p:cNvSpPr/>
          <p:nvPr/>
        </p:nvSpPr>
        <p:spPr>
          <a:xfrm>
            <a:off x="177800" y="177800"/>
            <a:ext cx="457200" cy="457200"/>
          </a:xfrm>
          <a:prstGeom prst="ellipse">
            <a:avLst/>
          </a:prstGeom>
          <a:solidFill>
            <a:srgbClr val="FFFFFF">
              <a:alpha val="12549"/>
            </a:srgbClr>
          </a:solidFill>
          <a:ln w="12700">
            <a:solidFill>
              <a:srgbClr val="00ACC1"/>
            </a:solidFill>
            <a:prstDash val="solid"/>
          </a:ln>
        </p:spPr>
        <p:txBody>
          <a:bodyPr/>
          <a:lstStyle/>
          <a:p>
            <a:endParaRPr/>
          </a:p>
        </p:txBody>
      </p:sp>
      <p:sp>
        <p:nvSpPr>
          <p:cNvPr id="4" name="Shape 2"/>
          <p:cNvSpPr/>
          <p:nvPr/>
        </p:nvSpPr>
        <p:spPr>
          <a:xfrm>
            <a:off x="0" y="4521200"/>
            <a:ext cx="2286000" cy="1168400"/>
          </a:xfrm>
          <a:prstGeom prst="rect">
            <a:avLst/>
          </a:prstGeom>
          <a:solidFill>
            <a:srgbClr val="005C82"/>
          </a:solidFill>
          <a:ln/>
        </p:spPr>
        <p:txBody>
          <a:bodyPr/>
          <a:lstStyle/>
          <a:p>
            <a:endParaRPr/>
          </a:p>
        </p:txBody>
      </p:sp>
      <p:sp>
        <p:nvSpPr>
          <p:cNvPr id="5" name="Text 3"/>
          <p:cNvSpPr/>
          <p:nvPr/>
        </p:nvSpPr>
        <p:spPr>
          <a:xfrm>
            <a:off x="101600" y="10160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01 Intro</a:t>
            </a:r>
            <a:endParaRPr lang="en-US" sz="1600" dirty="0"/>
          </a:p>
        </p:txBody>
      </p:sp>
      <p:sp>
        <p:nvSpPr>
          <p:cNvPr id="6" name="Text 4"/>
          <p:cNvSpPr/>
          <p:nvPr/>
        </p:nvSpPr>
        <p:spPr>
          <a:xfrm>
            <a:off x="101600" y="21844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02 Dataset</a:t>
            </a:r>
            <a:endParaRPr lang="en-US" sz="1600" dirty="0"/>
          </a:p>
        </p:txBody>
      </p:sp>
      <p:sp>
        <p:nvSpPr>
          <p:cNvPr id="7" name="Text 5"/>
          <p:cNvSpPr/>
          <p:nvPr/>
        </p:nvSpPr>
        <p:spPr>
          <a:xfrm>
            <a:off x="101600" y="33528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03 Clustering</a:t>
            </a:r>
            <a:endParaRPr lang="en-US" sz="1600" dirty="0"/>
          </a:p>
        </p:txBody>
      </p:sp>
      <p:sp>
        <p:nvSpPr>
          <p:cNvPr id="8" name="Text 6"/>
          <p:cNvSpPr/>
          <p:nvPr/>
        </p:nvSpPr>
        <p:spPr>
          <a:xfrm>
            <a:off x="101600" y="4521200"/>
            <a:ext cx="2082800" cy="1168400"/>
          </a:xfrm>
          <a:prstGeom prst="rect">
            <a:avLst/>
          </a:prstGeom>
          <a:noFill/>
          <a:ln/>
        </p:spPr>
        <p:txBody>
          <a:bodyPr wrap="none" lIns="0" tIns="0" rIns="0" bIns="0" rtlCol="0" anchor="ctr"/>
          <a:lstStyle/>
          <a:p>
            <a:pPr algn="l">
              <a:lnSpc>
                <a:spcPct val="120000"/>
              </a:lnSpc>
            </a:pPr>
            <a:r>
              <a:rPr lang="en-US" sz="1800" b="1" dirty="0">
                <a:solidFill>
                  <a:srgbClr val="FFFFFF"/>
                </a:solidFill>
                <a:latin typeface="Quattrocento Sans" pitchFamily="34" charset="0"/>
                <a:ea typeface="Quattrocento Sans" pitchFamily="34" charset="-122"/>
                <a:cs typeface="Quattrocento Sans" pitchFamily="34" charset="-120"/>
              </a:rPr>
              <a:t>04 Supervised</a:t>
            </a:r>
            <a:endParaRPr lang="en-US" sz="1800" dirty="0"/>
          </a:p>
        </p:txBody>
      </p:sp>
      <p:sp>
        <p:nvSpPr>
          <p:cNvPr id="9" name="Text 7"/>
          <p:cNvSpPr/>
          <p:nvPr/>
        </p:nvSpPr>
        <p:spPr>
          <a:xfrm>
            <a:off x="101600" y="56896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05 Conclusions</a:t>
            </a:r>
            <a:endParaRPr lang="en-US" sz="1600" dirty="0"/>
          </a:p>
        </p:txBody>
      </p:sp>
      <p:sp>
        <p:nvSpPr>
          <p:cNvPr id="10" name="Shape 8"/>
          <p:cNvSpPr/>
          <p:nvPr/>
        </p:nvSpPr>
        <p:spPr>
          <a:xfrm>
            <a:off x="1066800" y="7493000"/>
            <a:ext cx="152400" cy="152400"/>
          </a:xfrm>
          <a:prstGeom prst="diamond">
            <a:avLst/>
          </a:prstGeom>
          <a:solidFill>
            <a:srgbClr val="00ACC1"/>
          </a:solidFill>
          <a:ln/>
        </p:spPr>
        <p:txBody>
          <a:bodyPr/>
          <a:lstStyle/>
          <a:p>
            <a:endParaRPr/>
          </a:p>
        </p:txBody>
      </p:sp>
      <p:sp>
        <p:nvSpPr>
          <p:cNvPr id="11" name="Shape 9"/>
          <p:cNvSpPr/>
          <p:nvPr/>
        </p:nvSpPr>
        <p:spPr>
          <a:xfrm>
            <a:off x="2286000" y="0"/>
            <a:ext cx="13970000" cy="635000"/>
          </a:xfrm>
          <a:prstGeom prst="rect">
            <a:avLst/>
          </a:prstGeom>
          <a:solidFill>
            <a:srgbClr val="E0F4FA"/>
          </a:solidFill>
          <a:ln/>
        </p:spPr>
        <p:txBody>
          <a:bodyPr/>
          <a:lstStyle/>
          <a:p>
            <a:endParaRPr/>
          </a:p>
        </p:txBody>
      </p:sp>
      <p:sp>
        <p:nvSpPr>
          <p:cNvPr id="12" name="Text 10"/>
          <p:cNvSpPr/>
          <p:nvPr/>
        </p:nvSpPr>
        <p:spPr>
          <a:xfrm>
            <a:off x="2540000" y="0"/>
            <a:ext cx="12827000" cy="635000"/>
          </a:xfrm>
          <a:prstGeom prst="rect">
            <a:avLst/>
          </a:prstGeom>
          <a:noFill/>
          <a:ln/>
        </p:spPr>
        <p:txBody>
          <a:bodyPr wrap="none" lIns="0" tIns="0" rIns="0" bIns="0" rtlCol="0" anchor="ctr"/>
          <a:lstStyle/>
          <a:p>
            <a:pPr algn="l">
              <a:lnSpc>
                <a:spcPct val="120000"/>
              </a:lnSpc>
            </a:pPr>
            <a:r>
              <a:rPr lang="en-US" sz="1400" b="1" dirty="0">
                <a:solidFill>
                  <a:srgbClr val="005C82"/>
                </a:solidFill>
                <a:latin typeface="Quattrocento Sans" pitchFamily="34" charset="0"/>
                <a:ea typeface="Quattrocento Sans" pitchFamily="34" charset="-122"/>
                <a:cs typeface="Quattrocento Sans" pitchFamily="34" charset="-120"/>
              </a:rPr>
              <a:t>04 Supervised</a:t>
            </a:r>
            <a:r>
              <a:rPr lang="en-US" sz="1400" dirty="0">
                <a:solidFill>
                  <a:srgbClr val="005C82"/>
                </a:solidFill>
                <a:latin typeface="Quattrocento Sans" pitchFamily="34" charset="0"/>
                <a:ea typeface="Quattrocento Sans" pitchFamily="34" charset="-122"/>
                <a:cs typeface="Quattrocento Sans" pitchFamily="34" charset="-120"/>
              </a:rPr>
              <a:t>  &gt;  4.1  Setup A vs Setup B</a:t>
            </a:r>
            <a:endParaRPr lang="en-US" sz="1400" dirty="0"/>
          </a:p>
        </p:txBody>
      </p:sp>
      <p:sp>
        <p:nvSpPr>
          <p:cNvPr id="13" name="Text 11"/>
          <p:cNvSpPr/>
          <p:nvPr/>
        </p:nvSpPr>
        <p:spPr>
          <a:xfrm>
            <a:off x="15621000" y="0"/>
            <a:ext cx="635000" cy="635000"/>
          </a:xfrm>
          <a:prstGeom prst="rect">
            <a:avLst/>
          </a:prstGeom>
          <a:noFill/>
          <a:ln/>
        </p:spPr>
        <p:txBody>
          <a:bodyPr wrap="square" lIns="0" tIns="0" rIns="0" bIns="0" rtlCol="0" anchor="ctr"/>
          <a:lstStyle/>
          <a:p>
            <a:r>
              <a:t>22</a:t>
            </a:r>
          </a:p>
        </p:txBody>
      </p:sp>
      <p:sp>
        <p:nvSpPr>
          <p:cNvPr id="14" name="Text 12"/>
          <p:cNvSpPr/>
          <p:nvPr/>
        </p:nvSpPr>
        <p:spPr>
          <a:xfrm>
            <a:off x="2540000" y="863600"/>
            <a:ext cx="13208000" cy="457200"/>
          </a:xfrm>
          <a:prstGeom prst="rect">
            <a:avLst/>
          </a:prstGeom>
          <a:noFill/>
          <a:ln/>
        </p:spPr>
        <p:txBody>
          <a:bodyPr wrap="none" lIns="0" tIns="0" rIns="0" bIns="0" rtlCol="0" anchor="t"/>
          <a:lstStyle/>
          <a:p>
            <a:pPr algn="l">
              <a:lnSpc>
                <a:spcPct val="120000"/>
              </a:lnSpc>
            </a:pPr>
            <a:r>
              <a:rPr lang="en-US" sz="2400" b="1" dirty="0">
                <a:solidFill>
                  <a:srgbClr val="005C82"/>
                </a:solidFill>
                <a:latin typeface="Quattrocento Sans" pitchFamily="34" charset="0"/>
                <a:ea typeface="Quattrocento Sans" pitchFamily="34" charset="-122"/>
                <a:cs typeface="Quattrocento Sans" pitchFamily="34" charset="-120"/>
              </a:rPr>
              <a:t>Supervised Extension: Setup A vs Setup B</a:t>
            </a:r>
            <a:endParaRPr lang="en-US" sz="2400" dirty="0"/>
          </a:p>
        </p:txBody>
      </p:sp>
      <p:sp>
        <p:nvSpPr>
          <p:cNvPr id="15" name="Shape 13"/>
          <p:cNvSpPr/>
          <p:nvPr/>
        </p:nvSpPr>
        <p:spPr>
          <a:xfrm>
            <a:off x="2540000" y="1397000"/>
            <a:ext cx="13208000" cy="12700"/>
          </a:xfrm>
          <a:prstGeom prst="rect">
            <a:avLst/>
          </a:prstGeom>
          <a:solidFill>
            <a:srgbClr val="B0BEC5"/>
          </a:solidFill>
          <a:ln/>
        </p:spPr>
        <p:txBody>
          <a:bodyPr/>
          <a:lstStyle/>
          <a:p>
            <a:endParaRPr/>
          </a:p>
        </p:txBody>
      </p:sp>
      <p:sp>
        <p:nvSpPr>
          <p:cNvPr id="16" name="Shape 14"/>
          <p:cNvSpPr/>
          <p:nvPr/>
        </p:nvSpPr>
        <p:spPr>
          <a:xfrm>
            <a:off x="2540000" y="1574800"/>
            <a:ext cx="6350000" cy="482600"/>
          </a:xfrm>
          <a:prstGeom prst="rect">
            <a:avLst/>
          </a:prstGeom>
          <a:solidFill>
            <a:srgbClr val="005C82"/>
          </a:solidFill>
          <a:ln/>
        </p:spPr>
        <p:txBody>
          <a:bodyPr/>
          <a:lstStyle/>
          <a:p>
            <a:endParaRPr/>
          </a:p>
        </p:txBody>
      </p:sp>
      <p:sp>
        <p:nvSpPr>
          <p:cNvPr id="17" name="Text 15"/>
          <p:cNvSpPr/>
          <p:nvPr/>
        </p:nvSpPr>
        <p:spPr>
          <a:xfrm>
            <a:off x="2540000" y="1574800"/>
            <a:ext cx="6350000" cy="482600"/>
          </a:xfrm>
          <a:prstGeom prst="rect">
            <a:avLst/>
          </a:prstGeom>
          <a:noFill/>
          <a:ln/>
        </p:spPr>
        <p:txBody>
          <a:bodyPr wrap="none" lIns="0" tIns="0" rIns="0" bIns="0" rtlCol="0" anchor="ctr"/>
          <a:lstStyle/>
          <a:p>
            <a:pPr algn="ctr">
              <a:lnSpc>
                <a:spcPct val="120000"/>
              </a:lnSpc>
            </a:pPr>
            <a:r>
              <a:rPr lang="en-US" sz="1500" b="1" dirty="0">
                <a:solidFill>
                  <a:srgbClr val="FFFFFF"/>
                </a:solidFill>
                <a:latin typeface="Quattrocento Sans" pitchFamily="34" charset="0"/>
                <a:ea typeface="Quattrocento Sans" pitchFamily="34" charset="-122"/>
                <a:cs typeface="Quattrocento Sans" pitchFamily="34" charset="-120"/>
              </a:rPr>
              <a:t>Setup A - Full Features (16 features)</a:t>
            </a:r>
            <a:endParaRPr lang="en-US" sz="1500" dirty="0"/>
          </a:p>
        </p:txBody>
      </p:sp>
      <p:sp>
        <p:nvSpPr>
          <p:cNvPr id="18" name="Shape 16"/>
          <p:cNvSpPr/>
          <p:nvPr/>
        </p:nvSpPr>
        <p:spPr>
          <a:xfrm>
            <a:off x="2540000" y="2057400"/>
            <a:ext cx="6350000" cy="3556000"/>
          </a:xfrm>
          <a:prstGeom prst="rect">
            <a:avLst/>
          </a:prstGeom>
          <a:solidFill>
            <a:srgbClr val="E0F4FA"/>
          </a:solidFill>
          <a:ln/>
        </p:spPr>
        <p:txBody>
          <a:bodyPr/>
          <a:lstStyle/>
          <a:p>
            <a:endParaRPr/>
          </a:p>
        </p:txBody>
      </p:sp>
      <p:sp>
        <p:nvSpPr>
          <p:cNvPr id="19" name="Text 17"/>
          <p:cNvSpPr/>
          <p:nvPr/>
        </p:nvSpPr>
        <p:spPr>
          <a:xfrm>
            <a:off x="2768600" y="2209800"/>
            <a:ext cx="5892800" cy="3251200"/>
          </a:xfrm>
          <a:prstGeom prst="rect">
            <a:avLst/>
          </a:prstGeom>
          <a:noFill/>
          <a:ln/>
        </p:spPr>
        <p:txBody>
          <a:bodyPr wrap="square" lIns="0" tIns="0" rIns="0" bIns="0" rtlCol="0" anchor="t"/>
          <a:lstStyle/>
          <a:p>
            <a:pPr algn="l">
              <a:lnSpc>
                <a:spcPct val="150000"/>
              </a:lnSpc>
            </a:pPr>
            <a:r>
              <a:rPr lang="en-US" sz="1400" b="1" dirty="0">
                <a:solidFill>
                  <a:srgbClr val="333333"/>
                </a:solidFill>
                <a:latin typeface="Quattrocento Sans" pitchFamily="34" charset="0"/>
                <a:ea typeface="Quattrocento Sans" pitchFamily="34" charset="-122"/>
                <a:cs typeface="Quattrocento Sans" pitchFamily="34" charset="-120"/>
              </a:rPr>
              <a:t>All 16 features including:</a:t>
            </a:r>
            <a:endParaRPr lang="en-US" sz="1400" dirty="0"/>
          </a:p>
          <a:p>
            <a:pPr algn="l">
              <a:lnSpc>
                <a:spcPct val="150000"/>
              </a:lnSpc>
            </a:pPr>
            <a:r>
              <a:rPr lang="en-US" sz="1400" dirty="0">
                <a:solidFill>
                  <a:srgbClr val="333333"/>
                </a:solidFill>
                <a:latin typeface="Quattrocento Sans" pitchFamily="34" charset="0"/>
                <a:ea typeface="Quattrocento Sans" pitchFamily="34" charset="-122"/>
                <a:cs typeface="Quattrocento Sans" pitchFamily="34" charset="-120"/>
              </a:rPr>
              <a:t>planet_radius_earth_log</a:t>
            </a:r>
            <a:endParaRPr lang="en-US" sz="1400" dirty="0"/>
          </a:p>
          <a:p>
            <a:pPr algn="l">
              <a:lnSpc>
                <a:spcPct val="150000"/>
              </a:lnSpc>
            </a:pPr>
            <a:r>
              <a:rPr lang="en-US" sz="1400" dirty="0">
                <a:solidFill>
                  <a:srgbClr val="333333"/>
                </a:solidFill>
                <a:latin typeface="Quattrocento Sans" pitchFamily="34" charset="0"/>
                <a:ea typeface="Quattrocento Sans" pitchFamily="34" charset="-122"/>
                <a:cs typeface="Quattrocento Sans" pitchFamily="34" charset="-120"/>
              </a:rPr>
              <a:t>planet_mass_earth_log</a:t>
            </a:r>
            <a:endParaRPr lang="en-US" sz="1400" dirty="0"/>
          </a:p>
          <a:p>
            <a:pPr algn="l">
              <a:lnSpc>
                <a:spcPct val="150000"/>
              </a:lnSpc>
            </a:pPr>
            <a:r>
              <a:rPr lang="en-US" sz="1400" dirty="0">
                <a:solidFill>
                  <a:srgbClr val="333333"/>
                </a:solidFill>
                <a:latin typeface="Quattrocento Sans" pitchFamily="34" charset="0"/>
                <a:ea typeface="Quattrocento Sans" pitchFamily="34" charset="-122"/>
                <a:cs typeface="Quattrocento Sans" pitchFamily="34" charset="-120"/>
              </a:rPr>
              <a:t>+ 6 planetary/orbital features</a:t>
            </a:r>
            <a:endParaRPr lang="en-US" sz="1400" dirty="0"/>
          </a:p>
          <a:p>
            <a:pPr algn="l">
              <a:lnSpc>
                <a:spcPct val="150000"/>
              </a:lnSpc>
            </a:pPr>
            <a:r>
              <a:rPr lang="en-US" sz="1400" dirty="0">
                <a:solidFill>
                  <a:srgbClr val="333333"/>
                </a:solidFill>
                <a:latin typeface="Quattrocento Sans" pitchFamily="34" charset="0"/>
                <a:ea typeface="Quattrocento Sans" pitchFamily="34" charset="-122"/>
                <a:cs typeface="Quattrocento Sans" pitchFamily="34" charset="-120"/>
              </a:rPr>
              <a:t>+ 6 stellar features</a:t>
            </a:r>
            <a:endParaRPr lang="en-US" sz="1400" dirty="0"/>
          </a:p>
          <a:p>
            <a:pPr algn="l">
              <a:lnSpc>
                <a:spcPct val="150000"/>
              </a:lnSpc>
            </a:pPr>
            <a:r>
              <a:rPr lang="en-US" sz="1400" dirty="0">
                <a:solidFill>
                  <a:srgbClr val="333333"/>
                </a:solidFill>
                <a:latin typeface="Quattrocento Sans" pitchFamily="34" charset="0"/>
                <a:ea typeface="Quattrocento Sans" pitchFamily="34" charset="-122"/>
                <a:cs typeface="Quattrocento Sans" pitchFamily="34" charset="-120"/>
              </a:rPr>
              <a:t>+ 4 contextual features</a:t>
            </a:r>
            <a:endParaRPr lang="en-US" sz="1400" dirty="0"/>
          </a:p>
          <a:p>
            <a:pPr algn="l">
              <a:lnSpc>
                <a:spcPct val="150000"/>
              </a:lnSpc>
            </a:pPr>
            <a:r>
              <a:rPr lang="en-US" sz="1400" dirty="0">
                <a:solidFill>
                  <a:srgbClr val="333333"/>
                </a:solidFill>
                <a:latin typeface="Quattrocento Sans" pitchFamily="34" charset="0"/>
                <a:ea typeface="Quattrocento Sans" pitchFamily="34" charset="-122"/>
                <a:cs typeface="Quattrocento Sans" pitchFamily="34" charset="-120"/>
              </a:rPr>
              <a:t> </a:t>
            </a:r>
            <a:endParaRPr lang="en-US" sz="1400" dirty="0"/>
          </a:p>
          <a:p>
            <a:pPr algn="l">
              <a:lnSpc>
                <a:spcPct val="150000"/>
              </a:lnSpc>
            </a:pPr>
            <a:r>
              <a:rPr lang="en-US" sz="1400" b="1" dirty="0">
                <a:solidFill>
                  <a:srgbClr val="005C82"/>
                </a:solidFill>
                <a:latin typeface="Quattrocento Sans" pitchFamily="34" charset="0"/>
                <a:ea typeface="Quattrocento Sans" pitchFamily="34" charset="-122"/>
                <a:cs typeface="Quattrocento Sans" pitchFamily="34" charset="-120"/>
              </a:rPr>
              <a:t>Expected: near-perfect performance</a:t>
            </a:r>
            <a:endParaRPr lang="en-US" sz="1400" dirty="0"/>
          </a:p>
          <a:p>
            <a:pPr algn="l">
              <a:lnSpc>
                <a:spcPct val="150000"/>
              </a:lnSpc>
            </a:pPr>
            <a:r>
              <a:rPr lang="en-US" sz="1400" dirty="0">
                <a:solidFill>
                  <a:srgbClr val="333333"/>
                </a:solidFill>
                <a:latin typeface="Quattrocento Sans" pitchFamily="34" charset="0"/>
                <a:ea typeface="Quattrocento Sans" pitchFamily="34" charset="-122"/>
                <a:cs typeface="Quattrocento Sans" pitchFamily="34" charset="-120"/>
              </a:rPr>
              <a:t>(mass and radius are definitional)</a:t>
            </a:r>
            <a:endParaRPr lang="en-US" sz="1400" dirty="0"/>
          </a:p>
        </p:txBody>
      </p:sp>
      <p:sp>
        <p:nvSpPr>
          <p:cNvPr id="20" name="Shape 18"/>
          <p:cNvSpPr/>
          <p:nvPr/>
        </p:nvSpPr>
        <p:spPr>
          <a:xfrm>
            <a:off x="9144000" y="1574800"/>
            <a:ext cx="6350000" cy="482600"/>
          </a:xfrm>
          <a:prstGeom prst="rect">
            <a:avLst/>
          </a:prstGeom>
          <a:solidFill>
            <a:srgbClr val="007AA8"/>
          </a:solidFill>
          <a:ln/>
        </p:spPr>
        <p:txBody>
          <a:bodyPr/>
          <a:lstStyle/>
          <a:p>
            <a:endParaRPr/>
          </a:p>
        </p:txBody>
      </p:sp>
      <p:sp>
        <p:nvSpPr>
          <p:cNvPr id="21" name="Text 19"/>
          <p:cNvSpPr/>
          <p:nvPr/>
        </p:nvSpPr>
        <p:spPr>
          <a:xfrm>
            <a:off x="9144000" y="1574800"/>
            <a:ext cx="6350000" cy="482600"/>
          </a:xfrm>
          <a:prstGeom prst="rect">
            <a:avLst/>
          </a:prstGeom>
          <a:noFill/>
          <a:ln/>
        </p:spPr>
        <p:txBody>
          <a:bodyPr wrap="none" lIns="0" tIns="0" rIns="0" bIns="0" rtlCol="0" anchor="ctr"/>
          <a:lstStyle/>
          <a:p>
            <a:pPr algn="ctr">
              <a:lnSpc>
                <a:spcPct val="120000"/>
              </a:lnSpc>
            </a:pPr>
            <a:r>
              <a:rPr lang="en-US" sz="1500" b="1" dirty="0">
                <a:solidFill>
                  <a:srgbClr val="FFFFFF"/>
                </a:solidFill>
                <a:latin typeface="Quattrocento Sans" pitchFamily="34" charset="0"/>
                <a:ea typeface="Quattrocento Sans" pitchFamily="34" charset="-122"/>
                <a:cs typeface="Quattrocento Sans" pitchFamily="34" charset="-120"/>
              </a:rPr>
              <a:t>Setup B - Ablation (14 features)</a:t>
            </a:r>
            <a:endParaRPr lang="en-US" sz="1500" dirty="0"/>
          </a:p>
        </p:txBody>
      </p:sp>
      <p:sp>
        <p:nvSpPr>
          <p:cNvPr id="22" name="Shape 20"/>
          <p:cNvSpPr/>
          <p:nvPr/>
        </p:nvSpPr>
        <p:spPr>
          <a:xfrm>
            <a:off x="9144000" y="2057400"/>
            <a:ext cx="6350000" cy="3556000"/>
          </a:xfrm>
          <a:prstGeom prst="rect">
            <a:avLst/>
          </a:prstGeom>
          <a:solidFill>
            <a:srgbClr val="E8F4F8"/>
          </a:solidFill>
          <a:ln/>
        </p:spPr>
        <p:txBody>
          <a:bodyPr/>
          <a:lstStyle/>
          <a:p>
            <a:endParaRPr/>
          </a:p>
        </p:txBody>
      </p:sp>
      <p:sp>
        <p:nvSpPr>
          <p:cNvPr id="23" name="Text 21"/>
          <p:cNvSpPr/>
          <p:nvPr/>
        </p:nvSpPr>
        <p:spPr>
          <a:xfrm>
            <a:off x="9372600" y="2209800"/>
            <a:ext cx="5892800" cy="3251200"/>
          </a:xfrm>
          <a:prstGeom prst="rect">
            <a:avLst/>
          </a:prstGeom>
          <a:noFill/>
          <a:ln/>
        </p:spPr>
        <p:txBody>
          <a:bodyPr wrap="square" lIns="0" tIns="0" rIns="0" bIns="0" rtlCol="0" anchor="t"/>
          <a:lstStyle/>
          <a:p>
            <a:pPr algn="l">
              <a:lnSpc>
                <a:spcPct val="150000"/>
              </a:lnSpc>
            </a:pPr>
            <a:r>
              <a:rPr lang="en-US" sz="1400" b="1" dirty="0">
                <a:solidFill>
                  <a:srgbClr val="333333"/>
                </a:solidFill>
                <a:latin typeface="Quattrocento Sans" pitchFamily="34" charset="0"/>
                <a:ea typeface="Quattrocento Sans" pitchFamily="34" charset="-122"/>
                <a:cs typeface="Quattrocento Sans" pitchFamily="34" charset="-120"/>
              </a:rPr>
              <a:t>Features:</a:t>
            </a:r>
            <a:endParaRPr lang="en-US" sz="1400" dirty="0"/>
          </a:p>
          <a:p>
            <a:pPr algn="l">
              <a:lnSpc>
                <a:spcPct val="150000"/>
              </a:lnSpc>
            </a:pPr>
            <a:r>
              <a:rPr lang="en-US" sz="1400" dirty="0">
                <a:solidFill>
                  <a:srgbClr val="CC0000"/>
                </a:solidFill>
                <a:latin typeface="Quattrocento Sans" pitchFamily="34" charset="0"/>
                <a:ea typeface="Quattrocento Sans" pitchFamily="34" charset="-122"/>
                <a:cs typeface="Quattrocento Sans" pitchFamily="34" charset="-120"/>
              </a:rPr>
              <a:t>- </a:t>
            </a:r>
            <a:r>
              <a:rPr lang="en-US" sz="1400" dirty="0" err="1">
                <a:solidFill>
                  <a:srgbClr val="CC0000"/>
                </a:solidFill>
                <a:latin typeface="Quattrocento Sans" pitchFamily="34" charset="0"/>
                <a:ea typeface="Quattrocento Sans" pitchFamily="34" charset="-122"/>
                <a:cs typeface="Quattrocento Sans" pitchFamily="34" charset="-120"/>
              </a:rPr>
              <a:t>planet_radius_earth_log</a:t>
            </a:r>
            <a:endParaRPr lang="en-US" sz="1400" dirty="0"/>
          </a:p>
          <a:p>
            <a:pPr algn="l">
              <a:lnSpc>
                <a:spcPct val="150000"/>
              </a:lnSpc>
            </a:pPr>
            <a:r>
              <a:rPr lang="en-US" sz="1400" dirty="0">
                <a:solidFill>
                  <a:srgbClr val="CC0000"/>
                </a:solidFill>
                <a:latin typeface="Quattrocento Sans" pitchFamily="34" charset="0"/>
                <a:ea typeface="Quattrocento Sans" pitchFamily="34" charset="-122"/>
                <a:cs typeface="Quattrocento Sans" pitchFamily="34" charset="-120"/>
              </a:rPr>
              <a:t>- </a:t>
            </a:r>
            <a:r>
              <a:rPr lang="en-US" sz="1400" dirty="0" err="1">
                <a:solidFill>
                  <a:srgbClr val="CC0000"/>
                </a:solidFill>
                <a:latin typeface="Quattrocento Sans" pitchFamily="34" charset="0"/>
                <a:ea typeface="Quattrocento Sans" pitchFamily="34" charset="-122"/>
                <a:cs typeface="Quattrocento Sans" pitchFamily="34" charset="-120"/>
              </a:rPr>
              <a:t>planet_mass_earth_log</a:t>
            </a:r>
            <a:endParaRPr lang="en-US" sz="1400" dirty="0"/>
          </a:p>
          <a:p>
            <a:pPr algn="l">
              <a:lnSpc>
                <a:spcPct val="150000"/>
              </a:lnSpc>
            </a:pPr>
            <a:r>
              <a:rPr lang="en-US" sz="1400" dirty="0">
                <a:solidFill>
                  <a:srgbClr val="333333"/>
                </a:solidFill>
                <a:latin typeface="Quattrocento Sans" pitchFamily="34" charset="0"/>
                <a:ea typeface="Quattrocento Sans" pitchFamily="34" charset="-122"/>
                <a:cs typeface="Quattrocento Sans" pitchFamily="34" charset="-120"/>
              </a:rPr>
              <a:t>+ 6 planetary/orbital </a:t>
            </a:r>
          </a:p>
          <a:p>
            <a:pPr algn="l">
              <a:lnSpc>
                <a:spcPct val="150000"/>
              </a:lnSpc>
            </a:pPr>
            <a:r>
              <a:rPr lang="en-US" sz="1400" dirty="0">
                <a:solidFill>
                  <a:srgbClr val="333333"/>
                </a:solidFill>
                <a:latin typeface="Quattrocento Sans" pitchFamily="34" charset="0"/>
                <a:ea typeface="Quattrocento Sans" pitchFamily="34" charset="-122"/>
                <a:cs typeface="Quattrocento Sans" pitchFamily="34" charset="-120"/>
              </a:rPr>
              <a:t>+ 6 stellar features</a:t>
            </a:r>
            <a:endParaRPr lang="en-US" sz="1400" dirty="0"/>
          </a:p>
          <a:p>
            <a:pPr algn="l">
              <a:lnSpc>
                <a:spcPct val="150000"/>
              </a:lnSpc>
            </a:pPr>
            <a:r>
              <a:rPr lang="en-US" sz="1400" dirty="0">
                <a:solidFill>
                  <a:srgbClr val="333333"/>
                </a:solidFill>
                <a:latin typeface="Quattrocento Sans" pitchFamily="34" charset="0"/>
                <a:ea typeface="Quattrocento Sans" pitchFamily="34" charset="-122"/>
                <a:cs typeface="Quattrocento Sans" pitchFamily="34" charset="-120"/>
              </a:rPr>
              <a:t>+ 4 contextual features</a:t>
            </a:r>
            <a:endParaRPr lang="en-US" sz="1400" dirty="0"/>
          </a:p>
          <a:p>
            <a:pPr algn="l">
              <a:lnSpc>
                <a:spcPct val="150000"/>
              </a:lnSpc>
            </a:pPr>
            <a:r>
              <a:rPr lang="en-US" sz="1400" dirty="0">
                <a:solidFill>
                  <a:srgbClr val="333333"/>
                </a:solidFill>
                <a:latin typeface="Quattrocento Sans" pitchFamily="34" charset="0"/>
                <a:ea typeface="Quattrocento Sans" pitchFamily="34" charset="-122"/>
                <a:cs typeface="Quattrocento Sans" pitchFamily="34" charset="-120"/>
              </a:rPr>
              <a:t> </a:t>
            </a:r>
            <a:endParaRPr lang="en-US" sz="1400" dirty="0"/>
          </a:p>
          <a:p>
            <a:pPr algn="l">
              <a:lnSpc>
                <a:spcPct val="150000"/>
              </a:lnSpc>
            </a:pPr>
            <a:r>
              <a:rPr lang="en-US" sz="1400" b="1" dirty="0">
                <a:solidFill>
                  <a:srgbClr val="007AA8"/>
                </a:solidFill>
                <a:latin typeface="Quattrocento Sans" pitchFamily="34" charset="0"/>
                <a:ea typeface="Quattrocento Sans" pitchFamily="34" charset="-122"/>
                <a:cs typeface="Quattrocento Sans" pitchFamily="34" charset="-120"/>
              </a:rPr>
              <a:t>Expected: significant drop</a:t>
            </a:r>
            <a:endParaRPr lang="en-US" sz="1400" dirty="0"/>
          </a:p>
          <a:p>
            <a:pPr algn="l">
              <a:lnSpc>
                <a:spcPct val="150000"/>
              </a:lnSpc>
            </a:pPr>
            <a:r>
              <a:rPr lang="en-US" sz="1400" dirty="0">
                <a:solidFill>
                  <a:srgbClr val="333333"/>
                </a:solidFill>
                <a:latin typeface="Quattrocento Sans" pitchFamily="34" charset="0"/>
                <a:ea typeface="Quattrocento Sans" pitchFamily="34" charset="-122"/>
                <a:cs typeface="Quattrocento Sans" pitchFamily="34" charset="-120"/>
              </a:rPr>
              <a:t>(genuinely difficult classification)</a:t>
            </a:r>
            <a:endParaRPr lang="en-US" sz="1400" dirty="0"/>
          </a:p>
        </p:txBody>
      </p:sp>
      <p:sp>
        <p:nvSpPr>
          <p:cNvPr id="24" name="Text 22"/>
          <p:cNvSpPr/>
          <p:nvPr/>
        </p:nvSpPr>
        <p:spPr>
          <a:xfrm>
            <a:off x="2540000" y="5816600"/>
            <a:ext cx="13208000" cy="355600"/>
          </a:xfrm>
          <a:prstGeom prst="rect">
            <a:avLst/>
          </a:prstGeom>
          <a:noFill/>
          <a:ln/>
        </p:spPr>
        <p:txBody>
          <a:bodyPr wrap="none" lIns="0" tIns="0" rIns="0" bIns="0" rtlCol="0" anchor="t"/>
          <a:lstStyle/>
          <a:p>
            <a:pPr algn="l">
              <a:lnSpc>
                <a:spcPct val="120000"/>
              </a:lnSpc>
            </a:pPr>
            <a:r>
              <a:rPr lang="en-US" sz="2000" b="1" dirty="0">
                <a:solidFill>
                  <a:srgbClr val="005C82"/>
                </a:solidFill>
                <a:latin typeface="Quattrocento Sans" pitchFamily="34" charset="0"/>
                <a:ea typeface="Quattrocento Sans" pitchFamily="34" charset="-122"/>
                <a:cs typeface="Quattrocento Sans" pitchFamily="34" charset="-120"/>
              </a:rPr>
              <a:t>Models &amp; Validation</a:t>
            </a:r>
            <a:endParaRPr lang="en-US" sz="2000" dirty="0"/>
          </a:p>
        </p:txBody>
      </p:sp>
      <p:sp>
        <p:nvSpPr>
          <p:cNvPr id="25" name="Shape 23"/>
          <p:cNvSpPr/>
          <p:nvPr/>
        </p:nvSpPr>
        <p:spPr>
          <a:xfrm>
            <a:off x="2540000" y="6223000"/>
            <a:ext cx="13208000" cy="12700"/>
          </a:xfrm>
          <a:prstGeom prst="rect">
            <a:avLst/>
          </a:prstGeom>
          <a:solidFill>
            <a:srgbClr val="E0F4FA"/>
          </a:solidFill>
          <a:ln/>
        </p:spPr>
        <p:txBody>
          <a:bodyPr/>
          <a:lstStyle/>
          <a:p>
            <a:endParaRPr/>
          </a:p>
        </p:txBody>
      </p:sp>
      <p:sp>
        <p:nvSpPr>
          <p:cNvPr id="26" name="Text 24"/>
          <p:cNvSpPr/>
          <p:nvPr/>
        </p:nvSpPr>
        <p:spPr>
          <a:xfrm>
            <a:off x="2540000" y="6375400"/>
            <a:ext cx="13208000" cy="1270000"/>
          </a:xfrm>
          <a:prstGeom prst="rect">
            <a:avLst/>
          </a:prstGeom>
          <a:noFill/>
          <a:ln/>
        </p:spPr>
        <p:txBody>
          <a:bodyPr wrap="square" lIns="0" tIns="0" rIns="0" bIns="0" rtlCol="0" anchor="t"/>
          <a:lstStyle/>
          <a:p>
            <a:pPr algn="l">
              <a:lnSpc>
                <a:spcPct val="150000"/>
              </a:lnSpc>
            </a:pPr>
            <a:r>
              <a:rPr lang="en-US" sz="1400" b="1" dirty="0">
                <a:solidFill>
                  <a:srgbClr val="333333"/>
                </a:solidFill>
                <a:latin typeface="Quattrocento Sans" pitchFamily="34" charset="0"/>
                <a:ea typeface="Quattrocento Sans" pitchFamily="34" charset="-122"/>
                <a:cs typeface="Quattrocento Sans" pitchFamily="34" charset="-120"/>
              </a:rPr>
              <a:t>Target:</a:t>
            </a:r>
            <a:r>
              <a:rPr lang="en-US" sz="1400" dirty="0">
                <a:solidFill>
                  <a:srgbClr val="333333"/>
                </a:solidFill>
                <a:latin typeface="Quattrocento Sans" pitchFamily="34" charset="0"/>
                <a:ea typeface="Quattrocento Sans" pitchFamily="34" charset="-122"/>
                <a:cs typeface="Quattrocento Sans" pitchFamily="34" charset="-120"/>
              </a:rPr>
              <a:t> planet_type (6 classes: Gas Giant, Mini-Neptune, Neptune-like, Sub-Earth, Super-Earth, Super-Jupiter; 6,100 samples after excluding Unknown)</a:t>
            </a:r>
            <a:endParaRPr lang="en-US" sz="1400" dirty="0"/>
          </a:p>
          <a:p>
            <a:pPr algn="l">
              <a:lnSpc>
                <a:spcPct val="150000"/>
              </a:lnSpc>
            </a:pPr>
            <a:r>
              <a:rPr lang="en-US" sz="1400" b="1" dirty="0">
                <a:solidFill>
                  <a:srgbClr val="333333"/>
                </a:solidFill>
                <a:latin typeface="Quattrocento Sans" pitchFamily="34" charset="0"/>
                <a:ea typeface="Quattrocento Sans" pitchFamily="34" charset="-122"/>
                <a:cs typeface="Quattrocento Sans" pitchFamily="34" charset="-120"/>
              </a:rPr>
              <a:t>Models:</a:t>
            </a:r>
            <a:r>
              <a:rPr lang="en-US" sz="1400" dirty="0">
                <a:solidFill>
                  <a:srgbClr val="333333"/>
                </a:solidFill>
                <a:latin typeface="Quattrocento Sans" pitchFamily="34" charset="0"/>
                <a:ea typeface="Quattrocento Sans" pitchFamily="34" charset="-122"/>
                <a:cs typeface="Quattrocento Sans" pitchFamily="34" charset="-120"/>
              </a:rPr>
              <a:t> Logistic Regression | Decision Tree | Random Forest | SVM (RBF) | KNN</a:t>
            </a:r>
            <a:endParaRPr lang="en-US" sz="1400" dirty="0"/>
          </a:p>
          <a:p>
            <a:pPr algn="l">
              <a:lnSpc>
                <a:spcPct val="150000"/>
              </a:lnSpc>
            </a:pPr>
            <a:r>
              <a:rPr lang="en-US" sz="1400" b="1" dirty="0">
                <a:solidFill>
                  <a:srgbClr val="333333"/>
                </a:solidFill>
                <a:latin typeface="Quattrocento Sans" pitchFamily="34" charset="0"/>
                <a:ea typeface="Quattrocento Sans" pitchFamily="34" charset="-122"/>
                <a:cs typeface="Quattrocento Sans" pitchFamily="34" charset="-120"/>
              </a:rPr>
              <a:t>Validation:</a:t>
            </a:r>
            <a:r>
              <a:rPr lang="en-US" sz="1400" dirty="0">
                <a:solidFill>
                  <a:srgbClr val="333333"/>
                </a:solidFill>
                <a:latin typeface="Quattrocento Sans" pitchFamily="34" charset="0"/>
                <a:ea typeface="Quattrocento Sans" pitchFamily="34" charset="-122"/>
                <a:cs typeface="Quattrocento Sans" pitchFamily="34" charset="-120"/>
              </a:rPr>
              <a:t> 80/20 stratified split, GridSearchCV with 5-fold StratifiedKFold, optimize Macro-F1. Preprocessing inside pipeline to prevent leakage.</a:t>
            </a:r>
            <a:endParaRPr lang="en-US" sz="1400" dirty="0"/>
          </a:p>
        </p:txBody>
      </p:sp>
      <p:sp>
        <p:nvSpPr>
          <p:cNvPr id="27" name="Shape 25"/>
          <p:cNvSpPr/>
          <p:nvPr/>
        </p:nvSpPr>
        <p:spPr>
          <a:xfrm>
            <a:off x="2540000" y="7747000"/>
            <a:ext cx="13208000" cy="635000"/>
          </a:xfrm>
          <a:prstGeom prst="rect">
            <a:avLst/>
          </a:prstGeom>
          <a:solidFill>
            <a:srgbClr val="005C82"/>
          </a:solidFill>
          <a:ln/>
        </p:spPr>
        <p:txBody>
          <a:bodyPr/>
          <a:lstStyle/>
          <a:p>
            <a:endParaRPr/>
          </a:p>
        </p:txBody>
      </p:sp>
      <p:sp>
        <p:nvSpPr>
          <p:cNvPr id="28" name="Shape 26"/>
          <p:cNvSpPr/>
          <p:nvPr/>
        </p:nvSpPr>
        <p:spPr>
          <a:xfrm>
            <a:off x="2717800" y="7886700"/>
            <a:ext cx="152400" cy="152400"/>
          </a:xfrm>
          <a:prstGeom prst="diamond">
            <a:avLst/>
          </a:prstGeom>
          <a:solidFill>
            <a:srgbClr val="00ACC1"/>
          </a:solidFill>
          <a:ln/>
        </p:spPr>
        <p:txBody>
          <a:bodyPr/>
          <a:lstStyle/>
          <a:p>
            <a:endParaRPr/>
          </a:p>
        </p:txBody>
      </p:sp>
      <p:sp>
        <p:nvSpPr>
          <p:cNvPr id="29" name="Text 27"/>
          <p:cNvSpPr/>
          <p:nvPr/>
        </p:nvSpPr>
        <p:spPr>
          <a:xfrm>
            <a:off x="3022600" y="7848600"/>
            <a:ext cx="12522200" cy="304800"/>
          </a:xfrm>
          <a:prstGeom prst="rect">
            <a:avLst/>
          </a:prstGeom>
          <a:noFill/>
          <a:ln/>
        </p:spPr>
        <p:txBody>
          <a:bodyPr wrap="squar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The ablation study asks: without the most definitional features, does any real predictive signal remain for planet_type?</a:t>
            </a:r>
            <a:endParaRPr lang="en-US" sz="1600" dirty="0"/>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AFE"/>
        </a:solidFill>
        <a:effectLst/>
      </p:bgPr>
    </p:bg>
    <p:spTree>
      <p:nvGrpSpPr>
        <p:cNvPr id="1" name=""/>
        <p:cNvGrpSpPr/>
        <p:nvPr/>
      </p:nvGrpSpPr>
      <p:grpSpPr>
        <a:xfrm>
          <a:off x="0" y="0"/>
          <a:ext cx="0" cy="0"/>
          <a:chOff x="0" y="0"/>
          <a:chExt cx="0" cy="0"/>
        </a:xfrm>
      </p:grpSpPr>
      <p:sp>
        <p:nvSpPr>
          <p:cNvPr id="2" name="Shape 0"/>
          <p:cNvSpPr/>
          <p:nvPr/>
        </p:nvSpPr>
        <p:spPr>
          <a:xfrm>
            <a:off x="0" y="0"/>
            <a:ext cx="2286000" cy="9144000"/>
          </a:xfrm>
          <a:prstGeom prst="rect">
            <a:avLst/>
          </a:prstGeom>
          <a:solidFill>
            <a:srgbClr val="004060"/>
          </a:solidFill>
          <a:ln/>
        </p:spPr>
        <p:txBody>
          <a:bodyPr/>
          <a:lstStyle/>
          <a:p>
            <a:endParaRPr/>
          </a:p>
        </p:txBody>
      </p:sp>
      <p:sp>
        <p:nvSpPr>
          <p:cNvPr id="3" name="Shape 1"/>
          <p:cNvSpPr/>
          <p:nvPr/>
        </p:nvSpPr>
        <p:spPr>
          <a:xfrm>
            <a:off x="177800" y="177800"/>
            <a:ext cx="457200" cy="457200"/>
          </a:xfrm>
          <a:prstGeom prst="ellipse">
            <a:avLst/>
          </a:prstGeom>
          <a:solidFill>
            <a:srgbClr val="FFFFFF">
              <a:alpha val="12549"/>
            </a:srgbClr>
          </a:solidFill>
          <a:ln w="12700">
            <a:solidFill>
              <a:srgbClr val="00ACC1"/>
            </a:solidFill>
            <a:prstDash val="solid"/>
          </a:ln>
        </p:spPr>
        <p:txBody>
          <a:bodyPr/>
          <a:lstStyle/>
          <a:p>
            <a:endParaRPr/>
          </a:p>
        </p:txBody>
      </p:sp>
      <p:sp>
        <p:nvSpPr>
          <p:cNvPr id="4" name="Shape 2"/>
          <p:cNvSpPr/>
          <p:nvPr/>
        </p:nvSpPr>
        <p:spPr>
          <a:xfrm>
            <a:off x="0" y="4521200"/>
            <a:ext cx="2286000" cy="1168400"/>
          </a:xfrm>
          <a:prstGeom prst="rect">
            <a:avLst/>
          </a:prstGeom>
          <a:solidFill>
            <a:srgbClr val="005C82"/>
          </a:solidFill>
          <a:ln/>
        </p:spPr>
        <p:txBody>
          <a:bodyPr/>
          <a:lstStyle/>
          <a:p>
            <a:endParaRPr/>
          </a:p>
        </p:txBody>
      </p:sp>
      <p:sp>
        <p:nvSpPr>
          <p:cNvPr id="5" name="Text 3"/>
          <p:cNvSpPr/>
          <p:nvPr/>
        </p:nvSpPr>
        <p:spPr>
          <a:xfrm>
            <a:off x="101600" y="10160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01 Intro</a:t>
            </a:r>
            <a:endParaRPr lang="en-US" sz="1600" dirty="0"/>
          </a:p>
        </p:txBody>
      </p:sp>
      <p:sp>
        <p:nvSpPr>
          <p:cNvPr id="6" name="Text 4"/>
          <p:cNvSpPr/>
          <p:nvPr/>
        </p:nvSpPr>
        <p:spPr>
          <a:xfrm>
            <a:off x="101600" y="21844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02 Dataset</a:t>
            </a:r>
            <a:endParaRPr lang="en-US" sz="1600" dirty="0"/>
          </a:p>
        </p:txBody>
      </p:sp>
      <p:sp>
        <p:nvSpPr>
          <p:cNvPr id="7" name="Text 5"/>
          <p:cNvSpPr/>
          <p:nvPr/>
        </p:nvSpPr>
        <p:spPr>
          <a:xfrm>
            <a:off x="101600" y="33528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03 Clustering</a:t>
            </a:r>
            <a:endParaRPr lang="en-US" sz="1600" dirty="0"/>
          </a:p>
        </p:txBody>
      </p:sp>
      <p:sp>
        <p:nvSpPr>
          <p:cNvPr id="8" name="Text 6"/>
          <p:cNvSpPr/>
          <p:nvPr/>
        </p:nvSpPr>
        <p:spPr>
          <a:xfrm>
            <a:off x="101600" y="4521200"/>
            <a:ext cx="2082800" cy="1168400"/>
          </a:xfrm>
          <a:prstGeom prst="rect">
            <a:avLst/>
          </a:prstGeom>
          <a:noFill/>
          <a:ln/>
        </p:spPr>
        <p:txBody>
          <a:bodyPr wrap="none" lIns="0" tIns="0" rIns="0" bIns="0" rtlCol="0" anchor="ctr"/>
          <a:lstStyle/>
          <a:p>
            <a:pPr algn="l">
              <a:lnSpc>
                <a:spcPct val="120000"/>
              </a:lnSpc>
            </a:pPr>
            <a:r>
              <a:rPr lang="en-US" sz="1800" b="1" dirty="0">
                <a:solidFill>
                  <a:srgbClr val="FFFFFF"/>
                </a:solidFill>
                <a:latin typeface="Quattrocento Sans" pitchFamily="34" charset="0"/>
                <a:ea typeface="Quattrocento Sans" pitchFamily="34" charset="-122"/>
                <a:cs typeface="Quattrocento Sans" pitchFamily="34" charset="-120"/>
              </a:rPr>
              <a:t>04 Supervised</a:t>
            </a:r>
            <a:endParaRPr lang="en-US" sz="1800" dirty="0"/>
          </a:p>
        </p:txBody>
      </p:sp>
      <p:sp>
        <p:nvSpPr>
          <p:cNvPr id="9" name="Text 7"/>
          <p:cNvSpPr/>
          <p:nvPr/>
        </p:nvSpPr>
        <p:spPr>
          <a:xfrm>
            <a:off x="101600" y="56896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05 Conclusions</a:t>
            </a:r>
            <a:endParaRPr lang="en-US" sz="1600" dirty="0"/>
          </a:p>
        </p:txBody>
      </p:sp>
      <p:sp>
        <p:nvSpPr>
          <p:cNvPr id="10" name="Shape 8"/>
          <p:cNvSpPr/>
          <p:nvPr/>
        </p:nvSpPr>
        <p:spPr>
          <a:xfrm>
            <a:off x="1066800" y="7493000"/>
            <a:ext cx="152400" cy="152400"/>
          </a:xfrm>
          <a:prstGeom prst="diamond">
            <a:avLst/>
          </a:prstGeom>
          <a:solidFill>
            <a:srgbClr val="00ACC1"/>
          </a:solidFill>
          <a:ln/>
        </p:spPr>
        <p:txBody>
          <a:bodyPr/>
          <a:lstStyle/>
          <a:p>
            <a:endParaRPr/>
          </a:p>
        </p:txBody>
      </p:sp>
      <p:sp>
        <p:nvSpPr>
          <p:cNvPr id="11" name="Shape 9"/>
          <p:cNvSpPr/>
          <p:nvPr/>
        </p:nvSpPr>
        <p:spPr>
          <a:xfrm>
            <a:off x="2286000" y="0"/>
            <a:ext cx="13970000" cy="635000"/>
          </a:xfrm>
          <a:prstGeom prst="rect">
            <a:avLst/>
          </a:prstGeom>
          <a:solidFill>
            <a:srgbClr val="E0F4FA"/>
          </a:solidFill>
          <a:ln/>
        </p:spPr>
        <p:txBody>
          <a:bodyPr/>
          <a:lstStyle/>
          <a:p>
            <a:endParaRPr/>
          </a:p>
        </p:txBody>
      </p:sp>
      <p:sp>
        <p:nvSpPr>
          <p:cNvPr id="12" name="Text 10"/>
          <p:cNvSpPr/>
          <p:nvPr/>
        </p:nvSpPr>
        <p:spPr>
          <a:xfrm>
            <a:off x="2540000" y="0"/>
            <a:ext cx="12827000" cy="635000"/>
          </a:xfrm>
          <a:prstGeom prst="rect">
            <a:avLst/>
          </a:prstGeom>
          <a:noFill/>
          <a:ln/>
        </p:spPr>
        <p:txBody>
          <a:bodyPr wrap="none" lIns="0" tIns="0" rIns="0" bIns="0" rtlCol="0" anchor="ctr"/>
          <a:lstStyle/>
          <a:p>
            <a:pPr algn="l">
              <a:lnSpc>
                <a:spcPct val="120000"/>
              </a:lnSpc>
            </a:pPr>
            <a:r>
              <a:rPr lang="en-US" sz="1400" b="1" dirty="0">
                <a:solidFill>
                  <a:srgbClr val="005C82"/>
                </a:solidFill>
                <a:latin typeface="Quattrocento Sans" pitchFamily="34" charset="0"/>
                <a:ea typeface="Quattrocento Sans" pitchFamily="34" charset="-122"/>
                <a:cs typeface="Quattrocento Sans" pitchFamily="34" charset="-120"/>
              </a:rPr>
              <a:t>04 Supervised</a:t>
            </a:r>
            <a:r>
              <a:rPr lang="en-US" sz="1400" dirty="0">
                <a:solidFill>
                  <a:srgbClr val="005C82"/>
                </a:solidFill>
                <a:latin typeface="Quattrocento Sans" pitchFamily="34" charset="0"/>
                <a:ea typeface="Quattrocento Sans" pitchFamily="34" charset="-122"/>
                <a:cs typeface="Quattrocento Sans" pitchFamily="34" charset="-120"/>
              </a:rPr>
              <a:t>  &gt;  4.2  Supervised Results</a:t>
            </a:r>
            <a:endParaRPr lang="en-US" sz="1400" dirty="0"/>
          </a:p>
        </p:txBody>
      </p:sp>
      <p:sp>
        <p:nvSpPr>
          <p:cNvPr id="13" name="Text 11"/>
          <p:cNvSpPr/>
          <p:nvPr/>
        </p:nvSpPr>
        <p:spPr>
          <a:xfrm>
            <a:off x="15621000" y="0"/>
            <a:ext cx="635000" cy="635000"/>
          </a:xfrm>
          <a:prstGeom prst="rect">
            <a:avLst/>
          </a:prstGeom>
          <a:noFill/>
          <a:ln/>
        </p:spPr>
        <p:txBody>
          <a:bodyPr wrap="square" lIns="0" tIns="0" rIns="0" bIns="0" rtlCol="0" anchor="ctr"/>
          <a:lstStyle/>
          <a:p>
            <a:r>
              <a:t>23</a:t>
            </a:r>
          </a:p>
        </p:txBody>
      </p:sp>
      <p:sp>
        <p:nvSpPr>
          <p:cNvPr id="14" name="Text 12"/>
          <p:cNvSpPr/>
          <p:nvPr/>
        </p:nvSpPr>
        <p:spPr>
          <a:xfrm>
            <a:off x="2540000" y="863600"/>
            <a:ext cx="13208000" cy="457200"/>
          </a:xfrm>
          <a:prstGeom prst="rect">
            <a:avLst/>
          </a:prstGeom>
          <a:noFill/>
          <a:ln/>
        </p:spPr>
        <p:txBody>
          <a:bodyPr wrap="none" lIns="0" tIns="0" rIns="0" bIns="0" rtlCol="0" anchor="t"/>
          <a:lstStyle/>
          <a:p>
            <a:pPr algn="l">
              <a:lnSpc>
                <a:spcPct val="120000"/>
              </a:lnSpc>
            </a:pPr>
            <a:r>
              <a:rPr lang="en-US" sz="2400" b="1" dirty="0">
                <a:solidFill>
                  <a:srgbClr val="005C82"/>
                </a:solidFill>
                <a:latin typeface="Quattrocento Sans" pitchFamily="34" charset="0"/>
                <a:ea typeface="Quattrocento Sans" pitchFamily="34" charset="-122"/>
                <a:cs typeface="Quattrocento Sans" pitchFamily="34" charset="-120"/>
              </a:rPr>
              <a:t>Supervised Results: The Leakage Effect</a:t>
            </a:r>
            <a:endParaRPr lang="en-US" sz="2400" dirty="0"/>
          </a:p>
        </p:txBody>
      </p:sp>
      <p:sp>
        <p:nvSpPr>
          <p:cNvPr id="15" name="Shape 13"/>
          <p:cNvSpPr/>
          <p:nvPr/>
        </p:nvSpPr>
        <p:spPr>
          <a:xfrm>
            <a:off x="2540000" y="1397000"/>
            <a:ext cx="13208000" cy="12700"/>
          </a:xfrm>
          <a:prstGeom prst="rect">
            <a:avLst/>
          </a:prstGeom>
          <a:solidFill>
            <a:srgbClr val="B0BEC5"/>
          </a:solidFill>
          <a:ln/>
        </p:spPr>
        <p:txBody>
          <a:bodyPr/>
          <a:lstStyle/>
          <a:p>
            <a:endParaRPr/>
          </a:p>
        </p:txBody>
      </p:sp>
      <p:graphicFrame>
        <p:nvGraphicFramePr>
          <p:cNvPr id="23" name="Table 0"/>
          <p:cNvGraphicFramePr>
            <a:graphicFrameLocks noGrp="1"/>
          </p:cNvGraphicFramePr>
          <p:nvPr>
            <p:extLst>
              <p:ext uri="{D42A27DB-BD31-4B8C-83A1-F6EECF244321}">
                <p14:modId xmlns:p14="http://schemas.microsoft.com/office/powerpoint/2010/main" val="4219046902"/>
              </p:ext>
            </p:extLst>
          </p:nvPr>
        </p:nvGraphicFramePr>
        <p:xfrm>
          <a:off x="2540000" y="1574800"/>
          <a:ext cx="13238716" cy="3947160"/>
        </p:xfrm>
        <a:graphic>
          <a:graphicData uri="http://schemas.openxmlformats.org/drawingml/2006/table">
            <a:tbl>
              <a:tblPr/>
              <a:tblGrid>
                <a:gridCol w="2377440">
                  <a:extLst>
                    <a:ext uri="{9D8B030D-6E8A-4147-A177-3AD203B41FA5}">
                      <a16:colId xmlns:a16="http://schemas.microsoft.com/office/drawing/2014/main" val="20000"/>
                    </a:ext>
                  </a:extLst>
                </a:gridCol>
                <a:gridCol w="369824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gridCol w="2408156">
                  <a:extLst>
                    <a:ext uri="{9D8B030D-6E8A-4147-A177-3AD203B41FA5}">
                      <a16:colId xmlns:a16="http://schemas.microsoft.com/office/drawing/2014/main" val="20004"/>
                    </a:ext>
                  </a:extLst>
                </a:gridCol>
              </a:tblGrid>
              <a:tr h="462280">
                <a:tc>
                  <a:txBody>
                    <a:bodyPr/>
                    <a:lstStyle/>
                    <a:p>
                      <a:pPr>
                        <a:buNone/>
                      </a:pPr>
                      <a:r>
                        <a:rPr lang="it-IT"/>
                        <a:t>Setup</a:t>
                      </a:r>
                    </a:p>
                  </a:txBody>
                  <a:tcPr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005C82"/>
                    </a:solidFill>
                  </a:tcPr>
                </a:tc>
                <a:tc>
                  <a:txBody>
                    <a:bodyPr/>
                    <a:lstStyle/>
                    <a:p>
                      <a:pPr>
                        <a:buNone/>
                      </a:pPr>
                      <a:r>
                        <a:rPr lang="it-IT"/>
                        <a:t>Model</a:t>
                      </a:r>
                    </a:p>
                  </a:txBody>
                  <a:tcPr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005C82"/>
                    </a:solidFill>
                  </a:tcPr>
                </a:tc>
                <a:tc>
                  <a:txBody>
                    <a:bodyPr/>
                    <a:lstStyle/>
                    <a:p>
                      <a:pPr algn="r">
                        <a:buNone/>
                      </a:pPr>
                      <a:r>
                        <a:rPr lang="it-IT"/>
                        <a:t>Accuracy</a:t>
                      </a:r>
                    </a:p>
                  </a:txBody>
                  <a:tcPr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005C82"/>
                    </a:solidFill>
                  </a:tcPr>
                </a:tc>
                <a:tc>
                  <a:txBody>
                    <a:bodyPr/>
                    <a:lstStyle/>
                    <a:p>
                      <a:pPr algn="r">
                        <a:buNone/>
                      </a:pPr>
                      <a:r>
                        <a:rPr lang="it-IT"/>
                        <a:t>Macro-F1</a:t>
                      </a:r>
                    </a:p>
                  </a:txBody>
                  <a:tcPr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005C82"/>
                    </a:solidFill>
                  </a:tcPr>
                </a:tc>
                <a:tc>
                  <a:txBody>
                    <a:bodyPr/>
                    <a:lstStyle/>
                    <a:p>
                      <a:pPr algn="ctr">
                        <a:buNone/>
                      </a:pPr>
                      <a:r>
                        <a:rPr lang="it-IT" i="0" dirty="0"/>
                        <a:t>Drop</a:t>
                      </a:r>
                    </a:p>
                    <a:p>
                      <a:pPr algn="ctr">
                        <a:buNone/>
                      </a:pPr>
                      <a:r>
                        <a:rPr lang="it-IT" dirty="0">
                          <a:solidFill>
                            <a:schemeClr val="bg1">
                              <a:lumMod val="65000"/>
                            </a:schemeClr>
                          </a:solidFill>
                        </a:rPr>
                        <a:t> </a:t>
                      </a:r>
                      <a:r>
                        <a:rPr lang="it-IT" sz="1400" i="1" dirty="0">
                          <a:solidFill>
                            <a:schemeClr val="bg1">
                              <a:lumMod val="65000"/>
                            </a:schemeClr>
                          </a:solidFill>
                        </a:rPr>
                        <a:t>Random Forest </a:t>
                      </a:r>
                      <a:r>
                        <a:rPr lang="it-IT" sz="1400" i="1" dirty="0" err="1">
                          <a:solidFill>
                            <a:schemeClr val="bg1">
                              <a:lumMod val="65000"/>
                            </a:schemeClr>
                          </a:solidFill>
                        </a:rPr>
                        <a:t>A_full</a:t>
                      </a:r>
                      <a:r>
                        <a:rPr lang="it-IT" sz="1400" i="1" dirty="0">
                          <a:solidFill>
                            <a:schemeClr val="bg1">
                              <a:lumMod val="65000"/>
                            </a:schemeClr>
                          </a:solidFill>
                        </a:rPr>
                        <a:t> → Random Forest </a:t>
                      </a:r>
                      <a:r>
                        <a:rPr lang="it-IT" sz="1400" i="1" dirty="0" err="1">
                          <a:solidFill>
                            <a:schemeClr val="bg1">
                              <a:lumMod val="65000"/>
                            </a:schemeClr>
                          </a:solidFill>
                        </a:rPr>
                        <a:t>B_ablation</a:t>
                      </a:r>
                      <a:endParaRPr lang="it-IT" i="1" dirty="0">
                        <a:solidFill>
                          <a:schemeClr val="bg1">
                            <a:lumMod val="65000"/>
                          </a:schemeClr>
                        </a:solidFill>
                      </a:endParaRPr>
                    </a:p>
                  </a:txBody>
                  <a:tcPr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005C82"/>
                    </a:solidFill>
                  </a:tcPr>
                </a:tc>
                <a:extLst>
                  <a:ext uri="{0D108BD9-81ED-4DB2-BD59-A6C34878D82A}">
                    <a16:rowId xmlns:a16="http://schemas.microsoft.com/office/drawing/2014/main" val="10000"/>
                  </a:ext>
                </a:extLst>
              </a:tr>
              <a:tr h="515620">
                <a:tc>
                  <a:txBody>
                    <a:bodyPr/>
                    <a:lstStyle/>
                    <a:p>
                      <a:pPr>
                        <a:buNone/>
                      </a:pPr>
                      <a:r>
                        <a:rPr lang="it-IT"/>
                        <a:t>A - Full</a:t>
                      </a:r>
                    </a:p>
                  </a:txBody>
                  <a:tcPr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buNone/>
                      </a:pPr>
                      <a:r>
                        <a:rPr lang="it-IT"/>
                        <a:t>Decision Tree</a:t>
                      </a:r>
                    </a:p>
                  </a:txBody>
                  <a:tcPr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r">
                        <a:buNone/>
                      </a:pPr>
                      <a:r>
                        <a:rPr lang="it-IT"/>
                        <a:t>1.0000</a:t>
                      </a:r>
                    </a:p>
                  </a:txBody>
                  <a:tcPr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r">
                        <a:buNone/>
                      </a:pPr>
                      <a:r>
                        <a:rPr lang="it-IT"/>
                        <a:t>1.0000</a:t>
                      </a:r>
                    </a:p>
                  </a:txBody>
                  <a:tcPr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r">
                        <a:buNone/>
                      </a:pPr>
                      <a:r>
                        <a:rPr lang="it-IT"/>
                        <a:t>-</a:t>
                      </a:r>
                    </a:p>
                  </a:txBody>
                  <a:tcPr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15620">
                <a:tc>
                  <a:txBody>
                    <a:bodyPr/>
                    <a:lstStyle/>
                    <a:p>
                      <a:pPr>
                        <a:buNone/>
                      </a:pPr>
                      <a:r>
                        <a:rPr lang="it-IT"/>
                        <a:t>A - Full</a:t>
                      </a:r>
                    </a:p>
                  </a:txBody>
                  <a:tcPr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0F4FA"/>
                    </a:solidFill>
                  </a:tcPr>
                </a:tc>
                <a:tc>
                  <a:txBody>
                    <a:bodyPr/>
                    <a:lstStyle/>
                    <a:p>
                      <a:pPr>
                        <a:buNone/>
                      </a:pPr>
                      <a:r>
                        <a:rPr lang="it-IT"/>
                        <a:t>Random Forest</a:t>
                      </a:r>
                    </a:p>
                  </a:txBody>
                  <a:tcPr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0F4FA"/>
                    </a:solidFill>
                  </a:tcPr>
                </a:tc>
                <a:tc>
                  <a:txBody>
                    <a:bodyPr/>
                    <a:lstStyle/>
                    <a:p>
                      <a:pPr algn="r">
                        <a:buNone/>
                      </a:pPr>
                      <a:r>
                        <a:rPr lang="it-IT"/>
                        <a:t>0.9992</a:t>
                      </a:r>
                    </a:p>
                  </a:txBody>
                  <a:tcPr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0F4FA"/>
                    </a:solidFill>
                  </a:tcPr>
                </a:tc>
                <a:tc>
                  <a:txBody>
                    <a:bodyPr/>
                    <a:lstStyle/>
                    <a:p>
                      <a:pPr algn="r">
                        <a:buNone/>
                      </a:pPr>
                      <a:r>
                        <a:rPr lang="it-IT" dirty="0">
                          <a:highlight>
                            <a:srgbClr val="FFFF00"/>
                          </a:highlight>
                        </a:rPr>
                        <a:t>0.9989</a:t>
                      </a:r>
                    </a:p>
                  </a:txBody>
                  <a:tcPr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0F4FA"/>
                    </a:solidFill>
                  </a:tcPr>
                </a:tc>
                <a:tc>
                  <a:txBody>
                    <a:bodyPr/>
                    <a:lstStyle/>
                    <a:p>
                      <a:pPr algn="r">
                        <a:buNone/>
                      </a:pPr>
                      <a:r>
                        <a:rPr lang="it-IT"/>
                        <a:t>-</a:t>
                      </a:r>
                    </a:p>
                  </a:txBody>
                  <a:tcPr anchor="ctr">
                    <a:lnL w="12700" cap="flat" cmpd="sng" algn="ctr">
                      <a:solidFill>
                        <a:srgbClr val="B0BEC5"/>
                      </a:solidFill>
                      <a:prstDash val="solid"/>
                      <a:round/>
                      <a:headEnd type="none" w="med" len="med"/>
                      <a:tailEnd type="none" w="med" len="med"/>
                    </a:lnL>
                    <a:lnT w="12700" cap="flat" cmpd="sng" algn="ctr">
                      <a:solidFill>
                        <a:srgbClr val="B0BEC5"/>
                      </a:solidFill>
                      <a:prstDash val="solid"/>
                      <a:round/>
                      <a:headEnd type="none" w="med" len="med"/>
                      <a:tailEnd type="none" w="med" len="med"/>
                    </a:lnT>
                  </a:tcPr>
                </a:tc>
                <a:extLst>
                  <a:ext uri="{0D108BD9-81ED-4DB2-BD59-A6C34878D82A}">
                    <a16:rowId xmlns:a16="http://schemas.microsoft.com/office/drawing/2014/main" val="10002"/>
                  </a:ext>
                </a:extLst>
              </a:tr>
              <a:tr h="515620">
                <a:tc>
                  <a:txBody>
                    <a:bodyPr/>
                    <a:lstStyle/>
                    <a:p>
                      <a:pPr>
                        <a:buNone/>
                      </a:pPr>
                      <a:r>
                        <a:rPr lang="it-IT"/>
                        <a:t>A - Full</a:t>
                      </a:r>
                    </a:p>
                  </a:txBody>
                  <a:tcPr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buNone/>
                      </a:pPr>
                      <a:r>
                        <a:rPr lang="it-IT"/>
                        <a:t>Logistic Regression</a:t>
                      </a:r>
                    </a:p>
                  </a:txBody>
                  <a:tcPr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r">
                        <a:buNone/>
                      </a:pPr>
                      <a:r>
                        <a:rPr lang="it-IT"/>
                        <a:t>0.9459</a:t>
                      </a:r>
                    </a:p>
                  </a:txBody>
                  <a:tcPr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r">
                        <a:buNone/>
                      </a:pPr>
                      <a:r>
                        <a:rPr lang="it-IT"/>
                        <a:t>0.9208</a:t>
                      </a:r>
                    </a:p>
                  </a:txBody>
                  <a:tcPr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r">
                        <a:buNone/>
                      </a:pPr>
                      <a:r>
                        <a:rPr lang="it-IT"/>
                        <a:t>-</a:t>
                      </a:r>
                    </a:p>
                  </a:txBody>
                  <a:tcPr anchor="ctr">
                    <a:lnL w="12700" cap="flat" cmpd="sng" algn="ctr">
                      <a:solidFill>
                        <a:srgbClr val="B0BEC5"/>
                      </a:solidFill>
                      <a:prstDash val="solid"/>
                      <a:round/>
                      <a:headEnd type="none" w="med" len="med"/>
                      <a:tailEnd type="none" w="med" len="med"/>
                    </a:lnL>
                  </a:tcPr>
                </a:tc>
                <a:extLst>
                  <a:ext uri="{0D108BD9-81ED-4DB2-BD59-A6C34878D82A}">
                    <a16:rowId xmlns:a16="http://schemas.microsoft.com/office/drawing/2014/main" val="10003"/>
                  </a:ext>
                </a:extLst>
              </a:tr>
              <a:tr h="515620">
                <a:tc>
                  <a:txBody>
                    <a:bodyPr/>
                    <a:lstStyle/>
                    <a:p>
                      <a:pPr>
                        <a:buNone/>
                      </a:pPr>
                      <a:r>
                        <a:rPr lang="it-IT"/>
                        <a:t>A - Full</a:t>
                      </a:r>
                    </a:p>
                  </a:txBody>
                  <a:tcPr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0F4FA"/>
                    </a:solidFill>
                  </a:tcPr>
                </a:tc>
                <a:tc>
                  <a:txBody>
                    <a:bodyPr/>
                    <a:lstStyle/>
                    <a:p>
                      <a:pPr>
                        <a:buNone/>
                      </a:pPr>
                      <a:r>
                        <a:rPr lang="it-IT"/>
                        <a:t>SVM</a:t>
                      </a:r>
                    </a:p>
                  </a:txBody>
                  <a:tcPr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0F4FA"/>
                    </a:solidFill>
                  </a:tcPr>
                </a:tc>
                <a:tc>
                  <a:txBody>
                    <a:bodyPr/>
                    <a:lstStyle/>
                    <a:p>
                      <a:pPr algn="r">
                        <a:buNone/>
                      </a:pPr>
                      <a:r>
                        <a:rPr lang="it-IT"/>
                        <a:t>0.9344</a:t>
                      </a:r>
                    </a:p>
                  </a:txBody>
                  <a:tcPr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0F4FA"/>
                    </a:solidFill>
                  </a:tcPr>
                </a:tc>
                <a:tc>
                  <a:txBody>
                    <a:bodyPr/>
                    <a:lstStyle/>
                    <a:p>
                      <a:pPr algn="r">
                        <a:buNone/>
                      </a:pPr>
                      <a:r>
                        <a:rPr lang="it-IT"/>
                        <a:t>0.9046</a:t>
                      </a:r>
                    </a:p>
                  </a:txBody>
                  <a:tcPr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0F4FA"/>
                    </a:solidFill>
                  </a:tcPr>
                </a:tc>
                <a:tc>
                  <a:txBody>
                    <a:bodyPr/>
                    <a:lstStyle/>
                    <a:p>
                      <a:pPr algn="r">
                        <a:buNone/>
                      </a:pPr>
                      <a:r>
                        <a:rPr lang="it-IT"/>
                        <a:t>-</a:t>
                      </a:r>
                    </a:p>
                  </a:txBody>
                  <a:tcPr anchor="ctr">
                    <a:lnL w="12700" cap="flat" cmpd="sng" algn="ctr">
                      <a:solidFill>
                        <a:srgbClr val="B0BEC5"/>
                      </a:solidFill>
                      <a:prstDash val="solid"/>
                      <a:round/>
                      <a:headEnd type="none" w="med" len="med"/>
                      <a:tailEnd type="none" w="med" len="med"/>
                    </a:lnL>
                  </a:tcPr>
                </a:tc>
                <a:extLst>
                  <a:ext uri="{0D108BD9-81ED-4DB2-BD59-A6C34878D82A}">
                    <a16:rowId xmlns:a16="http://schemas.microsoft.com/office/drawing/2014/main" val="10004"/>
                  </a:ext>
                </a:extLst>
              </a:tr>
              <a:tr h="515620">
                <a:tc>
                  <a:txBody>
                    <a:bodyPr/>
                    <a:lstStyle/>
                    <a:p>
                      <a:pPr>
                        <a:buNone/>
                      </a:pPr>
                      <a:r>
                        <a:rPr lang="it-IT"/>
                        <a:t>A - Full</a:t>
                      </a:r>
                    </a:p>
                  </a:txBody>
                  <a:tcPr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buNone/>
                      </a:pPr>
                      <a:r>
                        <a:rPr lang="it-IT"/>
                        <a:t>KNN</a:t>
                      </a:r>
                    </a:p>
                  </a:txBody>
                  <a:tcPr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r">
                        <a:buNone/>
                      </a:pPr>
                      <a:r>
                        <a:rPr lang="it-IT"/>
                        <a:t>0.7746</a:t>
                      </a:r>
                    </a:p>
                  </a:txBody>
                  <a:tcPr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r">
                        <a:buNone/>
                      </a:pPr>
                      <a:r>
                        <a:rPr lang="it-IT"/>
                        <a:t>0.6604</a:t>
                      </a:r>
                    </a:p>
                  </a:txBody>
                  <a:tcPr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r">
                        <a:buNone/>
                      </a:pPr>
                      <a:r>
                        <a:rPr lang="it-IT"/>
                        <a:t>-</a:t>
                      </a:r>
                    </a:p>
                  </a:txBody>
                  <a:tcPr anchor="ctr">
                    <a:lnL w="12700" cap="flat" cmpd="sng" algn="ctr">
                      <a:solidFill>
                        <a:srgbClr val="B0BEC5"/>
                      </a:solidFill>
                      <a:prstDash val="solid"/>
                      <a:round/>
                      <a:headEnd type="none" w="med" len="med"/>
                      <a:tailEnd type="none" w="med" len="med"/>
                    </a:lnL>
                  </a:tcPr>
                </a:tc>
                <a:extLst>
                  <a:ext uri="{0D108BD9-81ED-4DB2-BD59-A6C34878D82A}">
                    <a16:rowId xmlns:a16="http://schemas.microsoft.com/office/drawing/2014/main" val="10005"/>
                  </a:ext>
                </a:extLst>
              </a:tr>
              <a:tr h="515620">
                <a:tc>
                  <a:txBody>
                    <a:bodyPr/>
                    <a:lstStyle/>
                    <a:p>
                      <a:pPr>
                        <a:buNone/>
                      </a:pPr>
                      <a:r>
                        <a:rPr lang="it-IT"/>
                        <a:t>B - Ablated</a:t>
                      </a:r>
                    </a:p>
                  </a:txBody>
                  <a:tcPr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0F4FA"/>
                    </a:solidFill>
                  </a:tcPr>
                </a:tc>
                <a:tc>
                  <a:txBody>
                    <a:bodyPr/>
                    <a:lstStyle/>
                    <a:p>
                      <a:pPr>
                        <a:buNone/>
                      </a:pPr>
                      <a:r>
                        <a:rPr lang="it-IT"/>
                        <a:t>Random Forest</a:t>
                      </a:r>
                    </a:p>
                  </a:txBody>
                  <a:tcPr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0F4FA"/>
                    </a:solidFill>
                  </a:tcPr>
                </a:tc>
                <a:tc>
                  <a:txBody>
                    <a:bodyPr/>
                    <a:lstStyle/>
                    <a:p>
                      <a:pPr algn="r">
                        <a:buNone/>
                      </a:pPr>
                      <a:r>
                        <a:rPr lang="it-IT"/>
                        <a:t>0.5959</a:t>
                      </a:r>
                    </a:p>
                  </a:txBody>
                  <a:tcPr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0F4FA"/>
                    </a:solidFill>
                  </a:tcPr>
                </a:tc>
                <a:tc>
                  <a:txBody>
                    <a:bodyPr/>
                    <a:lstStyle/>
                    <a:p>
                      <a:pPr algn="r">
                        <a:buNone/>
                      </a:pPr>
                      <a:r>
                        <a:rPr lang="it-IT" dirty="0">
                          <a:highlight>
                            <a:srgbClr val="FFFF00"/>
                          </a:highlight>
                        </a:rPr>
                        <a:t>0.4904</a:t>
                      </a:r>
                    </a:p>
                  </a:txBody>
                  <a:tcPr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0F4FA"/>
                    </a:solidFill>
                  </a:tcPr>
                </a:tc>
                <a:tc>
                  <a:txBody>
                    <a:bodyPr/>
                    <a:lstStyle/>
                    <a:p>
                      <a:pPr algn="r">
                        <a:buNone/>
                      </a:pPr>
                      <a:r>
                        <a:rPr lang="it-IT"/>
                        <a:t>-0.5085 </a:t>
                      </a:r>
                      <a:endParaRPr lang="it-IT" dirty="0"/>
                    </a:p>
                  </a:txBody>
                  <a:tcPr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B w="12700" cap="flat" cmpd="sng" algn="ctr">
                      <a:solidFill>
                        <a:srgbClr val="B0BEC5"/>
                      </a:solidFill>
                      <a:prstDash val="solid"/>
                      <a:round/>
                      <a:headEnd type="none" w="med" len="med"/>
                      <a:tailEnd type="none" w="med" len="med"/>
                    </a:lnB>
                    <a:solidFill>
                      <a:srgbClr val="E0F4FA"/>
                    </a:solidFill>
                  </a:tcPr>
                </a:tc>
                <a:extLst>
                  <a:ext uri="{0D108BD9-81ED-4DB2-BD59-A6C34878D82A}">
                    <a16:rowId xmlns:a16="http://schemas.microsoft.com/office/drawing/2014/main" val="10006"/>
                  </a:ext>
                </a:extLst>
              </a:tr>
            </a:tbl>
          </a:graphicData>
        </a:graphic>
      </p:graphicFrame>
      <p:pic>
        <p:nvPicPr>
          <p:cNvPr id="17" name="Image 0" descr="https://kimi-img.moonshot.cn/pub/slides/okc/qjpdxks4bncqy/mnt/agents/upload/fig_supervised_macro_f1.png"/>
          <p:cNvPicPr>
            <a:picLocks noChangeAspect="1"/>
          </p:cNvPicPr>
          <p:nvPr/>
        </p:nvPicPr>
        <p:blipFill>
          <a:blip r:embed="rId3"/>
          <a:srcRect/>
          <a:stretch/>
        </p:blipFill>
        <p:spPr>
          <a:xfrm>
            <a:off x="2555358" y="5689600"/>
            <a:ext cx="13208000" cy="3175000"/>
          </a:xfrm>
          <a:prstGeom prst="rect">
            <a:avLst/>
          </a:prstGeom>
        </p:spPr>
      </p:pic>
      <p:sp>
        <p:nvSpPr>
          <p:cNvPr id="18" name="Text 14"/>
          <p:cNvSpPr/>
          <p:nvPr/>
        </p:nvSpPr>
        <p:spPr>
          <a:xfrm>
            <a:off x="2540000" y="8559800"/>
            <a:ext cx="13208000" cy="254000"/>
          </a:xfrm>
          <a:prstGeom prst="rect">
            <a:avLst/>
          </a:prstGeom>
          <a:noFill/>
          <a:ln/>
        </p:spPr>
        <p:txBody>
          <a:bodyPr wrap="none" lIns="0" tIns="0" rIns="0" bIns="0" rtlCol="0" anchor="ctr"/>
          <a:lstStyle/>
          <a:p>
            <a:pPr algn="ctr">
              <a:lnSpc>
                <a:spcPct val="120000"/>
              </a:lnSpc>
            </a:pPr>
            <a:r>
              <a:rPr lang="en-US" sz="1200" dirty="0">
                <a:solidFill>
                  <a:srgbClr val="666666"/>
                </a:solidFill>
                <a:latin typeface="Quattrocento Sans" pitchFamily="34" charset="0"/>
                <a:ea typeface="Quattrocento Sans" pitchFamily="34" charset="-122"/>
                <a:cs typeface="Quattrocento Sans" pitchFamily="34" charset="-120"/>
              </a:rPr>
              <a:t>Figure 4: Macro-F1 comparison across all models for Setup A (Full) and Setup B (Ablation). Near-perfect Setup A scores confirm semantic leakage.</a:t>
            </a:r>
            <a:endParaRPr lang="en-US" sz="1200" dirty="0"/>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AFE"/>
        </a:solidFill>
        <a:effectLst/>
      </p:bgPr>
    </p:bg>
    <p:spTree>
      <p:nvGrpSpPr>
        <p:cNvPr id="1" name=""/>
        <p:cNvGrpSpPr/>
        <p:nvPr/>
      </p:nvGrpSpPr>
      <p:grpSpPr>
        <a:xfrm>
          <a:off x="0" y="0"/>
          <a:ext cx="0" cy="0"/>
          <a:chOff x="0" y="0"/>
          <a:chExt cx="0" cy="0"/>
        </a:xfrm>
      </p:grpSpPr>
      <p:sp>
        <p:nvSpPr>
          <p:cNvPr id="2" name="Shape 0"/>
          <p:cNvSpPr/>
          <p:nvPr/>
        </p:nvSpPr>
        <p:spPr>
          <a:xfrm>
            <a:off x="0" y="0"/>
            <a:ext cx="2286000" cy="9144000"/>
          </a:xfrm>
          <a:prstGeom prst="rect">
            <a:avLst/>
          </a:prstGeom>
          <a:solidFill>
            <a:srgbClr val="004060"/>
          </a:solidFill>
          <a:ln/>
        </p:spPr>
        <p:txBody>
          <a:bodyPr/>
          <a:lstStyle/>
          <a:p>
            <a:endParaRPr/>
          </a:p>
        </p:txBody>
      </p:sp>
      <p:sp>
        <p:nvSpPr>
          <p:cNvPr id="3" name="Shape 1"/>
          <p:cNvSpPr/>
          <p:nvPr/>
        </p:nvSpPr>
        <p:spPr>
          <a:xfrm>
            <a:off x="177800" y="177800"/>
            <a:ext cx="457200" cy="457200"/>
          </a:xfrm>
          <a:prstGeom prst="ellipse">
            <a:avLst/>
          </a:prstGeom>
          <a:solidFill>
            <a:srgbClr val="FFFFFF">
              <a:alpha val="12549"/>
            </a:srgbClr>
          </a:solidFill>
          <a:ln w="12700">
            <a:solidFill>
              <a:srgbClr val="00ACC1"/>
            </a:solidFill>
            <a:prstDash val="solid"/>
          </a:ln>
        </p:spPr>
        <p:txBody>
          <a:bodyPr/>
          <a:lstStyle/>
          <a:p>
            <a:endParaRPr/>
          </a:p>
        </p:txBody>
      </p:sp>
      <p:sp>
        <p:nvSpPr>
          <p:cNvPr id="4" name="Shape 2"/>
          <p:cNvSpPr/>
          <p:nvPr/>
        </p:nvSpPr>
        <p:spPr>
          <a:xfrm>
            <a:off x="0" y="4521200"/>
            <a:ext cx="2286000" cy="1168400"/>
          </a:xfrm>
          <a:prstGeom prst="rect">
            <a:avLst/>
          </a:prstGeom>
          <a:solidFill>
            <a:srgbClr val="005C82"/>
          </a:solidFill>
          <a:ln/>
        </p:spPr>
        <p:txBody>
          <a:bodyPr/>
          <a:lstStyle/>
          <a:p>
            <a:endParaRPr/>
          </a:p>
        </p:txBody>
      </p:sp>
      <p:sp>
        <p:nvSpPr>
          <p:cNvPr id="5" name="Text 3"/>
          <p:cNvSpPr/>
          <p:nvPr/>
        </p:nvSpPr>
        <p:spPr>
          <a:xfrm>
            <a:off x="101600" y="10160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01 Intro</a:t>
            </a:r>
            <a:endParaRPr lang="en-US" sz="1600" dirty="0"/>
          </a:p>
        </p:txBody>
      </p:sp>
      <p:sp>
        <p:nvSpPr>
          <p:cNvPr id="6" name="Text 4"/>
          <p:cNvSpPr/>
          <p:nvPr/>
        </p:nvSpPr>
        <p:spPr>
          <a:xfrm>
            <a:off x="101600" y="21844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02 Dataset</a:t>
            </a:r>
            <a:endParaRPr lang="en-US" sz="1600" dirty="0"/>
          </a:p>
        </p:txBody>
      </p:sp>
      <p:sp>
        <p:nvSpPr>
          <p:cNvPr id="7" name="Text 5"/>
          <p:cNvSpPr/>
          <p:nvPr/>
        </p:nvSpPr>
        <p:spPr>
          <a:xfrm>
            <a:off x="101600" y="33528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03 Clustering</a:t>
            </a:r>
            <a:endParaRPr lang="en-US" sz="1600" dirty="0"/>
          </a:p>
        </p:txBody>
      </p:sp>
      <p:sp>
        <p:nvSpPr>
          <p:cNvPr id="8" name="Text 6"/>
          <p:cNvSpPr/>
          <p:nvPr/>
        </p:nvSpPr>
        <p:spPr>
          <a:xfrm>
            <a:off x="101600" y="4521200"/>
            <a:ext cx="2082800" cy="1168400"/>
          </a:xfrm>
          <a:prstGeom prst="rect">
            <a:avLst/>
          </a:prstGeom>
          <a:noFill/>
          <a:ln/>
        </p:spPr>
        <p:txBody>
          <a:bodyPr wrap="none" lIns="0" tIns="0" rIns="0" bIns="0" rtlCol="0" anchor="ctr"/>
          <a:lstStyle/>
          <a:p>
            <a:pPr algn="l">
              <a:lnSpc>
                <a:spcPct val="120000"/>
              </a:lnSpc>
            </a:pPr>
            <a:r>
              <a:rPr lang="en-US" sz="1800" b="1" dirty="0">
                <a:solidFill>
                  <a:srgbClr val="FFFFFF"/>
                </a:solidFill>
                <a:latin typeface="Quattrocento Sans" pitchFamily="34" charset="0"/>
                <a:ea typeface="Quattrocento Sans" pitchFamily="34" charset="-122"/>
                <a:cs typeface="Quattrocento Sans" pitchFamily="34" charset="-120"/>
              </a:rPr>
              <a:t>04 Supervised</a:t>
            </a:r>
            <a:endParaRPr lang="en-US" sz="1800" dirty="0"/>
          </a:p>
        </p:txBody>
      </p:sp>
      <p:sp>
        <p:nvSpPr>
          <p:cNvPr id="9" name="Text 7"/>
          <p:cNvSpPr/>
          <p:nvPr/>
        </p:nvSpPr>
        <p:spPr>
          <a:xfrm>
            <a:off x="101600" y="56896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05 Conclusions</a:t>
            </a:r>
            <a:endParaRPr lang="en-US" sz="1600" dirty="0"/>
          </a:p>
        </p:txBody>
      </p:sp>
      <p:sp>
        <p:nvSpPr>
          <p:cNvPr id="10" name="Shape 8"/>
          <p:cNvSpPr/>
          <p:nvPr/>
        </p:nvSpPr>
        <p:spPr>
          <a:xfrm>
            <a:off x="1066800" y="7493000"/>
            <a:ext cx="152400" cy="152400"/>
          </a:xfrm>
          <a:prstGeom prst="diamond">
            <a:avLst/>
          </a:prstGeom>
          <a:solidFill>
            <a:srgbClr val="00ACC1"/>
          </a:solidFill>
          <a:ln/>
        </p:spPr>
        <p:txBody>
          <a:bodyPr/>
          <a:lstStyle/>
          <a:p>
            <a:endParaRPr/>
          </a:p>
        </p:txBody>
      </p:sp>
      <p:sp>
        <p:nvSpPr>
          <p:cNvPr id="11" name="Shape 9"/>
          <p:cNvSpPr/>
          <p:nvPr/>
        </p:nvSpPr>
        <p:spPr>
          <a:xfrm>
            <a:off x="2286000" y="0"/>
            <a:ext cx="13970000" cy="635000"/>
          </a:xfrm>
          <a:prstGeom prst="rect">
            <a:avLst/>
          </a:prstGeom>
          <a:solidFill>
            <a:srgbClr val="E0F4FA"/>
          </a:solidFill>
          <a:ln/>
        </p:spPr>
        <p:txBody>
          <a:bodyPr/>
          <a:lstStyle/>
          <a:p>
            <a:endParaRPr/>
          </a:p>
        </p:txBody>
      </p:sp>
      <p:sp>
        <p:nvSpPr>
          <p:cNvPr id="12" name="Text 10"/>
          <p:cNvSpPr/>
          <p:nvPr/>
        </p:nvSpPr>
        <p:spPr>
          <a:xfrm>
            <a:off x="2540000" y="0"/>
            <a:ext cx="12827000" cy="635000"/>
          </a:xfrm>
          <a:prstGeom prst="rect">
            <a:avLst/>
          </a:prstGeom>
          <a:noFill/>
          <a:ln/>
        </p:spPr>
        <p:txBody>
          <a:bodyPr wrap="none" lIns="0" tIns="0" rIns="0" bIns="0" rtlCol="0" anchor="ctr"/>
          <a:lstStyle/>
          <a:p>
            <a:pPr algn="l">
              <a:lnSpc>
                <a:spcPct val="120000"/>
              </a:lnSpc>
            </a:pPr>
            <a:r>
              <a:rPr lang="en-US" sz="1400" b="1" dirty="0">
                <a:solidFill>
                  <a:srgbClr val="005C82"/>
                </a:solidFill>
                <a:latin typeface="Quattrocento Sans" pitchFamily="34" charset="0"/>
                <a:ea typeface="Quattrocento Sans" pitchFamily="34" charset="-122"/>
                <a:cs typeface="Quattrocento Sans" pitchFamily="34" charset="-120"/>
              </a:rPr>
              <a:t>04 Supervised</a:t>
            </a:r>
            <a:r>
              <a:rPr lang="en-US" sz="1400" dirty="0">
                <a:solidFill>
                  <a:srgbClr val="005C82"/>
                </a:solidFill>
                <a:latin typeface="Quattrocento Sans" pitchFamily="34" charset="0"/>
                <a:ea typeface="Quattrocento Sans" pitchFamily="34" charset="-122"/>
                <a:cs typeface="Quattrocento Sans" pitchFamily="34" charset="-120"/>
              </a:rPr>
              <a:t>  &gt;  4.2  Ablation &amp; Confusion Analysis</a:t>
            </a:r>
            <a:endParaRPr lang="en-US" sz="1400" dirty="0"/>
          </a:p>
        </p:txBody>
      </p:sp>
      <p:sp>
        <p:nvSpPr>
          <p:cNvPr id="13" name="Text 11"/>
          <p:cNvSpPr/>
          <p:nvPr/>
        </p:nvSpPr>
        <p:spPr>
          <a:xfrm>
            <a:off x="15621000" y="0"/>
            <a:ext cx="635000" cy="635000"/>
          </a:xfrm>
          <a:prstGeom prst="rect">
            <a:avLst/>
          </a:prstGeom>
          <a:noFill/>
          <a:ln/>
        </p:spPr>
        <p:txBody>
          <a:bodyPr wrap="square" lIns="0" tIns="0" rIns="0" bIns="0" rtlCol="0" anchor="ctr"/>
          <a:lstStyle/>
          <a:p>
            <a:r>
              <a:t>24</a:t>
            </a:r>
          </a:p>
        </p:txBody>
      </p:sp>
      <p:sp>
        <p:nvSpPr>
          <p:cNvPr id="14" name="Text 12"/>
          <p:cNvSpPr/>
          <p:nvPr/>
        </p:nvSpPr>
        <p:spPr>
          <a:xfrm>
            <a:off x="2540000" y="863600"/>
            <a:ext cx="13208000" cy="457200"/>
          </a:xfrm>
          <a:prstGeom prst="rect">
            <a:avLst/>
          </a:prstGeom>
          <a:noFill/>
          <a:ln/>
        </p:spPr>
        <p:txBody>
          <a:bodyPr wrap="none" lIns="0" tIns="0" rIns="0" bIns="0" rtlCol="0" anchor="t"/>
          <a:lstStyle/>
          <a:p>
            <a:pPr algn="l">
              <a:lnSpc>
                <a:spcPct val="120000"/>
              </a:lnSpc>
            </a:pPr>
            <a:r>
              <a:rPr lang="en-US" sz="2400" b="1" dirty="0">
                <a:solidFill>
                  <a:srgbClr val="005C82"/>
                </a:solidFill>
                <a:latin typeface="Quattrocento Sans" pitchFamily="34" charset="0"/>
                <a:ea typeface="Quattrocento Sans" pitchFamily="34" charset="-122"/>
                <a:cs typeface="Quattrocento Sans" pitchFamily="34" charset="-120"/>
              </a:rPr>
              <a:t>Ablation Comparison &amp; Confusion Analysis</a:t>
            </a:r>
            <a:endParaRPr lang="en-US" sz="2400" dirty="0"/>
          </a:p>
        </p:txBody>
      </p:sp>
      <p:sp>
        <p:nvSpPr>
          <p:cNvPr id="15" name="Shape 13"/>
          <p:cNvSpPr/>
          <p:nvPr/>
        </p:nvSpPr>
        <p:spPr>
          <a:xfrm>
            <a:off x="2540000" y="1397000"/>
            <a:ext cx="13208000" cy="12700"/>
          </a:xfrm>
          <a:prstGeom prst="rect">
            <a:avLst/>
          </a:prstGeom>
          <a:solidFill>
            <a:srgbClr val="B0BEC5"/>
          </a:solidFill>
          <a:ln/>
        </p:spPr>
        <p:txBody>
          <a:bodyPr/>
          <a:lstStyle/>
          <a:p>
            <a:endParaRPr/>
          </a:p>
        </p:txBody>
      </p:sp>
      <p:pic>
        <p:nvPicPr>
          <p:cNvPr id="16" name="Image 0" descr="https://kimi-img.moonshot.cn/pub/slides/okc/qjpdxks4bncqy/mnt/agents/upload/fig_ablation_comparison.png"/>
          <p:cNvPicPr>
            <a:picLocks noChangeAspect="1"/>
          </p:cNvPicPr>
          <p:nvPr/>
        </p:nvPicPr>
        <p:blipFill>
          <a:blip r:embed="rId3"/>
          <a:srcRect/>
          <a:stretch/>
        </p:blipFill>
        <p:spPr>
          <a:xfrm>
            <a:off x="2540000" y="1574800"/>
            <a:ext cx="6477000" cy="3810000"/>
          </a:xfrm>
          <a:prstGeom prst="rect">
            <a:avLst/>
          </a:prstGeom>
        </p:spPr>
      </p:pic>
      <p:pic>
        <p:nvPicPr>
          <p:cNvPr id="17" name="Image 1" descr="https://kimi-img.moonshot.cn/pub/slides/okc/qjpdxks4bncqy/mnt/agents/upload/fig_confusion_matrix_best_B.png"/>
          <p:cNvPicPr>
            <a:picLocks noChangeAspect="1"/>
          </p:cNvPicPr>
          <p:nvPr/>
        </p:nvPicPr>
        <p:blipFill>
          <a:blip r:embed="rId4"/>
          <a:srcRect/>
          <a:stretch/>
        </p:blipFill>
        <p:spPr>
          <a:xfrm>
            <a:off x="9271000" y="1574800"/>
            <a:ext cx="6477000" cy="3810000"/>
          </a:xfrm>
          <a:prstGeom prst="rect">
            <a:avLst/>
          </a:prstGeom>
        </p:spPr>
      </p:pic>
      <p:sp>
        <p:nvSpPr>
          <p:cNvPr id="18" name="Shape 14"/>
          <p:cNvSpPr/>
          <p:nvPr/>
        </p:nvSpPr>
        <p:spPr>
          <a:xfrm>
            <a:off x="2540000" y="5588000"/>
            <a:ext cx="13208000" cy="1651000"/>
          </a:xfrm>
          <a:prstGeom prst="rect">
            <a:avLst/>
          </a:prstGeom>
          <a:solidFill>
            <a:srgbClr val="005C82"/>
          </a:solidFill>
          <a:ln/>
        </p:spPr>
        <p:txBody>
          <a:bodyPr/>
          <a:lstStyle/>
          <a:p>
            <a:endParaRPr/>
          </a:p>
        </p:txBody>
      </p:sp>
      <p:sp>
        <p:nvSpPr>
          <p:cNvPr id="19" name="Shape 15"/>
          <p:cNvSpPr/>
          <p:nvPr/>
        </p:nvSpPr>
        <p:spPr>
          <a:xfrm>
            <a:off x="2717800" y="5740400"/>
            <a:ext cx="177800" cy="177800"/>
          </a:xfrm>
          <a:prstGeom prst="diamond">
            <a:avLst/>
          </a:prstGeom>
          <a:solidFill>
            <a:srgbClr val="00ACC1"/>
          </a:solidFill>
          <a:ln/>
        </p:spPr>
        <p:txBody>
          <a:bodyPr/>
          <a:lstStyle/>
          <a:p>
            <a:endParaRPr/>
          </a:p>
        </p:txBody>
      </p:sp>
      <p:sp>
        <p:nvSpPr>
          <p:cNvPr id="20" name="Text 16"/>
          <p:cNvSpPr/>
          <p:nvPr/>
        </p:nvSpPr>
        <p:spPr>
          <a:xfrm>
            <a:off x="3022600" y="5664200"/>
            <a:ext cx="3810000" cy="304800"/>
          </a:xfrm>
          <a:prstGeom prst="rect">
            <a:avLst/>
          </a:prstGeom>
          <a:noFill/>
          <a:ln/>
        </p:spPr>
        <p:txBody>
          <a:bodyPr wrap="none" lIns="0" tIns="0" rIns="0" bIns="0" rtlCol="0" anchor="t"/>
          <a:lstStyle/>
          <a:p>
            <a:pPr algn="l">
              <a:lnSpc>
                <a:spcPct val="120000"/>
              </a:lnSpc>
            </a:pPr>
            <a:r>
              <a:rPr lang="en-US" sz="1800" b="1" dirty="0">
                <a:solidFill>
                  <a:srgbClr val="00ACC1"/>
                </a:solidFill>
                <a:latin typeface="Quattrocento Sans" pitchFamily="34" charset="0"/>
                <a:ea typeface="Quattrocento Sans" pitchFamily="34" charset="-122"/>
                <a:cs typeface="Quattrocento Sans" pitchFamily="34" charset="-120"/>
              </a:rPr>
              <a:t>Confusion Pattern in Setup B</a:t>
            </a:r>
            <a:endParaRPr lang="en-US" sz="1800" dirty="0"/>
          </a:p>
        </p:txBody>
      </p:sp>
      <p:sp>
        <p:nvSpPr>
          <p:cNvPr id="21" name="Text 17"/>
          <p:cNvSpPr/>
          <p:nvPr/>
        </p:nvSpPr>
        <p:spPr>
          <a:xfrm>
            <a:off x="2717800" y="6019800"/>
            <a:ext cx="12827000" cy="1143000"/>
          </a:xfrm>
          <a:prstGeom prst="rect">
            <a:avLst/>
          </a:prstGeom>
          <a:noFill/>
          <a:ln/>
        </p:spPr>
        <p:txBody>
          <a:bodyPr wrap="square" lIns="0" tIns="0" rIns="0" bIns="0" rtlCol="0" anchor="t"/>
          <a:lstStyle/>
          <a:p>
            <a:pPr algn="l">
              <a:lnSpc>
                <a:spcPct val="140000"/>
              </a:lnSpc>
            </a:pPr>
            <a:r>
              <a:rPr lang="en-US" sz="1300" dirty="0">
                <a:solidFill>
                  <a:srgbClr val="FFFFFF"/>
                </a:solidFill>
                <a:latin typeface="Quattrocento Sans" pitchFamily="34" charset="0"/>
                <a:ea typeface="Quattrocento Sans" pitchFamily="34" charset="-122"/>
                <a:cs typeface="Quattrocento Sans" pitchFamily="34" charset="-120"/>
              </a:rPr>
              <a:t>Best Setup B model: Random Forest (Macro-F1 = 0.490). Largest confusion: Super-Earth vs Mini-Neptune (86+80 errors in opposite directions), Neptune-like predicted as Mini-Neptune (50 cases). This is coherent with removing mass and radius - the features that separate neighbouring planet classes. The confusion pattern itself is evidence that the model is now learning from genuinely overlapping classes rather than reconstructing definitional thresholds.</a:t>
            </a:r>
            <a:endParaRPr lang="en-US" sz="1300" dirty="0"/>
          </a:p>
        </p:txBody>
      </p:sp>
      <p:sp>
        <p:nvSpPr>
          <p:cNvPr id="22" name="Text 18"/>
          <p:cNvSpPr/>
          <p:nvPr/>
        </p:nvSpPr>
        <p:spPr>
          <a:xfrm>
            <a:off x="2540000" y="7239000"/>
            <a:ext cx="13208000" cy="254000"/>
          </a:xfrm>
          <a:prstGeom prst="rect">
            <a:avLst/>
          </a:prstGeom>
          <a:noFill/>
          <a:ln/>
        </p:spPr>
        <p:txBody>
          <a:bodyPr wrap="none" lIns="0" tIns="0" rIns="0" bIns="0" rtlCol="0" anchor="ctr"/>
          <a:lstStyle/>
          <a:p>
            <a:pPr algn="ctr">
              <a:lnSpc>
                <a:spcPct val="120000"/>
              </a:lnSpc>
            </a:pPr>
            <a:r>
              <a:rPr lang="en-US" sz="1200" dirty="0">
                <a:solidFill>
                  <a:srgbClr val="666666"/>
                </a:solidFill>
                <a:latin typeface="Quattrocento Sans" pitchFamily="34" charset="0"/>
                <a:ea typeface="Quattrocento Sans" pitchFamily="34" charset="-122"/>
                <a:cs typeface="Quattrocento Sans" pitchFamily="34" charset="-120"/>
              </a:rPr>
              <a:t>Figure 5: Macro-F1 drop from Setup A to B (left) and confusion matrix of best Setup B model, Random Forest (right).</a:t>
            </a:r>
            <a:endParaRPr lang="en-US" sz="1200" dirty="0"/>
          </a:p>
        </p:txBody>
      </p:sp>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AFE"/>
        </a:solidFill>
        <a:effectLst/>
      </p:bgPr>
    </p:bg>
    <p:spTree>
      <p:nvGrpSpPr>
        <p:cNvPr id="1" name=""/>
        <p:cNvGrpSpPr/>
        <p:nvPr/>
      </p:nvGrpSpPr>
      <p:grpSpPr>
        <a:xfrm>
          <a:off x="0" y="0"/>
          <a:ext cx="0" cy="0"/>
          <a:chOff x="0" y="0"/>
          <a:chExt cx="0" cy="0"/>
        </a:xfrm>
      </p:grpSpPr>
      <p:sp>
        <p:nvSpPr>
          <p:cNvPr id="2" name="Shape 0"/>
          <p:cNvSpPr/>
          <p:nvPr/>
        </p:nvSpPr>
        <p:spPr>
          <a:xfrm>
            <a:off x="0" y="0"/>
            <a:ext cx="2286000" cy="9144000"/>
          </a:xfrm>
          <a:prstGeom prst="rect">
            <a:avLst/>
          </a:prstGeom>
          <a:solidFill>
            <a:srgbClr val="004060"/>
          </a:solidFill>
          <a:ln/>
        </p:spPr>
        <p:txBody>
          <a:bodyPr/>
          <a:lstStyle/>
          <a:p>
            <a:endParaRPr/>
          </a:p>
        </p:txBody>
      </p:sp>
      <p:sp>
        <p:nvSpPr>
          <p:cNvPr id="3" name="Shape 1"/>
          <p:cNvSpPr/>
          <p:nvPr/>
        </p:nvSpPr>
        <p:spPr>
          <a:xfrm>
            <a:off x="177800" y="177800"/>
            <a:ext cx="457200" cy="457200"/>
          </a:xfrm>
          <a:prstGeom prst="ellipse">
            <a:avLst/>
          </a:prstGeom>
          <a:solidFill>
            <a:srgbClr val="FFFFFF">
              <a:alpha val="12549"/>
            </a:srgbClr>
          </a:solidFill>
          <a:ln w="12700">
            <a:solidFill>
              <a:srgbClr val="00ACC1"/>
            </a:solidFill>
            <a:prstDash val="solid"/>
          </a:ln>
        </p:spPr>
        <p:txBody>
          <a:bodyPr/>
          <a:lstStyle/>
          <a:p>
            <a:endParaRPr/>
          </a:p>
        </p:txBody>
      </p:sp>
      <p:sp>
        <p:nvSpPr>
          <p:cNvPr id="4" name="Shape 2"/>
          <p:cNvSpPr/>
          <p:nvPr/>
        </p:nvSpPr>
        <p:spPr>
          <a:xfrm>
            <a:off x="0" y="4521200"/>
            <a:ext cx="2286000" cy="1168400"/>
          </a:xfrm>
          <a:prstGeom prst="rect">
            <a:avLst/>
          </a:prstGeom>
          <a:solidFill>
            <a:srgbClr val="005C82"/>
          </a:solidFill>
          <a:ln/>
        </p:spPr>
        <p:txBody>
          <a:bodyPr/>
          <a:lstStyle/>
          <a:p>
            <a:endParaRPr/>
          </a:p>
        </p:txBody>
      </p:sp>
      <p:sp>
        <p:nvSpPr>
          <p:cNvPr id="5" name="Text 3"/>
          <p:cNvSpPr/>
          <p:nvPr/>
        </p:nvSpPr>
        <p:spPr>
          <a:xfrm>
            <a:off x="101600" y="10160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01 Intro</a:t>
            </a:r>
            <a:endParaRPr lang="en-US" sz="1600" dirty="0"/>
          </a:p>
        </p:txBody>
      </p:sp>
      <p:sp>
        <p:nvSpPr>
          <p:cNvPr id="6" name="Text 4"/>
          <p:cNvSpPr/>
          <p:nvPr/>
        </p:nvSpPr>
        <p:spPr>
          <a:xfrm>
            <a:off x="101600" y="21844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02 Dataset</a:t>
            </a:r>
            <a:endParaRPr lang="en-US" sz="1600" dirty="0"/>
          </a:p>
        </p:txBody>
      </p:sp>
      <p:sp>
        <p:nvSpPr>
          <p:cNvPr id="7" name="Text 5"/>
          <p:cNvSpPr/>
          <p:nvPr/>
        </p:nvSpPr>
        <p:spPr>
          <a:xfrm>
            <a:off x="101600" y="33528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03 Clustering</a:t>
            </a:r>
            <a:endParaRPr lang="en-US" sz="1600" dirty="0"/>
          </a:p>
        </p:txBody>
      </p:sp>
      <p:sp>
        <p:nvSpPr>
          <p:cNvPr id="8" name="Text 6"/>
          <p:cNvSpPr/>
          <p:nvPr/>
        </p:nvSpPr>
        <p:spPr>
          <a:xfrm>
            <a:off x="101600" y="4521200"/>
            <a:ext cx="2082800" cy="1168400"/>
          </a:xfrm>
          <a:prstGeom prst="rect">
            <a:avLst/>
          </a:prstGeom>
          <a:noFill/>
          <a:ln/>
        </p:spPr>
        <p:txBody>
          <a:bodyPr wrap="none" lIns="0" tIns="0" rIns="0" bIns="0" rtlCol="0" anchor="ctr"/>
          <a:lstStyle/>
          <a:p>
            <a:pPr algn="l">
              <a:lnSpc>
                <a:spcPct val="120000"/>
              </a:lnSpc>
            </a:pPr>
            <a:r>
              <a:rPr lang="en-US" sz="1800" b="1" dirty="0">
                <a:solidFill>
                  <a:srgbClr val="FFFFFF"/>
                </a:solidFill>
                <a:latin typeface="Quattrocento Sans" pitchFamily="34" charset="0"/>
                <a:ea typeface="Quattrocento Sans" pitchFamily="34" charset="-122"/>
                <a:cs typeface="Quattrocento Sans" pitchFamily="34" charset="-120"/>
              </a:rPr>
              <a:t>04 Supervised</a:t>
            </a:r>
            <a:endParaRPr lang="en-US" sz="1800" dirty="0"/>
          </a:p>
        </p:txBody>
      </p:sp>
      <p:sp>
        <p:nvSpPr>
          <p:cNvPr id="9" name="Text 7"/>
          <p:cNvSpPr/>
          <p:nvPr/>
        </p:nvSpPr>
        <p:spPr>
          <a:xfrm>
            <a:off x="101600" y="56896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05 Conclusions</a:t>
            </a:r>
            <a:endParaRPr lang="en-US" sz="1600" dirty="0"/>
          </a:p>
        </p:txBody>
      </p:sp>
      <p:sp>
        <p:nvSpPr>
          <p:cNvPr id="10" name="Shape 8"/>
          <p:cNvSpPr/>
          <p:nvPr/>
        </p:nvSpPr>
        <p:spPr>
          <a:xfrm>
            <a:off x="1066800" y="7493000"/>
            <a:ext cx="152400" cy="152400"/>
          </a:xfrm>
          <a:prstGeom prst="diamond">
            <a:avLst/>
          </a:prstGeom>
          <a:solidFill>
            <a:srgbClr val="00ACC1"/>
          </a:solidFill>
          <a:ln/>
        </p:spPr>
        <p:txBody>
          <a:bodyPr/>
          <a:lstStyle/>
          <a:p>
            <a:endParaRPr/>
          </a:p>
        </p:txBody>
      </p:sp>
      <p:sp>
        <p:nvSpPr>
          <p:cNvPr id="11" name="Shape 9"/>
          <p:cNvSpPr/>
          <p:nvPr/>
        </p:nvSpPr>
        <p:spPr>
          <a:xfrm>
            <a:off x="2286000" y="0"/>
            <a:ext cx="13970000" cy="635000"/>
          </a:xfrm>
          <a:prstGeom prst="rect">
            <a:avLst/>
          </a:prstGeom>
          <a:solidFill>
            <a:srgbClr val="E0F4FA"/>
          </a:solidFill>
          <a:ln/>
        </p:spPr>
        <p:txBody>
          <a:bodyPr/>
          <a:lstStyle/>
          <a:p>
            <a:endParaRPr/>
          </a:p>
        </p:txBody>
      </p:sp>
      <p:sp>
        <p:nvSpPr>
          <p:cNvPr id="12" name="Text 10"/>
          <p:cNvSpPr/>
          <p:nvPr/>
        </p:nvSpPr>
        <p:spPr>
          <a:xfrm>
            <a:off x="2540000" y="0"/>
            <a:ext cx="12827000" cy="635000"/>
          </a:xfrm>
          <a:prstGeom prst="rect">
            <a:avLst/>
          </a:prstGeom>
          <a:noFill/>
          <a:ln/>
        </p:spPr>
        <p:txBody>
          <a:bodyPr wrap="none" lIns="0" tIns="0" rIns="0" bIns="0" rtlCol="0" anchor="ctr"/>
          <a:lstStyle/>
          <a:p>
            <a:pPr algn="l">
              <a:lnSpc>
                <a:spcPct val="120000"/>
              </a:lnSpc>
            </a:pPr>
            <a:r>
              <a:rPr lang="en-US" sz="1400" b="1" dirty="0">
                <a:solidFill>
                  <a:srgbClr val="005C82"/>
                </a:solidFill>
                <a:latin typeface="Quattrocento Sans" pitchFamily="34" charset="0"/>
                <a:ea typeface="Quattrocento Sans" pitchFamily="34" charset="-122"/>
                <a:cs typeface="Quattrocento Sans" pitchFamily="34" charset="-120"/>
              </a:rPr>
              <a:t>04 Supervised</a:t>
            </a:r>
            <a:r>
              <a:rPr lang="en-US" sz="1400" dirty="0">
                <a:solidFill>
                  <a:srgbClr val="005C82"/>
                </a:solidFill>
                <a:latin typeface="Quattrocento Sans" pitchFamily="34" charset="0"/>
                <a:ea typeface="Quattrocento Sans" pitchFamily="34" charset="-122"/>
                <a:cs typeface="Quattrocento Sans" pitchFamily="34" charset="-120"/>
              </a:rPr>
              <a:t>  &gt;  4.2  Feature Importance in Setup B</a:t>
            </a:r>
            <a:endParaRPr lang="en-US" sz="1400" dirty="0"/>
          </a:p>
        </p:txBody>
      </p:sp>
      <p:sp>
        <p:nvSpPr>
          <p:cNvPr id="13" name="Text 11"/>
          <p:cNvSpPr/>
          <p:nvPr/>
        </p:nvSpPr>
        <p:spPr>
          <a:xfrm>
            <a:off x="15621000" y="0"/>
            <a:ext cx="635000" cy="635000"/>
          </a:xfrm>
          <a:prstGeom prst="rect">
            <a:avLst/>
          </a:prstGeom>
          <a:noFill/>
          <a:ln/>
        </p:spPr>
        <p:txBody>
          <a:bodyPr wrap="square" lIns="0" tIns="0" rIns="0" bIns="0" rtlCol="0" anchor="ctr"/>
          <a:lstStyle/>
          <a:p>
            <a:r>
              <a:t>25</a:t>
            </a:r>
          </a:p>
        </p:txBody>
      </p:sp>
      <p:sp>
        <p:nvSpPr>
          <p:cNvPr id="14" name="Text 12"/>
          <p:cNvSpPr/>
          <p:nvPr/>
        </p:nvSpPr>
        <p:spPr>
          <a:xfrm>
            <a:off x="2540000" y="863600"/>
            <a:ext cx="13208000" cy="457200"/>
          </a:xfrm>
          <a:prstGeom prst="rect">
            <a:avLst/>
          </a:prstGeom>
          <a:noFill/>
          <a:ln/>
        </p:spPr>
        <p:txBody>
          <a:bodyPr wrap="none" lIns="0" tIns="0" rIns="0" bIns="0" rtlCol="0" anchor="t"/>
          <a:lstStyle/>
          <a:p>
            <a:pPr algn="l">
              <a:lnSpc>
                <a:spcPct val="120000"/>
              </a:lnSpc>
            </a:pPr>
            <a:r>
              <a:rPr lang="en-US" sz="2400" b="1" dirty="0">
                <a:solidFill>
                  <a:srgbClr val="005C82"/>
                </a:solidFill>
                <a:latin typeface="Quattrocento Sans" pitchFamily="34" charset="0"/>
                <a:ea typeface="Quattrocento Sans" pitchFamily="34" charset="-122"/>
                <a:cs typeface="Quattrocento Sans" pitchFamily="34" charset="-120"/>
              </a:rPr>
              <a:t>Feature Importance in Setup B</a:t>
            </a:r>
            <a:endParaRPr lang="en-US" sz="2400" dirty="0"/>
          </a:p>
        </p:txBody>
      </p:sp>
      <p:sp>
        <p:nvSpPr>
          <p:cNvPr id="15" name="Shape 13"/>
          <p:cNvSpPr/>
          <p:nvPr/>
        </p:nvSpPr>
        <p:spPr>
          <a:xfrm>
            <a:off x="2540000" y="1397000"/>
            <a:ext cx="13208000" cy="12700"/>
          </a:xfrm>
          <a:prstGeom prst="rect">
            <a:avLst/>
          </a:prstGeom>
          <a:solidFill>
            <a:srgbClr val="B0BEC5"/>
          </a:solidFill>
          <a:ln/>
        </p:spPr>
        <p:txBody>
          <a:bodyPr/>
          <a:lstStyle/>
          <a:p>
            <a:endParaRPr/>
          </a:p>
        </p:txBody>
      </p:sp>
      <p:pic>
        <p:nvPicPr>
          <p:cNvPr id="16" name="Image 0" descr="https://kimi-img.moonshot.cn/pub/slides/okc/qjpdxks4bncqy/mnt/agents/upload/feature_importance_B_random_forest.png"/>
          <p:cNvPicPr>
            <a:picLocks noChangeAspect="1"/>
          </p:cNvPicPr>
          <p:nvPr/>
        </p:nvPicPr>
        <p:blipFill>
          <a:blip r:embed="rId3"/>
          <a:srcRect/>
          <a:stretch/>
        </p:blipFill>
        <p:spPr>
          <a:xfrm>
            <a:off x="2540000" y="1574800"/>
            <a:ext cx="6477000" cy="4826000"/>
          </a:xfrm>
          <a:prstGeom prst="rect">
            <a:avLst/>
          </a:prstGeom>
        </p:spPr>
      </p:pic>
      <p:pic>
        <p:nvPicPr>
          <p:cNvPr id="17" name="Image 1" descr="https://kimi-img.moonshot.cn/pub/slides/okc/qjpdxks4bncqy/mnt/agents/upload/feature_importance_B_decision_tree.png"/>
          <p:cNvPicPr>
            <a:picLocks noChangeAspect="1"/>
          </p:cNvPicPr>
          <p:nvPr/>
        </p:nvPicPr>
        <p:blipFill>
          <a:blip r:embed="rId4"/>
          <a:srcRect/>
          <a:stretch/>
        </p:blipFill>
        <p:spPr>
          <a:xfrm>
            <a:off x="9271000" y="1574800"/>
            <a:ext cx="6477000" cy="4826000"/>
          </a:xfrm>
          <a:prstGeom prst="rect">
            <a:avLst/>
          </a:prstGeom>
        </p:spPr>
      </p:pic>
      <p:sp>
        <p:nvSpPr>
          <p:cNvPr id="18" name="Shape 14"/>
          <p:cNvSpPr/>
          <p:nvPr/>
        </p:nvSpPr>
        <p:spPr>
          <a:xfrm>
            <a:off x="2540000" y="6604000"/>
            <a:ext cx="13208000" cy="1397000"/>
          </a:xfrm>
          <a:prstGeom prst="rect">
            <a:avLst/>
          </a:prstGeom>
          <a:solidFill>
            <a:srgbClr val="005C82"/>
          </a:solidFill>
          <a:ln/>
        </p:spPr>
        <p:txBody>
          <a:bodyPr/>
          <a:lstStyle/>
          <a:p>
            <a:endParaRPr/>
          </a:p>
        </p:txBody>
      </p:sp>
      <p:sp>
        <p:nvSpPr>
          <p:cNvPr id="19" name="Shape 15"/>
          <p:cNvSpPr/>
          <p:nvPr/>
        </p:nvSpPr>
        <p:spPr>
          <a:xfrm>
            <a:off x="2717800" y="6756400"/>
            <a:ext cx="177800" cy="177800"/>
          </a:xfrm>
          <a:prstGeom prst="diamond">
            <a:avLst/>
          </a:prstGeom>
          <a:solidFill>
            <a:srgbClr val="00ACC1"/>
          </a:solidFill>
          <a:ln/>
        </p:spPr>
        <p:txBody>
          <a:bodyPr/>
          <a:lstStyle/>
          <a:p>
            <a:endParaRPr/>
          </a:p>
        </p:txBody>
      </p:sp>
      <p:sp>
        <p:nvSpPr>
          <p:cNvPr id="20" name="Text 16"/>
          <p:cNvSpPr/>
          <p:nvPr/>
        </p:nvSpPr>
        <p:spPr>
          <a:xfrm>
            <a:off x="3022600" y="6680200"/>
            <a:ext cx="6350000" cy="304800"/>
          </a:xfrm>
          <a:prstGeom prst="rect">
            <a:avLst/>
          </a:prstGeom>
          <a:noFill/>
          <a:ln/>
        </p:spPr>
        <p:txBody>
          <a:bodyPr wrap="none" lIns="0" tIns="0" rIns="0" bIns="0" rtlCol="0" anchor="t"/>
          <a:lstStyle/>
          <a:p>
            <a:pPr algn="l">
              <a:lnSpc>
                <a:spcPct val="120000"/>
              </a:lnSpc>
            </a:pPr>
            <a:r>
              <a:rPr lang="en-US" sz="1800" b="1" dirty="0">
                <a:solidFill>
                  <a:srgbClr val="00ACC1"/>
                </a:solidFill>
                <a:latin typeface="Quattrocento Sans" pitchFamily="34" charset="0"/>
                <a:ea typeface="Quattrocento Sans" pitchFamily="34" charset="-122"/>
                <a:cs typeface="Quattrocento Sans" pitchFamily="34" charset="-120"/>
              </a:rPr>
              <a:t>What Drives Prediction Without Mass/Radius?</a:t>
            </a:r>
            <a:endParaRPr lang="en-US" sz="1800" dirty="0"/>
          </a:p>
        </p:txBody>
      </p:sp>
      <p:sp>
        <p:nvSpPr>
          <p:cNvPr id="21" name="Text 17"/>
          <p:cNvSpPr/>
          <p:nvPr/>
        </p:nvSpPr>
        <p:spPr>
          <a:xfrm>
            <a:off x="2717800" y="7035800"/>
            <a:ext cx="12827000" cy="889000"/>
          </a:xfrm>
          <a:prstGeom prst="rect">
            <a:avLst/>
          </a:prstGeom>
          <a:noFill/>
          <a:ln/>
        </p:spPr>
        <p:txBody>
          <a:bodyPr wrap="square" lIns="0" tIns="0" rIns="0" bIns="0" rtlCol="0" anchor="t"/>
          <a:lstStyle/>
          <a:p>
            <a:pPr algn="l">
              <a:lnSpc>
                <a:spcPct val="140000"/>
              </a:lnSpc>
            </a:pPr>
            <a:r>
              <a:rPr lang="en-US" sz="1300" dirty="0">
                <a:solidFill>
                  <a:srgbClr val="FFFFFF"/>
                </a:solidFill>
                <a:latin typeface="Quattrocento Sans" pitchFamily="34" charset="0"/>
                <a:ea typeface="Quattrocento Sans" pitchFamily="34" charset="-122"/>
                <a:cs typeface="Quattrocento Sans" pitchFamily="34" charset="-120"/>
              </a:rPr>
              <a:t>Random Forest top features: catalogued temperature (0.142), orbital period (0.138), semi-major axis (0.130). These are predictive, not causal - temperature semantics are heterogeneous for direct-imaging companions. Different models weight features differently, revealing alternative decision boundaries in the reduced feature space.</a:t>
            </a:r>
            <a:endParaRPr lang="en-US" sz="1300" dirty="0"/>
          </a:p>
        </p:txBody>
      </p:sp>
      <p:sp>
        <p:nvSpPr>
          <p:cNvPr id="22" name="Text 18"/>
          <p:cNvSpPr/>
          <p:nvPr/>
        </p:nvSpPr>
        <p:spPr>
          <a:xfrm>
            <a:off x="2540000" y="8102600"/>
            <a:ext cx="13208000" cy="254000"/>
          </a:xfrm>
          <a:prstGeom prst="rect">
            <a:avLst/>
          </a:prstGeom>
          <a:noFill/>
          <a:ln/>
        </p:spPr>
        <p:txBody>
          <a:bodyPr wrap="none" lIns="0" tIns="0" rIns="0" bIns="0" rtlCol="0" anchor="ctr"/>
          <a:lstStyle/>
          <a:p>
            <a:pPr algn="ctr">
              <a:lnSpc>
                <a:spcPct val="120000"/>
              </a:lnSpc>
            </a:pPr>
            <a:r>
              <a:rPr lang="en-US" sz="1200" dirty="0">
                <a:solidFill>
                  <a:srgbClr val="666666"/>
                </a:solidFill>
                <a:latin typeface="Quattrocento Sans" pitchFamily="34" charset="0"/>
                <a:ea typeface="Quattrocento Sans" pitchFamily="34" charset="-122"/>
                <a:cs typeface="Quattrocento Sans" pitchFamily="34" charset="-120"/>
              </a:rPr>
              <a:t>Figure 6: Feature importance for Random Forest (left) and Decision Tree (right) in Setup B. Without mass and radius, remaining physical features carry the predictive signal.</a:t>
            </a:r>
            <a:endParaRPr lang="en-US" sz="1200" dirty="0"/>
          </a:p>
        </p:txBody>
      </p:sp>
    </p:spTree>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AFE"/>
        </a:solidFill>
        <a:effectLst/>
      </p:bgPr>
    </p:bg>
    <p:spTree>
      <p:nvGrpSpPr>
        <p:cNvPr id="1" name=""/>
        <p:cNvGrpSpPr/>
        <p:nvPr/>
      </p:nvGrpSpPr>
      <p:grpSpPr>
        <a:xfrm>
          <a:off x="0" y="0"/>
          <a:ext cx="0" cy="0"/>
          <a:chOff x="0" y="0"/>
          <a:chExt cx="0" cy="0"/>
        </a:xfrm>
      </p:grpSpPr>
      <p:sp>
        <p:nvSpPr>
          <p:cNvPr id="2" name="Shape 0"/>
          <p:cNvSpPr/>
          <p:nvPr/>
        </p:nvSpPr>
        <p:spPr>
          <a:xfrm>
            <a:off x="0" y="0"/>
            <a:ext cx="2286000" cy="9144000"/>
          </a:xfrm>
          <a:prstGeom prst="rect">
            <a:avLst/>
          </a:prstGeom>
          <a:solidFill>
            <a:srgbClr val="004060"/>
          </a:solidFill>
          <a:ln/>
        </p:spPr>
        <p:txBody>
          <a:bodyPr/>
          <a:lstStyle/>
          <a:p>
            <a:endParaRPr/>
          </a:p>
        </p:txBody>
      </p:sp>
      <p:sp>
        <p:nvSpPr>
          <p:cNvPr id="3" name="Shape 1"/>
          <p:cNvSpPr/>
          <p:nvPr/>
        </p:nvSpPr>
        <p:spPr>
          <a:xfrm>
            <a:off x="177800" y="177800"/>
            <a:ext cx="457200" cy="457200"/>
          </a:xfrm>
          <a:prstGeom prst="ellipse">
            <a:avLst/>
          </a:prstGeom>
          <a:solidFill>
            <a:srgbClr val="FFFFFF">
              <a:alpha val="12549"/>
            </a:srgbClr>
          </a:solidFill>
          <a:ln w="12700">
            <a:solidFill>
              <a:srgbClr val="00ACC1"/>
            </a:solidFill>
            <a:prstDash val="solid"/>
          </a:ln>
        </p:spPr>
        <p:txBody>
          <a:bodyPr/>
          <a:lstStyle/>
          <a:p>
            <a:endParaRPr/>
          </a:p>
        </p:txBody>
      </p:sp>
      <p:sp>
        <p:nvSpPr>
          <p:cNvPr id="4" name="Shape 2"/>
          <p:cNvSpPr/>
          <p:nvPr/>
        </p:nvSpPr>
        <p:spPr>
          <a:xfrm>
            <a:off x="0" y="4521200"/>
            <a:ext cx="2286000" cy="1168400"/>
          </a:xfrm>
          <a:prstGeom prst="rect">
            <a:avLst/>
          </a:prstGeom>
          <a:solidFill>
            <a:srgbClr val="005C82"/>
          </a:solidFill>
          <a:ln/>
        </p:spPr>
        <p:txBody>
          <a:bodyPr/>
          <a:lstStyle/>
          <a:p>
            <a:endParaRPr/>
          </a:p>
        </p:txBody>
      </p:sp>
      <p:sp>
        <p:nvSpPr>
          <p:cNvPr id="5" name="Text 3"/>
          <p:cNvSpPr/>
          <p:nvPr/>
        </p:nvSpPr>
        <p:spPr>
          <a:xfrm>
            <a:off x="101600" y="10160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01 Intro</a:t>
            </a:r>
            <a:endParaRPr lang="en-US" sz="1600" dirty="0"/>
          </a:p>
        </p:txBody>
      </p:sp>
      <p:sp>
        <p:nvSpPr>
          <p:cNvPr id="6" name="Text 4"/>
          <p:cNvSpPr/>
          <p:nvPr/>
        </p:nvSpPr>
        <p:spPr>
          <a:xfrm>
            <a:off x="101600" y="21844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02 Dataset</a:t>
            </a:r>
            <a:endParaRPr lang="en-US" sz="1600" dirty="0"/>
          </a:p>
        </p:txBody>
      </p:sp>
      <p:sp>
        <p:nvSpPr>
          <p:cNvPr id="7" name="Text 5"/>
          <p:cNvSpPr/>
          <p:nvPr/>
        </p:nvSpPr>
        <p:spPr>
          <a:xfrm>
            <a:off x="101600" y="33528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03 Clustering</a:t>
            </a:r>
            <a:endParaRPr lang="en-US" sz="1600" dirty="0"/>
          </a:p>
        </p:txBody>
      </p:sp>
      <p:sp>
        <p:nvSpPr>
          <p:cNvPr id="8" name="Text 6"/>
          <p:cNvSpPr/>
          <p:nvPr/>
        </p:nvSpPr>
        <p:spPr>
          <a:xfrm>
            <a:off x="101600" y="4521200"/>
            <a:ext cx="2082800" cy="1168400"/>
          </a:xfrm>
          <a:prstGeom prst="rect">
            <a:avLst/>
          </a:prstGeom>
          <a:noFill/>
          <a:ln/>
        </p:spPr>
        <p:txBody>
          <a:bodyPr wrap="none" lIns="0" tIns="0" rIns="0" bIns="0" rtlCol="0" anchor="ctr"/>
          <a:lstStyle/>
          <a:p>
            <a:pPr algn="l">
              <a:lnSpc>
                <a:spcPct val="120000"/>
              </a:lnSpc>
            </a:pPr>
            <a:r>
              <a:rPr lang="en-US" sz="1800" b="1" dirty="0">
                <a:solidFill>
                  <a:srgbClr val="FFFFFF"/>
                </a:solidFill>
                <a:latin typeface="Quattrocento Sans" pitchFamily="34" charset="0"/>
                <a:ea typeface="Quattrocento Sans" pitchFamily="34" charset="-122"/>
                <a:cs typeface="Quattrocento Sans" pitchFamily="34" charset="-120"/>
              </a:rPr>
              <a:t>04 Supervised</a:t>
            </a:r>
            <a:endParaRPr lang="en-US" sz="1800" dirty="0"/>
          </a:p>
        </p:txBody>
      </p:sp>
      <p:sp>
        <p:nvSpPr>
          <p:cNvPr id="9" name="Text 7"/>
          <p:cNvSpPr/>
          <p:nvPr/>
        </p:nvSpPr>
        <p:spPr>
          <a:xfrm>
            <a:off x="101600" y="56896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05 Conclusions</a:t>
            </a:r>
            <a:endParaRPr lang="en-US" sz="1600" dirty="0"/>
          </a:p>
        </p:txBody>
      </p:sp>
      <p:sp>
        <p:nvSpPr>
          <p:cNvPr id="10" name="Shape 8"/>
          <p:cNvSpPr/>
          <p:nvPr/>
        </p:nvSpPr>
        <p:spPr>
          <a:xfrm>
            <a:off x="1066800" y="7493000"/>
            <a:ext cx="152400" cy="152400"/>
          </a:xfrm>
          <a:prstGeom prst="diamond">
            <a:avLst/>
          </a:prstGeom>
          <a:solidFill>
            <a:srgbClr val="00ACC1"/>
          </a:solidFill>
          <a:ln/>
        </p:spPr>
        <p:txBody>
          <a:bodyPr/>
          <a:lstStyle/>
          <a:p>
            <a:endParaRPr/>
          </a:p>
        </p:txBody>
      </p:sp>
      <p:sp>
        <p:nvSpPr>
          <p:cNvPr id="11" name="Shape 9"/>
          <p:cNvSpPr/>
          <p:nvPr/>
        </p:nvSpPr>
        <p:spPr>
          <a:xfrm>
            <a:off x="2286000" y="0"/>
            <a:ext cx="13970000" cy="635000"/>
          </a:xfrm>
          <a:prstGeom prst="rect">
            <a:avLst/>
          </a:prstGeom>
          <a:solidFill>
            <a:srgbClr val="E0F4FA"/>
          </a:solidFill>
          <a:ln/>
        </p:spPr>
        <p:txBody>
          <a:bodyPr/>
          <a:lstStyle/>
          <a:p>
            <a:endParaRPr/>
          </a:p>
        </p:txBody>
      </p:sp>
      <p:sp>
        <p:nvSpPr>
          <p:cNvPr id="12" name="Text 10"/>
          <p:cNvSpPr/>
          <p:nvPr/>
        </p:nvSpPr>
        <p:spPr>
          <a:xfrm>
            <a:off x="2540000" y="0"/>
            <a:ext cx="12827000" cy="635000"/>
          </a:xfrm>
          <a:prstGeom prst="rect">
            <a:avLst/>
          </a:prstGeom>
          <a:noFill/>
          <a:ln/>
        </p:spPr>
        <p:txBody>
          <a:bodyPr wrap="none" lIns="0" tIns="0" rIns="0" bIns="0" rtlCol="0" anchor="ctr"/>
          <a:lstStyle/>
          <a:p>
            <a:pPr algn="l">
              <a:lnSpc>
                <a:spcPct val="120000"/>
              </a:lnSpc>
            </a:pPr>
            <a:r>
              <a:rPr lang="en-US" sz="1400" b="1" dirty="0">
                <a:solidFill>
                  <a:srgbClr val="005C82"/>
                </a:solidFill>
                <a:latin typeface="Quattrocento Sans" pitchFamily="34" charset="0"/>
                <a:ea typeface="Quattrocento Sans" pitchFamily="34" charset="-122"/>
                <a:cs typeface="Quattrocento Sans" pitchFamily="34" charset="-120"/>
              </a:rPr>
              <a:t>04 Supervised</a:t>
            </a:r>
            <a:r>
              <a:rPr lang="en-US" sz="1400" dirty="0">
                <a:solidFill>
                  <a:srgbClr val="005C82"/>
                </a:solidFill>
                <a:latin typeface="Quattrocento Sans" pitchFamily="34" charset="0"/>
                <a:ea typeface="Quattrocento Sans" pitchFamily="34" charset="-122"/>
                <a:cs typeface="Quattrocento Sans" pitchFamily="34" charset="-120"/>
              </a:rPr>
              <a:t>  &gt;  4.3  Confidence Intervals &amp; Tests</a:t>
            </a:r>
            <a:endParaRPr lang="en-US" sz="1400" dirty="0"/>
          </a:p>
        </p:txBody>
      </p:sp>
      <p:sp>
        <p:nvSpPr>
          <p:cNvPr id="13" name="Text 11"/>
          <p:cNvSpPr/>
          <p:nvPr/>
        </p:nvSpPr>
        <p:spPr>
          <a:xfrm>
            <a:off x="15621000" y="0"/>
            <a:ext cx="635000" cy="635000"/>
          </a:xfrm>
          <a:prstGeom prst="rect">
            <a:avLst/>
          </a:prstGeom>
          <a:noFill/>
          <a:ln/>
        </p:spPr>
        <p:txBody>
          <a:bodyPr wrap="square" lIns="0" tIns="0" rIns="0" bIns="0" rtlCol="0" anchor="ctr"/>
          <a:lstStyle/>
          <a:p>
            <a:r>
              <a:t>26</a:t>
            </a:r>
          </a:p>
        </p:txBody>
      </p:sp>
      <p:sp>
        <p:nvSpPr>
          <p:cNvPr id="14" name="Text 12"/>
          <p:cNvSpPr/>
          <p:nvPr/>
        </p:nvSpPr>
        <p:spPr>
          <a:xfrm>
            <a:off x="2540000" y="863600"/>
            <a:ext cx="13208000" cy="457200"/>
          </a:xfrm>
          <a:prstGeom prst="rect">
            <a:avLst/>
          </a:prstGeom>
          <a:noFill/>
          <a:ln/>
        </p:spPr>
        <p:txBody>
          <a:bodyPr wrap="none" lIns="0" tIns="0" rIns="0" bIns="0" rtlCol="0" anchor="t"/>
          <a:lstStyle/>
          <a:p>
            <a:pPr algn="l">
              <a:lnSpc>
                <a:spcPct val="120000"/>
              </a:lnSpc>
            </a:pPr>
            <a:r>
              <a:rPr lang="en-US" sz="2400" b="1" dirty="0">
                <a:solidFill>
                  <a:srgbClr val="005C82"/>
                </a:solidFill>
                <a:latin typeface="Quattrocento Sans" pitchFamily="34" charset="0"/>
                <a:ea typeface="Quattrocento Sans" pitchFamily="34" charset="-122"/>
                <a:cs typeface="Quattrocento Sans" pitchFamily="34" charset="-120"/>
              </a:rPr>
              <a:t>Confidence Intervals &amp; Statistical Significance</a:t>
            </a:r>
            <a:endParaRPr lang="en-US" sz="2400" dirty="0"/>
          </a:p>
        </p:txBody>
      </p:sp>
      <p:sp>
        <p:nvSpPr>
          <p:cNvPr id="15" name="Shape 13"/>
          <p:cNvSpPr/>
          <p:nvPr/>
        </p:nvSpPr>
        <p:spPr>
          <a:xfrm>
            <a:off x="2540000" y="1397000"/>
            <a:ext cx="13208000" cy="12700"/>
          </a:xfrm>
          <a:prstGeom prst="rect">
            <a:avLst/>
          </a:prstGeom>
          <a:solidFill>
            <a:srgbClr val="B0BEC5"/>
          </a:solidFill>
          <a:ln/>
        </p:spPr>
        <p:txBody>
          <a:bodyPr/>
          <a:lstStyle/>
          <a:p>
            <a:endParaRPr/>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2540000" y="1574800"/>
          <a:ext cx="6350000" cy="2921000"/>
        </p:xfrm>
        <a:graphic>
          <a:graphicData uri="http://schemas.openxmlformats.org/drawingml/2006/table">
            <a:tbl>
              <a:tblPr/>
              <a:tblGrid>
                <a:gridCol w="2413000">
                  <a:extLst>
                    <a:ext uri="{9D8B030D-6E8A-4147-A177-3AD203B41FA5}">
                      <a16:colId xmlns:a16="http://schemas.microsoft.com/office/drawing/2014/main" val="20000"/>
                    </a:ext>
                  </a:extLst>
                </a:gridCol>
                <a:gridCol w="1397000">
                  <a:extLst>
                    <a:ext uri="{9D8B030D-6E8A-4147-A177-3AD203B41FA5}">
                      <a16:colId xmlns:a16="http://schemas.microsoft.com/office/drawing/2014/main" val="20001"/>
                    </a:ext>
                  </a:extLst>
                </a:gridCol>
                <a:gridCol w="2540000">
                  <a:extLst>
                    <a:ext uri="{9D8B030D-6E8A-4147-A177-3AD203B41FA5}">
                      <a16:colId xmlns:a16="http://schemas.microsoft.com/office/drawing/2014/main" val="20002"/>
                    </a:ext>
                  </a:extLst>
                </a:gridCol>
              </a:tblGrid>
              <a:tr h="467360">
                <a:tc>
                  <a:txBody>
                    <a:bodyPr/>
                    <a:lstStyle/>
                    <a:p>
                      <a:pPr algn="ctr"/>
                      <a:r>
                        <a:rPr lang="en-US" sz="1600" b="1" dirty="0">
                          <a:solidFill>
                            <a:srgbClr val="FFFFFF"/>
                          </a:solidFill>
                        </a:rPr>
                        <a:t>Model</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005C82"/>
                    </a:solidFill>
                  </a:tcPr>
                </a:tc>
                <a:tc>
                  <a:txBody>
                    <a:bodyPr/>
                    <a:lstStyle/>
                    <a:p>
                      <a:pPr algn="ctr"/>
                      <a:r>
                        <a:rPr lang="en-US" sz="1600" b="1" dirty="0">
                          <a:solidFill>
                            <a:srgbClr val="FFFFFF"/>
                          </a:solidFill>
                        </a:rPr>
                        <a:t>Macro-F1</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005C82"/>
                    </a:solidFill>
                  </a:tcPr>
                </a:tc>
                <a:tc>
                  <a:txBody>
                    <a:bodyPr/>
                    <a:lstStyle/>
                    <a:p>
                      <a:pPr algn="ctr"/>
                      <a:r>
                        <a:rPr lang="en-US" sz="1600" b="1" dirty="0">
                          <a:solidFill>
                            <a:srgbClr val="FFFFFF"/>
                          </a:solidFill>
                        </a:rPr>
                        <a:t>95% CI</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005C82"/>
                    </a:solidFill>
                  </a:tcPr>
                </a:tc>
                <a:extLst>
                  <a:ext uri="{0D108BD9-81ED-4DB2-BD59-A6C34878D82A}">
                    <a16:rowId xmlns:a16="http://schemas.microsoft.com/office/drawing/2014/main" val="10000"/>
                  </a:ext>
                </a:extLst>
              </a:tr>
              <a:tr h="490728">
                <a:tc>
                  <a:txBody>
                    <a:bodyPr/>
                    <a:lstStyle/>
                    <a:p>
                      <a:pPr algn="ctr"/>
                      <a:r>
                        <a:rPr lang="en-US" sz="1600" dirty="0">
                          <a:solidFill>
                            <a:srgbClr val="333333"/>
                          </a:solidFill>
                        </a:rPr>
                        <a:t>Random Forest</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a:r>
                        <a:rPr lang="en-US" sz="1600" dirty="0">
                          <a:solidFill>
                            <a:srgbClr val="333333"/>
                          </a:solidFill>
                        </a:rPr>
                        <a:t>0.490</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a:r>
                        <a:rPr lang="en-US" sz="1600" dirty="0">
                          <a:solidFill>
                            <a:srgbClr val="333333"/>
                          </a:solidFill>
                        </a:rPr>
                        <a:t>[0.457, 0.523]</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0728">
                <a:tc>
                  <a:txBody>
                    <a:bodyPr/>
                    <a:lstStyle/>
                    <a:p>
                      <a:pPr algn="ctr"/>
                      <a:r>
                        <a:rPr lang="en-US" sz="1600" dirty="0">
                          <a:solidFill>
                            <a:srgbClr val="333333"/>
                          </a:solidFill>
                        </a:rPr>
                        <a:t>KNN</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0F4FA"/>
                    </a:solidFill>
                  </a:tcPr>
                </a:tc>
                <a:tc>
                  <a:txBody>
                    <a:bodyPr/>
                    <a:lstStyle/>
                    <a:p>
                      <a:pPr algn="ctr"/>
                      <a:r>
                        <a:rPr lang="en-US" sz="1600" dirty="0">
                          <a:solidFill>
                            <a:srgbClr val="333333"/>
                          </a:solidFill>
                        </a:rPr>
                        <a:t>0.455</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0F4FA"/>
                    </a:solidFill>
                  </a:tcPr>
                </a:tc>
                <a:tc>
                  <a:txBody>
                    <a:bodyPr/>
                    <a:lstStyle/>
                    <a:p>
                      <a:pPr algn="ctr"/>
                      <a:r>
                        <a:rPr lang="en-US" sz="1600" dirty="0">
                          <a:solidFill>
                            <a:srgbClr val="333333"/>
                          </a:solidFill>
                        </a:rPr>
                        <a:t>[0.422, 0.491]</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0F4FA"/>
                    </a:solidFill>
                  </a:tcPr>
                </a:tc>
                <a:extLst>
                  <a:ext uri="{0D108BD9-81ED-4DB2-BD59-A6C34878D82A}">
                    <a16:rowId xmlns:a16="http://schemas.microsoft.com/office/drawing/2014/main" val="10002"/>
                  </a:ext>
                </a:extLst>
              </a:tr>
              <a:tr h="490728">
                <a:tc>
                  <a:txBody>
                    <a:bodyPr/>
                    <a:lstStyle/>
                    <a:p>
                      <a:pPr algn="ctr"/>
                      <a:r>
                        <a:rPr lang="en-US" sz="1600" dirty="0">
                          <a:solidFill>
                            <a:srgbClr val="333333"/>
                          </a:solidFill>
                        </a:rPr>
                        <a:t>SVM</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a:r>
                        <a:rPr lang="en-US" sz="1600" dirty="0">
                          <a:solidFill>
                            <a:srgbClr val="333333"/>
                          </a:solidFill>
                        </a:rPr>
                        <a:t>0.448</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a:r>
                        <a:rPr lang="en-US" sz="1600" dirty="0">
                          <a:solidFill>
                            <a:srgbClr val="333333"/>
                          </a:solidFill>
                        </a:rPr>
                        <a:t>[0.420, 0.479]</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0728">
                <a:tc>
                  <a:txBody>
                    <a:bodyPr/>
                    <a:lstStyle/>
                    <a:p>
                      <a:pPr algn="ctr"/>
                      <a:r>
                        <a:rPr lang="en-US" sz="1600" dirty="0">
                          <a:solidFill>
                            <a:srgbClr val="333333"/>
                          </a:solidFill>
                        </a:rPr>
                        <a:t>Decision Tree</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0F4FA"/>
                    </a:solidFill>
                  </a:tcPr>
                </a:tc>
                <a:tc>
                  <a:txBody>
                    <a:bodyPr/>
                    <a:lstStyle/>
                    <a:p>
                      <a:pPr algn="ctr"/>
                      <a:r>
                        <a:rPr lang="en-US" sz="1600" dirty="0">
                          <a:solidFill>
                            <a:srgbClr val="333333"/>
                          </a:solidFill>
                        </a:rPr>
                        <a:t>0.432</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0F4FA"/>
                    </a:solidFill>
                  </a:tcPr>
                </a:tc>
                <a:tc>
                  <a:txBody>
                    <a:bodyPr/>
                    <a:lstStyle/>
                    <a:p>
                      <a:pPr algn="ctr"/>
                      <a:r>
                        <a:rPr lang="en-US" sz="1600" dirty="0">
                          <a:solidFill>
                            <a:srgbClr val="333333"/>
                          </a:solidFill>
                        </a:rPr>
                        <a:t>[0.401, 0.460]</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E0F4FA"/>
                    </a:solidFill>
                  </a:tcPr>
                </a:tc>
                <a:extLst>
                  <a:ext uri="{0D108BD9-81ED-4DB2-BD59-A6C34878D82A}">
                    <a16:rowId xmlns:a16="http://schemas.microsoft.com/office/drawing/2014/main" val="10004"/>
                  </a:ext>
                </a:extLst>
              </a:tr>
              <a:tr h="490728">
                <a:tc>
                  <a:txBody>
                    <a:bodyPr/>
                    <a:lstStyle/>
                    <a:p>
                      <a:pPr algn="ctr"/>
                      <a:r>
                        <a:rPr lang="en-US" sz="1600" dirty="0">
                          <a:solidFill>
                            <a:srgbClr val="333333"/>
                          </a:solidFill>
                        </a:rPr>
                        <a:t>Logistic Regression</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a:r>
                        <a:rPr lang="en-US" sz="1600" dirty="0">
                          <a:solidFill>
                            <a:srgbClr val="333333"/>
                          </a:solidFill>
                        </a:rPr>
                        <a:t>0.427</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a:r>
                        <a:rPr lang="en-US" sz="1600" dirty="0">
                          <a:solidFill>
                            <a:srgbClr val="333333"/>
                          </a:solidFill>
                        </a:rPr>
                        <a:t>[0.399, 0.455]</a:t>
                      </a:r>
                      <a:endParaRPr lang="en-US" sz="1600" dirty="0"/>
                    </a:p>
                  </a:txBody>
                  <a:tcPr marL="54864" marR="54864" marT="0" marB="0"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7" name="Text 14"/>
          <p:cNvSpPr/>
          <p:nvPr/>
        </p:nvSpPr>
        <p:spPr>
          <a:xfrm>
            <a:off x="9144000" y="1574800"/>
            <a:ext cx="6604000" cy="355600"/>
          </a:xfrm>
          <a:prstGeom prst="rect">
            <a:avLst/>
          </a:prstGeom>
          <a:noFill/>
          <a:ln/>
        </p:spPr>
        <p:txBody>
          <a:bodyPr wrap="none" lIns="0" tIns="0" rIns="0" bIns="0" rtlCol="0" anchor="t"/>
          <a:lstStyle/>
          <a:p>
            <a:pPr algn="l">
              <a:lnSpc>
                <a:spcPct val="120000"/>
              </a:lnSpc>
            </a:pPr>
            <a:r>
              <a:rPr lang="en-US" sz="1800" b="1" dirty="0">
                <a:solidFill>
                  <a:srgbClr val="005C82"/>
                </a:solidFill>
                <a:latin typeface="Quattrocento Sans" pitchFamily="34" charset="0"/>
                <a:ea typeface="Quattrocento Sans" pitchFamily="34" charset="-122"/>
                <a:cs typeface="Quattrocento Sans" pitchFamily="34" charset="-120"/>
              </a:rPr>
              <a:t>Corrected Resampled t-test</a:t>
            </a:r>
            <a:endParaRPr lang="en-US" sz="1800" dirty="0"/>
          </a:p>
        </p:txBody>
      </p:sp>
      <p:sp>
        <p:nvSpPr>
          <p:cNvPr id="18" name="Shape 15"/>
          <p:cNvSpPr/>
          <p:nvPr/>
        </p:nvSpPr>
        <p:spPr>
          <a:xfrm>
            <a:off x="9144000" y="1981200"/>
            <a:ext cx="6604000" cy="12700"/>
          </a:xfrm>
          <a:prstGeom prst="rect">
            <a:avLst/>
          </a:prstGeom>
          <a:solidFill>
            <a:srgbClr val="E0F4FA"/>
          </a:solidFill>
          <a:ln/>
        </p:spPr>
        <p:txBody>
          <a:bodyPr/>
          <a:lstStyle/>
          <a:p>
            <a:endParaRPr/>
          </a:p>
        </p:txBody>
      </p:sp>
      <p:sp>
        <p:nvSpPr>
          <p:cNvPr id="19" name="Text 16"/>
          <p:cNvSpPr/>
          <p:nvPr/>
        </p:nvSpPr>
        <p:spPr>
          <a:xfrm>
            <a:off x="9144000" y="2133600"/>
            <a:ext cx="6604000" cy="2362200"/>
          </a:xfrm>
          <a:prstGeom prst="rect">
            <a:avLst/>
          </a:prstGeom>
          <a:noFill/>
          <a:ln/>
        </p:spPr>
        <p:txBody>
          <a:bodyPr wrap="square" lIns="0" tIns="0" rIns="0" bIns="0" rtlCol="0" anchor="t"/>
          <a:lstStyle/>
          <a:p>
            <a:pPr algn="l">
              <a:lnSpc>
                <a:spcPct val="150000"/>
              </a:lnSpc>
            </a:pPr>
            <a:r>
              <a:rPr lang="en-US" sz="1400" dirty="0">
                <a:solidFill>
                  <a:srgbClr val="333333"/>
                </a:solidFill>
                <a:latin typeface="Quattrocento Sans" pitchFamily="34" charset="0"/>
                <a:ea typeface="Quattrocento Sans" pitchFamily="34" charset="-122"/>
                <a:cs typeface="Quattrocento Sans" pitchFamily="34" charset="-120"/>
              </a:rPr>
              <a:t>10 paired Macro-F1 values from repeated stratified 5-fold CV (2 repetitions). Correction accounts for dependence between overlapping training sets (Nadeau &amp; Bengio, 2003).</a:t>
            </a:r>
            <a:endParaRPr lang="en-US" sz="1400" dirty="0"/>
          </a:p>
          <a:p>
            <a:pPr algn="l">
              <a:lnSpc>
                <a:spcPct val="150000"/>
              </a:lnSpc>
            </a:pPr>
            <a:r>
              <a:rPr lang="en-US" sz="1400" dirty="0">
                <a:solidFill>
                  <a:srgbClr val="333333"/>
                </a:solidFill>
                <a:latin typeface="Quattrocento Sans" pitchFamily="34" charset="0"/>
                <a:ea typeface="Quattrocento Sans" pitchFamily="34" charset="-122"/>
                <a:cs typeface="Quattrocento Sans" pitchFamily="34" charset="-120"/>
              </a:rPr>
              <a:t> </a:t>
            </a:r>
            <a:endParaRPr lang="en-US" sz="1400" dirty="0"/>
          </a:p>
          <a:p>
            <a:pPr algn="l">
              <a:lnSpc>
                <a:spcPct val="150000"/>
              </a:lnSpc>
            </a:pPr>
            <a:r>
              <a:rPr lang="en-US" sz="1400" b="1" dirty="0">
                <a:solidFill>
                  <a:srgbClr val="333333"/>
                </a:solidFill>
                <a:latin typeface="Quattrocento Sans" pitchFamily="34" charset="0"/>
                <a:ea typeface="Quattrocento Sans" pitchFamily="34" charset="-122"/>
                <a:cs typeface="Quattrocento Sans" pitchFamily="34" charset="-120"/>
              </a:rPr>
              <a:t>Random Forest vs KNN:</a:t>
            </a:r>
            <a:endParaRPr lang="en-US" sz="1400" dirty="0"/>
          </a:p>
          <a:p>
            <a:pPr algn="l">
              <a:lnSpc>
                <a:spcPct val="150000"/>
              </a:lnSpc>
            </a:pPr>
            <a:r>
              <a:rPr lang="en-US" sz="1400" dirty="0">
                <a:solidFill>
                  <a:srgbClr val="333333"/>
                </a:solidFill>
                <a:latin typeface="Quattrocento Sans" pitchFamily="34" charset="0"/>
                <a:ea typeface="Quattrocento Sans" pitchFamily="34" charset="-122"/>
                <a:cs typeface="Quattrocento Sans" pitchFamily="34" charset="-120"/>
              </a:rPr>
              <a:t>diff = 0.037, t = 6.754, </a:t>
            </a:r>
            <a:r>
              <a:rPr lang="en-US" sz="1400" b="1" dirty="0">
                <a:solidFill>
                  <a:srgbClr val="333333"/>
                </a:solidFill>
                <a:latin typeface="Quattrocento Sans" pitchFamily="34" charset="0"/>
                <a:ea typeface="Quattrocento Sans" pitchFamily="34" charset="-122"/>
                <a:cs typeface="Quattrocento Sans" pitchFamily="34" charset="-120"/>
              </a:rPr>
              <a:t>p = 0.000083</a:t>
            </a:r>
            <a:endParaRPr lang="en-US" sz="1400" dirty="0"/>
          </a:p>
          <a:p>
            <a:pPr algn="l">
              <a:lnSpc>
                <a:spcPct val="150000"/>
              </a:lnSpc>
            </a:pPr>
            <a:r>
              <a:rPr lang="en-US" sz="1400" b="1" dirty="0">
                <a:solidFill>
                  <a:srgbClr val="333333"/>
                </a:solidFill>
                <a:latin typeface="Quattrocento Sans" pitchFamily="34" charset="0"/>
                <a:ea typeface="Quattrocento Sans" pitchFamily="34" charset="-122"/>
                <a:cs typeface="Quattrocento Sans" pitchFamily="34" charset="-120"/>
              </a:rPr>
              <a:t>SVM vs KNN:</a:t>
            </a:r>
            <a:r>
              <a:rPr lang="en-US" sz="1400" dirty="0">
                <a:solidFill>
                  <a:srgbClr val="333333"/>
                </a:solidFill>
                <a:latin typeface="Quattrocento Sans" pitchFamily="34" charset="0"/>
                <a:ea typeface="Quattrocento Sans" pitchFamily="34" charset="-122"/>
                <a:cs typeface="Quattrocento Sans" pitchFamily="34" charset="-120"/>
              </a:rPr>
              <a:t> p = 0.826</a:t>
            </a:r>
            <a:endParaRPr lang="en-US" sz="1400" dirty="0"/>
          </a:p>
        </p:txBody>
      </p:sp>
      <p:pic>
        <p:nvPicPr>
          <p:cNvPr id="20" name="Image 0" descr="https://kimi-img.moonshot.cn/pub/slides/okc/qjpdxks4bncqy/mnt/agents/upload/fig_confidence_intervals_macro_f1.png"/>
          <p:cNvPicPr>
            <a:picLocks noChangeAspect="1"/>
          </p:cNvPicPr>
          <p:nvPr/>
        </p:nvPicPr>
        <p:blipFill>
          <a:blip r:embed="rId3"/>
          <a:srcRect/>
          <a:stretch/>
        </p:blipFill>
        <p:spPr>
          <a:xfrm>
            <a:off x="2540000" y="4699000"/>
            <a:ext cx="13208000" cy="3683000"/>
          </a:xfrm>
          <a:prstGeom prst="rect">
            <a:avLst/>
          </a:prstGeom>
        </p:spPr>
      </p:pic>
      <p:sp>
        <p:nvSpPr>
          <p:cNvPr id="21" name="Text 17"/>
          <p:cNvSpPr/>
          <p:nvPr/>
        </p:nvSpPr>
        <p:spPr>
          <a:xfrm>
            <a:off x="2540000" y="8432800"/>
            <a:ext cx="13208000" cy="254000"/>
          </a:xfrm>
          <a:prstGeom prst="rect">
            <a:avLst/>
          </a:prstGeom>
          <a:noFill/>
          <a:ln/>
        </p:spPr>
        <p:txBody>
          <a:bodyPr wrap="none" lIns="0" tIns="0" rIns="0" bIns="0" rtlCol="0" anchor="ctr"/>
          <a:lstStyle/>
          <a:p>
            <a:pPr algn="ctr">
              <a:lnSpc>
                <a:spcPct val="120000"/>
              </a:lnSpc>
            </a:pPr>
            <a:r>
              <a:rPr lang="en-US" sz="1200" dirty="0">
                <a:solidFill>
                  <a:srgbClr val="666666"/>
                </a:solidFill>
                <a:latin typeface="Quattrocento Sans" pitchFamily="34" charset="0"/>
                <a:ea typeface="Quattrocento Sans" pitchFamily="34" charset="-122"/>
                <a:cs typeface="Quattrocento Sans" pitchFamily="34" charset="-120"/>
              </a:rPr>
              <a:t>Figure 7: Bootstrap 95% confidence intervals on Macro-F1 for all models in both setups. Setup B intervals show genuine uncertainty after removing definitional features.</a:t>
            </a:r>
            <a:endParaRPr lang="en-US" sz="1200" dirty="0"/>
          </a:p>
        </p:txBody>
      </p:sp>
    </p:spTree>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2286000" cy="9144000"/>
          </a:xfrm>
          <a:prstGeom prst="rect">
            <a:avLst/>
          </a:prstGeom>
          <a:solidFill>
            <a:srgbClr val="004060"/>
          </a:solidFill>
          <a:ln/>
        </p:spPr>
        <p:txBody>
          <a:bodyPr/>
          <a:lstStyle/>
          <a:p>
            <a:endParaRPr/>
          </a:p>
        </p:txBody>
      </p:sp>
      <p:sp>
        <p:nvSpPr>
          <p:cNvPr id="3" name="Shape 1"/>
          <p:cNvSpPr/>
          <p:nvPr/>
        </p:nvSpPr>
        <p:spPr>
          <a:xfrm>
            <a:off x="177800" y="177800"/>
            <a:ext cx="457200" cy="457200"/>
          </a:xfrm>
          <a:prstGeom prst="ellipse">
            <a:avLst/>
          </a:prstGeom>
          <a:solidFill>
            <a:srgbClr val="FFFFFF">
              <a:alpha val="12549"/>
            </a:srgbClr>
          </a:solidFill>
          <a:ln w="12700">
            <a:solidFill>
              <a:srgbClr val="00ACC1"/>
            </a:solidFill>
            <a:prstDash val="solid"/>
          </a:ln>
        </p:spPr>
        <p:txBody>
          <a:bodyPr/>
          <a:lstStyle/>
          <a:p>
            <a:endParaRPr/>
          </a:p>
        </p:txBody>
      </p:sp>
      <p:sp>
        <p:nvSpPr>
          <p:cNvPr id="4" name="Shape 2"/>
          <p:cNvSpPr/>
          <p:nvPr/>
        </p:nvSpPr>
        <p:spPr>
          <a:xfrm>
            <a:off x="0" y="4521200"/>
            <a:ext cx="2286000" cy="1168400"/>
          </a:xfrm>
          <a:prstGeom prst="rect">
            <a:avLst/>
          </a:prstGeom>
          <a:solidFill>
            <a:srgbClr val="005C82"/>
          </a:solidFill>
          <a:ln/>
        </p:spPr>
        <p:txBody>
          <a:bodyPr/>
          <a:lstStyle/>
          <a:p>
            <a:endParaRPr/>
          </a:p>
        </p:txBody>
      </p:sp>
      <p:sp>
        <p:nvSpPr>
          <p:cNvPr id="5" name="Text 3"/>
          <p:cNvSpPr/>
          <p:nvPr/>
        </p:nvSpPr>
        <p:spPr>
          <a:xfrm>
            <a:off x="101600" y="10160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01 Intro</a:t>
            </a:r>
            <a:endParaRPr lang="en-US" sz="1600" dirty="0"/>
          </a:p>
        </p:txBody>
      </p:sp>
      <p:sp>
        <p:nvSpPr>
          <p:cNvPr id="6" name="Text 4"/>
          <p:cNvSpPr/>
          <p:nvPr/>
        </p:nvSpPr>
        <p:spPr>
          <a:xfrm>
            <a:off x="101600" y="21844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02 Dataset</a:t>
            </a:r>
            <a:endParaRPr lang="en-US" sz="1600" dirty="0"/>
          </a:p>
        </p:txBody>
      </p:sp>
      <p:sp>
        <p:nvSpPr>
          <p:cNvPr id="7" name="Text 5"/>
          <p:cNvSpPr/>
          <p:nvPr/>
        </p:nvSpPr>
        <p:spPr>
          <a:xfrm>
            <a:off x="101600" y="33528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03 Clustering</a:t>
            </a:r>
            <a:endParaRPr lang="en-US" sz="1600" dirty="0"/>
          </a:p>
        </p:txBody>
      </p:sp>
      <p:sp>
        <p:nvSpPr>
          <p:cNvPr id="8" name="Text 6"/>
          <p:cNvSpPr/>
          <p:nvPr/>
        </p:nvSpPr>
        <p:spPr>
          <a:xfrm>
            <a:off x="101600" y="4521200"/>
            <a:ext cx="2082800" cy="1168400"/>
          </a:xfrm>
          <a:prstGeom prst="rect">
            <a:avLst/>
          </a:prstGeom>
          <a:noFill/>
          <a:ln/>
        </p:spPr>
        <p:txBody>
          <a:bodyPr wrap="square" lIns="0" tIns="0" rIns="0" bIns="0" rtlCol="0" anchor="ctr"/>
          <a:lstStyle/>
          <a:p>
            <a:pPr algn="ctr">
              <a:spcAft>
                <a:spcPts val="0"/>
              </a:spcAft>
              <a:defRPr sz="1300" b="0">
                <a:solidFill>
                  <a:srgbClr val="FFFFFF"/>
                </a:solidFill>
                <a:latin typeface="Quattrocento Sans"/>
              </a:defRPr>
            </a:pPr>
            <a:r>
              <a:rPr sz="1600" dirty="0"/>
              <a:t>04 Supervised</a:t>
            </a:r>
          </a:p>
        </p:txBody>
      </p:sp>
      <p:sp>
        <p:nvSpPr>
          <p:cNvPr id="9" name="Text 7"/>
          <p:cNvSpPr/>
          <p:nvPr/>
        </p:nvSpPr>
        <p:spPr>
          <a:xfrm>
            <a:off x="101600" y="56896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05 Conclusions</a:t>
            </a:r>
            <a:endParaRPr lang="en-US" sz="1600" dirty="0"/>
          </a:p>
        </p:txBody>
      </p:sp>
      <p:sp>
        <p:nvSpPr>
          <p:cNvPr id="10" name="Shape 8"/>
          <p:cNvSpPr/>
          <p:nvPr/>
        </p:nvSpPr>
        <p:spPr>
          <a:xfrm>
            <a:off x="1066800" y="7493000"/>
            <a:ext cx="152400" cy="152400"/>
          </a:xfrm>
          <a:prstGeom prst="diamond">
            <a:avLst/>
          </a:prstGeom>
          <a:solidFill>
            <a:srgbClr val="00ACC1"/>
          </a:solidFill>
          <a:ln/>
        </p:spPr>
        <p:txBody>
          <a:bodyPr/>
          <a:lstStyle/>
          <a:p>
            <a:endParaRPr/>
          </a:p>
        </p:txBody>
      </p:sp>
      <p:sp>
        <p:nvSpPr>
          <p:cNvPr id="11" name="Shape 9"/>
          <p:cNvSpPr/>
          <p:nvPr/>
        </p:nvSpPr>
        <p:spPr>
          <a:xfrm>
            <a:off x="2286000" y="0"/>
            <a:ext cx="13970000" cy="635000"/>
          </a:xfrm>
          <a:prstGeom prst="rect">
            <a:avLst/>
          </a:prstGeom>
          <a:solidFill>
            <a:srgbClr val="E0F4FA"/>
          </a:solidFill>
          <a:ln/>
        </p:spPr>
        <p:txBody>
          <a:bodyPr/>
          <a:lstStyle/>
          <a:p>
            <a:endParaRPr/>
          </a:p>
        </p:txBody>
      </p:sp>
      <p:sp>
        <p:nvSpPr>
          <p:cNvPr id="12" name="Text 10"/>
          <p:cNvSpPr/>
          <p:nvPr/>
        </p:nvSpPr>
        <p:spPr>
          <a:xfrm>
            <a:off x="2540000" y="0"/>
            <a:ext cx="12827000" cy="635000"/>
          </a:xfrm>
          <a:prstGeom prst="rect">
            <a:avLst/>
          </a:prstGeom>
          <a:noFill/>
          <a:ln/>
        </p:spPr>
        <p:txBody>
          <a:bodyPr wrap="square" lIns="0" tIns="0" rIns="0" bIns="0" rtlCol="0" anchor="ctr"/>
          <a:lstStyle/>
          <a:p>
            <a:pPr algn="ctr">
              <a:spcAft>
                <a:spcPts val="0"/>
              </a:spcAft>
              <a:defRPr sz="1000" b="0">
                <a:solidFill>
                  <a:srgbClr val="005C82"/>
                </a:solidFill>
                <a:latin typeface="Quattrocento Sans"/>
              </a:defRPr>
            </a:pPr>
            <a:r>
              <a:t>04 Supervised  &gt;  4.4  Validation Strategy</a:t>
            </a:r>
          </a:p>
        </p:txBody>
      </p:sp>
      <p:sp>
        <p:nvSpPr>
          <p:cNvPr id="13" name="Text 11"/>
          <p:cNvSpPr/>
          <p:nvPr/>
        </p:nvSpPr>
        <p:spPr>
          <a:xfrm>
            <a:off x="15621000" y="0"/>
            <a:ext cx="635000" cy="635000"/>
          </a:xfrm>
          <a:prstGeom prst="rect">
            <a:avLst/>
          </a:prstGeom>
          <a:noFill/>
          <a:ln/>
        </p:spPr>
        <p:txBody>
          <a:bodyPr wrap="square" lIns="0" tIns="0" rIns="0" bIns="0" rtlCol="0" anchor="ctr"/>
          <a:lstStyle/>
          <a:p>
            <a:r>
              <a:t>27</a:t>
            </a:r>
          </a:p>
        </p:txBody>
      </p:sp>
      <p:sp>
        <p:nvSpPr>
          <p:cNvPr id="14" name="Text 12"/>
          <p:cNvSpPr/>
          <p:nvPr/>
        </p:nvSpPr>
        <p:spPr>
          <a:xfrm>
            <a:off x="2540000" y="863600"/>
            <a:ext cx="13208000" cy="457200"/>
          </a:xfrm>
          <a:prstGeom prst="rect">
            <a:avLst/>
          </a:prstGeom>
          <a:noFill/>
          <a:ln/>
        </p:spPr>
        <p:txBody>
          <a:bodyPr wrap="square" lIns="0" tIns="0" rIns="0" bIns="0" rtlCol="0" anchor="t"/>
          <a:lstStyle/>
          <a:p>
            <a:r>
              <a:rPr sz="2400" b="1" dirty="0">
                <a:solidFill>
                  <a:srgbClr val="005C82"/>
                </a:solidFill>
                <a:latin typeface="Quattrocento Sans"/>
              </a:rPr>
              <a:t>Validation Strategy: From Clustering Quality to Statistical Testing</a:t>
            </a:r>
          </a:p>
        </p:txBody>
      </p:sp>
      <p:sp>
        <p:nvSpPr>
          <p:cNvPr id="15" name="Shape 13"/>
          <p:cNvSpPr/>
          <p:nvPr/>
        </p:nvSpPr>
        <p:spPr>
          <a:xfrm>
            <a:off x="2540000" y="1397000"/>
            <a:ext cx="13208000" cy="12700"/>
          </a:xfrm>
          <a:prstGeom prst="rect">
            <a:avLst/>
          </a:prstGeom>
          <a:solidFill>
            <a:srgbClr val="B0BEC5"/>
          </a:solidFill>
          <a:ln/>
        </p:spPr>
        <p:txBody>
          <a:bodyPr/>
          <a:lstStyle/>
          <a:p>
            <a:endParaRPr sz="1400"/>
          </a:p>
        </p:txBody>
      </p:sp>
      <p:sp>
        <p:nvSpPr>
          <p:cNvPr id="16" name="Rounded Rectangle 15"/>
          <p:cNvSpPr/>
          <p:nvPr/>
        </p:nvSpPr>
        <p:spPr>
          <a:xfrm>
            <a:off x="2542032" y="1389888"/>
            <a:ext cx="6355080" cy="2148840"/>
          </a:xfrm>
          <a:prstGeom prst="roundRect">
            <a:avLst/>
          </a:prstGeom>
          <a:solidFill>
            <a:srgbClr val="F3FBFE"/>
          </a:solidFill>
          <a:ln w="10160">
            <a:solidFill>
              <a:srgbClr val="C5DA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7" name="Rounded Rectangle 16"/>
          <p:cNvSpPr/>
          <p:nvPr/>
        </p:nvSpPr>
        <p:spPr>
          <a:xfrm>
            <a:off x="2542032" y="1389888"/>
            <a:ext cx="6355080" cy="347472"/>
          </a:xfrm>
          <a:prstGeom prst="roundRect">
            <a:avLst/>
          </a:prstGeom>
          <a:solidFill>
            <a:srgbClr val="005C82"/>
          </a:solidFill>
          <a:ln>
            <a:solidFill>
              <a:srgbClr val="005C8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FFFFFF"/>
                </a:solidFill>
                <a:latin typeface="Quattrocento Sans"/>
              </a:rPr>
              <a:t>Unsupervised clustering</a:t>
            </a:r>
          </a:p>
        </p:txBody>
      </p:sp>
      <p:sp>
        <p:nvSpPr>
          <p:cNvPr id="18" name="TextBox 17"/>
          <p:cNvSpPr txBox="1"/>
          <p:nvPr/>
        </p:nvSpPr>
        <p:spPr>
          <a:xfrm>
            <a:off x="2688336" y="1847088"/>
            <a:ext cx="6062472" cy="898708"/>
          </a:xfrm>
          <a:prstGeom prst="rect">
            <a:avLst/>
          </a:prstGeom>
          <a:noFill/>
        </p:spPr>
        <p:txBody>
          <a:bodyPr wrap="square" lIns="18288" tIns="18288" rIns="18288" bIns="18288">
            <a:spAutoFit/>
          </a:bodyPr>
          <a:lstStyle/>
          <a:p>
            <a:pPr>
              <a:buChar char="•"/>
              <a:defRPr sz="1019">
                <a:solidFill>
                  <a:srgbClr val="333333"/>
                </a:solidFill>
                <a:latin typeface="Quattrocento Sans"/>
              </a:defRPr>
            </a:pPr>
            <a:r>
              <a:rPr sz="1400" dirty="0"/>
              <a:t>Silhouette for k = 2,...,8 across K-Means, single and complete linkage</a:t>
            </a:r>
          </a:p>
          <a:p>
            <a:pPr>
              <a:buChar char="•"/>
              <a:defRPr sz="1019">
                <a:solidFill>
                  <a:srgbClr val="333333"/>
                </a:solidFill>
                <a:latin typeface="Quattrocento Sans"/>
              </a:defRPr>
            </a:pPr>
            <a:r>
              <a:rPr sz="1400" dirty="0"/>
              <a:t>Cluster-size diagnostics to detect degenerate partitions</a:t>
            </a:r>
          </a:p>
          <a:p>
            <a:pPr>
              <a:buChar char="•"/>
              <a:defRPr sz="1019">
                <a:solidFill>
                  <a:srgbClr val="333333"/>
                </a:solidFill>
                <a:latin typeface="Quattrocento Sans"/>
              </a:defRPr>
            </a:pPr>
            <a:r>
              <a:rPr sz="1400" dirty="0"/>
              <a:t>Bootstrap stability: 20 resamples, 80% of data with replacement</a:t>
            </a:r>
          </a:p>
          <a:p>
            <a:pPr>
              <a:buChar char="•"/>
              <a:defRPr sz="1019">
                <a:solidFill>
                  <a:srgbClr val="333333"/>
                </a:solidFill>
                <a:latin typeface="Quattrocento Sans"/>
              </a:defRPr>
            </a:pPr>
            <a:r>
              <a:rPr sz="1400" dirty="0"/>
              <a:t>Post-hoc ARI against external labels, used only descriptively</a:t>
            </a:r>
          </a:p>
        </p:txBody>
      </p:sp>
      <p:sp>
        <p:nvSpPr>
          <p:cNvPr id="19" name="Rounded Rectangle 18"/>
          <p:cNvSpPr/>
          <p:nvPr/>
        </p:nvSpPr>
        <p:spPr>
          <a:xfrm>
            <a:off x="9153144" y="1389888"/>
            <a:ext cx="6355080" cy="2148840"/>
          </a:xfrm>
          <a:prstGeom prst="roundRect">
            <a:avLst/>
          </a:prstGeom>
          <a:solidFill>
            <a:srgbClr val="F3FBFE"/>
          </a:solidFill>
          <a:ln w="10160">
            <a:solidFill>
              <a:srgbClr val="C5DA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0" name="Rounded Rectangle 19"/>
          <p:cNvSpPr/>
          <p:nvPr/>
        </p:nvSpPr>
        <p:spPr>
          <a:xfrm>
            <a:off x="9153144" y="1389888"/>
            <a:ext cx="6355080" cy="347472"/>
          </a:xfrm>
          <a:prstGeom prst="roundRect">
            <a:avLst/>
          </a:prstGeom>
          <a:solidFill>
            <a:srgbClr val="005C82"/>
          </a:solidFill>
          <a:ln>
            <a:solidFill>
              <a:srgbClr val="005C8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FFFFFF"/>
                </a:solidFill>
                <a:latin typeface="Quattrocento Sans"/>
              </a:rPr>
              <a:t>Supervised classification</a:t>
            </a:r>
          </a:p>
        </p:txBody>
      </p:sp>
      <p:sp>
        <p:nvSpPr>
          <p:cNvPr id="21" name="TextBox 20"/>
          <p:cNvSpPr txBox="1"/>
          <p:nvPr/>
        </p:nvSpPr>
        <p:spPr>
          <a:xfrm>
            <a:off x="9299448" y="1847088"/>
            <a:ext cx="6062472" cy="898708"/>
          </a:xfrm>
          <a:prstGeom prst="rect">
            <a:avLst/>
          </a:prstGeom>
          <a:noFill/>
        </p:spPr>
        <p:txBody>
          <a:bodyPr wrap="square" lIns="18288" tIns="18288" rIns="18288" bIns="18288">
            <a:spAutoFit/>
          </a:bodyPr>
          <a:lstStyle/>
          <a:p>
            <a:pPr>
              <a:buChar char="•"/>
              <a:defRPr sz="1019">
                <a:solidFill>
                  <a:srgbClr val="333333"/>
                </a:solidFill>
                <a:latin typeface="Quattrocento Sans"/>
              </a:defRPr>
            </a:pPr>
            <a:r>
              <a:rPr sz="1400"/>
              <a:t>80/20 stratified train/test split with preprocessing inside the pipeline</a:t>
            </a:r>
          </a:p>
          <a:p>
            <a:pPr>
              <a:buChar char="•"/>
              <a:defRPr sz="1019">
                <a:solidFill>
                  <a:srgbClr val="333333"/>
                </a:solidFill>
                <a:latin typeface="Quattrocento Sans"/>
              </a:defRPr>
            </a:pPr>
            <a:r>
              <a:rPr sz="1400"/>
              <a:t>GridSearchCV with 5-fold StratifiedKFold, optimized on Macro-F1</a:t>
            </a:r>
          </a:p>
          <a:p>
            <a:pPr>
              <a:buChar char="•"/>
              <a:defRPr sz="1019">
                <a:solidFill>
                  <a:srgbClr val="333333"/>
                </a:solidFill>
                <a:latin typeface="Quattrocento Sans"/>
              </a:defRPr>
            </a:pPr>
            <a:r>
              <a:rPr sz="1400"/>
              <a:t>Leakage-aware ablation: full feature set vs mass/radius removed</a:t>
            </a:r>
          </a:p>
          <a:p>
            <a:pPr>
              <a:buChar char="•"/>
              <a:defRPr sz="1019">
                <a:solidFill>
                  <a:srgbClr val="333333"/>
                </a:solidFill>
                <a:latin typeface="Quattrocento Sans"/>
              </a:defRPr>
            </a:pPr>
            <a:r>
              <a:rPr sz="1400"/>
              <a:t>Bootstrap 95% confidence intervals and corrected resampled t-test</a:t>
            </a:r>
          </a:p>
        </p:txBody>
      </p:sp>
      <p:sp>
        <p:nvSpPr>
          <p:cNvPr id="22" name="Rounded Rectangle 21"/>
          <p:cNvSpPr/>
          <p:nvPr/>
        </p:nvSpPr>
        <p:spPr>
          <a:xfrm>
            <a:off x="2542032" y="4041648"/>
            <a:ext cx="3063240" cy="1417320"/>
          </a:xfrm>
          <a:prstGeom prst="roundRect">
            <a:avLst/>
          </a:prstGeom>
          <a:solidFill>
            <a:srgbClr val="FFFFFF"/>
          </a:solidFill>
          <a:ln w="13970">
            <a:solidFill>
              <a:srgbClr val="00ACC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3" name="TextBox 22"/>
          <p:cNvSpPr txBox="1"/>
          <p:nvPr/>
        </p:nvSpPr>
        <p:spPr>
          <a:xfrm>
            <a:off x="2651760" y="4206240"/>
            <a:ext cx="2843784" cy="561692"/>
          </a:xfrm>
          <a:prstGeom prst="rect">
            <a:avLst/>
          </a:prstGeom>
          <a:noFill/>
        </p:spPr>
        <p:txBody>
          <a:bodyPr wrap="square">
            <a:spAutoFit/>
          </a:bodyPr>
          <a:lstStyle/>
          <a:p>
            <a:pPr algn="ctr">
              <a:spcAft>
                <a:spcPts val="300"/>
              </a:spcAft>
              <a:defRPr sz="1100" b="1">
                <a:solidFill>
                  <a:srgbClr val="005C82"/>
                </a:solidFill>
                <a:latin typeface="Quattrocento Sans"/>
              </a:defRPr>
            </a:pPr>
            <a:r>
              <a:rPr sz="1400" dirty="0"/>
              <a:t>1. Internal validation</a:t>
            </a:r>
          </a:p>
          <a:p>
            <a:pPr algn="ctr">
              <a:spcAft>
                <a:spcPts val="300"/>
              </a:spcAft>
              <a:defRPr sz="960" b="0">
                <a:solidFill>
                  <a:srgbClr val="333333"/>
                </a:solidFill>
                <a:latin typeface="Quattrocento Sans"/>
              </a:defRPr>
            </a:pPr>
            <a:r>
              <a:rPr sz="1400" dirty="0"/>
              <a:t>Silhouette </a:t>
            </a:r>
            <a:r>
              <a:rPr lang="it-IT" sz="1400" dirty="0"/>
              <a:t>Index</a:t>
            </a:r>
            <a:endParaRPr sz="1400" dirty="0"/>
          </a:p>
        </p:txBody>
      </p:sp>
      <p:sp>
        <p:nvSpPr>
          <p:cNvPr id="24" name="Rounded Rectangle 23"/>
          <p:cNvSpPr/>
          <p:nvPr/>
        </p:nvSpPr>
        <p:spPr>
          <a:xfrm>
            <a:off x="5769864" y="4041648"/>
            <a:ext cx="3063240" cy="1417320"/>
          </a:xfrm>
          <a:prstGeom prst="roundRect">
            <a:avLst/>
          </a:prstGeom>
          <a:solidFill>
            <a:srgbClr val="FFFFFF"/>
          </a:solidFill>
          <a:ln w="13970">
            <a:solidFill>
              <a:srgbClr val="00ACC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5" name="TextBox 24"/>
          <p:cNvSpPr txBox="1"/>
          <p:nvPr/>
        </p:nvSpPr>
        <p:spPr>
          <a:xfrm>
            <a:off x="5879592" y="4206240"/>
            <a:ext cx="2843784" cy="815608"/>
          </a:xfrm>
          <a:prstGeom prst="rect">
            <a:avLst/>
          </a:prstGeom>
          <a:noFill/>
        </p:spPr>
        <p:txBody>
          <a:bodyPr wrap="square">
            <a:spAutoFit/>
          </a:bodyPr>
          <a:lstStyle/>
          <a:p>
            <a:pPr algn="ctr">
              <a:spcAft>
                <a:spcPts val="300"/>
              </a:spcAft>
              <a:defRPr sz="1100" b="1">
                <a:solidFill>
                  <a:srgbClr val="005C82"/>
                </a:solidFill>
                <a:latin typeface="Quattrocento Sans"/>
              </a:defRPr>
            </a:pPr>
            <a:r>
              <a:rPr sz="1400" dirty="0"/>
              <a:t>2. Stability</a:t>
            </a:r>
          </a:p>
          <a:p>
            <a:pPr algn="ctr">
              <a:spcAft>
                <a:spcPts val="300"/>
              </a:spcAft>
              <a:defRPr sz="960" b="0">
                <a:solidFill>
                  <a:srgbClr val="333333"/>
                </a:solidFill>
                <a:latin typeface="Quattrocento Sans"/>
              </a:defRPr>
            </a:pPr>
            <a:r>
              <a:rPr sz="1400" dirty="0"/>
              <a:t>Bootstrap resampling</a:t>
            </a:r>
          </a:p>
          <a:p>
            <a:pPr algn="ctr">
              <a:spcAft>
                <a:spcPts val="0"/>
              </a:spcAft>
              <a:defRPr sz="880" b="0">
                <a:solidFill>
                  <a:srgbClr val="333333"/>
                </a:solidFill>
                <a:latin typeface="Quattrocento Sans"/>
              </a:defRPr>
            </a:pPr>
            <a:r>
              <a:rPr sz="1400" dirty="0"/>
              <a:t>over 20 resamples</a:t>
            </a:r>
          </a:p>
        </p:txBody>
      </p:sp>
      <p:sp>
        <p:nvSpPr>
          <p:cNvPr id="26" name="Rounded Rectangle 25"/>
          <p:cNvSpPr/>
          <p:nvPr/>
        </p:nvSpPr>
        <p:spPr>
          <a:xfrm>
            <a:off x="8997696" y="4041648"/>
            <a:ext cx="3063240" cy="1417320"/>
          </a:xfrm>
          <a:prstGeom prst="roundRect">
            <a:avLst/>
          </a:prstGeom>
          <a:solidFill>
            <a:srgbClr val="FFFFFF"/>
          </a:solidFill>
          <a:ln w="13970">
            <a:solidFill>
              <a:srgbClr val="00ACC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7" name="TextBox 26"/>
          <p:cNvSpPr txBox="1"/>
          <p:nvPr/>
        </p:nvSpPr>
        <p:spPr>
          <a:xfrm>
            <a:off x="9107424" y="4206240"/>
            <a:ext cx="2843784" cy="815608"/>
          </a:xfrm>
          <a:prstGeom prst="rect">
            <a:avLst/>
          </a:prstGeom>
          <a:noFill/>
        </p:spPr>
        <p:txBody>
          <a:bodyPr wrap="square">
            <a:spAutoFit/>
          </a:bodyPr>
          <a:lstStyle/>
          <a:p>
            <a:pPr algn="ctr">
              <a:spcAft>
                <a:spcPts val="300"/>
              </a:spcAft>
              <a:defRPr sz="1100" b="1">
                <a:solidFill>
                  <a:srgbClr val="005C82"/>
                </a:solidFill>
                <a:latin typeface="Quattrocento Sans"/>
              </a:defRPr>
            </a:pPr>
            <a:r>
              <a:rPr sz="1400"/>
              <a:t>3. External comparison</a:t>
            </a:r>
          </a:p>
          <a:p>
            <a:pPr algn="ctr">
              <a:spcAft>
                <a:spcPts val="300"/>
              </a:spcAft>
              <a:defRPr sz="960" b="0">
                <a:solidFill>
                  <a:srgbClr val="333333"/>
                </a:solidFill>
                <a:latin typeface="Quattrocento Sans"/>
              </a:defRPr>
            </a:pPr>
            <a:r>
              <a:rPr sz="1400"/>
              <a:t>Post-hoc ARI only</a:t>
            </a:r>
          </a:p>
          <a:p>
            <a:pPr algn="ctr">
              <a:spcAft>
                <a:spcPts val="0"/>
              </a:spcAft>
              <a:defRPr sz="880" b="0">
                <a:solidFill>
                  <a:srgbClr val="333333"/>
                </a:solidFill>
                <a:latin typeface="Quattrocento Sans"/>
              </a:defRPr>
            </a:pPr>
            <a:r>
              <a:rPr sz="1400"/>
              <a:t>planet_type ARI = 0.307</a:t>
            </a:r>
          </a:p>
        </p:txBody>
      </p:sp>
      <p:sp>
        <p:nvSpPr>
          <p:cNvPr id="28" name="Rounded Rectangle 27"/>
          <p:cNvSpPr/>
          <p:nvPr/>
        </p:nvSpPr>
        <p:spPr>
          <a:xfrm>
            <a:off x="12225528" y="4041648"/>
            <a:ext cx="3063240" cy="1417320"/>
          </a:xfrm>
          <a:prstGeom prst="roundRect">
            <a:avLst/>
          </a:prstGeom>
          <a:solidFill>
            <a:srgbClr val="FFFFFF"/>
          </a:solidFill>
          <a:ln w="13970">
            <a:solidFill>
              <a:srgbClr val="00ACC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9" name="TextBox 28"/>
          <p:cNvSpPr txBox="1"/>
          <p:nvPr/>
        </p:nvSpPr>
        <p:spPr>
          <a:xfrm>
            <a:off x="12335256" y="4206240"/>
            <a:ext cx="2843784" cy="561692"/>
          </a:xfrm>
          <a:prstGeom prst="rect">
            <a:avLst/>
          </a:prstGeom>
          <a:noFill/>
        </p:spPr>
        <p:txBody>
          <a:bodyPr wrap="square">
            <a:spAutoFit/>
          </a:bodyPr>
          <a:lstStyle/>
          <a:p>
            <a:pPr algn="ctr">
              <a:spcAft>
                <a:spcPts val="300"/>
              </a:spcAft>
              <a:defRPr sz="1100" b="1">
                <a:solidFill>
                  <a:srgbClr val="005C82"/>
                </a:solidFill>
                <a:latin typeface="Quattrocento Sans"/>
              </a:defRPr>
            </a:pPr>
            <a:r>
              <a:rPr sz="1400" dirty="0"/>
              <a:t>4. Statistical context</a:t>
            </a:r>
          </a:p>
          <a:p>
            <a:pPr algn="ctr">
              <a:spcAft>
                <a:spcPts val="300"/>
              </a:spcAft>
              <a:defRPr sz="960" b="0">
                <a:solidFill>
                  <a:srgbClr val="333333"/>
                </a:solidFill>
                <a:latin typeface="Quattrocento Sans"/>
              </a:defRPr>
            </a:pPr>
            <a:r>
              <a:rPr sz="1400" dirty="0"/>
              <a:t>C</a:t>
            </a:r>
            <a:r>
              <a:rPr lang="it-IT" sz="1400" dirty="0" err="1"/>
              <a:t>onfifence</a:t>
            </a:r>
            <a:r>
              <a:rPr lang="it-IT" sz="1400" dirty="0"/>
              <a:t> </a:t>
            </a:r>
            <a:r>
              <a:rPr lang="it-IT" sz="1400" dirty="0" err="1"/>
              <a:t>Interval</a:t>
            </a:r>
            <a:r>
              <a:rPr sz="1400" dirty="0"/>
              <a:t> + t-test</a:t>
            </a:r>
          </a:p>
        </p:txBody>
      </p:sp>
      <p:sp>
        <p:nvSpPr>
          <p:cNvPr id="30" name="Rectangle 29"/>
          <p:cNvSpPr/>
          <p:nvPr/>
        </p:nvSpPr>
        <p:spPr>
          <a:xfrm>
            <a:off x="2542032" y="7571231"/>
            <a:ext cx="13213080" cy="475488"/>
          </a:xfrm>
          <a:prstGeom prst="rect">
            <a:avLst/>
          </a:prstGeom>
          <a:solidFill>
            <a:srgbClr val="005C82"/>
          </a:solidFill>
          <a:ln>
            <a:solidFill>
              <a:srgbClr val="005C8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it-IT" sz="1120" b="1" dirty="0">
              <a:solidFill>
                <a:srgbClr val="FFFFFF"/>
              </a:solidFill>
              <a:latin typeface="Quattrocento San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bg>
      <p:bgPr>
        <a:solidFill>
          <a:srgbClr val="F4FAFE"/>
        </a:solidFill>
        <a:effectLst/>
      </p:bgPr>
    </p:bg>
    <p:spTree>
      <p:nvGrpSpPr>
        <p:cNvPr id="1" name=""/>
        <p:cNvGrpSpPr/>
        <p:nvPr/>
      </p:nvGrpSpPr>
      <p:grpSpPr>
        <a:xfrm>
          <a:off x="0" y="0"/>
          <a:ext cx="0" cy="0"/>
          <a:chOff x="0" y="0"/>
          <a:chExt cx="0" cy="0"/>
        </a:xfrm>
      </p:grpSpPr>
      <p:sp>
        <p:nvSpPr>
          <p:cNvPr id="2" name="Shape 0"/>
          <p:cNvSpPr/>
          <p:nvPr/>
        </p:nvSpPr>
        <p:spPr>
          <a:xfrm>
            <a:off x="2032000" y="1778000"/>
            <a:ext cx="4826000" cy="4826000"/>
          </a:xfrm>
          <a:prstGeom prst="rect">
            <a:avLst/>
          </a:prstGeom>
          <a:solidFill>
            <a:srgbClr val="005C82">
              <a:alpha val="3922"/>
            </a:srgbClr>
          </a:solidFill>
          <a:ln w="12700">
            <a:solidFill>
              <a:srgbClr val="005C82"/>
            </a:solidFill>
            <a:prstDash val="solid"/>
          </a:ln>
        </p:spPr>
        <p:txBody>
          <a:bodyPr/>
          <a:lstStyle/>
          <a:p>
            <a:endParaRPr/>
          </a:p>
        </p:txBody>
      </p:sp>
      <p:sp>
        <p:nvSpPr>
          <p:cNvPr id="3" name="Shape 1"/>
          <p:cNvSpPr/>
          <p:nvPr/>
        </p:nvSpPr>
        <p:spPr>
          <a:xfrm>
            <a:off x="2540000" y="2286000"/>
            <a:ext cx="3810000" cy="3810000"/>
          </a:xfrm>
          <a:prstGeom prst="rect">
            <a:avLst/>
          </a:prstGeom>
          <a:solidFill>
            <a:srgbClr val="005C82">
              <a:alpha val="3922"/>
            </a:srgbClr>
          </a:solidFill>
          <a:ln w="12700">
            <a:solidFill>
              <a:srgbClr val="005C82"/>
            </a:solidFill>
            <a:prstDash val="solid"/>
          </a:ln>
        </p:spPr>
        <p:txBody>
          <a:bodyPr/>
          <a:lstStyle/>
          <a:p>
            <a:endParaRPr/>
          </a:p>
        </p:txBody>
      </p:sp>
      <p:sp>
        <p:nvSpPr>
          <p:cNvPr id="4" name="Shape 2"/>
          <p:cNvSpPr/>
          <p:nvPr/>
        </p:nvSpPr>
        <p:spPr>
          <a:xfrm>
            <a:off x="3048000" y="2794000"/>
            <a:ext cx="2794000" cy="2794000"/>
          </a:xfrm>
          <a:prstGeom prst="rect">
            <a:avLst/>
          </a:prstGeom>
          <a:solidFill>
            <a:srgbClr val="FFFFFF"/>
          </a:solidFill>
          <a:ln w="12700">
            <a:solidFill>
              <a:srgbClr val="005C82"/>
            </a:solidFill>
            <a:prstDash val="solid"/>
          </a:ln>
        </p:spPr>
        <p:txBody>
          <a:bodyPr/>
          <a:lstStyle/>
          <a:p>
            <a:endParaRPr/>
          </a:p>
        </p:txBody>
      </p:sp>
      <p:sp>
        <p:nvSpPr>
          <p:cNvPr id="5" name="Text 3"/>
          <p:cNvSpPr/>
          <p:nvPr/>
        </p:nvSpPr>
        <p:spPr>
          <a:xfrm>
            <a:off x="3048000" y="2794000"/>
            <a:ext cx="2794000" cy="2794000"/>
          </a:xfrm>
          <a:prstGeom prst="rect">
            <a:avLst/>
          </a:prstGeom>
          <a:noFill/>
          <a:ln/>
        </p:spPr>
        <p:txBody>
          <a:bodyPr wrap="none" lIns="0" tIns="0" rIns="0" bIns="0" rtlCol="0" anchor="ctr"/>
          <a:lstStyle/>
          <a:p>
            <a:pPr algn="ctr">
              <a:lnSpc>
                <a:spcPct val="120000"/>
              </a:lnSpc>
            </a:pPr>
            <a:r>
              <a:rPr lang="en-US" sz="8000" b="1" dirty="0">
                <a:solidFill>
                  <a:srgbClr val="005C82"/>
                </a:solidFill>
                <a:latin typeface="Quattrocento Sans" pitchFamily="34" charset="0"/>
                <a:ea typeface="Quattrocento Sans" pitchFamily="34" charset="-122"/>
                <a:cs typeface="Quattrocento Sans" pitchFamily="34" charset="-120"/>
              </a:rPr>
              <a:t>05</a:t>
            </a:r>
            <a:endParaRPr lang="en-US" sz="8000" dirty="0"/>
          </a:p>
        </p:txBody>
      </p:sp>
      <p:sp>
        <p:nvSpPr>
          <p:cNvPr id="6" name="Shape 4"/>
          <p:cNvSpPr/>
          <p:nvPr/>
        </p:nvSpPr>
        <p:spPr>
          <a:xfrm>
            <a:off x="7620000" y="2794000"/>
            <a:ext cx="12700" cy="2794000"/>
          </a:xfrm>
          <a:prstGeom prst="rect">
            <a:avLst/>
          </a:prstGeom>
          <a:solidFill>
            <a:srgbClr val="B0BEC5"/>
          </a:solidFill>
          <a:ln/>
        </p:spPr>
        <p:txBody>
          <a:bodyPr/>
          <a:lstStyle/>
          <a:p>
            <a:endParaRPr/>
          </a:p>
        </p:txBody>
      </p:sp>
      <p:sp>
        <p:nvSpPr>
          <p:cNvPr id="7" name="Text 5"/>
          <p:cNvSpPr/>
          <p:nvPr/>
        </p:nvSpPr>
        <p:spPr>
          <a:xfrm>
            <a:off x="8128000" y="2921000"/>
            <a:ext cx="7112000" cy="304800"/>
          </a:xfrm>
          <a:prstGeom prst="rect">
            <a:avLst/>
          </a:prstGeom>
          <a:noFill/>
          <a:ln/>
        </p:spPr>
        <p:txBody>
          <a:bodyPr wrap="none" lIns="0" tIns="0" rIns="0" bIns="0" rtlCol="0" anchor="t"/>
          <a:lstStyle/>
          <a:p>
            <a:pPr algn="l">
              <a:lnSpc>
                <a:spcPct val="120000"/>
              </a:lnSpc>
            </a:pPr>
            <a:r>
              <a:rPr lang="en-US" sz="1400" kern="0" spc="400" dirty="0">
                <a:solidFill>
                  <a:srgbClr val="00ACC1"/>
                </a:solidFill>
                <a:latin typeface="Quattrocento Sans" pitchFamily="34" charset="0"/>
                <a:ea typeface="Quattrocento Sans" pitchFamily="34" charset="-122"/>
                <a:cs typeface="Quattrocento Sans" pitchFamily="34" charset="-120"/>
              </a:rPr>
              <a:t>CHAPTER FIVE</a:t>
            </a:r>
            <a:endParaRPr lang="en-US" sz="1400" dirty="0"/>
          </a:p>
        </p:txBody>
      </p:sp>
      <p:sp>
        <p:nvSpPr>
          <p:cNvPr id="8" name="Text 6"/>
          <p:cNvSpPr/>
          <p:nvPr/>
        </p:nvSpPr>
        <p:spPr>
          <a:xfrm>
            <a:off x="8128000" y="3403600"/>
            <a:ext cx="7366000" cy="889000"/>
          </a:xfrm>
          <a:prstGeom prst="rect">
            <a:avLst/>
          </a:prstGeom>
          <a:noFill/>
          <a:ln/>
        </p:spPr>
        <p:txBody>
          <a:bodyPr wrap="none" lIns="0" tIns="0" rIns="0" bIns="0" rtlCol="0" anchor="ctr"/>
          <a:lstStyle/>
          <a:p>
            <a:pPr algn="l">
              <a:lnSpc>
                <a:spcPct val="120000"/>
              </a:lnSpc>
            </a:pPr>
            <a:r>
              <a:rPr lang="en-US" sz="3600" b="1" dirty="0">
                <a:solidFill>
                  <a:srgbClr val="005C82"/>
                </a:solidFill>
                <a:latin typeface="Quattrocento Sans" pitchFamily="34" charset="0"/>
                <a:ea typeface="Quattrocento Sans" pitchFamily="34" charset="-122"/>
                <a:cs typeface="Quattrocento Sans" pitchFamily="34" charset="-120"/>
              </a:rPr>
              <a:t>Discussion &amp; Conclusions</a:t>
            </a:r>
            <a:endParaRPr lang="en-US" sz="3600" dirty="0"/>
          </a:p>
        </p:txBody>
      </p:sp>
      <p:sp>
        <p:nvSpPr>
          <p:cNvPr id="9" name="Text 7"/>
          <p:cNvSpPr/>
          <p:nvPr/>
        </p:nvSpPr>
        <p:spPr>
          <a:xfrm>
            <a:off x="8128000" y="4419600"/>
            <a:ext cx="7366000" cy="355600"/>
          </a:xfrm>
          <a:prstGeom prst="rect">
            <a:avLst/>
          </a:prstGeom>
          <a:noFill/>
          <a:ln/>
        </p:spPr>
        <p:txBody>
          <a:bodyPr wrap="none" lIns="0" tIns="0" rIns="0" bIns="0" rtlCol="0" anchor="t"/>
          <a:lstStyle/>
          <a:p>
            <a:pPr algn="l">
              <a:lnSpc>
                <a:spcPct val="120000"/>
              </a:lnSpc>
            </a:pPr>
            <a:r>
              <a:rPr lang="en-US" sz="1600" dirty="0">
                <a:solidFill>
                  <a:srgbClr val="B0BEC5"/>
                </a:solidFill>
                <a:latin typeface="Quattrocento Sans" pitchFamily="34" charset="0"/>
                <a:ea typeface="Quattrocento Sans" pitchFamily="34" charset="-122"/>
                <a:cs typeface="Quattrocento Sans" pitchFamily="34" charset="-120"/>
              </a:rPr>
              <a:t>Key findings, limitations, and methodological takeaways</a:t>
            </a:r>
            <a:endParaRPr lang="en-US" sz="1600" dirty="0"/>
          </a:p>
        </p:txBody>
      </p:sp>
      <p:sp>
        <p:nvSpPr>
          <p:cNvPr id="10" name="Shape 8"/>
          <p:cNvSpPr/>
          <p:nvPr/>
        </p:nvSpPr>
        <p:spPr>
          <a:xfrm>
            <a:off x="8128000" y="5029200"/>
            <a:ext cx="2540000" cy="25400"/>
          </a:xfrm>
          <a:prstGeom prst="rect">
            <a:avLst/>
          </a:prstGeom>
          <a:solidFill>
            <a:srgbClr val="00ACC1"/>
          </a:solidFill>
          <a:ln/>
        </p:spPr>
        <p:txBody>
          <a:bodyPr/>
          <a:lstStyle/>
          <a:p>
            <a:endParaRPr/>
          </a:p>
        </p:txBody>
      </p:sp>
      <p:sp>
        <p:nvSpPr>
          <p:cNvPr id="11" name="Text 9"/>
          <p:cNvSpPr/>
          <p:nvPr/>
        </p:nvSpPr>
        <p:spPr>
          <a:xfrm>
            <a:off x="8128000" y="5283200"/>
            <a:ext cx="7366000" cy="355600"/>
          </a:xfrm>
          <a:prstGeom prst="rect">
            <a:avLst/>
          </a:prstGeom>
          <a:noFill/>
          <a:ln/>
        </p:spPr>
        <p:txBody>
          <a:bodyPr wrap="none" lIns="0" tIns="0" rIns="0" bIns="0" rtlCol="0" anchor="t"/>
          <a:lstStyle/>
          <a:p>
            <a:pPr algn="l">
              <a:lnSpc>
                <a:spcPct val="120000"/>
              </a:lnSpc>
            </a:pPr>
            <a:r>
              <a:rPr lang="en-US" sz="1500" dirty="0">
                <a:solidFill>
                  <a:srgbClr val="333333"/>
                </a:solidFill>
                <a:latin typeface="Quattrocento Sans" pitchFamily="34" charset="0"/>
                <a:ea typeface="Quattrocento Sans" pitchFamily="34" charset="-122"/>
                <a:cs typeface="Quattrocento Sans" pitchFamily="34" charset="-120"/>
              </a:rPr>
              <a:t>5.1  Key findings &amp; interpretation</a:t>
            </a:r>
            <a:endParaRPr lang="en-US" sz="1500" dirty="0"/>
          </a:p>
        </p:txBody>
      </p:sp>
      <p:sp>
        <p:nvSpPr>
          <p:cNvPr id="12" name="Text 10"/>
          <p:cNvSpPr/>
          <p:nvPr/>
        </p:nvSpPr>
        <p:spPr>
          <a:xfrm>
            <a:off x="8128000" y="5740400"/>
            <a:ext cx="7366000" cy="355600"/>
          </a:xfrm>
          <a:prstGeom prst="rect">
            <a:avLst/>
          </a:prstGeom>
          <a:noFill/>
          <a:ln/>
        </p:spPr>
        <p:txBody>
          <a:bodyPr wrap="none" lIns="0" tIns="0" rIns="0" bIns="0" rtlCol="0" anchor="t"/>
          <a:lstStyle/>
          <a:p>
            <a:pPr algn="l">
              <a:lnSpc>
                <a:spcPct val="120000"/>
              </a:lnSpc>
            </a:pPr>
            <a:r>
              <a:rPr lang="en-US" sz="1500" dirty="0">
                <a:solidFill>
                  <a:srgbClr val="333333"/>
                </a:solidFill>
                <a:latin typeface="Quattrocento Sans" pitchFamily="34" charset="0"/>
                <a:ea typeface="Quattrocento Sans" pitchFamily="34" charset="-122"/>
                <a:cs typeface="Quattrocento Sans" pitchFamily="34" charset="-120"/>
              </a:rPr>
              <a:t>5.2  Limitations &amp; future work</a:t>
            </a:r>
            <a:endParaRPr lang="en-US" sz="1500" dirty="0"/>
          </a:p>
        </p:txBody>
      </p:sp>
      <p:sp>
        <p:nvSpPr>
          <p:cNvPr id="13" name="Text 11"/>
          <p:cNvSpPr/>
          <p:nvPr/>
        </p:nvSpPr>
        <p:spPr>
          <a:xfrm>
            <a:off x="8128000" y="6197600"/>
            <a:ext cx="7366000" cy="355600"/>
          </a:xfrm>
          <a:prstGeom prst="rect">
            <a:avLst/>
          </a:prstGeom>
          <a:noFill/>
          <a:ln/>
        </p:spPr>
        <p:txBody>
          <a:bodyPr wrap="none" lIns="0" tIns="0" rIns="0" bIns="0" rtlCol="0" anchor="t"/>
          <a:lstStyle/>
          <a:p>
            <a:pPr algn="l">
              <a:lnSpc>
                <a:spcPct val="120000"/>
              </a:lnSpc>
            </a:pPr>
            <a:r>
              <a:rPr lang="en-US" sz="1500" dirty="0">
                <a:solidFill>
                  <a:srgbClr val="333333"/>
                </a:solidFill>
                <a:latin typeface="Quattrocento Sans" pitchFamily="34" charset="0"/>
                <a:ea typeface="Quattrocento Sans" pitchFamily="34" charset="-122"/>
                <a:cs typeface="Quattrocento Sans" pitchFamily="34" charset="-120"/>
              </a:rPr>
              <a:t>5.3  Conclusions &amp; contributions</a:t>
            </a:r>
            <a:endParaRPr lang="en-US" sz="1500" dirty="0"/>
          </a:p>
        </p:txBody>
      </p:sp>
      <p:sp>
        <p:nvSpPr>
          <p:cNvPr id="14" name="Text 12"/>
          <p:cNvSpPr/>
          <p:nvPr/>
        </p:nvSpPr>
        <p:spPr>
          <a:xfrm>
            <a:off x="15240000" y="8636000"/>
            <a:ext cx="635000" cy="304800"/>
          </a:xfrm>
          <a:prstGeom prst="rect">
            <a:avLst/>
          </a:prstGeom>
          <a:noFill/>
          <a:ln/>
        </p:spPr>
        <p:txBody>
          <a:bodyPr wrap="square" lIns="0" tIns="0" rIns="0" bIns="0" rtlCol="0" anchor="ctr"/>
          <a:lstStyle/>
          <a:p>
            <a:r>
              <a:t>29</a:t>
            </a:r>
          </a:p>
        </p:txBody>
      </p:sp>
    </p:spTree>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name="Slide 27">
    <p:bg>
      <p:bgPr>
        <a:solidFill>
          <a:srgbClr val="F4FAFE"/>
        </a:solidFill>
        <a:effectLst/>
      </p:bgPr>
    </p:bg>
    <p:spTree>
      <p:nvGrpSpPr>
        <p:cNvPr id="1" name=""/>
        <p:cNvGrpSpPr/>
        <p:nvPr/>
      </p:nvGrpSpPr>
      <p:grpSpPr>
        <a:xfrm>
          <a:off x="0" y="0"/>
          <a:ext cx="0" cy="0"/>
          <a:chOff x="0" y="0"/>
          <a:chExt cx="0" cy="0"/>
        </a:xfrm>
      </p:grpSpPr>
      <p:sp>
        <p:nvSpPr>
          <p:cNvPr id="2" name="Shape 0"/>
          <p:cNvSpPr/>
          <p:nvPr/>
        </p:nvSpPr>
        <p:spPr>
          <a:xfrm>
            <a:off x="0" y="0"/>
            <a:ext cx="2286000" cy="9144000"/>
          </a:xfrm>
          <a:prstGeom prst="rect">
            <a:avLst/>
          </a:prstGeom>
          <a:solidFill>
            <a:srgbClr val="004060"/>
          </a:solidFill>
          <a:ln/>
        </p:spPr>
        <p:txBody>
          <a:bodyPr/>
          <a:lstStyle/>
          <a:p>
            <a:endParaRPr/>
          </a:p>
        </p:txBody>
      </p:sp>
      <p:sp>
        <p:nvSpPr>
          <p:cNvPr id="3" name="Shape 1"/>
          <p:cNvSpPr/>
          <p:nvPr/>
        </p:nvSpPr>
        <p:spPr>
          <a:xfrm>
            <a:off x="177800" y="177800"/>
            <a:ext cx="457200" cy="457200"/>
          </a:xfrm>
          <a:prstGeom prst="ellipse">
            <a:avLst/>
          </a:prstGeom>
          <a:solidFill>
            <a:srgbClr val="FFFFFF">
              <a:alpha val="12549"/>
            </a:srgbClr>
          </a:solidFill>
          <a:ln w="12700">
            <a:solidFill>
              <a:srgbClr val="00ACC1"/>
            </a:solidFill>
            <a:prstDash val="solid"/>
          </a:ln>
        </p:spPr>
        <p:txBody>
          <a:bodyPr/>
          <a:lstStyle/>
          <a:p>
            <a:endParaRPr/>
          </a:p>
        </p:txBody>
      </p:sp>
      <p:sp>
        <p:nvSpPr>
          <p:cNvPr id="4" name="Shape 2"/>
          <p:cNvSpPr/>
          <p:nvPr/>
        </p:nvSpPr>
        <p:spPr>
          <a:xfrm>
            <a:off x="0" y="5689600"/>
            <a:ext cx="2286000" cy="1168400"/>
          </a:xfrm>
          <a:prstGeom prst="rect">
            <a:avLst/>
          </a:prstGeom>
          <a:solidFill>
            <a:srgbClr val="005C82"/>
          </a:solidFill>
          <a:ln/>
        </p:spPr>
        <p:txBody>
          <a:bodyPr/>
          <a:lstStyle/>
          <a:p>
            <a:endParaRPr/>
          </a:p>
        </p:txBody>
      </p:sp>
      <p:sp>
        <p:nvSpPr>
          <p:cNvPr id="5" name="Text 3"/>
          <p:cNvSpPr/>
          <p:nvPr/>
        </p:nvSpPr>
        <p:spPr>
          <a:xfrm>
            <a:off x="101600" y="10160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01 Intro</a:t>
            </a:r>
            <a:endParaRPr lang="en-US" sz="1600" dirty="0"/>
          </a:p>
        </p:txBody>
      </p:sp>
      <p:sp>
        <p:nvSpPr>
          <p:cNvPr id="6" name="Text 4"/>
          <p:cNvSpPr/>
          <p:nvPr/>
        </p:nvSpPr>
        <p:spPr>
          <a:xfrm>
            <a:off x="101600" y="21844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02 Dataset</a:t>
            </a:r>
            <a:endParaRPr lang="en-US" sz="1600" dirty="0"/>
          </a:p>
        </p:txBody>
      </p:sp>
      <p:sp>
        <p:nvSpPr>
          <p:cNvPr id="7" name="Text 5"/>
          <p:cNvSpPr/>
          <p:nvPr/>
        </p:nvSpPr>
        <p:spPr>
          <a:xfrm>
            <a:off x="101600" y="33528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03 Clustering</a:t>
            </a:r>
            <a:endParaRPr lang="en-US" sz="1600" dirty="0"/>
          </a:p>
        </p:txBody>
      </p:sp>
      <p:sp>
        <p:nvSpPr>
          <p:cNvPr id="8" name="Text 6"/>
          <p:cNvSpPr/>
          <p:nvPr/>
        </p:nvSpPr>
        <p:spPr>
          <a:xfrm>
            <a:off x="101600" y="45212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04 Supervised</a:t>
            </a:r>
            <a:endParaRPr lang="en-US" sz="1600" dirty="0"/>
          </a:p>
        </p:txBody>
      </p:sp>
      <p:sp>
        <p:nvSpPr>
          <p:cNvPr id="9" name="Text 7"/>
          <p:cNvSpPr/>
          <p:nvPr/>
        </p:nvSpPr>
        <p:spPr>
          <a:xfrm>
            <a:off x="101600" y="5689600"/>
            <a:ext cx="2082800" cy="1168400"/>
          </a:xfrm>
          <a:prstGeom prst="rect">
            <a:avLst/>
          </a:prstGeom>
          <a:noFill/>
          <a:ln/>
        </p:spPr>
        <p:txBody>
          <a:bodyPr wrap="none" lIns="0" tIns="0" rIns="0" bIns="0" rtlCol="0" anchor="ctr"/>
          <a:lstStyle/>
          <a:p>
            <a:pPr algn="l">
              <a:lnSpc>
                <a:spcPct val="120000"/>
              </a:lnSpc>
            </a:pPr>
            <a:r>
              <a:rPr lang="en-US" sz="1800" b="1" dirty="0">
                <a:solidFill>
                  <a:srgbClr val="FFFFFF"/>
                </a:solidFill>
                <a:latin typeface="Quattrocento Sans" pitchFamily="34" charset="0"/>
                <a:ea typeface="Quattrocento Sans" pitchFamily="34" charset="-122"/>
                <a:cs typeface="Quattrocento Sans" pitchFamily="34" charset="-120"/>
              </a:rPr>
              <a:t>05 Conclusions</a:t>
            </a:r>
            <a:endParaRPr lang="en-US" sz="1800" dirty="0"/>
          </a:p>
        </p:txBody>
      </p:sp>
      <p:sp>
        <p:nvSpPr>
          <p:cNvPr id="10" name="Shape 8"/>
          <p:cNvSpPr/>
          <p:nvPr/>
        </p:nvSpPr>
        <p:spPr>
          <a:xfrm>
            <a:off x="1066800" y="7493000"/>
            <a:ext cx="152400" cy="152400"/>
          </a:xfrm>
          <a:prstGeom prst="diamond">
            <a:avLst/>
          </a:prstGeom>
          <a:solidFill>
            <a:srgbClr val="00ACC1"/>
          </a:solidFill>
          <a:ln/>
        </p:spPr>
        <p:txBody>
          <a:bodyPr/>
          <a:lstStyle/>
          <a:p>
            <a:endParaRPr/>
          </a:p>
        </p:txBody>
      </p:sp>
      <p:sp>
        <p:nvSpPr>
          <p:cNvPr id="11" name="Shape 9"/>
          <p:cNvSpPr/>
          <p:nvPr/>
        </p:nvSpPr>
        <p:spPr>
          <a:xfrm>
            <a:off x="2286000" y="0"/>
            <a:ext cx="13970000" cy="635000"/>
          </a:xfrm>
          <a:prstGeom prst="rect">
            <a:avLst/>
          </a:prstGeom>
          <a:solidFill>
            <a:srgbClr val="E0F4FA"/>
          </a:solidFill>
          <a:ln/>
        </p:spPr>
        <p:txBody>
          <a:bodyPr/>
          <a:lstStyle/>
          <a:p>
            <a:endParaRPr/>
          </a:p>
        </p:txBody>
      </p:sp>
      <p:sp>
        <p:nvSpPr>
          <p:cNvPr id="12" name="Text 10"/>
          <p:cNvSpPr/>
          <p:nvPr/>
        </p:nvSpPr>
        <p:spPr>
          <a:xfrm>
            <a:off x="2540000" y="0"/>
            <a:ext cx="12827000" cy="635000"/>
          </a:xfrm>
          <a:prstGeom prst="rect">
            <a:avLst/>
          </a:prstGeom>
          <a:noFill/>
          <a:ln/>
        </p:spPr>
        <p:txBody>
          <a:bodyPr wrap="none" lIns="0" tIns="0" rIns="0" bIns="0" rtlCol="0" anchor="ctr"/>
          <a:lstStyle/>
          <a:p>
            <a:pPr algn="l">
              <a:lnSpc>
                <a:spcPct val="120000"/>
              </a:lnSpc>
            </a:pPr>
            <a:r>
              <a:rPr lang="en-US" sz="1400" b="1" dirty="0">
                <a:solidFill>
                  <a:srgbClr val="005C82"/>
                </a:solidFill>
                <a:latin typeface="Quattrocento Sans" pitchFamily="34" charset="0"/>
                <a:ea typeface="Quattrocento Sans" pitchFamily="34" charset="-122"/>
                <a:cs typeface="Quattrocento Sans" pitchFamily="34" charset="-120"/>
              </a:rPr>
              <a:t>05 Discussion</a:t>
            </a:r>
            <a:r>
              <a:rPr lang="en-US" sz="1400" dirty="0">
                <a:solidFill>
                  <a:srgbClr val="005C82"/>
                </a:solidFill>
                <a:latin typeface="Quattrocento Sans" pitchFamily="34" charset="0"/>
                <a:ea typeface="Quattrocento Sans" pitchFamily="34" charset="-122"/>
                <a:cs typeface="Quattrocento Sans" pitchFamily="34" charset="-120"/>
              </a:rPr>
              <a:t>  &gt;  5.1  Key Findings</a:t>
            </a:r>
            <a:endParaRPr lang="en-US" sz="1400" dirty="0"/>
          </a:p>
        </p:txBody>
      </p:sp>
      <p:sp>
        <p:nvSpPr>
          <p:cNvPr id="13" name="Text 11"/>
          <p:cNvSpPr/>
          <p:nvPr/>
        </p:nvSpPr>
        <p:spPr>
          <a:xfrm>
            <a:off x="15621000" y="0"/>
            <a:ext cx="635000" cy="635000"/>
          </a:xfrm>
          <a:prstGeom prst="rect">
            <a:avLst/>
          </a:prstGeom>
          <a:noFill/>
          <a:ln/>
        </p:spPr>
        <p:txBody>
          <a:bodyPr wrap="square" lIns="0" tIns="0" rIns="0" bIns="0" rtlCol="0" anchor="ctr"/>
          <a:lstStyle/>
          <a:p>
            <a:r>
              <a:t>30</a:t>
            </a:r>
          </a:p>
        </p:txBody>
      </p:sp>
      <p:sp>
        <p:nvSpPr>
          <p:cNvPr id="14" name="Text 12"/>
          <p:cNvSpPr/>
          <p:nvPr/>
        </p:nvSpPr>
        <p:spPr>
          <a:xfrm>
            <a:off x="2540000" y="863600"/>
            <a:ext cx="13208000" cy="457200"/>
          </a:xfrm>
          <a:prstGeom prst="rect">
            <a:avLst/>
          </a:prstGeom>
          <a:noFill/>
          <a:ln/>
        </p:spPr>
        <p:txBody>
          <a:bodyPr wrap="none" lIns="0" tIns="0" rIns="0" bIns="0" rtlCol="0" anchor="t"/>
          <a:lstStyle/>
          <a:p>
            <a:pPr algn="l">
              <a:lnSpc>
                <a:spcPct val="120000"/>
              </a:lnSpc>
            </a:pPr>
            <a:r>
              <a:rPr lang="en-US" sz="2400" b="1" dirty="0">
                <a:solidFill>
                  <a:srgbClr val="005C82"/>
                </a:solidFill>
                <a:latin typeface="Quattrocento Sans" pitchFamily="34" charset="0"/>
                <a:ea typeface="Quattrocento Sans" pitchFamily="34" charset="-122"/>
                <a:cs typeface="Quattrocento Sans" pitchFamily="34" charset="-120"/>
              </a:rPr>
              <a:t>Key Findings &amp; Interpretation</a:t>
            </a:r>
            <a:endParaRPr lang="en-US" sz="2400" dirty="0"/>
          </a:p>
        </p:txBody>
      </p:sp>
      <p:sp>
        <p:nvSpPr>
          <p:cNvPr id="15" name="Shape 13"/>
          <p:cNvSpPr/>
          <p:nvPr/>
        </p:nvSpPr>
        <p:spPr>
          <a:xfrm>
            <a:off x="2540000" y="1397000"/>
            <a:ext cx="13208000" cy="12700"/>
          </a:xfrm>
          <a:prstGeom prst="rect">
            <a:avLst/>
          </a:prstGeom>
          <a:solidFill>
            <a:srgbClr val="B0BEC5"/>
          </a:solidFill>
          <a:ln/>
        </p:spPr>
        <p:txBody>
          <a:bodyPr/>
          <a:lstStyle/>
          <a:p>
            <a:endParaRPr/>
          </a:p>
        </p:txBody>
      </p:sp>
      <p:sp>
        <p:nvSpPr>
          <p:cNvPr id="16" name="Shape 14"/>
          <p:cNvSpPr/>
          <p:nvPr/>
        </p:nvSpPr>
        <p:spPr>
          <a:xfrm>
            <a:off x="2540000" y="1574800"/>
            <a:ext cx="6350000" cy="482600"/>
          </a:xfrm>
          <a:prstGeom prst="rect">
            <a:avLst/>
          </a:prstGeom>
          <a:solidFill>
            <a:srgbClr val="005C82"/>
          </a:solidFill>
          <a:ln/>
        </p:spPr>
        <p:txBody>
          <a:bodyPr/>
          <a:lstStyle/>
          <a:p>
            <a:endParaRPr/>
          </a:p>
        </p:txBody>
      </p:sp>
      <p:sp>
        <p:nvSpPr>
          <p:cNvPr id="17" name="Text 15"/>
          <p:cNvSpPr/>
          <p:nvPr/>
        </p:nvSpPr>
        <p:spPr>
          <a:xfrm>
            <a:off x="2540000" y="1574800"/>
            <a:ext cx="6350000" cy="482600"/>
          </a:xfrm>
          <a:prstGeom prst="rect">
            <a:avLst/>
          </a:prstGeom>
          <a:noFill/>
          <a:ln/>
        </p:spPr>
        <p:txBody>
          <a:bodyPr wrap="none" lIns="0" tIns="0" rIns="0" bIns="0" rtlCol="0" anchor="ctr"/>
          <a:lstStyle/>
          <a:p>
            <a:pPr algn="ctr">
              <a:lnSpc>
                <a:spcPct val="120000"/>
              </a:lnSpc>
            </a:pPr>
            <a:r>
              <a:rPr lang="en-US" sz="1500" b="1" dirty="0">
                <a:solidFill>
                  <a:srgbClr val="FFFFFF"/>
                </a:solidFill>
                <a:latin typeface="Quattrocento Sans" pitchFamily="34" charset="0"/>
                <a:ea typeface="Quattrocento Sans" pitchFamily="34" charset="-122"/>
                <a:cs typeface="Quattrocento Sans" pitchFamily="34" charset="-120"/>
              </a:rPr>
              <a:t>Clustering Findings</a:t>
            </a:r>
            <a:endParaRPr lang="en-US" sz="1500" dirty="0"/>
          </a:p>
        </p:txBody>
      </p:sp>
      <p:sp>
        <p:nvSpPr>
          <p:cNvPr id="18" name="Shape 16"/>
          <p:cNvSpPr/>
          <p:nvPr/>
        </p:nvSpPr>
        <p:spPr>
          <a:xfrm>
            <a:off x="2540000" y="2057400"/>
            <a:ext cx="6350000" cy="4318000"/>
          </a:xfrm>
          <a:prstGeom prst="rect">
            <a:avLst/>
          </a:prstGeom>
          <a:solidFill>
            <a:srgbClr val="E0F4FA"/>
          </a:solidFill>
          <a:ln/>
        </p:spPr>
        <p:txBody>
          <a:bodyPr/>
          <a:lstStyle/>
          <a:p>
            <a:endParaRPr/>
          </a:p>
        </p:txBody>
      </p:sp>
      <p:sp>
        <p:nvSpPr>
          <p:cNvPr id="19" name="Text 17"/>
          <p:cNvSpPr/>
          <p:nvPr/>
        </p:nvSpPr>
        <p:spPr>
          <a:xfrm>
            <a:off x="2768600" y="2209800"/>
            <a:ext cx="5892800" cy="4013200"/>
          </a:xfrm>
          <a:prstGeom prst="rect">
            <a:avLst/>
          </a:prstGeom>
          <a:noFill/>
          <a:ln/>
        </p:spPr>
        <p:txBody>
          <a:bodyPr wrap="square" lIns="0" tIns="0" rIns="0" bIns="0" rtlCol="0" anchor="t"/>
          <a:lstStyle/>
          <a:p>
            <a:pPr algn="l">
              <a:lnSpc>
                <a:spcPct val="150000"/>
              </a:lnSpc>
            </a:pPr>
            <a:r>
              <a:rPr lang="en-US" sz="1400" b="1" dirty="0">
                <a:solidFill>
                  <a:srgbClr val="333333"/>
                </a:solidFill>
                <a:latin typeface="Quattrocento Sans" pitchFamily="34" charset="0"/>
                <a:ea typeface="Quattrocento Sans" pitchFamily="34" charset="-122"/>
                <a:cs typeface="Quattrocento Sans" pitchFamily="34" charset="-120"/>
              </a:rPr>
              <a:t>Moderate Silhouette (0.447)</a:t>
            </a:r>
            <a:r>
              <a:rPr lang="en-US" sz="1400" dirty="0">
                <a:solidFill>
                  <a:srgbClr val="333333"/>
                </a:solidFill>
                <a:latin typeface="Quattrocento Sans" pitchFamily="34" charset="0"/>
                <a:ea typeface="Quattrocento Sans" pitchFamily="34" charset="-122"/>
                <a:cs typeface="Quattrocento Sans" pitchFamily="34" charset="-120"/>
              </a:rPr>
              <a:t> is consistent with a continuous physical domain where planetary families have no sharp boundaries - this is expected, not a failure.</a:t>
            </a:r>
            <a:endParaRPr lang="en-US" sz="1400" dirty="0"/>
          </a:p>
          <a:p>
            <a:pPr algn="l">
              <a:lnSpc>
                <a:spcPct val="150000"/>
              </a:lnSpc>
            </a:pPr>
            <a:r>
              <a:rPr lang="en-US" sz="1400" dirty="0">
                <a:solidFill>
                  <a:srgbClr val="333333"/>
                </a:solidFill>
                <a:latin typeface="Quattrocento Sans" pitchFamily="34" charset="0"/>
                <a:ea typeface="Quattrocento Sans" pitchFamily="34" charset="-122"/>
                <a:cs typeface="Quattrocento Sans" pitchFamily="34" charset="-120"/>
              </a:rPr>
              <a:t> </a:t>
            </a:r>
            <a:endParaRPr lang="en-US" sz="1400" dirty="0"/>
          </a:p>
          <a:p>
            <a:pPr algn="l">
              <a:lnSpc>
                <a:spcPct val="150000"/>
              </a:lnSpc>
            </a:pPr>
            <a:r>
              <a:rPr lang="en-US" sz="1400" b="1" dirty="0">
                <a:solidFill>
                  <a:srgbClr val="333333"/>
                </a:solidFill>
                <a:latin typeface="Quattrocento Sans" pitchFamily="34" charset="0"/>
                <a:ea typeface="Quattrocento Sans" pitchFamily="34" charset="-122"/>
                <a:cs typeface="Quattrocento Sans" pitchFamily="34" charset="-120"/>
              </a:rPr>
              <a:t>Four interpretable groups</a:t>
            </a:r>
            <a:r>
              <a:rPr lang="en-US" sz="1400" dirty="0">
                <a:solidFill>
                  <a:srgbClr val="333333"/>
                </a:solidFill>
                <a:latin typeface="Quattrocento Sans" pitchFamily="34" charset="0"/>
                <a:ea typeface="Quattrocento Sans" pitchFamily="34" charset="-122"/>
                <a:cs typeface="Quattrocento Sans" pitchFamily="34" charset="-120"/>
              </a:rPr>
              <a:t> discovered without using any derived labels: Warm Mini-Neptunes (66%), Hot Jupiters (19%), Eccentric Long-Period Giants (14%), Ultra-Massive Wide-Orbit Companions (1%).</a:t>
            </a:r>
            <a:endParaRPr lang="en-US" sz="1400" dirty="0"/>
          </a:p>
          <a:p>
            <a:pPr algn="l">
              <a:lnSpc>
                <a:spcPct val="150000"/>
              </a:lnSpc>
            </a:pPr>
            <a:r>
              <a:rPr lang="en-US" sz="1400" dirty="0">
                <a:solidFill>
                  <a:srgbClr val="333333"/>
                </a:solidFill>
                <a:latin typeface="Quattrocento Sans" pitchFamily="34" charset="0"/>
                <a:ea typeface="Quattrocento Sans" pitchFamily="34" charset="-122"/>
                <a:cs typeface="Quattrocento Sans" pitchFamily="34" charset="-120"/>
              </a:rPr>
              <a:t> </a:t>
            </a:r>
            <a:endParaRPr lang="en-US" sz="1400" dirty="0"/>
          </a:p>
          <a:p>
            <a:pPr algn="l">
              <a:lnSpc>
                <a:spcPct val="150000"/>
              </a:lnSpc>
            </a:pPr>
            <a:r>
              <a:rPr lang="en-US" sz="1400" b="1" dirty="0">
                <a:solidFill>
                  <a:srgbClr val="333333"/>
                </a:solidFill>
                <a:latin typeface="Quattrocento Sans" pitchFamily="34" charset="0"/>
                <a:ea typeface="Quattrocento Sans" pitchFamily="34" charset="-122"/>
                <a:cs typeface="Quattrocento Sans" pitchFamily="34" charset="-120"/>
              </a:rPr>
              <a:t>Partial ARI with planet_type (0.307)</a:t>
            </a:r>
            <a:r>
              <a:rPr lang="en-US" sz="1400" dirty="0">
                <a:solidFill>
                  <a:srgbClr val="333333"/>
                </a:solidFill>
                <a:latin typeface="Quattrocento Sans" pitchFamily="34" charset="0"/>
                <a:ea typeface="Quattrocento Sans" pitchFamily="34" charset="-122"/>
                <a:cs typeface="Quattrocento Sans" pitchFamily="34" charset="-120"/>
              </a:rPr>
              <a:t> indicates clusters recover some existing taxonomy but are not redundant - they add genuine exploratory value.</a:t>
            </a:r>
            <a:endParaRPr lang="en-US" sz="1400" dirty="0"/>
          </a:p>
        </p:txBody>
      </p:sp>
      <p:sp>
        <p:nvSpPr>
          <p:cNvPr id="20" name="Shape 18"/>
          <p:cNvSpPr/>
          <p:nvPr/>
        </p:nvSpPr>
        <p:spPr>
          <a:xfrm>
            <a:off x="9144000" y="1574800"/>
            <a:ext cx="6350000" cy="482600"/>
          </a:xfrm>
          <a:prstGeom prst="rect">
            <a:avLst/>
          </a:prstGeom>
          <a:solidFill>
            <a:srgbClr val="007AA8"/>
          </a:solidFill>
          <a:ln/>
        </p:spPr>
        <p:txBody>
          <a:bodyPr/>
          <a:lstStyle/>
          <a:p>
            <a:endParaRPr/>
          </a:p>
        </p:txBody>
      </p:sp>
      <p:sp>
        <p:nvSpPr>
          <p:cNvPr id="21" name="Text 19"/>
          <p:cNvSpPr/>
          <p:nvPr/>
        </p:nvSpPr>
        <p:spPr>
          <a:xfrm>
            <a:off x="9144000" y="1574800"/>
            <a:ext cx="6350000" cy="482600"/>
          </a:xfrm>
          <a:prstGeom prst="rect">
            <a:avLst/>
          </a:prstGeom>
          <a:noFill/>
          <a:ln/>
        </p:spPr>
        <p:txBody>
          <a:bodyPr wrap="none" lIns="0" tIns="0" rIns="0" bIns="0" rtlCol="0" anchor="ctr"/>
          <a:lstStyle/>
          <a:p>
            <a:pPr algn="ctr">
              <a:lnSpc>
                <a:spcPct val="120000"/>
              </a:lnSpc>
            </a:pPr>
            <a:r>
              <a:rPr lang="en-US" sz="1500" b="1" dirty="0">
                <a:solidFill>
                  <a:srgbClr val="FFFFFF"/>
                </a:solidFill>
                <a:latin typeface="Quattrocento Sans" pitchFamily="34" charset="0"/>
                <a:ea typeface="Quattrocento Sans" pitchFamily="34" charset="-122"/>
                <a:cs typeface="Quattrocento Sans" pitchFamily="34" charset="-120"/>
              </a:rPr>
              <a:t>Supervised Findings</a:t>
            </a:r>
            <a:endParaRPr lang="en-US" sz="1500" dirty="0"/>
          </a:p>
        </p:txBody>
      </p:sp>
      <p:sp>
        <p:nvSpPr>
          <p:cNvPr id="22" name="Shape 20"/>
          <p:cNvSpPr/>
          <p:nvPr/>
        </p:nvSpPr>
        <p:spPr>
          <a:xfrm>
            <a:off x="9144000" y="2057400"/>
            <a:ext cx="6350000" cy="4318000"/>
          </a:xfrm>
          <a:prstGeom prst="rect">
            <a:avLst/>
          </a:prstGeom>
          <a:solidFill>
            <a:srgbClr val="E8F4F8"/>
          </a:solidFill>
          <a:ln/>
        </p:spPr>
        <p:txBody>
          <a:bodyPr/>
          <a:lstStyle/>
          <a:p>
            <a:endParaRPr/>
          </a:p>
        </p:txBody>
      </p:sp>
      <p:sp>
        <p:nvSpPr>
          <p:cNvPr id="23" name="Text 21"/>
          <p:cNvSpPr/>
          <p:nvPr/>
        </p:nvSpPr>
        <p:spPr>
          <a:xfrm>
            <a:off x="9372600" y="2209800"/>
            <a:ext cx="5892800" cy="4013200"/>
          </a:xfrm>
          <a:prstGeom prst="rect">
            <a:avLst/>
          </a:prstGeom>
          <a:noFill/>
          <a:ln/>
        </p:spPr>
        <p:txBody>
          <a:bodyPr wrap="square" lIns="0" tIns="0" rIns="0" bIns="0" rtlCol="0" anchor="t"/>
          <a:lstStyle/>
          <a:p>
            <a:pPr algn="l">
              <a:lnSpc>
                <a:spcPct val="150000"/>
              </a:lnSpc>
            </a:pPr>
            <a:r>
              <a:rPr lang="en-US" sz="1400" b="1" dirty="0">
                <a:solidFill>
                  <a:srgbClr val="333333"/>
                </a:solidFill>
                <a:latin typeface="Quattrocento Sans" pitchFamily="34" charset="0"/>
                <a:ea typeface="Quattrocento Sans" pitchFamily="34" charset="-122"/>
                <a:cs typeface="Quattrocento Sans" pitchFamily="34" charset="-120"/>
              </a:rPr>
              <a:t>Near-perfect Setup A</a:t>
            </a:r>
            <a:r>
              <a:rPr lang="en-US" sz="1400" dirty="0">
                <a:solidFill>
                  <a:srgbClr val="333333"/>
                </a:solidFill>
                <a:latin typeface="Quattrocento Sans" pitchFamily="34" charset="0"/>
                <a:ea typeface="Quattrocento Sans" pitchFamily="34" charset="-122"/>
                <a:cs typeface="Quattrocento Sans" pitchFamily="34" charset="-120"/>
              </a:rPr>
              <a:t> (Macro-F1 = 1.000 for Decision Tree) is NOT predictive success - it demonstrates that planet_type is reconstructible from mass and radius alone.</a:t>
            </a:r>
            <a:endParaRPr lang="en-US" sz="1400" dirty="0"/>
          </a:p>
          <a:p>
            <a:pPr algn="l">
              <a:lnSpc>
                <a:spcPct val="150000"/>
              </a:lnSpc>
            </a:pPr>
            <a:r>
              <a:rPr lang="en-US" sz="1400" dirty="0">
                <a:solidFill>
                  <a:srgbClr val="333333"/>
                </a:solidFill>
                <a:latin typeface="Quattrocento Sans" pitchFamily="34" charset="0"/>
                <a:ea typeface="Quattrocento Sans" pitchFamily="34" charset="-122"/>
                <a:cs typeface="Quattrocento Sans" pitchFamily="34" charset="-120"/>
              </a:rPr>
              <a:t> </a:t>
            </a:r>
            <a:endParaRPr lang="en-US" sz="1400" dirty="0"/>
          </a:p>
          <a:p>
            <a:pPr algn="l">
              <a:lnSpc>
                <a:spcPct val="150000"/>
              </a:lnSpc>
            </a:pPr>
            <a:r>
              <a:rPr lang="en-US" sz="1400" b="1" dirty="0">
                <a:solidFill>
                  <a:srgbClr val="333333"/>
                </a:solidFill>
                <a:latin typeface="Quattrocento Sans" pitchFamily="34" charset="0"/>
                <a:ea typeface="Quattrocento Sans" pitchFamily="34" charset="-122"/>
                <a:cs typeface="Quattrocento Sans" pitchFamily="34" charset="-120"/>
              </a:rPr>
              <a:t>Setup B drop to ~0.49</a:t>
            </a:r>
            <a:r>
              <a:rPr lang="en-US" sz="1400" dirty="0">
                <a:solidFill>
                  <a:srgbClr val="333333"/>
                </a:solidFill>
                <a:latin typeface="Quattrocento Sans" pitchFamily="34" charset="0"/>
                <a:ea typeface="Quattrocento Sans" pitchFamily="34" charset="-122"/>
                <a:cs typeface="Quattrocento Sans" pitchFamily="34" charset="-120"/>
              </a:rPr>
              <a:t> shows that without definitional features, the task is genuinely difficult. The remaining signal comes from temperature, orbital period, and semi-major axis.</a:t>
            </a:r>
            <a:endParaRPr lang="en-US" sz="1400" dirty="0"/>
          </a:p>
          <a:p>
            <a:pPr algn="l">
              <a:lnSpc>
                <a:spcPct val="150000"/>
              </a:lnSpc>
            </a:pPr>
            <a:r>
              <a:rPr lang="en-US" sz="1400" dirty="0">
                <a:solidFill>
                  <a:srgbClr val="333333"/>
                </a:solidFill>
                <a:latin typeface="Quattrocento Sans" pitchFamily="34" charset="0"/>
                <a:ea typeface="Quattrocento Sans" pitchFamily="34" charset="-122"/>
                <a:cs typeface="Quattrocento Sans" pitchFamily="34" charset="-120"/>
              </a:rPr>
              <a:t> </a:t>
            </a:r>
            <a:endParaRPr lang="en-US" sz="1400" dirty="0"/>
          </a:p>
          <a:p>
            <a:pPr algn="l">
              <a:lnSpc>
                <a:spcPct val="150000"/>
              </a:lnSpc>
            </a:pPr>
            <a:r>
              <a:rPr lang="en-US" sz="1400" b="1" dirty="0">
                <a:solidFill>
                  <a:srgbClr val="333333"/>
                </a:solidFill>
                <a:latin typeface="Quattrocento Sans" pitchFamily="34" charset="0"/>
                <a:ea typeface="Quattrocento Sans" pitchFamily="34" charset="-122"/>
                <a:cs typeface="Quattrocento Sans" pitchFamily="34" charset="-120"/>
              </a:rPr>
              <a:t>Confusion pattern in B</a:t>
            </a:r>
            <a:r>
              <a:rPr lang="en-US" sz="1400" dirty="0">
                <a:solidFill>
                  <a:srgbClr val="333333"/>
                </a:solidFill>
                <a:latin typeface="Quattrocento Sans" pitchFamily="34" charset="0"/>
                <a:ea typeface="Quattrocento Sans" pitchFamily="34" charset="-122"/>
                <a:cs typeface="Quattrocento Sans" pitchFamily="34" charset="-120"/>
              </a:rPr>
              <a:t> (Super-Earth vs Mini-Neptune) confirms the model now learns from genuinely overlapping classes rather than reconstructing thresholds.</a:t>
            </a:r>
            <a:endParaRPr lang="en-US" sz="1400" dirty="0"/>
          </a:p>
        </p:txBody>
      </p:sp>
      <p:sp>
        <p:nvSpPr>
          <p:cNvPr id="24" name="Shape 22"/>
          <p:cNvSpPr/>
          <p:nvPr/>
        </p:nvSpPr>
        <p:spPr>
          <a:xfrm>
            <a:off x="2540000" y="6553200"/>
            <a:ext cx="13208000" cy="762000"/>
          </a:xfrm>
          <a:prstGeom prst="rect">
            <a:avLst/>
          </a:prstGeom>
          <a:solidFill>
            <a:srgbClr val="005C82"/>
          </a:solidFill>
          <a:ln/>
        </p:spPr>
        <p:txBody>
          <a:bodyPr/>
          <a:lstStyle/>
          <a:p>
            <a:endParaRPr/>
          </a:p>
        </p:txBody>
      </p:sp>
      <p:sp>
        <p:nvSpPr>
          <p:cNvPr id="25" name="Shape 23"/>
          <p:cNvSpPr/>
          <p:nvPr/>
        </p:nvSpPr>
        <p:spPr>
          <a:xfrm>
            <a:off x="2717800" y="6705600"/>
            <a:ext cx="177800" cy="177800"/>
          </a:xfrm>
          <a:prstGeom prst="diamond">
            <a:avLst/>
          </a:prstGeom>
          <a:solidFill>
            <a:srgbClr val="00ACC1"/>
          </a:solidFill>
          <a:ln/>
        </p:spPr>
        <p:txBody>
          <a:bodyPr/>
          <a:lstStyle/>
          <a:p>
            <a:endParaRPr/>
          </a:p>
        </p:txBody>
      </p:sp>
      <p:sp>
        <p:nvSpPr>
          <p:cNvPr id="26" name="Text 24"/>
          <p:cNvSpPr/>
          <p:nvPr/>
        </p:nvSpPr>
        <p:spPr>
          <a:xfrm>
            <a:off x="3022600" y="6604000"/>
            <a:ext cx="12522200" cy="304800"/>
          </a:xfrm>
          <a:prstGeom prst="rect">
            <a:avLst/>
          </a:prstGeom>
          <a:noFill/>
          <a:ln/>
        </p:spPr>
        <p:txBody>
          <a:bodyPr wrap="none" lIns="0" tIns="0" rIns="0" bIns="0" rtlCol="0" anchor="t"/>
          <a:lstStyle/>
          <a:p>
            <a:pPr algn="l">
              <a:lnSpc>
                <a:spcPct val="120000"/>
              </a:lnSpc>
            </a:pPr>
            <a:endParaRPr lang="en-US" sz="1600" dirty="0"/>
          </a:p>
        </p:txBody>
      </p:sp>
      <p:sp>
        <p:nvSpPr>
          <p:cNvPr id="27" name="Text 25"/>
          <p:cNvSpPr/>
          <p:nvPr/>
        </p:nvSpPr>
        <p:spPr>
          <a:xfrm>
            <a:off x="3073400" y="6604000"/>
            <a:ext cx="12674600" cy="762000"/>
          </a:xfrm>
          <a:prstGeom prst="rect">
            <a:avLst/>
          </a:prstGeom>
          <a:noFill/>
          <a:ln/>
        </p:spPr>
        <p:txBody>
          <a:bodyPr wrap="square" lIns="0" tIns="0" rIns="0" bIns="0" rtlCol="0" anchor="t"/>
          <a:lstStyle/>
          <a:p>
            <a:pPr algn="l">
              <a:lnSpc>
                <a:spcPct val="150000"/>
              </a:lnSpc>
            </a:pPr>
            <a:r>
              <a:rPr lang="en-US" sz="1400" i="1" dirty="0">
                <a:solidFill>
                  <a:schemeClr val="bg1"/>
                </a:solidFill>
                <a:latin typeface="Quattrocento Sans" pitchFamily="34" charset="0"/>
                <a:ea typeface="Quattrocento Sans" pitchFamily="34" charset="-122"/>
                <a:cs typeface="Quattrocento Sans" pitchFamily="34" charset="-120"/>
              </a:rPr>
              <a:t>The clustering Silhouette of 0.447 indicates moderate structure in a continuous domain. The supervised Macro-F1 drop of 0.509 provides concrete, quantified evidence of semantic leakage. Together, these tell a coherent methodological story.</a:t>
            </a:r>
            <a:endParaRPr lang="en-US" sz="1400" dirty="0">
              <a:solidFill>
                <a:schemeClr val="bg1"/>
              </a:solidFill>
            </a:endParaRPr>
          </a:p>
        </p:txBody>
      </p:sp>
    </p:spTree>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name="Slide 28">
    <p:bg>
      <p:bgPr>
        <a:solidFill>
          <a:srgbClr val="F4FAFE"/>
        </a:solidFill>
        <a:effectLst/>
      </p:bgPr>
    </p:bg>
    <p:spTree>
      <p:nvGrpSpPr>
        <p:cNvPr id="1" name=""/>
        <p:cNvGrpSpPr/>
        <p:nvPr/>
      </p:nvGrpSpPr>
      <p:grpSpPr>
        <a:xfrm>
          <a:off x="0" y="0"/>
          <a:ext cx="0" cy="0"/>
          <a:chOff x="0" y="0"/>
          <a:chExt cx="0" cy="0"/>
        </a:xfrm>
      </p:grpSpPr>
      <p:sp>
        <p:nvSpPr>
          <p:cNvPr id="2" name="Shape 0"/>
          <p:cNvSpPr/>
          <p:nvPr/>
        </p:nvSpPr>
        <p:spPr>
          <a:xfrm>
            <a:off x="0" y="0"/>
            <a:ext cx="2286000" cy="9144000"/>
          </a:xfrm>
          <a:prstGeom prst="rect">
            <a:avLst/>
          </a:prstGeom>
          <a:solidFill>
            <a:srgbClr val="004060"/>
          </a:solidFill>
          <a:ln/>
        </p:spPr>
        <p:txBody>
          <a:bodyPr/>
          <a:lstStyle/>
          <a:p>
            <a:endParaRPr/>
          </a:p>
        </p:txBody>
      </p:sp>
      <p:sp>
        <p:nvSpPr>
          <p:cNvPr id="3" name="Shape 1"/>
          <p:cNvSpPr/>
          <p:nvPr/>
        </p:nvSpPr>
        <p:spPr>
          <a:xfrm>
            <a:off x="177800" y="177800"/>
            <a:ext cx="457200" cy="457200"/>
          </a:xfrm>
          <a:prstGeom prst="ellipse">
            <a:avLst/>
          </a:prstGeom>
          <a:solidFill>
            <a:srgbClr val="FFFFFF">
              <a:alpha val="12549"/>
            </a:srgbClr>
          </a:solidFill>
          <a:ln w="12700">
            <a:solidFill>
              <a:srgbClr val="00ACC1"/>
            </a:solidFill>
            <a:prstDash val="solid"/>
          </a:ln>
        </p:spPr>
        <p:txBody>
          <a:bodyPr/>
          <a:lstStyle/>
          <a:p>
            <a:endParaRPr/>
          </a:p>
        </p:txBody>
      </p:sp>
      <p:sp>
        <p:nvSpPr>
          <p:cNvPr id="4" name="Shape 2"/>
          <p:cNvSpPr/>
          <p:nvPr/>
        </p:nvSpPr>
        <p:spPr>
          <a:xfrm>
            <a:off x="0" y="5689600"/>
            <a:ext cx="2286000" cy="1168400"/>
          </a:xfrm>
          <a:prstGeom prst="rect">
            <a:avLst/>
          </a:prstGeom>
          <a:solidFill>
            <a:srgbClr val="005C82"/>
          </a:solidFill>
          <a:ln/>
        </p:spPr>
        <p:txBody>
          <a:bodyPr/>
          <a:lstStyle/>
          <a:p>
            <a:endParaRPr/>
          </a:p>
        </p:txBody>
      </p:sp>
      <p:sp>
        <p:nvSpPr>
          <p:cNvPr id="5" name="Text 3"/>
          <p:cNvSpPr/>
          <p:nvPr/>
        </p:nvSpPr>
        <p:spPr>
          <a:xfrm>
            <a:off x="101600" y="10160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01 Intro</a:t>
            </a:r>
            <a:endParaRPr lang="en-US" sz="1600" dirty="0"/>
          </a:p>
        </p:txBody>
      </p:sp>
      <p:sp>
        <p:nvSpPr>
          <p:cNvPr id="6" name="Text 4"/>
          <p:cNvSpPr/>
          <p:nvPr/>
        </p:nvSpPr>
        <p:spPr>
          <a:xfrm>
            <a:off x="101600" y="21844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02 Dataset</a:t>
            </a:r>
            <a:endParaRPr lang="en-US" sz="1600" dirty="0"/>
          </a:p>
        </p:txBody>
      </p:sp>
      <p:sp>
        <p:nvSpPr>
          <p:cNvPr id="7" name="Text 5"/>
          <p:cNvSpPr/>
          <p:nvPr/>
        </p:nvSpPr>
        <p:spPr>
          <a:xfrm>
            <a:off x="101600" y="33528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03 Clustering</a:t>
            </a:r>
            <a:endParaRPr lang="en-US" sz="1600" dirty="0"/>
          </a:p>
        </p:txBody>
      </p:sp>
      <p:sp>
        <p:nvSpPr>
          <p:cNvPr id="8" name="Text 6"/>
          <p:cNvSpPr/>
          <p:nvPr/>
        </p:nvSpPr>
        <p:spPr>
          <a:xfrm>
            <a:off x="101600" y="45212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04 Supervised</a:t>
            </a:r>
            <a:endParaRPr lang="en-US" sz="1600" dirty="0"/>
          </a:p>
        </p:txBody>
      </p:sp>
      <p:sp>
        <p:nvSpPr>
          <p:cNvPr id="9" name="Text 7"/>
          <p:cNvSpPr/>
          <p:nvPr/>
        </p:nvSpPr>
        <p:spPr>
          <a:xfrm>
            <a:off x="101600" y="5689600"/>
            <a:ext cx="2082800" cy="1168400"/>
          </a:xfrm>
          <a:prstGeom prst="rect">
            <a:avLst/>
          </a:prstGeom>
          <a:noFill/>
          <a:ln/>
        </p:spPr>
        <p:txBody>
          <a:bodyPr wrap="none" lIns="0" tIns="0" rIns="0" bIns="0" rtlCol="0" anchor="ctr"/>
          <a:lstStyle/>
          <a:p>
            <a:pPr algn="l">
              <a:lnSpc>
                <a:spcPct val="120000"/>
              </a:lnSpc>
            </a:pPr>
            <a:r>
              <a:rPr lang="en-US" sz="1800" b="1" dirty="0">
                <a:solidFill>
                  <a:srgbClr val="FFFFFF"/>
                </a:solidFill>
                <a:latin typeface="Quattrocento Sans" pitchFamily="34" charset="0"/>
                <a:ea typeface="Quattrocento Sans" pitchFamily="34" charset="-122"/>
                <a:cs typeface="Quattrocento Sans" pitchFamily="34" charset="-120"/>
              </a:rPr>
              <a:t>05 Conclusions</a:t>
            </a:r>
            <a:endParaRPr lang="en-US" sz="1800" dirty="0"/>
          </a:p>
        </p:txBody>
      </p:sp>
      <p:sp>
        <p:nvSpPr>
          <p:cNvPr id="10" name="Shape 8"/>
          <p:cNvSpPr/>
          <p:nvPr/>
        </p:nvSpPr>
        <p:spPr>
          <a:xfrm>
            <a:off x="1066800" y="7493000"/>
            <a:ext cx="152400" cy="152400"/>
          </a:xfrm>
          <a:prstGeom prst="diamond">
            <a:avLst/>
          </a:prstGeom>
          <a:solidFill>
            <a:srgbClr val="00ACC1"/>
          </a:solidFill>
          <a:ln/>
        </p:spPr>
        <p:txBody>
          <a:bodyPr/>
          <a:lstStyle/>
          <a:p>
            <a:endParaRPr/>
          </a:p>
        </p:txBody>
      </p:sp>
      <p:sp>
        <p:nvSpPr>
          <p:cNvPr id="11" name="Shape 9"/>
          <p:cNvSpPr/>
          <p:nvPr/>
        </p:nvSpPr>
        <p:spPr>
          <a:xfrm>
            <a:off x="2286000" y="0"/>
            <a:ext cx="13970000" cy="635000"/>
          </a:xfrm>
          <a:prstGeom prst="rect">
            <a:avLst/>
          </a:prstGeom>
          <a:solidFill>
            <a:srgbClr val="E0F4FA"/>
          </a:solidFill>
          <a:ln/>
        </p:spPr>
        <p:txBody>
          <a:bodyPr/>
          <a:lstStyle/>
          <a:p>
            <a:endParaRPr/>
          </a:p>
        </p:txBody>
      </p:sp>
      <p:sp>
        <p:nvSpPr>
          <p:cNvPr id="12" name="Text 10"/>
          <p:cNvSpPr/>
          <p:nvPr/>
        </p:nvSpPr>
        <p:spPr>
          <a:xfrm>
            <a:off x="2540000" y="0"/>
            <a:ext cx="12827000" cy="635000"/>
          </a:xfrm>
          <a:prstGeom prst="rect">
            <a:avLst/>
          </a:prstGeom>
          <a:noFill/>
          <a:ln/>
        </p:spPr>
        <p:txBody>
          <a:bodyPr wrap="none" lIns="0" tIns="0" rIns="0" bIns="0" rtlCol="0" anchor="ctr"/>
          <a:lstStyle/>
          <a:p>
            <a:pPr algn="l">
              <a:lnSpc>
                <a:spcPct val="120000"/>
              </a:lnSpc>
            </a:pPr>
            <a:r>
              <a:rPr lang="en-US" sz="1400" b="1" dirty="0">
                <a:solidFill>
                  <a:srgbClr val="005C82"/>
                </a:solidFill>
                <a:latin typeface="Quattrocento Sans" pitchFamily="34" charset="0"/>
                <a:ea typeface="Quattrocento Sans" pitchFamily="34" charset="-122"/>
                <a:cs typeface="Quattrocento Sans" pitchFamily="34" charset="-120"/>
              </a:rPr>
              <a:t>05 Discussion</a:t>
            </a:r>
            <a:r>
              <a:rPr lang="en-US" sz="1400" dirty="0">
                <a:solidFill>
                  <a:srgbClr val="005C82"/>
                </a:solidFill>
                <a:latin typeface="Quattrocento Sans" pitchFamily="34" charset="0"/>
                <a:ea typeface="Quattrocento Sans" pitchFamily="34" charset="-122"/>
                <a:cs typeface="Quattrocento Sans" pitchFamily="34" charset="-120"/>
              </a:rPr>
              <a:t>  &gt;  5.2  Limitations</a:t>
            </a:r>
            <a:endParaRPr lang="en-US" sz="1400" dirty="0"/>
          </a:p>
        </p:txBody>
      </p:sp>
      <p:sp>
        <p:nvSpPr>
          <p:cNvPr id="13" name="Text 11"/>
          <p:cNvSpPr/>
          <p:nvPr/>
        </p:nvSpPr>
        <p:spPr>
          <a:xfrm>
            <a:off x="15621000" y="0"/>
            <a:ext cx="635000" cy="635000"/>
          </a:xfrm>
          <a:prstGeom prst="rect">
            <a:avLst/>
          </a:prstGeom>
          <a:noFill/>
          <a:ln/>
        </p:spPr>
        <p:txBody>
          <a:bodyPr wrap="square" lIns="0" tIns="0" rIns="0" bIns="0" rtlCol="0" anchor="ctr"/>
          <a:lstStyle/>
          <a:p>
            <a:r>
              <a:t>31</a:t>
            </a:r>
          </a:p>
        </p:txBody>
      </p:sp>
      <p:sp>
        <p:nvSpPr>
          <p:cNvPr id="14" name="Text 12"/>
          <p:cNvSpPr/>
          <p:nvPr/>
        </p:nvSpPr>
        <p:spPr>
          <a:xfrm>
            <a:off x="2540000" y="863600"/>
            <a:ext cx="13208000" cy="457200"/>
          </a:xfrm>
          <a:prstGeom prst="rect">
            <a:avLst/>
          </a:prstGeom>
          <a:noFill/>
          <a:ln/>
        </p:spPr>
        <p:txBody>
          <a:bodyPr wrap="none" lIns="0" tIns="0" rIns="0" bIns="0" rtlCol="0" anchor="t"/>
          <a:lstStyle/>
          <a:p>
            <a:pPr algn="l">
              <a:lnSpc>
                <a:spcPct val="120000"/>
              </a:lnSpc>
            </a:pPr>
            <a:r>
              <a:rPr lang="en-US" sz="2400" b="1" dirty="0">
                <a:solidFill>
                  <a:srgbClr val="005C82"/>
                </a:solidFill>
                <a:latin typeface="Quattrocento Sans" pitchFamily="34" charset="0"/>
                <a:ea typeface="Quattrocento Sans" pitchFamily="34" charset="-122"/>
                <a:cs typeface="Quattrocento Sans" pitchFamily="34" charset="-120"/>
              </a:rPr>
              <a:t>Limitations &amp; Future Work</a:t>
            </a:r>
            <a:endParaRPr lang="en-US" sz="2400" dirty="0"/>
          </a:p>
        </p:txBody>
      </p:sp>
      <p:sp>
        <p:nvSpPr>
          <p:cNvPr id="15" name="Shape 13"/>
          <p:cNvSpPr/>
          <p:nvPr/>
        </p:nvSpPr>
        <p:spPr>
          <a:xfrm>
            <a:off x="2540000" y="1397000"/>
            <a:ext cx="13208000" cy="12700"/>
          </a:xfrm>
          <a:prstGeom prst="rect">
            <a:avLst/>
          </a:prstGeom>
          <a:solidFill>
            <a:srgbClr val="B0BEC5"/>
          </a:solidFill>
          <a:ln/>
        </p:spPr>
        <p:txBody>
          <a:bodyPr/>
          <a:lstStyle/>
          <a:p>
            <a:endParaRPr/>
          </a:p>
        </p:txBody>
      </p:sp>
      <p:sp>
        <p:nvSpPr>
          <p:cNvPr id="16" name="Shape 14"/>
          <p:cNvSpPr/>
          <p:nvPr/>
        </p:nvSpPr>
        <p:spPr>
          <a:xfrm>
            <a:off x="2540000" y="1676400"/>
            <a:ext cx="177800" cy="177800"/>
          </a:xfrm>
          <a:prstGeom prst="diamond">
            <a:avLst/>
          </a:prstGeom>
          <a:solidFill>
            <a:srgbClr val="005C82"/>
          </a:solidFill>
          <a:ln/>
        </p:spPr>
        <p:txBody>
          <a:bodyPr/>
          <a:lstStyle/>
          <a:p>
            <a:endParaRPr/>
          </a:p>
        </p:txBody>
      </p:sp>
      <p:sp>
        <p:nvSpPr>
          <p:cNvPr id="19" name="Shape 17"/>
          <p:cNvSpPr/>
          <p:nvPr/>
        </p:nvSpPr>
        <p:spPr>
          <a:xfrm>
            <a:off x="2540000" y="2667000"/>
            <a:ext cx="13208000" cy="12700"/>
          </a:xfrm>
          <a:prstGeom prst="rect">
            <a:avLst/>
          </a:prstGeom>
          <a:solidFill>
            <a:srgbClr val="E0F4FA"/>
          </a:solidFill>
          <a:ln/>
        </p:spPr>
        <p:txBody>
          <a:bodyPr/>
          <a:lstStyle/>
          <a:p>
            <a:endParaRPr/>
          </a:p>
        </p:txBody>
      </p:sp>
      <p:sp>
        <p:nvSpPr>
          <p:cNvPr id="20" name="Shape 18"/>
          <p:cNvSpPr/>
          <p:nvPr/>
        </p:nvSpPr>
        <p:spPr>
          <a:xfrm>
            <a:off x="2540000" y="2971800"/>
            <a:ext cx="177800" cy="177800"/>
          </a:xfrm>
          <a:prstGeom prst="diamond">
            <a:avLst/>
          </a:prstGeom>
          <a:solidFill>
            <a:srgbClr val="005C82"/>
          </a:solidFill>
          <a:ln/>
        </p:spPr>
        <p:txBody>
          <a:bodyPr/>
          <a:lstStyle/>
          <a:p>
            <a:endParaRPr/>
          </a:p>
        </p:txBody>
      </p:sp>
      <p:sp>
        <p:nvSpPr>
          <p:cNvPr id="21" name="Text 19"/>
          <p:cNvSpPr/>
          <p:nvPr/>
        </p:nvSpPr>
        <p:spPr>
          <a:xfrm>
            <a:off x="2870200" y="2895600"/>
            <a:ext cx="13081000" cy="355600"/>
          </a:xfrm>
          <a:prstGeom prst="rect">
            <a:avLst/>
          </a:prstGeom>
          <a:noFill/>
          <a:ln/>
        </p:spPr>
        <p:txBody>
          <a:bodyPr wrap="none" lIns="0" tIns="0" rIns="0" bIns="0" rtlCol="0" anchor="t"/>
          <a:lstStyle/>
          <a:p>
            <a:pPr algn="l">
              <a:lnSpc>
                <a:spcPct val="120000"/>
              </a:lnSpc>
            </a:pPr>
            <a:r>
              <a:rPr lang="en-US" sz="2000" b="1" dirty="0">
                <a:solidFill>
                  <a:srgbClr val="005C82"/>
                </a:solidFill>
                <a:latin typeface="Quattrocento Sans" pitchFamily="34" charset="0"/>
                <a:ea typeface="Quattrocento Sans" pitchFamily="34" charset="-122"/>
                <a:cs typeface="Quattrocento Sans" pitchFamily="34" charset="-120"/>
              </a:rPr>
              <a:t>Supervised Validation</a:t>
            </a:r>
            <a:endParaRPr lang="en-US" sz="2000" dirty="0"/>
          </a:p>
        </p:txBody>
      </p:sp>
      <p:sp>
        <p:nvSpPr>
          <p:cNvPr id="22" name="Text 20"/>
          <p:cNvSpPr/>
          <p:nvPr/>
        </p:nvSpPr>
        <p:spPr>
          <a:xfrm>
            <a:off x="2870200" y="3302000"/>
            <a:ext cx="13081000" cy="635000"/>
          </a:xfrm>
          <a:prstGeom prst="rect">
            <a:avLst/>
          </a:prstGeom>
          <a:noFill/>
          <a:ln/>
        </p:spPr>
        <p:txBody>
          <a:bodyPr wrap="square" lIns="0" tIns="0" rIns="0" bIns="0" rtlCol="0" anchor="t"/>
          <a:lstStyle/>
          <a:p>
            <a:pPr>
              <a:lnSpc>
                <a:spcPct val="140000"/>
              </a:lnSpc>
            </a:pPr>
            <a:r>
              <a:rPr lang="it-IT" sz="1400" dirty="0"/>
              <a:t>One </a:t>
            </a:r>
            <a:r>
              <a:rPr lang="it-IT" sz="1400" dirty="0" err="1"/>
              <a:t>stratified</a:t>
            </a:r>
            <a:r>
              <a:rPr lang="it-IT" sz="1400" dirty="0"/>
              <a:t> </a:t>
            </a:r>
            <a:r>
              <a:rPr lang="it-IT" sz="1400" dirty="0" err="1"/>
              <a:t>holdout</a:t>
            </a:r>
            <a:r>
              <a:rPr lang="it-IT" sz="1400" dirty="0"/>
              <a:t> with </a:t>
            </a:r>
            <a:r>
              <a:rPr lang="it-IT" sz="1400" dirty="0" err="1"/>
              <a:t>internal</a:t>
            </a:r>
            <a:r>
              <a:rPr lang="it-IT" sz="1400" dirty="0"/>
              <a:t> </a:t>
            </a:r>
            <a:r>
              <a:rPr lang="it-IT" sz="1400" dirty="0" err="1"/>
              <a:t>GridSearchCV</a:t>
            </a:r>
            <a:r>
              <a:rPr lang="it-IT" sz="1400" dirty="0"/>
              <a:t>.</a:t>
            </a:r>
            <a:br>
              <a:rPr lang="it-IT" sz="1400" dirty="0"/>
            </a:br>
            <a:r>
              <a:rPr lang="it-IT" sz="1400" dirty="0"/>
              <a:t>Future work: </a:t>
            </a:r>
            <a:r>
              <a:rPr lang="it-IT" sz="1400" dirty="0" err="1"/>
              <a:t>nested</a:t>
            </a:r>
            <a:r>
              <a:rPr lang="it-IT" sz="1400" dirty="0"/>
              <a:t> cross-</a:t>
            </a:r>
            <a:r>
              <a:rPr lang="it-IT" sz="1400" dirty="0" err="1"/>
              <a:t>validation</a:t>
            </a:r>
            <a:r>
              <a:rPr lang="it-IT" sz="1400" dirty="0"/>
              <a:t> for </a:t>
            </a:r>
            <a:r>
              <a:rPr lang="it-IT" sz="1400" dirty="0" err="1"/>
              <a:t>less</a:t>
            </a:r>
            <a:r>
              <a:rPr lang="it-IT" sz="1400" dirty="0"/>
              <a:t> </a:t>
            </a:r>
            <a:r>
              <a:rPr lang="it-IT" sz="1400" dirty="0" err="1"/>
              <a:t>optimistic</a:t>
            </a:r>
            <a:r>
              <a:rPr lang="it-IT" sz="1400" dirty="0"/>
              <a:t> model </a:t>
            </a:r>
            <a:r>
              <a:rPr lang="it-IT" sz="1400" dirty="0" err="1"/>
              <a:t>selection</a:t>
            </a:r>
            <a:r>
              <a:rPr lang="it-IT" sz="1400" dirty="0"/>
              <a:t>.</a:t>
            </a:r>
            <a:endParaRPr lang="en-US" sz="1400" dirty="0"/>
          </a:p>
        </p:txBody>
      </p:sp>
      <p:sp>
        <p:nvSpPr>
          <p:cNvPr id="23" name="Shape 21"/>
          <p:cNvSpPr/>
          <p:nvPr/>
        </p:nvSpPr>
        <p:spPr>
          <a:xfrm>
            <a:off x="2540000" y="3962400"/>
            <a:ext cx="13208000" cy="12700"/>
          </a:xfrm>
          <a:prstGeom prst="rect">
            <a:avLst/>
          </a:prstGeom>
          <a:solidFill>
            <a:srgbClr val="E0F4FA"/>
          </a:solidFill>
          <a:ln/>
        </p:spPr>
        <p:txBody>
          <a:bodyPr/>
          <a:lstStyle/>
          <a:p>
            <a:endParaRPr/>
          </a:p>
        </p:txBody>
      </p:sp>
      <p:sp>
        <p:nvSpPr>
          <p:cNvPr id="24" name="Shape 22"/>
          <p:cNvSpPr/>
          <p:nvPr/>
        </p:nvSpPr>
        <p:spPr>
          <a:xfrm>
            <a:off x="2540000" y="4267200"/>
            <a:ext cx="177800" cy="177800"/>
          </a:xfrm>
          <a:prstGeom prst="diamond">
            <a:avLst/>
          </a:prstGeom>
          <a:solidFill>
            <a:srgbClr val="007AA8"/>
          </a:solidFill>
          <a:ln/>
        </p:spPr>
        <p:txBody>
          <a:bodyPr/>
          <a:lstStyle/>
          <a:p>
            <a:endParaRPr/>
          </a:p>
        </p:txBody>
      </p:sp>
      <p:sp>
        <p:nvSpPr>
          <p:cNvPr id="25" name="Text 23"/>
          <p:cNvSpPr/>
          <p:nvPr/>
        </p:nvSpPr>
        <p:spPr>
          <a:xfrm>
            <a:off x="2870200" y="4191000"/>
            <a:ext cx="13081000" cy="355600"/>
          </a:xfrm>
          <a:prstGeom prst="rect">
            <a:avLst/>
          </a:prstGeom>
          <a:noFill/>
          <a:ln/>
        </p:spPr>
        <p:txBody>
          <a:bodyPr wrap="none" lIns="0" tIns="0" rIns="0" bIns="0" rtlCol="0" anchor="t"/>
          <a:lstStyle/>
          <a:p>
            <a:pPr algn="l">
              <a:lnSpc>
                <a:spcPct val="120000"/>
              </a:lnSpc>
            </a:pPr>
            <a:r>
              <a:rPr lang="en-US" sz="2000" b="1" dirty="0">
                <a:solidFill>
                  <a:srgbClr val="005C82"/>
                </a:solidFill>
                <a:latin typeface="Quattrocento Sans" pitchFamily="34" charset="0"/>
                <a:ea typeface="Quattrocento Sans" pitchFamily="34" charset="-122"/>
                <a:cs typeface="Quattrocento Sans" pitchFamily="34" charset="-120"/>
              </a:rPr>
              <a:t>Statistical Tests</a:t>
            </a:r>
            <a:endParaRPr lang="en-US" sz="2000" dirty="0"/>
          </a:p>
        </p:txBody>
      </p:sp>
      <p:sp>
        <p:nvSpPr>
          <p:cNvPr id="26" name="Text 24"/>
          <p:cNvSpPr/>
          <p:nvPr/>
        </p:nvSpPr>
        <p:spPr>
          <a:xfrm>
            <a:off x="2870200" y="4597400"/>
            <a:ext cx="13081000" cy="635000"/>
          </a:xfrm>
          <a:prstGeom prst="rect">
            <a:avLst/>
          </a:prstGeom>
          <a:noFill/>
          <a:ln/>
        </p:spPr>
        <p:txBody>
          <a:bodyPr wrap="square" lIns="0" tIns="0" rIns="0" bIns="0" rtlCol="0" anchor="t"/>
          <a:lstStyle/>
          <a:p>
            <a:pPr algn="l">
              <a:lnSpc>
                <a:spcPct val="140000"/>
              </a:lnSpc>
            </a:pPr>
            <a:r>
              <a:rPr lang="en-US" sz="1400" dirty="0">
                <a:solidFill>
                  <a:srgbClr val="333333"/>
                </a:solidFill>
                <a:latin typeface="Quattrocento Sans" pitchFamily="34" charset="0"/>
                <a:ea typeface="Quattrocento Sans" pitchFamily="34" charset="-122"/>
                <a:cs typeface="Quattrocento Sans" pitchFamily="34" charset="-120"/>
              </a:rPr>
              <a:t>T-tests use 10 overlapping splits with fixed hyperparameter configs. </a:t>
            </a:r>
            <a:endParaRPr lang="en-US" sz="1400" dirty="0"/>
          </a:p>
        </p:txBody>
      </p:sp>
      <p:sp>
        <p:nvSpPr>
          <p:cNvPr id="27" name="Shape 25"/>
          <p:cNvSpPr/>
          <p:nvPr/>
        </p:nvSpPr>
        <p:spPr>
          <a:xfrm>
            <a:off x="2540000" y="5257800"/>
            <a:ext cx="13208000" cy="12700"/>
          </a:xfrm>
          <a:prstGeom prst="rect">
            <a:avLst/>
          </a:prstGeom>
          <a:solidFill>
            <a:srgbClr val="E0F4FA"/>
          </a:solidFill>
          <a:ln/>
        </p:spPr>
        <p:txBody>
          <a:bodyPr/>
          <a:lstStyle/>
          <a:p>
            <a:endParaRPr/>
          </a:p>
        </p:txBody>
      </p:sp>
      <p:sp>
        <p:nvSpPr>
          <p:cNvPr id="35" name="Shape 26">
            <a:extLst>
              <a:ext uri="{FF2B5EF4-FFF2-40B4-BE49-F238E27FC236}">
                <a16:creationId xmlns:a16="http://schemas.microsoft.com/office/drawing/2014/main" id="{55D26065-F67E-3B57-9752-B26DABD09946}"/>
              </a:ext>
            </a:extLst>
          </p:cNvPr>
          <p:cNvSpPr/>
          <p:nvPr/>
        </p:nvSpPr>
        <p:spPr>
          <a:xfrm>
            <a:off x="2540000" y="1670050"/>
            <a:ext cx="177800" cy="177800"/>
          </a:xfrm>
          <a:prstGeom prst="diamond">
            <a:avLst/>
          </a:prstGeom>
          <a:solidFill>
            <a:srgbClr val="00ACC1"/>
          </a:solidFill>
          <a:ln/>
        </p:spPr>
        <p:txBody>
          <a:bodyPr/>
          <a:lstStyle/>
          <a:p>
            <a:endParaRPr/>
          </a:p>
        </p:txBody>
      </p:sp>
      <p:sp>
        <p:nvSpPr>
          <p:cNvPr id="36" name="Text 31">
            <a:extLst>
              <a:ext uri="{FF2B5EF4-FFF2-40B4-BE49-F238E27FC236}">
                <a16:creationId xmlns:a16="http://schemas.microsoft.com/office/drawing/2014/main" id="{8E52718C-877C-8459-4C77-430A28B5419F}"/>
              </a:ext>
            </a:extLst>
          </p:cNvPr>
          <p:cNvSpPr/>
          <p:nvPr/>
        </p:nvSpPr>
        <p:spPr>
          <a:xfrm>
            <a:off x="2857500" y="1581150"/>
            <a:ext cx="13081000" cy="355600"/>
          </a:xfrm>
          <a:prstGeom prst="rect">
            <a:avLst/>
          </a:prstGeom>
          <a:noFill/>
          <a:ln/>
        </p:spPr>
        <p:txBody>
          <a:bodyPr wrap="none" lIns="0" tIns="0" rIns="0" bIns="0" rtlCol="0" anchor="t"/>
          <a:lstStyle/>
          <a:p>
            <a:pPr algn="l">
              <a:lnSpc>
                <a:spcPct val="120000"/>
              </a:lnSpc>
            </a:pPr>
            <a:r>
              <a:rPr lang="en-US" sz="2000" b="1" dirty="0">
                <a:solidFill>
                  <a:srgbClr val="005C82"/>
                </a:solidFill>
                <a:latin typeface="Quattrocento Sans" pitchFamily="34" charset="0"/>
                <a:ea typeface="Quattrocento Sans" pitchFamily="34" charset="-122"/>
                <a:cs typeface="Quattrocento Sans" pitchFamily="34" charset="-120"/>
              </a:rPr>
              <a:t>Dataset</a:t>
            </a:r>
            <a:endParaRPr lang="en-US" sz="2000" dirty="0"/>
          </a:p>
        </p:txBody>
      </p:sp>
      <p:sp>
        <p:nvSpPr>
          <p:cNvPr id="37" name="Text 32">
            <a:extLst>
              <a:ext uri="{FF2B5EF4-FFF2-40B4-BE49-F238E27FC236}">
                <a16:creationId xmlns:a16="http://schemas.microsoft.com/office/drawing/2014/main" id="{75E2C0E8-955A-E55A-C8BD-7C622F5C729D}"/>
              </a:ext>
            </a:extLst>
          </p:cNvPr>
          <p:cNvSpPr/>
          <p:nvPr/>
        </p:nvSpPr>
        <p:spPr>
          <a:xfrm>
            <a:off x="2870200" y="1949450"/>
            <a:ext cx="13081000" cy="635000"/>
          </a:xfrm>
          <a:prstGeom prst="rect">
            <a:avLst/>
          </a:prstGeom>
          <a:noFill/>
          <a:ln/>
        </p:spPr>
        <p:txBody>
          <a:bodyPr wrap="square" lIns="0" tIns="0" rIns="0" bIns="0" rtlCol="0" anchor="t"/>
          <a:lstStyle/>
          <a:p>
            <a:pPr algn="l">
              <a:lnSpc>
                <a:spcPct val="140000"/>
              </a:lnSpc>
            </a:pPr>
            <a:r>
              <a:rPr lang="en-US" sz="1400" dirty="0">
                <a:solidFill>
                  <a:srgbClr val="333333"/>
                </a:solidFill>
                <a:latin typeface="Quattrocento Sans" pitchFamily="34" charset="0"/>
                <a:ea typeface="Quattrocento Sans" pitchFamily="34" charset="-122"/>
                <a:cs typeface="Quattrocento Sans" pitchFamily="34" charset="-120"/>
              </a:rPr>
              <a:t>Kaggle dataset is derived from NASA Exoplanet Archive. Substantial missingness and heterogeneous temperature semantics limit physical interpretation.</a:t>
            </a:r>
            <a:endParaRPr lang="en-US" sz="1400" dirty="0"/>
          </a:p>
        </p:txBody>
      </p:sp>
      <p:sp>
        <p:nvSpPr>
          <p:cNvPr id="40" name="Shape 22">
            <a:extLst>
              <a:ext uri="{FF2B5EF4-FFF2-40B4-BE49-F238E27FC236}">
                <a16:creationId xmlns:a16="http://schemas.microsoft.com/office/drawing/2014/main" id="{7F5FD637-9FA9-14C7-A278-79F67D447BC6}"/>
              </a:ext>
            </a:extLst>
          </p:cNvPr>
          <p:cNvSpPr/>
          <p:nvPr/>
        </p:nvSpPr>
        <p:spPr>
          <a:xfrm>
            <a:off x="2565400" y="5345223"/>
            <a:ext cx="177800" cy="177800"/>
          </a:xfrm>
          <a:prstGeom prst="diamond">
            <a:avLst/>
          </a:prstGeom>
          <a:solidFill>
            <a:srgbClr val="007AA8"/>
          </a:solidFill>
          <a:ln/>
        </p:spPr>
        <p:txBody>
          <a:bodyPr/>
          <a:lstStyle/>
          <a:p>
            <a:endParaRPr/>
          </a:p>
        </p:txBody>
      </p:sp>
      <p:sp>
        <p:nvSpPr>
          <p:cNvPr id="41" name="Text 23">
            <a:extLst>
              <a:ext uri="{FF2B5EF4-FFF2-40B4-BE49-F238E27FC236}">
                <a16:creationId xmlns:a16="http://schemas.microsoft.com/office/drawing/2014/main" id="{472E33D6-38E7-E245-8F46-1460E0E0954B}"/>
              </a:ext>
            </a:extLst>
          </p:cNvPr>
          <p:cNvSpPr/>
          <p:nvPr/>
        </p:nvSpPr>
        <p:spPr>
          <a:xfrm>
            <a:off x="2895600" y="5269023"/>
            <a:ext cx="13081000" cy="355600"/>
          </a:xfrm>
          <a:prstGeom prst="rect">
            <a:avLst/>
          </a:prstGeom>
          <a:noFill/>
          <a:ln/>
        </p:spPr>
        <p:txBody>
          <a:bodyPr wrap="none" lIns="0" tIns="0" rIns="0" bIns="0" rtlCol="0" anchor="t"/>
          <a:lstStyle/>
          <a:p>
            <a:pPr algn="l">
              <a:lnSpc>
                <a:spcPct val="120000"/>
              </a:lnSpc>
            </a:pPr>
            <a:r>
              <a:rPr lang="en-US" sz="2000" b="1" dirty="0">
                <a:solidFill>
                  <a:srgbClr val="005C82"/>
                </a:solidFill>
                <a:latin typeface="Quattrocento Sans" pitchFamily="34" charset="0"/>
                <a:ea typeface="Quattrocento Sans" pitchFamily="34" charset="-122"/>
                <a:cs typeface="Quattrocento Sans" pitchFamily="34" charset="-120"/>
              </a:rPr>
              <a:t>Target Definition</a:t>
            </a:r>
            <a:endParaRPr lang="en-US" sz="2000" dirty="0"/>
          </a:p>
        </p:txBody>
      </p:sp>
      <p:sp>
        <p:nvSpPr>
          <p:cNvPr id="42" name="Text 24">
            <a:extLst>
              <a:ext uri="{FF2B5EF4-FFF2-40B4-BE49-F238E27FC236}">
                <a16:creationId xmlns:a16="http://schemas.microsoft.com/office/drawing/2014/main" id="{F6A49843-F01B-D4A4-C7C9-C0716EFC2BF2}"/>
              </a:ext>
            </a:extLst>
          </p:cNvPr>
          <p:cNvSpPr/>
          <p:nvPr/>
        </p:nvSpPr>
        <p:spPr>
          <a:xfrm>
            <a:off x="2895600" y="5675423"/>
            <a:ext cx="13081000" cy="635000"/>
          </a:xfrm>
          <a:prstGeom prst="rect">
            <a:avLst/>
          </a:prstGeom>
          <a:noFill/>
          <a:ln/>
        </p:spPr>
        <p:txBody>
          <a:bodyPr wrap="square" lIns="0" tIns="0" rIns="0" bIns="0" rtlCol="0" anchor="t"/>
          <a:lstStyle/>
          <a:p>
            <a:pPr>
              <a:lnSpc>
                <a:spcPct val="140000"/>
              </a:lnSpc>
            </a:pPr>
            <a:r>
              <a:rPr lang="it-IT" sz="1400" dirty="0" err="1"/>
              <a:t>planet_type</a:t>
            </a:r>
            <a:r>
              <a:rPr lang="it-IT" sz="1400" dirty="0"/>
              <a:t> </a:t>
            </a:r>
            <a:r>
              <a:rPr lang="it-IT" sz="1400" dirty="0" err="1"/>
              <a:t>is</a:t>
            </a:r>
            <a:r>
              <a:rPr lang="it-IT" sz="1400" dirty="0"/>
              <a:t> </a:t>
            </a:r>
            <a:r>
              <a:rPr lang="it-IT" sz="1400" dirty="0" err="1"/>
              <a:t>likely</a:t>
            </a:r>
            <a:r>
              <a:rPr lang="it-IT" sz="1400" dirty="0"/>
              <a:t> </a:t>
            </a:r>
            <a:r>
              <a:rPr lang="it-IT" sz="1400" dirty="0" err="1"/>
              <a:t>derived</a:t>
            </a:r>
            <a:r>
              <a:rPr lang="it-IT" sz="1400" dirty="0"/>
              <a:t> from </a:t>
            </a:r>
            <a:r>
              <a:rPr lang="it-IT" sz="1400" dirty="0" err="1"/>
              <a:t>physical</a:t>
            </a:r>
            <a:r>
              <a:rPr lang="it-IT" sz="1400" dirty="0"/>
              <a:t> </a:t>
            </a:r>
            <a:r>
              <a:rPr lang="it-IT" sz="1400" dirty="0" err="1"/>
              <a:t>thresholds</a:t>
            </a:r>
            <a:r>
              <a:rPr lang="it-IT" sz="1400" dirty="0"/>
              <a:t>.</a:t>
            </a:r>
            <a:br>
              <a:rPr lang="it-IT" sz="1400" dirty="0"/>
            </a:br>
            <a:r>
              <a:rPr lang="it-IT" sz="1400" dirty="0"/>
              <a:t>Future work: validate </a:t>
            </a:r>
            <a:r>
              <a:rPr lang="it-IT" sz="1400" dirty="0" err="1"/>
              <a:t>against</a:t>
            </a:r>
            <a:r>
              <a:rPr lang="it-IT" sz="1400" dirty="0"/>
              <a:t> an </a:t>
            </a:r>
            <a:r>
              <a:rPr lang="it-IT" sz="1400" dirty="0" err="1"/>
              <a:t>external</a:t>
            </a:r>
            <a:r>
              <a:rPr lang="it-IT" sz="1400" dirty="0"/>
              <a:t> </a:t>
            </a:r>
            <a:r>
              <a:rPr lang="it-IT" sz="1400" dirty="0" err="1"/>
              <a:t>taxonomy</a:t>
            </a:r>
            <a:r>
              <a:rPr lang="it-IT" sz="1400" dirty="0"/>
              <a:t> or </a:t>
            </a:r>
            <a:r>
              <a:rPr lang="it-IT" sz="1400" dirty="0" err="1"/>
              <a:t>expert-labelled</a:t>
            </a:r>
            <a:r>
              <a:rPr lang="it-IT" sz="1400" dirty="0"/>
              <a:t> source.</a:t>
            </a:r>
            <a:endParaRPr lang="en-US" sz="1400" dirty="0"/>
          </a:p>
        </p:txBody>
      </p:sp>
    </p:spTree>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name="Slide 29">
    <p:bg>
      <p:bgPr>
        <a:solidFill>
          <a:srgbClr val="F4FAFE"/>
        </a:solidFill>
        <a:effectLst/>
      </p:bgPr>
    </p:bg>
    <p:spTree>
      <p:nvGrpSpPr>
        <p:cNvPr id="1" name=""/>
        <p:cNvGrpSpPr/>
        <p:nvPr/>
      </p:nvGrpSpPr>
      <p:grpSpPr>
        <a:xfrm>
          <a:off x="0" y="0"/>
          <a:ext cx="0" cy="0"/>
          <a:chOff x="0" y="0"/>
          <a:chExt cx="0" cy="0"/>
        </a:xfrm>
      </p:grpSpPr>
      <p:sp>
        <p:nvSpPr>
          <p:cNvPr id="2" name="Shape 0"/>
          <p:cNvSpPr/>
          <p:nvPr/>
        </p:nvSpPr>
        <p:spPr>
          <a:xfrm>
            <a:off x="0" y="0"/>
            <a:ext cx="2286000" cy="9144000"/>
          </a:xfrm>
          <a:prstGeom prst="rect">
            <a:avLst/>
          </a:prstGeom>
          <a:solidFill>
            <a:srgbClr val="004060"/>
          </a:solidFill>
          <a:ln/>
        </p:spPr>
        <p:txBody>
          <a:bodyPr/>
          <a:lstStyle/>
          <a:p>
            <a:endParaRPr/>
          </a:p>
        </p:txBody>
      </p:sp>
      <p:sp>
        <p:nvSpPr>
          <p:cNvPr id="3" name="Shape 1"/>
          <p:cNvSpPr/>
          <p:nvPr/>
        </p:nvSpPr>
        <p:spPr>
          <a:xfrm>
            <a:off x="177800" y="177800"/>
            <a:ext cx="457200" cy="457200"/>
          </a:xfrm>
          <a:prstGeom prst="ellipse">
            <a:avLst/>
          </a:prstGeom>
          <a:solidFill>
            <a:srgbClr val="FFFFFF">
              <a:alpha val="12549"/>
            </a:srgbClr>
          </a:solidFill>
          <a:ln w="12700">
            <a:solidFill>
              <a:srgbClr val="00ACC1"/>
            </a:solidFill>
            <a:prstDash val="solid"/>
          </a:ln>
        </p:spPr>
        <p:txBody>
          <a:bodyPr/>
          <a:lstStyle/>
          <a:p>
            <a:endParaRPr/>
          </a:p>
        </p:txBody>
      </p:sp>
      <p:sp>
        <p:nvSpPr>
          <p:cNvPr id="4" name="Shape 2"/>
          <p:cNvSpPr/>
          <p:nvPr/>
        </p:nvSpPr>
        <p:spPr>
          <a:xfrm>
            <a:off x="0" y="5689600"/>
            <a:ext cx="2286000" cy="1168400"/>
          </a:xfrm>
          <a:prstGeom prst="rect">
            <a:avLst/>
          </a:prstGeom>
          <a:solidFill>
            <a:srgbClr val="005C82"/>
          </a:solidFill>
          <a:ln/>
        </p:spPr>
        <p:txBody>
          <a:bodyPr/>
          <a:lstStyle/>
          <a:p>
            <a:endParaRPr/>
          </a:p>
        </p:txBody>
      </p:sp>
      <p:sp>
        <p:nvSpPr>
          <p:cNvPr id="5" name="Text 3"/>
          <p:cNvSpPr/>
          <p:nvPr/>
        </p:nvSpPr>
        <p:spPr>
          <a:xfrm>
            <a:off x="101600" y="10160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01 Intro</a:t>
            </a:r>
            <a:endParaRPr lang="en-US" sz="1600" dirty="0"/>
          </a:p>
        </p:txBody>
      </p:sp>
      <p:sp>
        <p:nvSpPr>
          <p:cNvPr id="6" name="Text 4"/>
          <p:cNvSpPr/>
          <p:nvPr/>
        </p:nvSpPr>
        <p:spPr>
          <a:xfrm>
            <a:off x="101600" y="21844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02 Dataset</a:t>
            </a:r>
            <a:endParaRPr lang="en-US" sz="1600" dirty="0"/>
          </a:p>
        </p:txBody>
      </p:sp>
      <p:sp>
        <p:nvSpPr>
          <p:cNvPr id="7" name="Text 5"/>
          <p:cNvSpPr/>
          <p:nvPr/>
        </p:nvSpPr>
        <p:spPr>
          <a:xfrm>
            <a:off x="101600" y="33528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03 Clustering</a:t>
            </a:r>
            <a:endParaRPr lang="en-US" sz="1600" dirty="0"/>
          </a:p>
        </p:txBody>
      </p:sp>
      <p:sp>
        <p:nvSpPr>
          <p:cNvPr id="8" name="Text 6"/>
          <p:cNvSpPr/>
          <p:nvPr/>
        </p:nvSpPr>
        <p:spPr>
          <a:xfrm>
            <a:off x="101600" y="4521200"/>
            <a:ext cx="2082800" cy="1168400"/>
          </a:xfrm>
          <a:prstGeom prst="rect">
            <a:avLst/>
          </a:prstGeom>
          <a:noFill/>
          <a:ln/>
        </p:spPr>
        <p:txBody>
          <a:bodyPr wrap="non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04 Supervised</a:t>
            </a:r>
            <a:endParaRPr lang="en-US" sz="1600" dirty="0"/>
          </a:p>
        </p:txBody>
      </p:sp>
      <p:sp>
        <p:nvSpPr>
          <p:cNvPr id="9" name="Text 7"/>
          <p:cNvSpPr/>
          <p:nvPr/>
        </p:nvSpPr>
        <p:spPr>
          <a:xfrm>
            <a:off x="101600" y="5689600"/>
            <a:ext cx="2082800" cy="1168400"/>
          </a:xfrm>
          <a:prstGeom prst="rect">
            <a:avLst/>
          </a:prstGeom>
          <a:noFill/>
          <a:ln/>
        </p:spPr>
        <p:txBody>
          <a:bodyPr wrap="none" lIns="0" tIns="0" rIns="0" bIns="0" rtlCol="0" anchor="ctr"/>
          <a:lstStyle/>
          <a:p>
            <a:pPr algn="l">
              <a:lnSpc>
                <a:spcPct val="120000"/>
              </a:lnSpc>
            </a:pPr>
            <a:r>
              <a:rPr lang="en-US" sz="1800" b="1" dirty="0">
                <a:solidFill>
                  <a:srgbClr val="FFFFFF"/>
                </a:solidFill>
                <a:latin typeface="Quattrocento Sans" pitchFamily="34" charset="0"/>
                <a:ea typeface="Quattrocento Sans" pitchFamily="34" charset="-122"/>
                <a:cs typeface="Quattrocento Sans" pitchFamily="34" charset="-120"/>
              </a:rPr>
              <a:t>05 Conclusions</a:t>
            </a:r>
            <a:endParaRPr lang="en-US" sz="1800" dirty="0"/>
          </a:p>
        </p:txBody>
      </p:sp>
      <p:sp>
        <p:nvSpPr>
          <p:cNvPr id="10" name="Shape 8"/>
          <p:cNvSpPr/>
          <p:nvPr/>
        </p:nvSpPr>
        <p:spPr>
          <a:xfrm>
            <a:off x="1066800" y="7493000"/>
            <a:ext cx="152400" cy="152400"/>
          </a:xfrm>
          <a:prstGeom prst="diamond">
            <a:avLst/>
          </a:prstGeom>
          <a:solidFill>
            <a:srgbClr val="00ACC1"/>
          </a:solidFill>
          <a:ln/>
        </p:spPr>
        <p:txBody>
          <a:bodyPr/>
          <a:lstStyle/>
          <a:p>
            <a:endParaRPr/>
          </a:p>
        </p:txBody>
      </p:sp>
      <p:sp>
        <p:nvSpPr>
          <p:cNvPr id="11" name="Shape 9"/>
          <p:cNvSpPr/>
          <p:nvPr/>
        </p:nvSpPr>
        <p:spPr>
          <a:xfrm>
            <a:off x="2286000" y="0"/>
            <a:ext cx="13970000" cy="635000"/>
          </a:xfrm>
          <a:prstGeom prst="rect">
            <a:avLst/>
          </a:prstGeom>
          <a:solidFill>
            <a:srgbClr val="E0F4FA"/>
          </a:solidFill>
          <a:ln/>
        </p:spPr>
        <p:txBody>
          <a:bodyPr/>
          <a:lstStyle/>
          <a:p>
            <a:endParaRPr/>
          </a:p>
        </p:txBody>
      </p:sp>
      <p:sp>
        <p:nvSpPr>
          <p:cNvPr id="12" name="Text 10"/>
          <p:cNvSpPr/>
          <p:nvPr/>
        </p:nvSpPr>
        <p:spPr>
          <a:xfrm>
            <a:off x="2540000" y="0"/>
            <a:ext cx="12827000" cy="635000"/>
          </a:xfrm>
          <a:prstGeom prst="rect">
            <a:avLst/>
          </a:prstGeom>
          <a:noFill/>
          <a:ln/>
        </p:spPr>
        <p:txBody>
          <a:bodyPr wrap="none" lIns="0" tIns="0" rIns="0" bIns="0" rtlCol="0" anchor="ctr"/>
          <a:lstStyle/>
          <a:p>
            <a:pPr algn="l">
              <a:lnSpc>
                <a:spcPct val="120000"/>
              </a:lnSpc>
            </a:pPr>
            <a:r>
              <a:rPr lang="en-US" sz="1400" b="1" dirty="0">
                <a:solidFill>
                  <a:srgbClr val="005C82"/>
                </a:solidFill>
                <a:latin typeface="Quattrocento Sans" pitchFamily="34" charset="0"/>
                <a:ea typeface="Quattrocento Sans" pitchFamily="34" charset="-122"/>
                <a:cs typeface="Quattrocento Sans" pitchFamily="34" charset="-120"/>
              </a:rPr>
              <a:t>05 Discussion</a:t>
            </a:r>
            <a:r>
              <a:rPr lang="en-US" sz="1400" dirty="0">
                <a:solidFill>
                  <a:srgbClr val="005C82"/>
                </a:solidFill>
                <a:latin typeface="Quattrocento Sans" pitchFamily="34" charset="0"/>
                <a:ea typeface="Quattrocento Sans" pitchFamily="34" charset="-122"/>
                <a:cs typeface="Quattrocento Sans" pitchFamily="34" charset="-120"/>
              </a:rPr>
              <a:t>  &gt;  5.3  Conclusions &amp; Contributions</a:t>
            </a:r>
            <a:endParaRPr lang="en-US" sz="1400" dirty="0"/>
          </a:p>
        </p:txBody>
      </p:sp>
      <p:sp>
        <p:nvSpPr>
          <p:cNvPr id="13" name="Text 11"/>
          <p:cNvSpPr/>
          <p:nvPr/>
        </p:nvSpPr>
        <p:spPr>
          <a:xfrm>
            <a:off x="15621000" y="0"/>
            <a:ext cx="635000" cy="635000"/>
          </a:xfrm>
          <a:prstGeom prst="rect">
            <a:avLst/>
          </a:prstGeom>
          <a:noFill/>
          <a:ln/>
        </p:spPr>
        <p:txBody>
          <a:bodyPr wrap="square" lIns="0" tIns="0" rIns="0" bIns="0" rtlCol="0" anchor="ctr"/>
          <a:lstStyle/>
          <a:p>
            <a:r>
              <a:t>32</a:t>
            </a:r>
          </a:p>
        </p:txBody>
      </p:sp>
      <p:sp>
        <p:nvSpPr>
          <p:cNvPr id="14" name="Text 12"/>
          <p:cNvSpPr/>
          <p:nvPr/>
        </p:nvSpPr>
        <p:spPr>
          <a:xfrm>
            <a:off x="2540000" y="863600"/>
            <a:ext cx="13208000" cy="457200"/>
          </a:xfrm>
          <a:prstGeom prst="rect">
            <a:avLst/>
          </a:prstGeom>
          <a:noFill/>
          <a:ln/>
        </p:spPr>
        <p:txBody>
          <a:bodyPr wrap="none" lIns="0" tIns="0" rIns="0" bIns="0" rtlCol="0" anchor="t"/>
          <a:lstStyle/>
          <a:p>
            <a:pPr algn="l">
              <a:lnSpc>
                <a:spcPct val="120000"/>
              </a:lnSpc>
            </a:pPr>
            <a:r>
              <a:rPr lang="en-US" sz="2400" b="1" dirty="0">
                <a:solidFill>
                  <a:srgbClr val="005C82"/>
                </a:solidFill>
                <a:latin typeface="Quattrocento Sans" pitchFamily="34" charset="0"/>
                <a:ea typeface="Quattrocento Sans" pitchFamily="34" charset="-122"/>
                <a:cs typeface="Quattrocento Sans" pitchFamily="34" charset="-120"/>
              </a:rPr>
              <a:t>Conclusions &amp; Methodological Contributions</a:t>
            </a:r>
            <a:endParaRPr lang="en-US" sz="2400" dirty="0"/>
          </a:p>
        </p:txBody>
      </p:sp>
      <p:sp>
        <p:nvSpPr>
          <p:cNvPr id="15" name="Shape 13"/>
          <p:cNvSpPr/>
          <p:nvPr/>
        </p:nvSpPr>
        <p:spPr>
          <a:xfrm>
            <a:off x="2540000" y="1397000"/>
            <a:ext cx="13208000" cy="12700"/>
          </a:xfrm>
          <a:prstGeom prst="rect">
            <a:avLst/>
          </a:prstGeom>
          <a:solidFill>
            <a:srgbClr val="B0BEC5"/>
          </a:solidFill>
          <a:ln/>
        </p:spPr>
        <p:txBody>
          <a:bodyPr/>
          <a:lstStyle/>
          <a:p>
            <a:endParaRPr/>
          </a:p>
        </p:txBody>
      </p:sp>
      <p:sp>
        <p:nvSpPr>
          <p:cNvPr id="16" name="Shape 14"/>
          <p:cNvSpPr/>
          <p:nvPr/>
        </p:nvSpPr>
        <p:spPr>
          <a:xfrm>
            <a:off x="2540000" y="1676400"/>
            <a:ext cx="177800" cy="177800"/>
          </a:xfrm>
          <a:prstGeom prst="diamond">
            <a:avLst/>
          </a:prstGeom>
          <a:solidFill>
            <a:srgbClr val="005C82"/>
          </a:solidFill>
          <a:ln/>
        </p:spPr>
        <p:txBody>
          <a:bodyPr/>
          <a:lstStyle/>
          <a:p>
            <a:endParaRPr/>
          </a:p>
        </p:txBody>
      </p:sp>
      <p:sp>
        <p:nvSpPr>
          <p:cNvPr id="17" name="Text 15"/>
          <p:cNvSpPr/>
          <p:nvPr/>
        </p:nvSpPr>
        <p:spPr>
          <a:xfrm>
            <a:off x="2870200" y="1600200"/>
            <a:ext cx="12877800" cy="355600"/>
          </a:xfrm>
          <a:prstGeom prst="rect">
            <a:avLst/>
          </a:prstGeom>
          <a:noFill/>
          <a:ln/>
        </p:spPr>
        <p:txBody>
          <a:bodyPr wrap="none" lIns="0" tIns="0" rIns="0" bIns="0" rtlCol="0" anchor="t"/>
          <a:lstStyle/>
          <a:p>
            <a:pPr algn="l">
              <a:lnSpc>
                <a:spcPct val="120000"/>
              </a:lnSpc>
            </a:pPr>
            <a:r>
              <a:rPr lang="en-US" sz="2000" b="1" dirty="0">
                <a:solidFill>
                  <a:srgbClr val="005C82"/>
                </a:solidFill>
                <a:latin typeface="Quattrocento Sans" pitchFamily="34" charset="0"/>
                <a:ea typeface="Quattrocento Sans" pitchFamily="34" charset="-122"/>
                <a:cs typeface="Quattrocento Sans" pitchFamily="34" charset="-120"/>
              </a:rPr>
              <a:t>A Reproducible Two-Part Pipeline</a:t>
            </a:r>
            <a:endParaRPr lang="en-US" sz="2000" dirty="0"/>
          </a:p>
        </p:txBody>
      </p:sp>
      <p:sp>
        <p:nvSpPr>
          <p:cNvPr id="18" name="Text 16"/>
          <p:cNvSpPr/>
          <p:nvPr/>
        </p:nvSpPr>
        <p:spPr>
          <a:xfrm>
            <a:off x="2870200" y="2006600"/>
            <a:ext cx="12877800" cy="635000"/>
          </a:xfrm>
          <a:prstGeom prst="rect">
            <a:avLst/>
          </a:prstGeom>
          <a:noFill/>
          <a:ln/>
        </p:spPr>
        <p:txBody>
          <a:bodyPr wrap="square" lIns="0" tIns="0" rIns="0" bIns="0" rtlCol="0" anchor="t"/>
          <a:lstStyle/>
          <a:p>
            <a:pPr algn="l">
              <a:lnSpc>
                <a:spcPct val="140000"/>
              </a:lnSpc>
            </a:pPr>
            <a:r>
              <a:rPr lang="en-US" sz="1400" dirty="0">
                <a:solidFill>
                  <a:srgbClr val="333333"/>
                </a:solidFill>
                <a:latin typeface="Quattrocento Sans" pitchFamily="34" charset="0"/>
                <a:ea typeface="Quattrocento Sans" pitchFamily="34" charset="-122"/>
                <a:cs typeface="Quattrocento Sans" pitchFamily="34" charset="-120"/>
              </a:rPr>
              <a:t>Unsupervised exploration (clustering) combined with leakage-aware supervised analysis (ablation), implemented in 6 sequential Jupyter notebooks with pinned dependencies.</a:t>
            </a:r>
            <a:endParaRPr lang="en-US" sz="1400" dirty="0"/>
          </a:p>
        </p:txBody>
      </p:sp>
      <p:sp>
        <p:nvSpPr>
          <p:cNvPr id="19" name="Shape 17"/>
          <p:cNvSpPr/>
          <p:nvPr/>
        </p:nvSpPr>
        <p:spPr>
          <a:xfrm>
            <a:off x="2540000" y="2667000"/>
            <a:ext cx="13208000" cy="12700"/>
          </a:xfrm>
          <a:prstGeom prst="rect">
            <a:avLst/>
          </a:prstGeom>
          <a:solidFill>
            <a:srgbClr val="E0F4FA"/>
          </a:solidFill>
          <a:ln/>
        </p:spPr>
        <p:txBody>
          <a:bodyPr/>
          <a:lstStyle/>
          <a:p>
            <a:endParaRPr/>
          </a:p>
        </p:txBody>
      </p:sp>
      <p:sp>
        <p:nvSpPr>
          <p:cNvPr id="20" name="Shape 18"/>
          <p:cNvSpPr/>
          <p:nvPr/>
        </p:nvSpPr>
        <p:spPr>
          <a:xfrm>
            <a:off x="2540000" y="2971800"/>
            <a:ext cx="177800" cy="177800"/>
          </a:xfrm>
          <a:prstGeom prst="diamond">
            <a:avLst/>
          </a:prstGeom>
          <a:solidFill>
            <a:srgbClr val="005C82"/>
          </a:solidFill>
          <a:ln/>
        </p:spPr>
        <p:txBody>
          <a:bodyPr/>
          <a:lstStyle/>
          <a:p>
            <a:endParaRPr/>
          </a:p>
        </p:txBody>
      </p:sp>
      <p:sp>
        <p:nvSpPr>
          <p:cNvPr id="21" name="Text 19"/>
          <p:cNvSpPr/>
          <p:nvPr/>
        </p:nvSpPr>
        <p:spPr>
          <a:xfrm>
            <a:off x="2870200" y="2895600"/>
            <a:ext cx="12877800" cy="355600"/>
          </a:xfrm>
          <a:prstGeom prst="rect">
            <a:avLst/>
          </a:prstGeom>
          <a:noFill/>
          <a:ln/>
        </p:spPr>
        <p:txBody>
          <a:bodyPr wrap="none" lIns="0" tIns="0" rIns="0" bIns="0" rtlCol="0" anchor="t"/>
          <a:lstStyle/>
          <a:p>
            <a:pPr algn="l">
              <a:lnSpc>
                <a:spcPct val="120000"/>
              </a:lnSpc>
            </a:pPr>
            <a:r>
              <a:rPr lang="en-US" sz="2000" b="1" dirty="0">
                <a:solidFill>
                  <a:srgbClr val="005C82"/>
                </a:solidFill>
                <a:latin typeface="Quattrocento Sans" pitchFamily="34" charset="0"/>
                <a:ea typeface="Quattrocento Sans" pitchFamily="34" charset="-122"/>
                <a:cs typeface="Quattrocento Sans" pitchFamily="34" charset="-120"/>
              </a:rPr>
              <a:t>Cluster-Size Diagnostics Prevent Imbalanced Partitions</a:t>
            </a:r>
            <a:endParaRPr lang="en-US" sz="2000" dirty="0"/>
          </a:p>
        </p:txBody>
      </p:sp>
      <p:sp>
        <p:nvSpPr>
          <p:cNvPr id="22" name="Text 20"/>
          <p:cNvSpPr/>
          <p:nvPr/>
        </p:nvSpPr>
        <p:spPr>
          <a:xfrm>
            <a:off x="2870200" y="3302000"/>
            <a:ext cx="12877800" cy="635000"/>
          </a:xfrm>
          <a:prstGeom prst="rect">
            <a:avLst/>
          </a:prstGeom>
          <a:noFill/>
          <a:ln/>
        </p:spPr>
        <p:txBody>
          <a:bodyPr wrap="square" lIns="0" tIns="0" rIns="0" bIns="0" rtlCol="0" anchor="t"/>
          <a:lstStyle/>
          <a:p>
            <a:pPr algn="l">
              <a:lnSpc>
                <a:spcPct val="140000"/>
              </a:lnSpc>
            </a:pPr>
            <a:r>
              <a:rPr lang="en-US" sz="1400" dirty="0">
                <a:solidFill>
                  <a:srgbClr val="333333"/>
                </a:solidFill>
                <a:latin typeface="Quattrocento Sans" pitchFamily="34" charset="0"/>
                <a:ea typeface="Quattrocento Sans" pitchFamily="34" charset="-122"/>
                <a:cs typeface="Quattrocento Sans" pitchFamily="34" charset="-120"/>
              </a:rPr>
              <a:t>Joint inspection of Silhouette and cluster sizes prevents severely imbalanced hierarchical partitions (e.g., 6145/2/2/1) from being mistaken for useful structure.</a:t>
            </a:r>
            <a:endParaRPr lang="en-US" sz="1400" dirty="0"/>
          </a:p>
        </p:txBody>
      </p:sp>
      <p:sp>
        <p:nvSpPr>
          <p:cNvPr id="23" name="Shape 21"/>
          <p:cNvSpPr/>
          <p:nvPr/>
        </p:nvSpPr>
        <p:spPr>
          <a:xfrm>
            <a:off x="2540000" y="3962400"/>
            <a:ext cx="13208000" cy="12700"/>
          </a:xfrm>
          <a:prstGeom prst="rect">
            <a:avLst/>
          </a:prstGeom>
          <a:solidFill>
            <a:srgbClr val="E0F4FA"/>
          </a:solidFill>
          <a:ln/>
        </p:spPr>
        <p:txBody>
          <a:bodyPr/>
          <a:lstStyle/>
          <a:p>
            <a:endParaRPr/>
          </a:p>
        </p:txBody>
      </p:sp>
      <p:sp>
        <p:nvSpPr>
          <p:cNvPr id="24" name="Shape 22"/>
          <p:cNvSpPr/>
          <p:nvPr/>
        </p:nvSpPr>
        <p:spPr>
          <a:xfrm>
            <a:off x="2540000" y="4267200"/>
            <a:ext cx="177800" cy="177800"/>
          </a:xfrm>
          <a:prstGeom prst="diamond">
            <a:avLst/>
          </a:prstGeom>
          <a:solidFill>
            <a:srgbClr val="007AA8"/>
          </a:solidFill>
          <a:ln/>
        </p:spPr>
        <p:txBody>
          <a:bodyPr/>
          <a:lstStyle/>
          <a:p>
            <a:endParaRPr/>
          </a:p>
        </p:txBody>
      </p:sp>
      <p:sp>
        <p:nvSpPr>
          <p:cNvPr id="25" name="Text 23"/>
          <p:cNvSpPr/>
          <p:nvPr/>
        </p:nvSpPr>
        <p:spPr>
          <a:xfrm>
            <a:off x="2870200" y="4191000"/>
            <a:ext cx="12877800" cy="355600"/>
          </a:xfrm>
          <a:prstGeom prst="rect">
            <a:avLst/>
          </a:prstGeom>
          <a:noFill/>
          <a:ln/>
        </p:spPr>
        <p:txBody>
          <a:bodyPr wrap="none" lIns="0" tIns="0" rIns="0" bIns="0" rtlCol="0" anchor="t"/>
          <a:lstStyle/>
          <a:p>
            <a:pPr algn="l">
              <a:lnSpc>
                <a:spcPct val="120000"/>
              </a:lnSpc>
            </a:pPr>
            <a:r>
              <a:rPr lang="en-US" sz="2000" b="1" dirty="0">
                <a:solidFill>
                  <a:srgbClr val="005C82"/>
                </a:solidFill>
                <a:latin typeface="Quattrocento Sans" pitchFamily="34" charset="0"/>
                <a:ea typeface="Quattrocento Sans" pitchFamily="34" charset="-122"/>
                <a:cs typeface="Quattrocento Sans" pitchFamily="34" charset="-120"/>
              </a:rPr>
              <a:t>Interpretable Four-Cluster Solution</a:t>
            </a:r>
            <a:endParaRPr lang="en-US" sz="2000" dirty="0"/>
          </a:p>
        </p:txBody>
      </p:sp>
      <p:sp>
        <p:nvSpPr>
          <p:cNvPr id="26" name="Text 24"/>
          <p:cNvSpPr/>
          <p:nvPr/>
        </p:nvSpPr>
        <p:spPr>
          <a:xfrm>
            <a:off x="2870200" y="4597400"/>
            <a:ext cx="12877800" cy="635000"/>
          </a:xfrm>
          <a:prstGeom prst="rect">
            <a:avLst/>
          </a:prstGeom>
          <a:noFill/>
          <a:ln/>
        </p:spPr>
        <p:txBody>
          <a:bodyPr wrap="square" lIns="0" tIns="0" rIns="0" bIns="0" rtlCol="0" anchor="t"/>
          <a:lstStyle/>
          <a:p>
            <a:pPr algn="l">
              <a:lnSpc>
                <a:spcPct val="140000"/>
              </a:lnSpc>
            </a:pPr>
            <a:r>
              <a:rPr lang="en-US" sz="1400" dirty="0">
                <a:solidFill>
                  <a:srgbClr val="333333"/>
                </a:solidFill>
                <a:latin typeface="Quattrocento Sans" pitchFamily="34" charset="0"/>
                <a:ea typeface="Quattrocento Sans" pitchFamily="34" charset="-122"/>
                <a:cs typeface="Quattrocento Sans" pitchFamily="34" charset="-120"/>
              </a:rPr>
              <a:t>K-Means k=4 yields four readable planetary families; k=2 remains a parsimonious alternative. Post-hoc ARI (0.307 with planet_type) shows partial, not redundant, agreement with taxonomies.</a:t>
            </a:r>
            <a:endParaRPr lang="en-US" sz="1400" dirty="0"/>
          </a:p>
        </p:txBody>
      </p:sp>
      <p:sp>
        <p:nvSpPr>
          <p:cNvPr id="27" name="Shape 25"/>
          <p:cNvSpPr/>
          <p:nvPr/>
        </p:nvSpPr>
        <p:spPr>
          <a:xfrm>
            <a:off x="2540000" y="5257800"/>
            <a:ext cx="13208000" cy="12700"/>
          </a:xfrm>
          <a:prstGeom prst="rect">
            <a:avLst/>
          </a:prstGeom>
          <a:solidFill>
            <a:srgbClr val="E0F4FA"/>
          </a:solidFill>
          <a:ln/>
        </p:spPr>
        <p:txBody>
          <a:bodyPr/>
          <a:lstStyle/>
          <a:p>
            <a:endParaRPr/>
          </a:p>
        </p:txBody>
      </p:sp>
      <p:sp>
        <p:nvSpPr>
          <p:cNvPr id="28" name="Shape 26"/>
          <p:cNvSpPr/>
          <p:nvPr/>
        </p:nvSpPr>
        <p:spPr>
          <a:xfrm>
            <a:off x="2540000" y="5562600"/>
            <a:ext cx="177800" cy="177800"/>
          </a:xfrm>
          <a:prstGeom prst="diamond">
            <a:avLst/>
          </a:prstGeom>
          <a:solidFill>
            <a:srgbClr val="00ACC1"/>
          </a:solidFill>
          <a:ln/>
        </p:spPr>
        <p:txBody>
          <a:bodyPr/>
          <a:lstStyle/>
          <a:p>
            <a:endParaRPr/>
          </a:p>
        </p:txBody>
      </p:sp>
      <p:sp>
        <p:nvSpPr>
          <p:cNvPr id="29" name="Text 27"/>
          <p:cNvSpPr/>
          <p:nvPr/>
        </p:nvSpPr>
        <p:spPr>
          <a:xfrm>
            <a:off x="2870200" y="5486400"/>
            <a:ext cx="12877800" cy="355600"/>
          </a:xfrm>
          <a:prstGeom prst="rect">
            <a:avLst/>
          </a:prstGeom>
          <a:noFill/>
          <a:ln/>
        </p:spPr>
        <p:txBody>
          <a:bodyPr wrap="none" lIns="0" tIns="0" rIns="0" bIns="0" rtlCol="0" anchor="t"/>
          <a:lstStyle/>
          <a:p>
            <a:pPr algn="l">
              <a:lnSpc>
                <a:spcPct val="120000"/>
              </a:lnSpc>
            </a:pPr>
            <a:r>
              <a:rPr lang="en-US" sz="2000" b="1" dirty="0">
                <a:solidFill>
                  <a:srgbClr val="005C82"/>
                </a:solidFill>
                <a:latin typeface="Quattrocento Sans" pitchFamily="34" charset="0"/>
                <a:ea typeface="Quattrocento Sans" pitchFamily="34" charset="-122"/>
                <a:cs typeface="Quattrocento Sans" pitchFamily="34" charset="-120"/>
              </a:rPr>
              <a:t>Ablation Study Quantifies Semantic Leakage</a:t>
            </a:r>
            <a:endParaRPr lang="en-US" sz="2000" dirty="0"/>
          </a:p>
        </p:txBody>
      </p:sp>
      <p:sp>
        <p:nvSpPr>
          <p:cNvPr id="30" name="Text 28"/>
          <p:cNvSpPr/>
          <p:nvPr/>
        </p:nvSpPr>
        <p:spPr>
          <a:xfrm>
            <a:off x="2870200" y="5892800"/>
            <a:ext cx="12877800" cy="635000"/>
          </a:xfrm>
          <a:prstGeom prst="rect">
            <a:avLst/>
          </a:prstGeom>
          <a:noFill/>
          <a:ln/>
        </p:spPr>
        <p:txBody>
          <a:bodyPr wrap="square" lIns="0" tIns="0" rIns="0" bIns="0" rtlCol="0" anchor="t"/>
          <a:lstStyle/>
          <a:p>
            <a:pPr algn="l">
              <a:lnSpc>
                <a:spcPct val="140000"/>
              </a:lnSpc>
            </a:pPr>
            <a:r>
              <a:rPr lang="en-US" sz="1400" dirty="0">
                <a:solidFill>
                  <a:srgbClr val="333333"/>
                </a:solidFill>
                <a:latin typeface="Quattrocento Sans" pitchFamily="34" charset="0"/>
                <a:ea typeface="Quattrocento Sans" pitchFamily="34" charset="-122"/>
                <a:cs typeface="Quattrocento Sans" pitchFamily="34" charset="-120"/>
              </a:rPr>
              <a:t>Macro-F1 drops from 0.999 to 0.490 after removing mass and radius - concrete, quantified evidence that near-perfect classification was driven by feature-label dependence, not predictive discovery.</a:t>
            </a:r>
            <a:endParaRPr lang="en-US" sz="1400" dirty="0"/>
          </a:p>
        </p:txBody>
      </p:sp>
      <p:sp>
        <p:nvSpPr>
          <p:cNvPr id="31" name="Shape 29"/>
          <p:cNvSpPr/>
          <p:nvPr/>
        </p:nvSpPr>
        <p:spPr>
          <a:xfrm>
            <a:off x="2540000" y="6553200"/>
            <a:ext cx="13208000" cy="12700"/>
          </a:xfrm>
          <a:prstGeom prst="rect">
            <a:avLst/>
          </a:prstGeom>
          <a:solidFill>
            <a:srgbClr val="E0F4FA"/>
          </a:solidFill>
          <a:ln/>
        </p:spPr>
        <p:txBody>
          <a:bodyPr/>
          <a:lstStyle/>
          <a:p>
            <a:endParaRPr/>
          </a:p>
        </p:txBody>
      </p:sp>
      <p:sp>
        <p:nvSpPr>
          <p:cNvPr id="32" name="Shape 30"/>
          <p:cNvSpPr/>
          <p:nvPr/>
        </p:nvSpPr>
        <p:spPr>
          <a:xfrm>
            <a:off x="2540000" y="6858000"/>
            <a:ext cx="177800" cy="177800"/>
          </a:xfrm>
          <a:prstGeom prst="diamond">
            <a:avLst/>
          </a:prstGeom>
          <a:solidFill>
            <a:srgbClr val="B0BEC5"/>
          </a:solidFill>
          <a:ln/>
        </p:spPr>
        <p:txBody>
          <a:bodyPr/>
          <a:lstStyle/>
          <a:p>
            <a:endParaRPr/>
          </a:p>
        </p:txBody>
      </p:sp>
      <p:sp>
        <p:nvSpPr>
          <p:cNvPr id="33" name="Text 31"/>
          <p:cNvSpPr/>
          <p:nvPr/>
        </p:nvSpPr>
        <p:spPr>
          <a:xfrm>
            <a:off x="2870200" y="6781800"/>
            <a:ext cx="12877800" cy="355600"/>
          </a:xfrm>
          <a:prstGeom prst="rect">
            <a:avLst/>
          </a:prstGeom>
          <a:noFill/>
          <a:ln/>
        </p:spPr>
        <p:txBody>
          <a:bodyPr wrap="none" lIns="0" tIns="0" rIns="0" bIns="0" rtlCol="0" anchor="t"/>
          <a:lstStyle/>
          <a:p>
            <a:pPr algn="l">
              <a:lnSpc>
                <a:spcPct val="120000"/>
              </a:lnSpc>
            </a:pPr>
            <a:r>
              <a:rPr lang="en-US" sz="2000" b="1" dirty="0">
                <a:solidFill>
                  <a:srgbClr val="005C82"/>
                </a:solidFill>
                <a:latin typeface="Quattrocento Sans" pitchFamily="34" charset="0"/>
                <a:ea typeface="Quattrocento Sans" pitchFamily="34" charset="-122"/>
                <a:cs typeface="Quattrocento Sans" pitchFamily="34" charset="-120"/>
              </a:rPr>
              <a:t>Dependence-Aware Statistical Context</a:t>
            </a:r>
            <a:endParaRPr lang="en-US" sz="2000" dirty="0"/>
          </a:p>
        </p:txBody>
      </p:sp>
      <p:sp>
        <p:nvSpPr>
          <p:cNvPr id="34" name="Text 32"/>
          <p:cNvSpPr/>
          <p:nvPr/>
        </p:nvSpPr>
        <p:spPr>
          <a:xfrm>
            <a:off x="2870200" y="7188200"/>
            <a:ext cx="12877800" cy="635000"/>
          </a:xfrm>
          <a:prstGeom prst="rect">
            <a:avLst/>
          </a:prstGeom>
          <a:noFill/>
          <a:ln/>
        </p:spPr>
        <p:txBody>
          <a:bodyPr wrap="square" lIns="0" tIns="0" rIns="0" bIns="0" rtlCol="0" anchor="t"/>
          <a:lstStyle/>
          <a:p>
            <a:pPr algn="l">
              <a:lnSpc>
                <a:spcPct val="140000"/>
              </a:lnSpc>
            </a:pPr>
            <a:r>
              <a:rPr lang="en-US" sz="1400" dirty="0">
                <a:solidFill>
                  <a:srgbClr val="333333"/>
                </a:solidFill>
                <a:latin typeface="Quattrocento Sans" pitchFamily="34" charset="0"/>
                <a:ea typeface="Quattrocento Sans" pitchFamily="34" charset="-122"/>
                <a:cs typeface="Quattrocento Sans" pitchFamily="34" charset="-120"/>
              </a:rPr>
              <a:t>Bootstrap confidence intervals and corrected resampled t-tests provide statistical rigor that accounts for the dependence structure in cross-validation splits.</a:t>
            </a:r>
            <a:endParaRPr lang="en-US" sz="1400" dirty="0"/>
          </a:p>
        </p:txBody>
      </p:sp>
      <p:sp>
        <p:nvSpPr>
          <p:cNvPr id="35" name="Shape 33"/>
          <p:cNvSpPr/>
          <p:nvPr/>
        </p:nvSpPr>
        <p:spPr>
          <a:xfrm>
            <a:off x="2540000" y="7950200"/>
            <a:ext cx="13208000" cy="635000"/>
          </a:xfrm>
          <a:prstGeom prst="rect">
            <a:avLst/>
          </a:prstGeom>
          <a:solidFill>
            <a:srgbClr val="005C82"/>
          </a:solidFill>
          <a:ln/>
        </p:spPr>
        <p:txBody>
          <a:bodyPr/>
          <a:lstStyle/>
          <a:p>
            <a:endParaRPr/>
          </a:p>
        </p:txBody>
      </p:sp>
      <p:sp>
        <p:nvSpPr>
          <p:cNvPr id="36" name="Shape 34"/>
          <p:cNvSpPr/>
          <p:nvPr/>
        </p:nvSpPr>
        <p:spPr>
          <a:xfrm>
            <a:off x="2717800" y="8089900"/>
            <a:ext cx="152400" cy="152400"/>
          </a:xfrm>
          <a:prstGeom prst="diamond">
            <a:avLst/>
          </a:prstGeom>
          <a:solidFill>
            <a:srgbClr val="00ACC1"/>
          </a:solidFill>
          <a:ln/>
        </p:spPr>
        <p:txBody>
          <a:bodyPr/>
          <a:lstStyle/>
          <a:p>
            <a:endParaRPr/>
          </a:p>
        </p:txBody>
      </p:sp>
      <p:sp>
        <p:nvSpPr>
          <p:cNvPr id="37" name="Text 35"/>
          <p:cNvSpPr/>
          <p:nvPr/>
        </p:nvSpPr>
        <p:spPr>
          <a:xfrm>
            <a:off x="3022600" y="8026400"/>
            <a:ext cx="12522200" cy="304800"/>
          </a:xfrm>
          <a:prstGeom prst="rect">
            <a:avLst/>
          </a:prstGeom>
          <a:noFill/>
          <a:ln/>
        </p:spPr>
        <p:txBody>
          <a:bodyPr wrap="square" lIns="0" tIns="0" rIns="0" bIns="0" rtlCol="0" anchor="ctr"/>
          <a:lstStyle/>
          <a:p>
            <a:pPr algn="l">
              <a:lnSpc>
                <a:spcPct val="120000"/>
              </a:lnSpc>
            </a:pPr>
            <a:r>
              <a:rPr lang="en-US" sz="1600" dirty="0">
                <a:solidFill>
                  <a:srgbClr val="FFFFFF"/>
                </a:solidFill>
                <a:latin typeface="Quattrocento Sans" pitchFamily="34" charset="0"/>
                <a:ea typeface="Quattrocento Sans" pitchFamily="34" charset="-122"/>
                <a:cs typeface="Quattrocento Sans" pitchFamily="34" charset="-120"/>
              </a:rPr>
              <a:t>All code is available as 6 sequential Jupyter notebooks (01_Audit to 06_Report), executable on standard CPU with no specialized hardware.</a:t>
            </a:r>
            <a:endParaRPr lang="en-US" sz="1600" dirty="0"/>
          </a:p>
        </p:txBody>
      </p:sp>
    </p:spTree>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4FAFE"/>
        </a:solidFill>
        <a:effectLst/>
      </p:bgPr>
    </p:bg>
    <p:spTree>
      <p:nvGrpSpPr>
        <p:cNvPr id="1" name=""/>
        <p:cNvGrpSpPr/>
        <p:nvPr/>
      </p:nvGrpSpPr>
      <p:grpSpPr>
        <a:xfrm>
          <a:off x="0" y="0"/>
          <a:ext cx="0" cy="0"/>
          <a:chOff x="0" y="0"/>
          <a:chExt cx="0" cy="0"/>
        </a:xfrm>
      </p:grpSpPr>
      <p:sp>
        <p:nvSpPr>
          <p:cNvPr id="2" name="Shape 0"/>
          <p:cNvSpPr/>
          <p:nvPr/>
        </p:nvSpPr>
        <p:spPr>
          <a:xfrm>
            <a:off x="0" y="0"/>
            <a:ext cx="16256000" cy="1270000"/>
          </a:xfrm>
          <a:prstGeom prst="rect">
            <a:avLst/>
          </a:prstGeom>
          <a:solidFill>
            <a:srgbClr val="F4FAFE"/>
          </a:solidFill>
          <a:ln/>
        </p:spPr>
        <p:txBody>
          <a:bodyPr/>
          <a:lstStyle/>
          <a:p>
            <a:endParaRPr/>
          </a:p>
        </p:txBody>
      </p:sp>
      <p:sp>
        <p:nvSpPr>
          <p:cNvPr id="3" name="Shape 1"/>
          <p:cNvSpPr/>
          <p:nvPr/>
        </p:nvSpPr>
        <p:spPr>
          <a:xfrm>
            <a:off x="0" y="1371600"/>
            <a:ext cx="16256000" cy="3810000"/>
          </a:xfrm>
          <a:prstGeom prst="rect">
            <a:avLst/>
          </a:prstGeom>
          <a:gradFill flip="none" rotWithShape="1">
            <a:gsLst>
              <a:gs pos="0">
                <a:srgbClr val="004060"/>
              </a:gs>
              <a:gs pos="50000">
                <a:srgbClr val="005C82"/>
              </a:gs>
              <a:gs pos="100000">
                <a:srgbClr val="007AA8"/>
              </a:gs>
            </a:gsLst>
            <a:lin ang="5400000" scaled="1"/>
          </a:gradFill>
          <a:ln/>
        </p:spPr>
        <p:txBody>
          <a:bodyPr/>
          <a:lstStyle/>
          <a:p>
            <a:endParaRPr/>
          </a:p>
        </p:txBody>
      </p:sp>
      <p:sp>
        <p:nvSpPr>
          <p:cNvPr id="4" name="Text 2"/>
          <p:cNvSpPr/>
          <p:nvPr/>
        </p:nvSpPr>
        <p:spPr>
          <a:xfrm>
            <a:off x="1016000" y="1879600"/>
            <a:ext cx="11430000" cy="1016000"/>
          </a:xfrm>
          <a:prstGeom prst="rect">
            <a:avLst/>
          </a:prstGeom>
          <a:noFill/>
          <a:ln/>
        </p:spPr>
        <p:txBody>
          <a:bodyPr wrap="none" lIns="0" tIns="0" rIns="0" bIns="0" rtlCol="0" anchor="ctr"/>
          <a:lstStyle/>
          <a:p>
            <a:pPr algn="l">
              <a:lnSpc>
                <a:spcPct val="120000"/>
              </a:lnSpc>
            </a:pPr>
            <a:r>
              <a:rPr lang="en-US" sz="6400" b="1" dirty="0">
                <a:solidFill>
                  <a:srgbClr val="FFFFFF"/>
                </a:solidFill>
                <a:latin typeface="Quattrocento Sans" pitchFamily="34" charset="0"/>
                <a:ea typeface="Quattrocento Sans" pitchFamily="34" charset="-122"/>
                <a:cs typeface="Quattrocento Sans" pitchFamily="34" charset="-120"/>
              </a:rPr>
              <a:t>Thank You</a:t>
            </a:r>
            <a:endParaRPr lang="en-US" sz="6400" dirty="0"/>
          </a:p>
        </p:txBody>
      </p:sp>
      <p:sp>
        <p:nvSpPr>
          <p:cNvPr id="5" name="Text 3"/>
          <p:cNvSpPr/>
          <p:nvPr/>
        </p:nvSpPr>
        <p:spPr>
          <a:xfrm>
            <a:off x="1016000" y="3022600"/>
            <a:ext cx="11430000" cy="457200"/>
          </a:xfrm>
          <a:prstGeom prst="rect">
            <a:avLst/>
          </a:prstGeom>
          <a:noFill/>
          <a:ln/>
        </p:spPr>
        <p:txBody>
          <a:bodyPr wrap="none" lIns="0" tIns="0" rIns="0" bIns="0" rtlCol="0" anchor="t"/>
          <a:lstStyle/>
          <a:p>
            <a:pPr algn="l">
              <a:lnSpc>
                <a:spcPct val="120000"/>
              </a:lnSpc>
            </a:pPr>
            <a:r>
              <a:rPr lang="en-US" sz="1800" kern="0" spc="400" dirty="0">
                <a:solidFill>
                  <a:srgbClr val="FFFFFF"/>
                </a:solidFill>
                <a:latin typeface="Quattrocento Sans" pitchFamily="34" charset="0"/>
                <a:ea typeface="Quattrocento Sans" pitchFamily="34" charset="-122"/>
                <a:cs typeface="Quattrocento Sans" pitchFamily="34" charset="-120"/>
              </a:rPr>
              <a:t>GRAZIE PER L'ATTENZIONE</a:t>
            </a:r>
            <a:endParaRPr lang="en-US" sz="1800" dirty="0"/>
          </a:p>
        </p:txBody>
      </p:sp>
      <p:sp>
        <p:nvSpPr>
          <p:cNvPr id="6" name="Shape 4"/>
          <p:cNvSpPr/>
          <p:nvPr/>
        </p:nvSpPr>
        <p:spPr>
          <a:xfrm>
            <a:off x="0" y="5181600"/>
            <a:ext cx="16256000" cy="3962400"/>
          </a:xfrm>
          <a:prstGeom prst="rect">
            <a:avLst/>
          </a:prstGeom>
          <a:solidFill>
            <a:srgbClr val="F4FAFE"/>
          </a:solidFill>
          <a:ln/>
        </p:spPr>
        <p:txBody>
          <a:bodyPr/>
          <a:lstStyle/>
          <a:p>
            <a:endParaRPr/>
          </a:p>
        </p:txBody>
      </p:sp>
      <p:sp>
        <p:nvSpPr>
          <p:cNvPr id="7" name="Shape 5"/>
          <p:cNvSpPr/>
          <p:nvPr/>
        </p:nvSpPr>
        <p:spPr>
          <a:xfrm>
            <a:off x="1016000" y="5537200"/>
            <a:ext cx="177800" cy="177800"/>
          </a:xfrm>
          <a:prstGeom prst="diamond">
            <a:avLst/>
          </a:prstGeom>
          <a:solidFill>
            <a:srgbClr val="005C82"/>
          </a:solidFill>
          <a:ln/>
        </p:spPr>
        <p:txBody>
          <a:bodyPr/>
          <a:lstStyle/>
          <a:p>
            <a:endParaRPr/>
          </a:p>
        </p:txBody>
      </p:sp>
      <p:sp>
        <p:nvSpPr>
          <p:cNvPr id="8" name="Text 6"/>
          <p:cNvSpPr/>
          <p:nvPr/>
        </p:nvSpPr>
        <p:spPr>
          <a:xfrm>
            <a:off x="1371600" y="5461000"/>
            <a:ext cx="7620000" cy="355600"/>
          </a:xfrm>
          <a:prstGeom prst="rect">
            <a:avLst/>
          </a:prstGeom>
          <a:noFill/>
          <a:ln/>
        </p:spPr>
        <p:txBody>
          <a:bodyPr wrap="none" lIns="0" tIns="0" rIns="0" bIns="0" rtlCol="0" anchor="t"/>
          <a:lstStyle/>
          <a:p>
            <a:pPr algn="l">
              <a:lnSpc>
                <a:spcPct val="120000"/>
              </a:lnSpc>
            </a:pPr>
            <a:r>
              <a:rPr lang="en-US" sz="2000" b="1" dirty="0">
                <a:solidFill>
                  <a:srgbClr val="005C82"/>
                </a:solidFill>
                <a:latin typeface="Quattrocento Sans" pitchFamily="34" charset="0"/>
                <a:ea typeface="Quattrocento Sans" pitchFamily="34" charset="-122"/>
                <a:cs typeface="Quattrocento Sans" pitchFamily="34" charset="-120"/>
              </a:rPr>
              <a:t>Roberto Pio Selvaggi</a:t>
            </a:r>
            <a:r>
              <a:rPr lang="en-US" sz="2000" dirty="0">
                <a:solidFill>
                  <a:srgbClr val="005C82"/>
                </a:solidFill>
                <a:latin typeface="Quattrocento Sans" pitchFamily="34" charset="0"/>
                <a:ea typeface="Quattrocento Sans" pitchFamily="34" charset="-122"/>
                <a:cs typeface="Quattrocento Sans" pitchFamily="34" charset="-120"/>
              </a:rPr>
              <a:t>  |  Universita degli Studi di Bari Aldo Moro</a:t>
            </a:r>
            <a:endParaRPr lang="en-US" sz="2000" dirty="0"/>
          </a:p>
        </p:txBody>
      </p:sp>
      <p:sp>
        <p:nvSpPr>
          <p:cNvPr id="9" name="Shape 7"/>
          <p:cNvSpPr/>
          <p:nvPr/>
        </p:nvSpPr>
        <p:spPr>
          <a:xfrm>
            <a:off x="1016000" y="6045200"/>
            <a:ext cx="177800" cy="177800"/>
          </a:xfrm>
          <a:prstGeom prst="diamond">
            <a:avLst/>
          </a:prstGeom>
          <a:solidFill>
            <a:srgbClr val="005C82"/>
          </a:solidFill>
          <a:ln/>
        </p:spPr>
        <p:txBody>
          <a:bodyPr/>
          <a:lstStyle/>
          <a:p>
            <a:endParaRPr/>
          </a:p>
        </p:txBody>
      </p:sp>
      <p:sp>
        <p:nvSpPr>
          <p:cNvPr id="10" name="Text 8"/>
          <p:cNvSpPr/>
          <p:nvPr/>
        </p:nvSpPr>
        <p:spPr>
          <a:xfrm>
            <a:off x="1371600" y="5969000"/>
            <a:ext cx="7620000" cy="355600"/>
          </a:xfrm>
          <a:prstGeom prst="rect">
            <a:avLst/>
          </a:prstGeom>
          <a:noFill/>
          <a:ln/>
        </p:spPr>
        <p:txBody>
          <a:bodyPr wrap="none" lIns="0" tIns="0" rIns="0" bIns="0" rtlCol="0" anchor="t"/>
          <a:lstStyle/>
          <a:p>
            <a:pPr algn="l">
              <a:lnSpc>
                <a:spcPct val="120000"/>
              </a:lnSpc>
            </a:pPr>
            <a:r>
              <a:rPr lang="en-US" sz="1800" dirty="0">
                <a:solidFill>
                  <a:srgbClr val="333333"/>
                </a:solidFill>
                <a:latin typeface="Quattrocento Sans" pitchFamily="34" charset="0"/>
                <a:ea typeface="Quattrocento Sans" pitchFamily="34" charset="-122"/>
                <a:cs typeface="Quattrocento Sans" pitchFamily="34" charset="-120"/>
              </a:rPr>
              <a:t>Machine Learning Exam - A.A. 2025/2026</a:t>
            </a:r>
            <a:endParaRPr lang="en-US" sz="1800" dirty="0"/>
          </a:p>
        </p:txBody>
      </p:sp>
      <p:sp>
        <p:nvSpPr>
          <p:cNvPr id="11" name="Shape 9"/>
          <p:cNvSpPr/>
          <p:nvPr/>
        </p:nvSpPr>
        <p:spPr>
          <a:xfrm>
            <a:off x="1016000" y="6553200"/>
            <a:ext cx="177800" cy="177800"/>
          </a:xfrm>
          <a:prstGeom prst="diamond">
            <a:avLst/>
          </a:prstGeom>
          <a:solidFill>
            <a:srgbClr val="B0BEC5"/>
          </a:solidFill>
          <a:ln/>
        </p:spPr>
        <p:txBody>
          <a:bodyPr/>
          <a:lstStyle/>
          <a:p>
            <a:endParaRPr/>
          </a:p>
        </p:txBody>
      </p:sp>
      <p:sp>
        <p:nvSpPr>
          <p:cNvPr id="12" name="Text 10"/>
          <p:cNvSpPr/>
          <p:nvPr/>
        </p:nvSpPr>
        <p:spPr>
          <a:xfrm>
            <a:off x="1371600" y="6477000"/>
            <a:ext cx="6350000" cy="355600"/>
          </a:xfrm>
          <a:prstGeom prst="rect">
            <a:avLst/>
          </a:prstGeom>
          <a:noFill/>
          <a:ln/>
        </p:spPr>
        <p:txBody>
          <a:bodyPr wrap="none" lIns="0" tIns="0" rIns="0" bIns="0" rtlCol="0" anchor="t"/>
          <a:lstStyle/>
          <a:p>
            <a:pPr algn="l">
              <a:lnSpc>
                <a:spcPct val="120000"/>
              </a:lnSpc>
            </a:pPr>
            <a:r>
              <a:rPr lang="en-US" sz="1600" dirty="0">
                <a:solidFill>
                  <a:srgbClr val="666666"/>
                </a:solidFill>
                <a:latin typeface="Quattrocento Sans" pitchFamily="34" charset="0"/>
                <a:ea typeface="Quattrocento Sans" pitchFamily="34" charset="-122"/>
                <a:cs typeface="Quattrocento Sans" pitchFamily="34" charset="-120"/>
              </a:rPr>
              <a:t>Dipartimento di Informatica</a:t>
            </a:r>
            <a:endParaRPr lang="en-US" sz="1600" dirty="0"/>
          </a:p>
        </p:txBody>
      </p:sp>
      <p:sp>
        <p:nvSpPr>
          <p:cNvPr id="13" name="Shape 11"/>
          <p:cNvSpPr/>
          <p:nvPr/>
        </p:nvSpPr>
        <p:spPr>
          <a:xfrm>
            <a:off x="1016000" y="7061200"/>
            <a:ext cx="177800" cy="177800"/>
          </a:xfrm>
          <a:prstGeom prst="diamond">
            <a:avLst/>
          </a:prstGeom>
          <a:solidFill>
            <a:srgbClr val="B0BEC5"/>
          </a:solidFill>
          <a:ln/>
        </p:spPr>
        <p:txBody>
          <a:bodyPr/>
          <a:lstStyle/>
          <a:p>
            <a:endParaRPr/>
          </a:p>
        </p:txBody>
      </p:sp>
      <p:sp>
        <p:nvSpPr>
          <p:cNvPr id="14" name="Text 12"/>
          <p:cNvSpPr/>
          <p:nvPr/>
        </p:nvSpPr>
        <p:spPr>
          <a:xfrm>
            <a:off x="1371600" y="6985000"/>
            <a:ext cx="3810000" cy="355600"/>
          </a:xfrm>
          <a:prstGeom prst="rect">
            <a:avLst/>
          </a:prstGeom>
          <a:noFill/>
          <a:ln/>
        </p:spPr>
        <p:txBody>
          <a:bodyPr wrap="none" lIns="0" tIns="0" rIns="0" bIns="0" rtlCol="0" anchor="t"/>
          <a:lstStyle/>
          <a:p>
            <a:pPr algn="l">
              <a:lnSpc>
                <a:spcPct val="120000"/>
              </a:lnSpc>
            </a:pPr>
            <a:r>
              <a:rPr lang="en-US" sz="1400" dirty="0">
                <a:solidFill>
                  <a:srgbClr val="888888"/>
                </a:solidFill>
                <a:latin typeface="Quattrocento Sans" pitchFamily="34" charset="0"/>
                <a:ea typeface="Quattrocento Sans" pitchFamily="34" charset="-122"/>
                <a:cs typeface="Quattrocento Sans" pitchFamily="34" charset="-120"/>
              </a:rPr>
              <a:t>2025/2026</a:t>
            </a:r>
            <a:endParaRPr lang="en-US" sz="1400" dirty="0"/>
          </a:p>
        </p:txBody>
      </p:sp>
      <p:sp>
        <p:nvSpPr>
          <p:cNvPr id="15" name="Text 13"/>
          <p:cNvSpPr/>
          <p:nvPr/>
        </p:nvSpPr>
        <p:spPr>
          <a:xfrm>
            <a:off x="1016000" y="7620000"/>
            <a:ext cx="7620000" cy="457200"/>
          </a:xfrm>
          <a:prstGeom prst="rect">
            <a:avLst/>
          </a:prstGeom>
          <a:noFill/>
          <a:ln/>
        </p:spPr>
        <p:txBody>
          <a:bodyPr wrap="none" lIns="0" tIns="0" rIns="0" bIns="0" rtlCol="0" anchor="t"/>
          <a:lstStyle/>
          <a:p>
            <a:pPr algn="l">
              <a:lnSpc>
                <a:spcPct val="120000"/>
              </a:lnSpc>
            </a:pPr>
            <a:r>
              <a:rPr lang="en-US" sz="2000" dirty="0">
                <a:solidFill>
                  <a:srgbClr val="005C82"/>
                </a:solidFill>
                <a:latin typeface="Quattrocento Sans" pitchFamily="34" charset="0"/>
                <a:ea typeface="Quattrocento Sans" pitchFamily="34" charset="-122"/>
                <a:cs typeface="Quattrocento Sans" pitchFamily="34" charset="-120"/>
              </a:rPr>
              <a:t>Questions &amp; Discussion  |  Q &amp; A</a:t>
            </a:r>
            <a:endParaRPr lang="en-US" sz="2000" dirty="0"/>
          </a:p>
        </p:txBody>
      </p:sp>
      <p:sp>
        <p:nvSpPr>
          <p:cNvPr id="16" name="Shape 14"/>
          <p:cNvSpPr/>
          <p:nvPr/>
        </p:nvSpPr>
        <p:spPr>
          <a:xfrm>
            <a:off x="12065000" y="5461000"/>
            <a:ext cx="3556000" cy="3175000"/>
          </a:xfrm>
          <a:prstGeom prst="rect">
            <a:avLst/>
          </a:prstGeom>
          <a:solidFill>
            <a:srgbClr val="005C82">
              <a:alpha val="3922"/>
            </a:srgbClr>
          </a:solidFill>
          <a:ln w="12700">
            <a:solidFill>
              <a:srgbClr val="005C82"/>
            </a:solidFill>
            <a:prstDash val="solid"/>
          </a:ln>
        </p:spPr>
        <p:txBody>
          <a:bodyPr/>
          <a:lstStyle/>
          <a:p>
            <a:endParaRPr/>
          </a:p>
        </p:txBody>
      </p:sp>
      <p:sp>
        <p:nvSpPr>
          <p:cNvPr id="17" name="Shape 15"/>
          <p:cNvSpPr/>
          <p:nvPr/>
        </p:nvSpPr>
        <p:spPr>
          <a:xfrm>
            <a:off x="12573000" y="5969000"/>
            <a:ext cx="2540000" cy="2159000"/>
          </a:xfrm>
          <a:prstGeom prst="rect">
            <a:avLst/>
          </a:prstGeom>
          <a:solidFill>
            <a:srgbClr val="005C82">
              <a:alpha val="3137"/>
            </a:srgbClr>
          </a:solidFill>
          <a:ln w="12700">
            <a:solidFill>
              <a:srgbClr val="005C82"/>
            </a:solidFill>
            <a:prstDash val="solid"/>
          </a:ln>
        </p:spPr>
        <p:txBody>
          <a:bodyPr/>
          <a:lstStyle/>
          <a:p>
            <a:endParaRPr/>
          </a:p>
        </p:txBody>
      </p:sp>
      <p:sp>
        <p:nvSpPr>
          <p:cNvPr id="18" name="Shape 16"/>
          <p:cNvSpPr/>
          <p:nvPr/>
        </p:nvSpPr>
        <p:spPr>
          <a:xfrm>
            <a:off x="13081000" y="6477000"/>
            <a:ext cx="1524000" cy="1143000"/>
          </a:xfrm>
          <a:prstGeom prst="rect">
            <a:avLst/>
          </a:prstGeom>
          <a:solidFill>
            <a:srgbClr val="005C82">
              <a:alpha val="1961"/>
            </a:srgbClr>
          </a:solidFill>
          <a:ln w="12700">
            <a:solidFill>
              <a:srgbClr val="005C82"/>
            </a:solidFill>
            <a:prstDash val="solid"/>
          </a:ln>
        </p:spPr>
        <p:txBody>
          <a:bodyPr/>
          <a:lstStyle/>
          <a:p>
            <a:endParaRPr/>
          </a:p>
        </p:txBody>
      </p:sp>
    </p:spTree>
  </p:cSld>
  <p:clrMapOvr>
    <a:masterClrMapping/>
  </p:clrMapOvr>
  <p:transition>
    <p:fade/>
  </p:transition>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275</TotalTime>
  <Words>3675</Words>
  <Application>Microsoft Office PowerPoint</Application>
  <PresentationFormat>Personalizzato</PresentationFormat>
  <Paragraphs>651</Paragraphs>
  <Slides>31</Slides>
  <Notes>29</Notes>
  <HiddenSlides>0</HiddenSlides>
  <MMClips>0</MMClips>
  <ScaleCrop>false</ScaleCrop>
  <HeadingPairs>
    <vt:vector size="6" baseType="variant">
      <vt:variant>
        <vt:lpstr>Caratteri utilizzati</vt:lpstr>
      </vt:variant>
      <vt:variant>
        <vt:i4>4</vt:i4>
      </vt:variant>
      <vt:variant>
        <vt:lpstr>Tema</vt:lpstr>
      </vt:variant>
      <vt:variant>
        <vt:i4>1</vt:i4>
      </vt:variant>
      <vt:variant>
        <vt:lpstr>Titoli diapositive</vt:lpstr>
      </vt:variant>
      <vt:variant>
        <vt:i4>31</vt:i4>
      </vt:variant>
    </vt:vector>
  </HeadingPairs>
  <TitlesOfParts>
    <vt:vector size="36" baseType="lpstr">
      <vt:lpstr>Quattrocento Sans</vt:lpstr>
      <vt:lpstr>Arial</vt:lpstr>
      <vt:lpstr>Calibri</vt:lpstr>
      <vt:lpstr>Cambria Math</vt:lpstr>
      <vt:lpstr>Office Theme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Distance-Based Clustering and Leakage-Aware Classification of NASA Exoplanets</dc:title>
  <dc:subject>Distance-Based Clustering and Leakage-Aware Classification of NASA Exoplanets</dc:subject>
  <dc:creator>Kimi</dc:creator>
  <cp:lastModifiedBy>SELVAGGI ROBERTO PIO</cp:lastModifiedBy>
  <cp:revision>10</cp:revision>
  <dcterms:created xsi:type="dcterms:W3CDTF">2026-07-01T12:19:51Z</dcterms:created>
  <dcterms:modified xsi:type="dcterms:W3CDTF">2026-07-02T11:15:58Z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{"Label":"Distance-Based Clustering and Leakage-Aware Classification of NASA Exoplanets","ContentProducer":"001191110108MACG2KBH8F10000","ProduceID":"19f1d71c-b732-8e86-8000-0000c79f04b8","ReservedCode1":"","ContentPropagator":"001191110108MACG2KBH8F20000","PropagateID":"19f1d6d1-66a2-8873-8000-092c494830bf","ReservedCode2":""}</vt:lpwstr>
  </property>
</Properties>
</file>